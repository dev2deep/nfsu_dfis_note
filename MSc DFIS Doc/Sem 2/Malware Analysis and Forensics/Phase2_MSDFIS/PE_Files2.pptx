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5" r:id="rId3"/>
    <p:sldId id="316" r:id="rId4"/>
    <p:sldId id="317" r:id="rId5"/>
    <p:sldId id="319" r:id="rId6"/>
    <p:sldId id="320" r:id="rId7"/>
    <p:sldId id="257" r:id="rId8"/>
    <p:sldId id="258" r:id="rId9"/>
    <p:sldId id="318" r:id="rId10"/>
    <p:sldId id="322" r:id="rId11"/>
    <p:sldId id="323" r:id="rId12"/>
    <p:sldId id="324" r:id="rId13"/>
    <p:sldId id="325" r:id="rId14"/>
    <p:sldId id="326" r:id="rId15"/>
    <p:sldId id="327" r:id="rId16"/>
    <p:sldId id="328" r:id="rId17"/>
    <p:sldId id="329" r:id="rId18"/>
    <p:sldId id="32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58" d="100"/>
          <a:sy n="58" d="100"/>
        </p:scale>
        <p:origin x="984" y="2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094A2ED-6EBF-4B70-A8AA-3C68D295BAA1}" type="datetimeFigureOut">
              <a:rPr lang="en-IN" smtClean="0"/>
              <a:t>08-03-2026</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28F7D6A1-18CB-4822-A477-47F09365AC22}" type="slidenum">
              <a:rPr lang="en-IN" smtClean="0"/>
              <a:t>‹#›</a:t>
            </a:fld>
            <a:endParaRPr lang="en-IN"/>
          </a:p>
        </p:txBody>
      </p:sp>
    </p:spTree>
    <p:extLst>
      <p:ext uri="{BB962C8B-B14F-4D97-AF65-F5344CB8AC3E}">
        <p14:creationId xmlns:p14="http://schemas.microsoft.com/office/powerpoint/2010/main" val="1256722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4A2ED-6EBF-4B70-A8AA-3C68D295BAA1}"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1426676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4A2ED-6EBF-4B70-A8AA-3C68D295BAA1}"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3023832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94A2ED-6EBF-4B70-A8AA-3C68D295BAA1}"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525040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94A2ED-6EBF-4B70-A8AA-3C68D295BAA1}"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410895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94A2ED-6EBF-4B70-A8AA-3C68D295BAA1}"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84932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4A2ED-6EBF-4B70-A8AA-3C68D295BAA1}"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164096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4094A2ED-6EBF-4B70-A8AA-3C68D295BAA1}"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28F7D6A1-18CB-4822-A477-47F09365AC22}" type="slidenum">
              <a:rPr lang="en-IN" smtClean="0"/>
              <a:t>‹#›</a:t>
            </a:fld>
            <a:endParaRPr lang="en-IN"/>
          </a:p>
        </p:txBody>
      </p:sp>
    </p:spTree>
    <p:extLst>
      <p:ext uri="{BB962C8B-B14F-4D97-AF65-F5344CB8AC3E}">
        <p14:creationId xmlns:p14="http://schemas.microsoft.com/office/powerpoint/2010/main" val="536175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4094A2ED-6EBF-4B70-A8AA-3C68D295BAA1}" type="datetimeFigureOut">
              <a:rPr lang="en-IN" smtClean="0"/>
              <a:t>08-03-2026</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28F7D6A1-18CB-4822-A477-47F09365AC22}" type="slidenum">
              <a:rPr lang="en-IN" smtClean="0"/>
              <a:t>‹#›</a:t>
            </a:fld>
            <a:endParaRPr lang="en-IN"/>
          </a:p>
        </p:txBody>
      </p:sp>
    </p:spTree>
    <p:extLst>
      <p:ext uri="{BB962C8B-B14F-4D97-AF65-F5344CB8AC3E}">
        <p14:creationId xmlns:p14="http://schemas.microsoft.com/office/powerpoint/2010/main" val="276206436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4A2ED-6EBF-4B70-A8AA-3C68D295BAA1}"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2970425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4A2ED-6EBF-4B70-A8AA-3C68D295BAA1}"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7D6A1-18CB-4822-A477-47F09365AC22}" type="slidenum">
              <a:rPr lang="en-IN" smtClean="0"/>
              <a:t>‹#›</a:t>
            </a:fld>
            <a:endParaRPr lang="en-IN"/>
          </a:p>
        </p:txBody>
      </p:sp>
    </p:spTree>
    <p:extLst>
      <p:ext uri="{BB962C8B-B14F-4D97-AF65-F5344CB8AC3E}">
        <p14:creationId xmlns:p14="http://schemas.microsoft.com/office/powerpoint/2010/main" val="479891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094A2ED-6EBF-4B70-A8AA-3C68D295BAA1}" type="datetimeFigureOut">
              <a:rPr lang="en-IN" smtClean="0"/>
              <a:t>08-03-2026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28F7D6A1-18CB-4822-A477-47F09365AC22}" type="slidenum">
              <a:rPr lang="en-IN" smtClean="0"/>
              <a:t>‹#›</a:t>
            </a:fld>
            <a:endParaRPr lang="en-IN"/>
          </a:p>
        </p:txBody>
      </p:sp>
    </p:spTree>
    <p:extLst>
      <p:ext uri="{BB962C8B-B14F-4D97-AF65-F5344CB8AC3E}">
        <p14:creationId xmlns:p14="http://schemas.microsoft.com/office/powerpoint/2010/main" val="15936658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5461" y="2050306"/>
            <a:ext cx="5432145" cy="1658198"/>
          </a:xfrm>
        </p:spPr>
        <p:txBody>
          <a:bodyPr>
            <a:normAutofit/>
          </a:bodyPr>
          <a:lstStyle/>
          <a:p>
            <a:pPr algn="ctr"/>
            <a:r>
              <a:rPr lang="en-IN" b="1" dirty="0"/>
              <a:t>Data Directories &amp; Section Headers</a:t>
            </a:r>
            <a:endParaRPr b="1" dirty="0"/>
          </a:p>
        </p:txBody>
      </p:sp>
      <p:sp>
        <p:nvSpPr>
          <p:cNvPr id="3" name="Content Placeholder 2"/>
          <p:cNvSpPr>
            <a:spLocks noGrp="1"/>
          </p:cNvSpPr>
          <p:nvPr>
            <p:ph idx="1"/>
          </p:nvPr>
        </p:nvSpPr>
        <p:spPr>
          <a:xfrm>
            <a:off x="4199816" y="4186719"/>
            <a:ext cx="3354280" cy="545921"/>
          </a:xfrm>
        </p:spPr>
        <p:txBody>
          <a:bodyPr/>
          <a:lstStyle/>
          <a:p>
            <a:r>
              <a:rPr lang="en-IN" dirty="0"/>
              <a:t>Dr. Modhuparna Manna</a:t>
            </a:r>
            <a:endParaRPr dirty="0"/>
          </a:p>
        </p:txBody>
      </p:sp>
      <p:sp>
        <p:nvSpPr>
          <p:cNvPr id="4" name="TextBox 3">
            <a:extLst>
              <a:ext uri="{FF2B5EF4-FFF2-40B4-BE49-F238E27FC236}">
                <a16:creationId xmlns:a16="http://schemas.microsoft.com/office/drawing/2014/main" id="{78AFB761-DE0B-C771-D095-FD5D4979A3E6}"/>
              </a:ext>
            </a:extLst>
          </p:cNvPr>
          <p:cNvSpPr txBox="1"/>
          <p:nvPr/>
        </p:nvSpPr>
        <p:spPr>
          <a:xfrm>
            <a:off x="333396" y="6378994"/>
            <a:ext cx="4988289" cy="369332"/>
          </a:xfrm>
          <a:prstGeom prst="rect">
            <a:avLst/>
          </a:prstGeom>
          <a:noFill/>
        </p:spPr>
        <p:txBody>
          <a:bodyPr wrap="none" rtlCol="0">
            <a:spAutoFit/>
          </a:bodyPr>
          <a:lstStyle/>
          <a:p>
            <a:r>
              <a:rPr lang="en-IN" dirty="0"/>
              <a:t>Materials used from various sources on the internet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8C0C6A-A747-53F8-1282-D73B5812C27B}"/>
              </a:ext>
            </a:extLst>
          </p:cNvPr>
          <p:cNvPicPr>
            <a:picLocks noChangeAspect="1"/>
          </p:cNvPicPr>
          <p:nvPr/>
        </p:nvPicPr>
        <p:blipFill>
          <a:blip r:embed="rId2"/>
          <a:stretch>
            <a:fillRect/>
          </a:stretch>
        </p:blipFill>
        <p:spPr>
          <a:xfrm>
            <a:off x="3550508" y="134711"/>
            <a:ext cx="5113917" cy="6618257"/>
          </a:xfrm>
          <a:prstGeom prst="rect">
            <a:avLst/>
          </a:prstGeom>
        </p:spPr>
      </p:pic>
    </p:spTree>
    <p:extLst>
      <p:ext uri="{BB962C8B-B14F-4D97-AF65-F5344CB8AC3E}">
        <p14:creationId xmlns:p14="http://schemas.microsoft.com/office/powerpoint/2010/main" val="3834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7D31EF-B9B4-4108-0E78-14FDB580579E}"/>
              </a:ext>
            </a:extLst>
          </p:cNvPr>
          <p:cNvSpPr txBox="1"/>
          <p:nvPr/>
        </p:nvSpPr>
        <p:spPr>
          <a:xfrm>
            <a:off x="186896" y="149995"/>
            <a:ext cx="6094970" cy="646331"/>
          </a:xfrm>
          <a:prstGeom prst="rect">
            <a:avLst/>
          </a:prstGeom>
          <a:noFill/>
        </p:spPr>
        <p:txBody>
          <a:bodyPr wrap="square">
            <a:spAutoFit/>
          </a:bodyPr>
          <a:lstStyle/>
          <a:p>
            <a:endParaRPr lang="en-US" dirty="0"/>
          </a:p>
          <a:p>
            <a:r>
              <a:rPr lang="en-US" dirty="0"/>
              <a:t>#define IMAGE_NUMBEROF_DIRECTORY_ENTRIES    16</a:t>
            </a:r>
            <a:endParaRPr lang="en-IN" dirty="0"/>
          </a:p>
        </p:txBody>
      </p:sp>
      <p:pic>
        <p:nvPicPr>
          <p:cNvPr id="7" name="Picture 6">
            <a:extLst>
              <a:ext uri="{FF2B5EF4-FFF2-40B4-BE49-F238E27FC236}">
                <a16:creationId xmlns:a16="http://schemas.microsoft.com/office/drawing/2014/main" id="{59E6731E-79B8-EEAF-9997-EC926EB4D560}"/>
              </a:ext>
            </a:extLst>
          </p:cNvPr>
          <p:cNvPicPr>
            <a:picLocks noChangeAspect="1"/>
          </p:cNvPicPr>
          <p:nvPr/>
        </p:nvPicPr>
        <p:blipFill>
          <a:blip r:embed="rId2"/>
          <a:stretch>
            <a:fillRect/>
          </a:stretch>
        </p:blipFill>
        <p:spPr>
          <a:xfrm>
            <a:off x="379480" y="1164843"/>
            <a:ext cx="9027719" cy="2264157"/>
          </a:xfrm>
          <a:prstGeom prst="rect">
            <a:avLst/>
          </a:prstGeom>
        </p:spPr>
      </p:pic>
    </p:spTree>
    <p:extLst>
      <p:ext uri="{BB962C8B-B14F-4D97-AF65-F5344CB8AC3E}">
        <p14:creationId xmlns:p14="http://schemas.microsoft.com/office/powerpoint/2010/main" val="1658884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B38AC4-808C-3DB5-EF68-D91A29FEB2BC}"/>
              </a:ext>
            </a:extLst>
          </p:cNvPr>
          <p:cNvPicPr>
            <a:picLocks noChangeAspect="1"/>
          </p:cNvPicPr>
          <p:nvPr/>
        </p:nvPicPr>
        <p:blipFill>
          <a:blip r:embed="rId2"/>
          <a:stretch>
            <a:fillRect/>
          </a:stretch>
        </p:blipFill>
        <p:spPr>
          <a:xfrm>
            <a:off x="2699951" y="50525"/>
            <a:ext cx="6610865" cy="6696264"/>
          </a:xfrm>
          <a:prstGeom prst="rect">
            <a:avLst/>
          </a:prstGeom>
        </p:spPr>
      </p:pic>
    </p:spTree>
    <p:extLst>
      <p:ext uri="{BB962C8B-B14F-4D97-AF65-F5344CB8AC3E}">
        <p14:creationId xmlns:p14="http://schemas.microsoft.com/office/powerpoint/2010/main" val="1649557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78C96-0F1C-BAB4-C2E6-F73DEEC25914}"/>
              </a:ext>
            </a:extLst>
          </p:cNvPr>
          <p:cNvSpPr>
            <a:spLocks noGrp="1"/>
          </p:cNvSpPr>
          <p:nvPr>
            <p:ph type="title"/>
          </p:nvPr>
        </p:nvSpPr>
        <p:spPr/>
        <p:txBody>
          <a:bodyPr/>
          <a:lstStyle/>
          <a:p>
            <a:r>
              <a:rPr lang="en-IN" dirty="0"/>
              <a:t>Import Directory Table </a:t>
            </a:r>
          </a:p>
        </p:txBody>
      </p:sp>
      <p:sp>
        <p:nvSpPr>
          <p:cNvPr id="3" name="Content Placeholder 2">
            <a:extLst>
              <a:ext uri="{FF2B5EF4-FFF2-40B4-BE49-F238E27FC236}">
                <a16:creationId xmlns:a16="http://schemas.microsoft.com/office/drawing/2014/main" id="{E822785C-E8C0-7313-0AAD-51A30720D588}"/>
              </a:ext>
            </a:extLst>
          </p:cNvPr>
          <p:cNvSpPr>
            <a:spLocks noGrp="1"/>
          </p:cNvSpPr>
          <p:nvPr>
            <p:ph idx="1"/>
          </p:nvPr>
        </p:nvSpPr>
        <p:spPr>
          <a:xfrm>
            <a:off x="657224" y="1711412"/>
            <a:ext cx="10773157" cy="4066454"/>
          </a:xfrm>
        </p:spPr>
        <p:txBody>
          <a:bodyPr>
            <a:normAutofit/>
          </a:bodyPr>
          <a:lstStyle/>
          <a:p>
            <a:pPr marL="0" indent="0">
              <a:buNone/>
            </a:pPr>
            <a:r>
              <a:rPr lang="en-US" dirty="0"/>
              <a:t>A </a:t>
            </a:r>
            <a:r>
              <a:rPr lang="en-US" b="1" dirty="0"/>
              <a:t>directory of imported DLLs</a:t>
            </a:r>
            <a:endParaRPr lang="en-US" dirty="0"/>
          </a:p>
          <a:p>
            <a:r>
              <a:rPr lang="en-US" dirty="0"/>
              <a:t>(e.g., kernel32.dll)</a:t>
            </a:r>
          </a:p>
          <a:p>
            <a:r>
              <a:rPr lang="en-US" dirty="0"/>
              <a:t>Contains pointers to:</a:t>
            </a:r>
          </a:p>
          <a:p>
            <a:pPr lvl="1"/>
            <a:r>
              <a:rPr lang="en-US" dirty="0"/>
              <a:t>Import Name Table</a:t>
            </a:r>
          </a:p>
          <a:p>
            <a:pPr lvl="1"/>
            <a:r>
              <a:rPr lang="en-US" dirty="0"/>
              <a:t>Import Address Table</a:t>
            </a:r>
          </a:p>
          <a:p>
            <a:endParaRPr lang="en-IN" dirty="0"/>
          </a:p>
        </p:txBody>
      </p:sp>
    </p:spTree>
    <p:extLst>
      <p:ext uri="{BB962C8B-B14F-4D97-AF65-F5344CB8AC3E}">
        <p14:creationId xmlns:p14="http://schemas.microsoft.com/office/powerpoint/2010/main" val="811205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BD98FC-0AC5-5ADE-FCD3-DE59D366446F}"/>
              </a:ext>
            </a:extLst>
          </p:cNvPr>
          <p:cNvPicPr>
            <a:picLocks noGrp="1" noChangeAspect="1"/>
          </p:cNvPicPr>
          <p:nvPr>
            <p:ph idx="1"/>
          </p:nvPr>
        </p:nvPicPr>
        <p:blipFill>
          <a:blip r:embed="rId2"/>
          <a:stretch>
            <a:fillRect/>
          </a:stretch>
        </p:blipFill>
        <p:spPr>
          <a:xfrm>
            <a:off x="1520991" y="1266569"/>
            <a:ext cx="9150018" cy="3742812"/>
          </a:xfrm>
          <a:prstGeom prst="rect">
            <a:avLst/>
          </a:prstGeom>
        </p:spPr>
      </p:pic>
    </p:spTree>
    <p:extLst>
      <p:ext uri="{BB962C8B-B14F-4D97-AF65-F5344CB8AC3E}">
        <p14:creationId xmlns:p14="http://schemas.microsoft.com/office/powerpoint/2010/main" val="214066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CD08-9861-BDAF-A471-7ED4A8AC18E7}"/>
              </a:ext>
            </a:extLst>
          </p:cNvPr>
          <p:cNvSpPr>
            <a:spLocks noGrp="1"/>
          </p:cNvSpPr>
          <p:nvPr>
            <p:ph type="title"/>
          </p:nvPr>
        </p:nvSpPr>
        <p:spPr>
          <a:xfrm>
            <a:off x="723626" y="499533"/>
            <a:ext cx="10706373" cy="1145071"/>
          </a:xfrm>
        </p:spPr>
        <p:txBody>
          <a:bodyPr/>
          <a:lstStyle/>
          <a:p>
            <a:r>
              <a:rPr lang="en-IN" dirty="0"/>
              <a:t>Section Header </a:t>
            </a:r>
          </a:p>
        </p:txBody>
      </p:sp>
      <p:pic>
        <p:nvPicPr>
          <p:cNvPr id="5" name="Content Placeholder 4">
            <a:extLst>
              <a:ext uri="{FF2B5EF4-FFF2-40B4-BE49-F238E27FC236}">
                <a16:creationId xmlns:a16="http://schemas.microsoft.com/office/drawing/2014/main" id="{6D077A7F-AA1D-6427-4B33-FF469B0792EB}"/>
              </a:ext>
            </a:extLst>
          </p:cNvPr>
          <p:cNvPicPr>
            <a:picLocks noGrp="1" noChangeAspect="1"/>
          </p:cNvPicPr>
          <p:nvPr>
            <p:ph idx="1"/>
          </p:nvPr>
        </p:nvPicPr>
        <p:blipFill>
          <a:blip r:embed="rId2"/>
          <a:stretch>
            <a:fillRect/>
          </a:stretch>
        </p:blipFill>
        <p:spPr>
          <a:xfrm>
            <a:off x="5397590" y="93164"/>
            <a:ext cx="6200159" cy="6623400"/>
          </a:xfrm>
          <a:prstGeom prst="rect">
            <a:avLst/>
          </a:prstGeom>
        </p:spPr>
      </p:pic>
    </p:spTree>
    <p:extLst>
      <p:ext uri="{BB962C8B-B14F-4D97-AF65-F5344CB8AC3E}">
        <p14:creationId xmlns:p14="http://schemas.microsoft.com/office/powerpoint/2010/main" val="1507038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62C3-F9AE-3184-E46D-52D7A3DC5231}"/>
              </a:ext>
            </a:extLst>
          </p:cNvPr>
          <p:cNvSpPr>
            <a:spLocks noGrp="1"/>
          </p:cNvSpPr>
          <p:nvPr>
            <p:ph type="title"/>
          </p:nvPr>
        </p:nvSpPr>
        <p:spPr>
          <a:xfrm>
            <a:off x="676274" y="499533"/>
            <a:ext cx="10753725" cy="1138493"/>
          </a:xfrm>
        </p:spPr>
        <p:txBody>
          <a:bodyPr/>
          <a:lstStyle/>
          <a:p>
            <a:r>
              <a:rPr lang="en-IN" dirty="0"/>
              <a:t>Section Header Fields</a:t>
            </a:r>
          </a:p>
        </p:txBody>
      </p:sp>
      <p:sp>
        <p:nvSpPr>
          <p:cNvPr id="3" name="Content Placeholder 2">
            <a:extLst>
              <a:ext uri="{FF2B5EF4-FFF2-40B4-BE49-F238E27FC236}">
                <a16:creationId xmlns:a16="http://schemas.microsoft.com/office/drawing/2014/main" id="{56F12889-0E91-C0EC-D47F-714D4BF92504}"/>
              </a:ext>
            </a:extLst>
          </p:cNvPr>
          <p:cNvSpPr>
            <a:spLocks noGrp="1"/>
          </p:cNvSpPr>
          <p:nvPr>
            <p:ph idx="1"/>
          </p:nvPr>
        </p:nvSpPr>
        <p:spPr>
          <a:xfrm>
            <a:off x="676274" y="1690654"/>
            <a:ext cx="10754107" cy="4087212"/>
          </a:xfrm>
        </p:spPr>
        <p:txBody>
          <a:bodyPr/>
          <a:lstStyle/>
          <a:p>
            <a:r>
              <a:rPr lang="en-US" sz="2800" b="1" dirty="0"/>
              <a:t>Name:</a:t>
            </a:r>
            <a:r>
              <a:rPr lang="en-US" sz="2800" dirty="0"/>
              <a:t> First field of the Section Header, a byte array of the size IMAGE_SIZEOF_SHORT_NAME that holds the name of the section. IMAGE_SIZEOF_SHORT_NAME has the value of 8 meaning that a section name can’t be longer than 8 characters. For longer names the official documentation mentions a work-around by filling this field with an offset in the string table, however executable images do not use a string table so this limitation of 8 characters holds for executable images.</a:t>
            </a:r>
          </a:p>
          <a:p>
            <a:r>
              <a:rPr lang="en-US" sz="2800" b="1" dirty="0" err="1"/>
              <a:t>PhysicalAddress</a:t>
            </a:r>
            <a:r>
              <a:rPr lang="en-US" sz="2800" b="1" dirty="0"/>
              <a:t> or </a:t>
            </a:r>
            <a:r>
              <a:rPr lang="en-US" sz="2800" b="1" dirty="0" err="1"/>
              <a:t>VirtualSize</a:t>
            </a:r>
            <a:r>
              <a:rPr lang="en-US" sz="2800" b="1" dirty="0"/>
              <a:t>:</a:t>
            </a:r>
            <a:r>
              <a:rPr lang="en-US" sz="2800" dirty="0"/>
              <a:t> A union defines multiple names for the same thing, this field contains the total size of the section when it’s loaded in memory</a:t>
            </a:r>
          </a:p>
          <a:p>
            <a:endParaRPr lang="en-IN" dirty="0"/>
          </a:p>
        </p:txBody>
      </p:sp>
    </p:spTree>
    <p:extLst>
      <p:ext uri="{BB962C8B-B14F-4D97-AF65-F5344CB8AC3E}">
        <p14:creationId xmlns:p14="http://schemas.microsoft.com/office/powerpoint/2010/main" val="849538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59ED-9B04-D3FC-E8B5-7709EC18359E}"/>
              </a:ext>
            </a:extLst>
          </p:cNvPr>
          <p:cNvSpPr>
            <a:spLocks noGrp="1"/>
          </p:cNvSpPr>
          <p:nvPr>
            <p:ph type="title"/>
          </p:nvPr>
        </p:nvSpPr>
        <p:spPr/>
        <p:txBody>
          <a:bodyPr/>
          <a:lstStyle/>
          <a:p>
            <a:r>
              <a:rPr lang="en-IN" dirty="0"/>
              <a:t>Section Header Fields</a:t>
            </a:r>
          </a:p>
        </p:txBody>
      </p:sp>
      <p:sp>
        <p:nvSpPr>
          <p:cNvPr id="3" name="Content Placeholder 2">
            <a:extLst>
              <a:ext uri="{FF2B5EF4-FFF2-40B4-BE49-F238E27FC236}">
                <a16:creationId xmlns:a16="http://schemas.microsoft.com/office/drawing/2014/main" id="{2367E9A7-2794-FACA-7335-16785B861D0C}"/>
              </a:ext>
            </a:extLst>
          </p:cNvPr>
          <p:cNvSpPr>
            <a:spLocks noGrp="1"/>
          </p:cNvSpPr>
          <p:nvPr>
            <p:ph idx="1"/>
          </p:nvPr>
        </p:nvSpPr>
        <p:spPr>
          <a:xfrm>
            <a:off x="676656" y="2011680"/>
            <a:ext cx="10753725" cy="4432369"/>
          </a:xfrm>
        </p:spPr>
        <p:txBody>
          <a:bodyPr>
            <a:normAutofit/>
          </a:bodyPr>
          <a:lstStyle/>
          <a:p>
            <a:r>
              <a:rPr lang="en-US" b="1" dirty="0" err="1"/>
              <a:t>VirtualAddress</a:t>
            </a:r>
            <a:r>
              <a:rPr lang="en-US" b="1" dirty="0"/>
              <a:t>:</a:t>
            </a:r>
            <a:r>
              <a:rPr lang="en-US" dirty="0"/>
              <a:t> The documentation states that for executable images this field holds the address of the first byte of the section relative to the image base when loaded in memory, and for object files it holds the address of the first byte of the section before relocation is applied.</a:t>
            </a:r>
          </a:p>
          <a:p>
            <a:r>
              <a:rPr lang="en-US" b="1" dirty="0" err="1"/>
              <a:t>SizeOfRawData</a:t>
            </a:r>
            <a:r>
              <a:rPr lang="en-US" b="1" dirty="0"/>
              <a:t>:</a:t>
            </a:r>
            <a:r>
              <a:rPr lang="en-US" dirty="0"/>
              <a:t> </a:t>
            </a:r>
          </a:p>
          <a:p>
            <a:pPr>
              <a:buFont typeface="Arial" panose="020B0604020202020204" pitchFamily="34" charset="0"/>
              <a:buChar char="•"/>
            </a:pPr>
            <a:r>
              <a:rPr lang="en-US" dirty="0"/>
              <a:t>This field contains the size of the section on disk, it must be a multiple of </a:t>
            </a:r>
            <a:r>
              <a:rPr lang="en-US" dirty="0" err="1"/>
              <a:t>IMAGE_OPTIONAL_HEADER.FileAlignment</a:t>
            </a:r>
            <a:r>
              <a:rPr lang="en-US" dirty="0"/>
              <a:t>.</a:t>
            </a:r>
          </a:p>
          <a:p>
            <a:pPr>
              <a:buFont typeface="Arial" panose="020B0604020202020204" pitchFamily="34" charset="0"/>
              <a:buChar char="•"/>
            </a:pPr>
            <a:r>
              <a:rPr lang="en-US" dirty="0" err="1"/>
              <a:t>SizeOfRawData</a:t>
            </a:r>
            <a:r>
              <a:rPr lang="en-US" dirty="0"/>
              <a:t> and </a:t>
            </a:r>
            <a:r>
              <a:rPr lang="en-US" dirty="0" err="1"/>
              <a:t>VirtualSize</a:t>
            </a:r>
            <a:r>
              <a:rPr lang="en-US" dirty="0"/>
              <a:t> can be different</a:t>
            </a:r>
          </a:p>
          <a:p>
            <a:pPr marL="0" indent="0">
              <a:buNone/>
            </a:pPr>
            <a:r>
              <a:rPr lang="en-US" b="1" dirty="0"/>
              <a:t>Characteristics:</a:t>
            </a:r>
            <a:r>
              <a:rPr lang="en-US" dirty="0"/>
              <a:t> Flags that describe the characteristics of the section.</a:t>
            </a:r>
            <a:br>
              <a:rPr lang="en-US" dirty="0"/>
            </a:br>
            <a:r>
              <a:rPr lang="en-US" dirty="0"/>
              <a:t>These characteristics are things like if the section contains executable code, contains initialized/uninitialized data, can be shared in memory</a:t>
            </a:r>
          </a:p>
        </p:txBody>
      </p:sp>
    </p:spTree>
    <p:extLst>
      <p:ext uri="{BB962C8B-B14F-4D97-AF65-F5344CB8AC3E}">
        <p14:creationId xmlns:p14="http://schemas.microsoft.com/office/powerpoint/2010/main" val="193675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28C7-529B-D8F9-326B-25E49B9E0BAE}"/>
              </a:ext>
            </a:extLst>
          </p:cNvPr>
          <p:cNvSpPr>
            <a:spLocks noGrp="1"/>
          </p:cNvSpPr>
          <p:nvPr>
            <p:ph type="title"/>
          </p:nvPr>
        </p:nvSpPr>
        <p:spPr/>
        <p:txBody>
          <a:bodyPr/>
          <a:lstStyle/>
          <a:p>
            <a:r>
              <a:rPr lang="en-IN" dirty="0"/>
              <a:t>Other Content of a PE File</a:t>
            </a:r>
          </a:p>
        </p:txBody>
      </p:sp>
      <p:sp>
        <p:nvSpPr>
          <p:cNvPr id="3" name="Content Placeholder 2">
            <a:extLst>
              <a:ext uri="{FF2B5EF4-FFF2-40B4-BE49-F238E27FC236}">
                <a16:creationId xmlns:a16="http://schemas.microsoft.com/office/drawing/2014/main" id="{FDFF47B5-A70E-B651-D68A-FE44EBF90989}"/>
              </a:ext>
            </a:extLst>
          </p:cNvPr>
          <p:cNvSpPr>
            <a:spLocks noGrp="1"/>
          </p:cNvSpPr>
          <p:nvPr>
            <p:ph idx="1"/>
          </p:nvPr>
        </p:nvSpPr>
        <p:spPr/>
        <p:txBody>
          <a:bodyPr/>
          <a:lstStyle/>
          <a:p>
            <a:r>
              <a:rPr lang="en-US" dirty="0"/>
              <a:t>Besides standard sections like </a:t>
            </a:r>
            <a:r>
              <a:rPr lang="en-US" b="1" dirty="0"/>
              <a:t>.text, .data, .</a:t>
            </a:r>
            <a:r>
              <a:rPr lang="en-US" b="1" dirty="0" err="1"/>
              <a:t>rsrc</a:t>
            </a:r>
            <a:r>
              <a:rPr lang="en-US" dirty="0"/>
              <a:t>, a PE file contains additional metadata and structures that support linking, loading, and security.</a:t>
            </a:r>
          </a:p>
          <a:p>
            <a:r>
              <a:rPr lang="en-US" dirty="0"/>
              <a:t>Important additional contents include:</a:t>
            </a:r>
          </a:p>
          <a:p>
            <a:pPr>
              <a:buFont typeface="Wingdings" panose="05000000000000000000" pitchFamily="2" charset="2"/>
              <a:buChar char="Ø"/>
            </a:pPr>
            <a:r>
              <a:rPr lang="en-US" b="1" dirty="0"/>
              <a:t>Relocation information</a:t>
            </a:r>
            <a:endParaRPr lang="en-US" dirty="0"/>
          </a:p>
          <a:p>
            <a:pPr>
              <a:buFont typeface="Wingdings" panose="05000000000000000000" pitchFamily="2" charset="2"/>
              <a:buChar char="Ø"/>
            </a:pPr>
            <a:r>
              <a:rPr lang="en-US" b="1" dirty="0"/>
              <a:t>Symbol information</a:t>
            </a:r>
            <a:endParaRPr lang="en-US" dirty="0"/>
          </a:p>
          <a:p>
            <a:pPr>
              <a:buFont typeface="Wingdings" panose="05000000000000000000" pitchFamily="2" charset="2"/>
              <a:buChar char="Ø"/>
            </a:pPr>
            <a:r>
              <a:rPr lang="en-US" b="1" dirty="0"/>
              <a:t>Strings</a:t>
            </a:r>
            <a:endParaRPr lang="en-US" dirty="0"/>
          </a:p>
          <a:p>
            <a:pPr>
              <a:buFont typeface="Wingdings" panose="05000000000000000000" pitchFamily="2" charset="2"/>
              <a:buChar char="Ø"/>
            </a:pPr>
            <a:r>
              <a:rPr lang="en-US" b="1" dirty="0"/>
              <a:t>Certificates (Authenticode)</a:t>
            </a:r>
            <a:endParaRPr lang="en-US" dirty="0"/>
          </a:p>
          <a:p>
            <a:r>
              <a:rPr lang="en-US" dirty="0"/>
              <a:t>These are stored in </a:t>
            </a:r>
            <a:r>
              <a:rPr lang="en-US" b="1" dirty="0"/>
              <a:t>special sections or data directories</a:t>
            </a:r>
            <a:r>
              <a:rPr lang="en-US" dirty="0"/>
              <a:t>.</a:t>
            </a:r>
          </a:p>
          <a:p>
            <a:endParaRPr lang="en-IN" dirty="0"/>
          </a:p>
        </p:txBody>
      </p:sp>
    </p:spTree>
    <p:extLst>
      <p:ext uri="{BB962C8B-B14F-4D97-AF65-F5344CB8AC3E}">
        <p14:creationId xmlns:p14="http://schemas.microsoft.com/office/powerpoint/2010/main" val="2000509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89842-FE04-E2BA-C1B6-F6130C6105C1}"/>
              </a:ext>
            </a:extLst>
          </p:cNvPr>
          <p:cNvSpPr>
            <a:spLocks noGrp="1"/>
          </p:cNvSpPr>
          <p:nvPr>
            <p:ph type="title"/>
          </p:nvPr>
        </p:nvSpPr>
        <p:spPr/>
        <p:txBody>
          <a:bodyPr/>
          <a:lstStyle/>
          <a:p>
            <a:r>
              <a:rPr lang="en-IN" dirty="0"/>
              <a:t>Relocation Information</a:t>
            </a:r>
          </a:p>
        </p:txBody>
      </p:sp>
      <p:sp>
        <p:nvSpPr>
          <p:cNvPr id="3" name="Content Placeholder 2">
            <a:extLst>
              <a:ext uri="{FF2B5EF4-FFF2-40B4-BE49-F238E27FC236}">
                <a16:creationId xmlns:a16="http://schemas.microsoft.com/office/drawing/2014/main" id="{E709B853-DB00-B9DE-EECC-776E836F9BEF}"/>
              </a:ext>
            </a:extLst>
          </p:cNvPr>
          <p:cNvSpPr>
            <a:spLocks noGrp="1"/>
          </p:cNvSpPr>
          <p:nvPr>
            <p:ph idx="1"/>
          </p:nvPr>
        </p:nvSpPr>
        <p:spPr/>
        <p:txBody>
          <a:bodyPr>
            <a:normAutofit/>
          </a:bodyPr>
          <a:lstStyle/>
          <a:p>
            <a:r>
              <a:rPr lang="en-US" dirty="0"/>
              <a:t>Relocation information allows Windows to load a program at a different memory address than its preferred base address.</a:t>
            </a:r>
          </a:p>
          <a:p>
            <a:r>
              <a:rPr lang="en-US" dirty="0"/>
              <a:t>Normally, an executable prefers to load at its </a:t>
            </a:r>
            <a:r>
              <a:rPr lang="en-US" b="1" dirty="0"/>
              <a:t>Image Base</a:t>
            </a:r>
            <a:r>
              <a:rPr lang="en-US" dirty="0"/>
              <a:t> (for example 0x00400000).</a:t>
            </a:r>
          </a:p>
          <a:p>
            <a:r>
              <a:rPr lang="en-US" dirty="0"/>
              <a:t>But if that address is already occupied, Windows relocates it.</a:t>
            </a:r>
          </a:p>
          <a:p>
            <a:r>
              <a:rPr lang="en-US" dirty="0"/>
              <a:t>Relocations are stored in:</a:t>
            </a:r>
          </a:p>
          <a:p>
            <a:r>
              <a:rPr lang="en-US" b="1" dirty="0"/>
              <a:t>.</a:t>
            </a:r>
            <a:r>
              <a:rPr lang="en-US" b="1" dirty="0" err="1"/>
              <a:t>reloc</a:t>
            </a:r>
            <a:r>
              <a:rPr lang="en-US" b="1" dirty="0"/>
              <a:t> section </a:t>
            </a:r>
            <a:r>
              <a:rPr lang="en-US" dirty="0"/>
              <a:t>and referenced by the </a:t>
            </a:r>
            <a:r>
              <a:rPr lang="en-US" b="1" dirty="0"/>
              <a:t>Base Relocation Table</a:t>
            </a:r>
            <a:r>
              <a:rPr lang="en-US" dirty="0"/>
              <a:t> in the PE Optional Header</a:t>
            </a:r>
          </a:p>
          <a:p>
            <a:r>
              <a:rPr lang="en-US" dirty="0"/>
              <a:t>Malware may remove relocation table to break loading tools or modify relocations for obfuscation</a:t>
            </a:r>
          </a:p>
          <a:p>
            <a:endParaRPr lang="en-US" dirty="0"/>
          </a:p>
          <a:p>
            <a:endParaRPr lang="en-IN" dirty="0"/>
          </a:p>
        </p:txBody>
      </p:sp>
    </p:spTree>
    <p:extLst>
      <p:ext uri="{BB962C8B-B14F-4D97-AF65-F5344CB8AC3E}">
        <p14:creationId xmlns:p14="http://schemas.microsoft.com/office/powerpoint/2010/main" val="4116764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9E69-66DA-4B56-933D-968EA0BC7545}"/>
              </a:ext>
            </a:extLst>
          </p:cNvPr>
          <p:cNvSpPr>
            <a:spLocks noGrp="1"/>
          </p:cNvSpPr>
          <p:nvPr>
            <p:ph type="title"/>
          </p:nvPr>
        </p:nvSpPr>
        <p:spPr/>
        <p:txBody>
          <a:bodyPr/>
          <a:lstStyle/>
          <a:p>
            <a:r>
              <a:rPr lang="en-IN" dirty="0"/>
              <a:t>Symbol Information</a:t>
            </a:r>
          </a:p>
        </p:txBody>
      </p:sp>
      <p:sp>
        <p:nvSpPr>
          <p:cNvPr id="3" name="Content Placeholder 2">
            <a:extLst>
              <a:ext uri="{FF2B5EF4-FFF2-40B4-BE49-F238E27FC236}">
                <a16:creationId xmlns:a16="http://schemas.microsoft.com/office/drawing/2014/main" id="{55159773-DAA6-83AA-B6DB-B8ED39B47260}"/>
              </a:ext>
            </a:extLst>
          </p:cNvPr>
          <p:cNvSpPr>
            <a:spLocks noGrp="1"/>
          </p:cNvSpPr>
          <p:nvPr>
            <p:ph idx="1"/>
          </p:nvPr>
        </p:nvSpPr>
        <p:spPr>
          <a:xfrm>
            <a:off x="592058" y="1657761"/>
            <a:ext cx="10838323" cy="4933813"/>
          </a:xfrm>
        </p:spPr>
        <p:txBody>
          <a:bodyPr>
            <a:normAutofit lnSpcReduction="10000"/>
          </a:bodyPr>
          <a:lstStyle/>
          <a:p>
            <a:r>
              <a:rPr lang="en-US" b="1" dirty="0"/>
              <a:t>What are Symbols?</a:t>
            </a:r>
          </a:p>
          <a:p>
            <a:r>
              <a:rPr lang="en-US" dirty="0"/>
              <a:t>Symbols represent </a:t>
            </a:r>
            <a:r>
              <a:rPr lang="en-US" b="1" dirty="0"/>
              <a:t>function and variable names used during compilation</a:t>
            </a:r>
            <a:endParaRPr lang="en-US" dirty="0"/>
          </a:p>
          <a:p>
            <a:r>
              <a:rPr lang="en-US" dirty="0"/>
              <a:t>E.g., </a:t>
            </a:r>
            <a:r>
              <a:rPr lang="en-US" dirty="0" err="1"/>
              <a:t>printf</a:t>
            </a:r>
            <a:r>
              <a:rPr lang="en-US" dirty="0"/>
              <a:t>, </a:t>
            </a:r>
            <a:r>
              <a:rPr lang="en-US" dirty="0" err="1"/>
              <a:t>CreateFileA</a:t>
            </a:r>
            <a:r>
              <a:rPr lang="en-US" dirty="0"/>
              <a:t>, main, </a:t>
            </a:r>
            <a:r>
              <a:rPr lang="en-US" dirty="0" err="1"/>
              <a:t>global_counter</a:t>
            </a:r>
            <a:r>
              <a:rPr lang="en-US" dirty="0"/>
              <a:t>, etc.</a:t>
            </a:r>
          </a:p>
          <a:p>
            <a:r>
              <a:rPr lang="en-US" dirty="0"/>
              <a:t>Symbols help in debugging:</a:t>
            </a:r>
          </a:p>
          <a:p>
            <a:r>
              <a:rPr lang="en-US" dirty="0"/>
              <a:t>With symbols</a:t>
            </a:r>
          </a:p>
          <a:p>
            <a:r>
              <a:rPr lang="en-IN" dirty="0"/>
              <a:t>0x401020 → main()</a:t>
            </a:r>
            <a:br>
              <a:rPr lang="en-IN" dirty="0"/>
            </a:br>
            <a:r>
              <a:rPr lang="en-IN" dirty="0"/>
              <a:t>0x401100 → </a:t>
            </a:r>
            <a:r>
              <a:rPr lang="en-IN" dirty="0" err="1"/>
              <a:t>encrypt_file</a:t>
            </a:r>
            <a:r>
              <a:rPr lang="en-IN" dirty="0"/>
              <a:t>()</a:t>
            </a:r>
          </a:p>
          <a:p>
            <a:r>
              <a:rPr lang="en-IN" dirty="0"/>
              <a:t>Without symbols</a:t>
            </a:r>
          </a:p>
          <a:p>
            <a:r>
              <a:rPr lang="en-IN" dirty="0"/>
              <a:t>sub_401020</a:t>
            </a:r>
          </a:p>
          <a:p>
            <a:r>
              <a:rPr lang="en-IN" dirty="0"/>
              <a:t>sub_401100</a:t>
            </a:r>
          </a:p>
          <a:p>
            <a:r>
              <a:rPr lang="en-US" dirty="0"/>
              <a:t>Most malware </a:t>
            </a:r>
            <a:r>
              <a:rPr lang="en-US" b="1" dirty="0"/>
              <a:t>strip symbols </a:t>
            </a:r>
            <a:r>
              <a:rPr lang="en-US" dirty="0"/>
              <a:t>to hide functionality</a:t>
            </a:r>
          </a:p>
          <a:p>
            <a:endParaRPr lang="en-IN" dirty="0"/>
          </a:p>
          <a:p>
            <a:endParaRPr lang="en-IN" dirty="0"/>
          </a:p>
          <a:p>
            <a:endParaRPr lang="en-IN" dirty="0"/>
          </a:p>
        </p:txBody>
      </p:sp>
    </p:spTree>
    <p:extLst>
      <p:ext uri="{BB962C8B-B14F-4D97-AF65-F5344CB8AC3E}">
        <p14:creationId xmlns:p14="http://schemas.microsoft.com/office/powerpoint/2010/main" val="1175447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AAFA2-B3DF-225A-CF50-D3B31A6A1A1E}"/>
              </a:ext>
            </a:extLst>
          </p:cNvPr>
          <p:cNvSpPr>
            <a:spLocks noGrp="1"/>
          </p:cNvSpPr>
          <p:nvPr>
            <p:ph type="title"/>
          </p:nvPr>
        </p:nvSpPr>
        <p:spPr/>
        <p:txBody>
          <a:bodyPr/>
          <a:lstStyle/>
          <a:p>
            <a:r>
              <a:rPr lang="en-IN" dirty="0"/>
              <a:t>Authenticode</a:t>
            </a:r>
          </a:p>
        </p:txBody>
      </p:sp>
      <p:sp>
        <p:nvSpPr>
          <p:cNvPr id="3" name="Content Placeholder 2">
            <a:extLst>
              <a:ext uri="{FF2B5EF4-FFF2-40B4-BE49-F238E27FC236}">
                <a16:creationId xmlns:a16="http://schemas.microsoft.com/office/drawing/2014/main" id="{05C1F706-DBFD-CA52-F8AB-D6CC9E0E24B5}"/>
              </a:ext>
            </a:extLst>
          </p:cNvPr>
          <p:cNvSpPr>
            <a:spLocks noGrp="1"/>
          </p:cNvSpPr>
          <p:nvPr>
            <p:ph idx="1"/>
          </p:nvPr>
        </p:nvSpPr>
        <p:spPr/>
        <p:txBody>
          <a:bodyPr/>
          <a:lstStyle/>
          <a:p>
            <a:r>
              <a:rPr lang="en-US" b="1" dirty="0"/>
              <a:t>Authenticode</a:t>
            </a:r>
            <a:r>
              <a:rPr lang="en-US" dirty="0"/>
              <a:t> is a </a:t>
            </a:r>
            <a:r>
              <a:rPr lang="en-US" b="1" dirty="0"/>
              <a:t>Microsoft code-signing technology</a:t>
            </a:r>
            <a:r>
              <a:rPr lang="en-US" dirty="0"/>
              <a:t> used to verify the </a:t>
            </a:r>
            <a:r>
              <a:rPr lang="en-US" b="1" dirty="0"/>
              <a:t>identity of the software publisher and the integrity of a program file</a:t>
            </a:r>
            <a:r>
              <a:rPr lang="en-US" dirty="0"/>
              <a:t>.</a:t>
            </a:r>
          </a:p>
          <a:p>
            <a:r>
              <a:rPr lang="en-US" dirty="0"/>
              <a:t>Before code signing, users could not verify whether an executable was genuine software or malware disguised as legitimate software. Authenticode solves this by using </a:t>
            </a:r>
            <a:r>
              <a:rPr lang="en-US" b="1" dirty="0"/>
              <a:t>digital signatures and certificates</a:t>
            </a:r>
            <a:r>
              <a:rPr lang="en-US" dirty="0"/>
              <a:t>.</a:t>
            </a:r>
          </a:p>
          <a:p>
            <a:endParaRPr lang="en-IN" dirty="0"/>
          </a:p>
        </p:txBody>
      </p:sp>
    </p:spTree>
    <p:extLst>
      <p:ext uri="{BB962C8B-B14F-4D97-AF65-F5344CB8AC3E}">
        <p14:creationId xmlns:p14="http://schemas.microsoft.com/office/powerpoint/2010/main" val="89536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9FCB-A2B2-89DE-7F5C-7B87067AE3D0}"/>
              </a:ext>
            </a:extLst>
          </p:cNvPr>
          <p:cNvSpPr>
            <a:spLocks noGrp="1"/>
          </p:cNvSpPr>
          <p:nvPr>
            <p:ph type="title"/>
          </p:nvPr>
        </p:nvSpPr>
        <p:spPr/>
        <p:txBody>
          <a:bodyPr/>
          <a:lstStyle/>
          <a:p>
            <a:r>
              <a:rPr lang="en-IN" dirty="0"/>
              <a:t>How Authenticode works?</a:t>
            </a:r>
          </a:p>
        </p:txBody>
      </p:sp>
      <p:sp>
        <p:nvSpPr>
          <p:cNvPr id="3" name="Content Placeholder 2">
            <a:extLst>
              <a:ext uri="{FF2B5EF4-FFF2-40B4-BE49-F238E27FC236}">
                <a16:creationId xmlns:a16="http://schemas.microsoft.com/office/drawing/2014/main" id="{C7B86EF5-4858-B852-1A4C-49D067D76E99}"/>
              </a:ext>
            </a:extLst>
          </p:cNvPr>
          <p:cNvSpPr>
            <a:spLocks noGrp="1"/>
          </p:cNvSpPr>
          <p:nvPr>
            <p:ph idx="1"/>
          </p:nvPr>
        </p:nvSpPr>
        <p:spPr/>
        <p:txBody>
          <a:bodyPr>
            <a:normAutofit/>
          </a:bodyPr>
          <a:lstStyle/>
          <a:p>
            <a:r>
              <a:rPr lang="en-IN" dirty="0"/>
              <a:t>1. </a:t>
            </a:r>
            <a:r>
              <a:rPr lang="en-US" dirty="0"/>
              <a:t>The developer uses a </a:t>
            </a:r>
            <a:r>
              <a:rPr lang="en-US" b="1" dirty="0"/>
              <a:t>code-signing certificate</a:t>
            </a:r>
            <a:r>
              <a:rPr lang="en-US" dirty="0"/>
              <a:t> issued by a trusted Certificate Authority (CA).</a:t>
            </a:r>
          </a:p>
          <a:p>
            <a:r>
              <a:rPr lang="en-US" dirty="0"/>
              <a:t>2. A hash of the executable is created. </a:t>
            </a:r>
            <a:r>
              <a:rPr lang="en-US" b="1" dirty="0"/>
              <a:t>The hash is encrypted using the developer's private key. </a:t>
            </a:r>
            <a:r>
              <a:rPr lang="en-US" dirty="0"/>
              <a:t>This becomes the </a:t>
            </a:r>
            <a:r>
              <a:rPr lang="en-US" b="1" dirty="0"/>
              <a:t>digital signature</a:t>
            </a:r>
            <a:r>
              <a:rPr lang="en-US" dirty="0"/>
              <a:t>.</a:t>
            </a:r>
          </a:p>
          <a:p>
            <a:r>
              <a:rPr lang="en-US" dirty="0"/>
              <a:t>3. The signature is placed in the Certificate Table inside the PE structure.</a:t>
            </a:r>
          </a:p>
          <a:p>
            <a:r>
              <a:rPr lang="en-US" dirty="0"/>
              <a:t>4. Windows verifies that a)certificate chain is trusted, b) file hash matches signature. c) Certificate is not revoked.</a:t>
            </a:r>
          </a:p>
          <a:p>
            <a:r>
              <a:rPr lang="en-US" dirty="0"/>
              <a:t>5.If valid: Publisher is verified, else unknown publisher</a:t>
            </a:r>
          </a:p>
          <a:p>
            <a:endParaRPr lang="en-US" dirty="0"/>
          </a:p>
          <a:p>
            <a:endParaRPr lang="en-US" dirty="0"/>
          </a:p>
          <a:p>
            <a:endParaRPr lang="en-IN" dirty="0"/>
          </a:p>
        </p:txBody>
      </p:sp>
    </p:spTree>
    <p:extLst>
      <p:ext uri="{BB962C8B-B14F-4D97-AF65-F5344CB8AC3E}">
        <p14:creationId xmlns:p14="http://schemas.microsoft.com/office/powerpoint/2010/main" val="21133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8982-CFEE-474C-0B13-9F394ADC625E}"/>
              </a:ext>
            </a:extLst>
          </p:cNvPr>
          <p:cNvSpPr>
            <a:spLocks noGrp="1"/>
          </p:cNvSpPr>
          <p:nvPr>
            <p:ph type="title"/>
          </p:nvPr>
        </p:nvSpPr>
        <p:spPr/>
        <p:txBody>
          <a:bodyPr/>
          <a:lstStyle/>
          <a:p>
            <a:r>
              <a:rPr lang="en-IN" dirty="0"/>
              <a:t>Location of Authenticode</a:t>
            </a:r>
          </a:p>
        </p:txBody>
      </p:sp>
      <p:sp>
        <p:nvSpPr>
          <p:cNvPr id="3" name="Content Placeholder 2">
            <a:extLst>
              <a:ext uri="{FF2B5EF4-FFF2-40B4-BE49-F238E27FC236}">
                <a16:creationId xmlns:a16="http://schemas.microsoft.com/office/drawing/2014/main" id="{2A00F98F-4187-3129-9AF3-5EFA4AE284CA}"/>
              </a:ext>
            </a:extLst>
          </p:cNvPr>
          <p:cNvSpPr>
            <a:spLocks noGrp="1"/>
          </p:cNvSpPr>
          <p:nvPr>
            <p:ph idx="1"/>
          </p:nvPr>
        </p:nvSpPr>
        <p:spPr/>
        <p:txBody>
          <a:bodyPr/>
          <a:lstStyle/>
          <a:p>
            <a:r>
              <a:rPr lang="en-IN" dirty="0"/>
              <a:t>In a PE File Authenticode is stored in:</a:t>
            </a:r>
          </a:p>
          <a:p>
            <a:r>
              <a:rPr lang="en-IN" dirty="0"/>
              <a:t>IMAGE_DIRECTORY_ENTRY_SECURITY</a:t>
            </a:r>
          </a:p>
          <a:p>
            <a:r>
              <a:rPr lang="en-US" dirty="0"/>
              <a:t>This is part of the </a:t>
            </a:r>
            <a:r>
              <a:rPr lang="en-US" b="1" dirty="0"/>
              <a:t>PE Optional Header Data Directory</a:t>
            </a:r>
          </a:p>
          <a:p>
            <a:r>
              <a:rPr lang="en-US" dirty="0"/>
              <a:t>This section is </a:t>
            </a:r>
            <a:r>
              <a:rPr lang="en-US" b="1" dirty="0"/>
              <a:t>not loaded into memory</a:t>
            </a:r>
            <a:endParaRPr lang="en-IN" dirty="0"/>
          </a:p>
        </p:txBody>
      </p:sp>
    </p:spTree>
    <p:extLst>
      <p:ext uri="{BB962C8B-B14F-4D97-AF65-F5344CB8AC3E}">
        <p14:creationId xmlns:p14="http://schemas.microsoft.com/office/powerpoint/2010/main" val="1630695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F601F-D713-EDE2-D3D4-695CE5097E7F}"/>
              </a:ext>
            </a:extLst>
          </p:cNvPr>
          <p:cNvSpPr>
            <a:spLocks noGrp="1"/>
          </p:cNvSpPr>
          <p:nvPr>
            <p:ph type="title"/>
          </p:nvPr>
        </p:nvSpPr>
        <p:spPr>
          <a:xfrm>
            <a:off x="657224" y="499533"/>
            <a:ext cx="11164192" cy="1658198"/>
          </a:xfrm>
        </p:spPr>
        <p:txBody>
          <a:bodyPr/>
          <a:lstStyle/>
          <a:p>
            <a:r>
              <a:rPr lang="en-IN" dirty="0"/>
              <a:t>Use of Authenticode in Malware Analysis</a:t>
            </a:r>
          </a:p>
        </p:txBody>
      </p:sp>
      <p:sp>
        <p:nvSpPr>
          <p:cNvPr id="3" name="Content Placeholder 2">
            <a:extLst>
              <a:ext uri="{FF2B5EF4-FFF2-40B4-BE49-F238E27FC236}">
                <a16:creationId xmlns:a16="http://schemas.microsoft.com/office/drawing/2014/main" id="{7BE4A8E5-9CC3-4D0D-6E27-807671842342}"/>
              </a:ext>
            </a:extLst>
          </p:cNvPr>
          <p:cNvSpPr>
            <a:spLocks noGrp="1"/>
          </p:cNvSpPr>
          <p:nvPr>
            <p:ph idx="1"/>
          </p:nvPr>
        </p:nvSpPr>
        <p:spPr/>
        <p:txBody>
          <a:bodyPr/>
          <a:lstStyle/>
          <a:p>
            <a:r>
              <a:rPr lang="en-IN" dirty="0"/>
              <a:t>Malware often uses fake, stolen, expired, self-signed certificates.</a:t>
            </a:r>
          </a:p>
          <a:p>
            <a:r>
              <a:rPr lang="en-IN" dirty="0"/>
              <a:t>Analysts check:</a:t>
            </a:r>
          </a:p>
          <a:p>
            <a:pPr lvl="0"/>
            <a:r>
              <a:rPr lang="en-IN" dirty="0"/>
              <a:t>1. Is the file signed?</a:t>
            </a:r>
          </a:p>
          <a:p>
            <a:pPr lvl="0"/>
            <a:r>
              <a:rPr lang="en-IN" dirty="0"/>
              <a:t>2. Is the certificate valid?</a:t>
            </a:r>
          </a:p>
          <a:p>
            <a:pPr lvl="0"/>
            <a:r>
              <a:rPr lang="en-IN" dirty="0"/>
              <a:t>3. Is the publisher suspicious?</a:t>
            </a:r>
          </a:p>
          <a:p>
            <a:endParaRPr lang="en-IN" dirty="0"/>
          </a:p>
        </p:txBody>
      </p:sp>
    </p:spTree>
    <p:extLst>
      <p:ext uri="{BB962C8B-B14F-4D97-AF65-F5344CB8AC3E}">
        <p14:creationId xmlns:p14="http://schemas.microsoft.com/office/powerpoint/2010/main" val="183099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9C21-4267-4FE8-212F-F83F8865779B}"/>
              </a:ext>
            </a:extLst>
          </p:cNvPr>
          <p:cNvSpPr>
            <a:spLocks noGrp="1"/>
          </p:cNvSpPr>
          <p:nvPr>
            <p:ph type="title"/>
          </p:nvPr>
        </p:nvSpPr>
        <p:spPr/>
        <p:txBody>
          <a:bodyPr>
            <a:normAutofit fontScale="90000"/>
          </a:bodyPr>
          <a:lstStyle/>
          <a:p>
            <a:r>
              <a:rPr lang="en-IN" dirty="0"/>
              <a:t>Tools to check signing of Malware Executables: sigcheck.exe (</a:t>
            </a:r>
            <a:r>
              <a:rPr lang="en-IN" dirty="0" err="1"/>
              <a:t>Sysinternals</a:t>
            </a:r>
            <a:r>
              <a:rPr lang="en-IN" dirty="0"/>
              <a:t> tools)</a:t>
            </a:r>
          </a:p>
        </p:txBody>
      </p:sp>
      <p:pic>
        <p:nvPicPr>
          <p:cNvPr id="5" name="Content Placeholder 4">
            <a:extLst>
              <a:ext uri="{FF2B5EF4-FFF2-40B4-BE49-F238E27FC236}">
                <a16:creationId xmlns:a16="http://schemas.microsoft.com/office/drawing/2014/main" id="{EEC45887-1DB5-1006-D965-FC72E94A7C4D}"/>
              </a:ext>
            </a:extLst>
          </p:cNvPr>
          <p:cNvPicPr>
            <a:picLocks noGrp="1" noChangeAspect="1"/>
          </p:cNvPicPr>
          <p:nvPr>
            <p:ph idx="1"/>
          </p:nvPr>
        </p:nvPicPr>
        <p:blipFill>
          <a:blip r:embed="rId2"/>
          <a:stretch>
            <a:fillRect/>
          </a:stretch>
        </p:blipFill>
        <p:spPr>
          <a:xfrm>
            <a:off x="1404869" y="2591330"/>
            <a:ext cx="9277484" cy="3767137"/>
          </a:xfrm>
          <a:prstGeom prst="rect">
            <a:avLst/>
          </a:prstGeom>
        </p:spPr>
      </p:pic>
    </p:spTree>
    <p:extLst>
      <p:ext uri="{BB962C8B-B14F-4D97-AF65-F5344CB8AC3E}">
        <p14:creationId xmlns:p14="http://schemas.microsoft.com/office/powerpoint/2010/main" val="2403914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78F21-5F91-92C1-8F05-79EDE352E5CB}"/>
              </a:ext>
            </a:extLst>
          </p:cNvPr>
          <p:cNvSpPr>
            <a:spLocks noGrp="1"/>
          </p:cNvSpPr>
          <p:nvPr>
            <p:ph type="title"/>
          </p:nvPr>
        </p:nvSpPr>
        <p:spPr>
          <a:xfrm>
            <a:off x="4129473" y="2297441"/>
            <a:ext cx="3476111" cy="1658198"/>
          </a:xfrm>
        </p:spPr>
        <p:txBody>
          <a:bodyPr/>
          <a:lstStyle/>
          <a:p>
            <a:r>
              <a:rPr lang="en-IN" dirty="0"/>
              <a:t>Thank You!</a:t>
            </a:r>
          </a:p>
        </p:txBody>
      </p:sp>
    </p:spTree>
    <p:extLst>
      <p:ext uri="{BB962C8B-B14F-4D97-AF65-F5344CB8AC3E}">
        <p14:creationId xmlns:p14="http://schemas.microsoft.com/office/powerpoint/2010/main" val="258945708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456</TotalTime>
  <Words>762</Words>
  <Application>Microsoft Office PowerPoint</Application>
  <PresentationFormat>Widescreen</PresentationFormat>
  <Paragraphs>71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 Light</vt:lpstr>
      <vt:lpstr>Wingdings</vt:lpstr>
      <vt:lpstr>Metropolitan</vt:lpstr>
      <vt:lpstr>Data Directories &amp; Section Headers</vt:lpstr>
      <vt:lpstr>PowerPoint Presentation</vt:lpstr>
      <vt:lpstr>PowerPoint Presentation</vt:lpstr>
      <vt:lpstr>PowerPoint Presentation</vt:lpstr>
      <vt:lpstr>Import Directory Table </vt:lpstr>
      <vt:lpstr>PowerPoint Presentation</vt:lpstr>
      <vt:lpstr>Section Header </vt:lpstr>
      <vt:lpstr>Section Header Fields</vt:lpstr>
      <vt:lpstr>Section Header Fields</vt:lpstr>
      <vt:lpstr>Other Content of a PE File</vt:lpstr>
      <vt:lpstr>Relocation Information</vt:lpstr>
      <vt:lpstr>Symbol Information</vt:lpstr>
      <vt:lpstr>Authenticode</vt:lpstr>
      <vt:lpstr>How Authenticode works?</vt:lpstr>
      <vt:lpstr>Location of Authenticode</vt:lpstr>
      <vt:lpstr>Use of Authenticode in Malware Analysis</vt:lpstr>
      <vt:lpstr>Tools to check signing of Malware Executables: sigcheck.exe (Sysinternals tools)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Modhuparna Manna</dc:creator>
  <cp:lastModifiedBy>Modhuparna Manna</cp:lastModifiedBy>
  <cp:revision>12</cp:revision>
  <dcterms:created xsi:type="dcterms:W3CDTF">2026-02-01T13:48:41Z</dcterms:created>
  <dcterms:modified xsi:type="dcterms:W3CDTF">2026-03-08T09:07:07Z</dcterms:modified>
</cp:coreProperties>
</file>