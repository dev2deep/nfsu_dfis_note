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7" r:id="rId8"/>
    <p:sldId id="263" r:id="rId9"/>
    <p:sldId id="268" r:id="rId10"/>
    <p:sldId id="264" r:id="rId11"/>
    <p:sldId id="265" r:id="rId12"/>
    <p:sldId id="266" r:id="rId13"/>
    <p:sldId id="269" r:id="rId14"/>
    <p:sldId id="277" r:id="rId15"/>
    <p:sldId id="270" r:id="rId16"/>
    <p:sldId id="272" r:id="rId17"/>
    <p:sldId id="276" r:id="rId18"/>
    <p:sldId id="271" r:id="rId19"/>
    <p:sldId id="273" r:id="rId20"/>
    <p:sldId id="274" r:id="rId21"/>
    <p:sldId id="275"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7" autoAdjust="0"/>
    <p:restoredTop sz="94660"/>
  </p:normalViewPr>
  <p:slideViewPr>
    <p:cSldViewPr snapToGrid="0">
      <p:cViewPr varScale="1">
        <p:scale>
          <a:sx n="62" d="100"/>
          <a:sy n="62" d="100"/>
        </p:scale>
        <p:origin x="840" y="2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5C4C9-45E9-A0A6-C5F9-52D5012AB9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92DA88-64D4-4829-F8D6-679718A1EF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4B1559-C4D0-5CB8-B703-D105544D395F}"/>
              </a:ext>
            </a:extLst>
          </p:cNvPr>
          <p:cNvSpPr>
            <a:spLocks noGrp="1"/>
          </p:cNvSpPr>
          <p:nvPr>
            <p:ph type="dt" sz="half" idx="10"/>
          </p:nvPr>
        </p:nvSpPr>
        <p:spPr/>
        <p:txBody>
          <a:bodyPr/>
          <a:lstStyle/>
          <a:p>
            <a:fld id="{41F757D7-8C26-41C6-9B8F-F68FFB035D6A}" type="datetimeFigureOut">
              <a:rPr lang="en-IN" smtClean="0"/>
              <a:t>03-12-2025</a:t>
            </a:fld>
            <a:endParaRPr lang="en-IN"/>
          </a:p>
        </p:txBody>
      </p:sp>
      <p:sp>
        <p:nvSpPr>
          <p:cNvPr id="5" name="Footer Placeholder 4">
            <a:extLst>
              <a:ext uri="{FF2B5EF4-FFF2-40B4-BE49-F238E27FC236}">
                <a16:creationId xmlns:a16="http://schemas.microsoft.com/office/drawing/2014/main" id="{C75CD4FD-F327-45C1-2168-A6BED46BDD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71C35F-AA47-7E2D-C57F-EF8B89B50227}"/>
              </a:ext>
            </a:extLst>
          </p:cNvPr>
          <p:cNvSpPr>
            <a:spLocks noGrp="1"/>
          </p:cNvSpPr>
          <p:nvPr>
            <p:ph type="sldNum" sz="quarter" idx="12"/>
          </p:nvPr>
        </p:nvSpPr>
        <p:spPr/>
        <p:txBody>
          <a:bodyPr/>
          <a:lstStyle/>
          <a:p>
            <a:fld id="{3F84DD53-69E9-44C7-BAAC-4EBC42F4BD36}" type="slidenum">
              <a:rPr lang="en-IN" smtClean="0"/>
              <a:t>‹#›</a:t>
            </a:fld>
            <a:endParaRPr lang="en-IN"/>
          </a:p>
        </p:txBody>
      </p:sp>
    </p:spTree>
    <p:extLst>
      <p:ext uri="{BB962C8B-B14F-4D97-AF65-F5344CB8AC3E}">
        <p14:creationId xmlns:p14="http://schemas.microsoft.com/office/powerpoint/2010/main" val="2126388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E2136-CD09-8C1C-B515-14F618355F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38D067-1E62-95AC-CA3F-D071223B6A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8C8668-221B-9AC5-249F-38E6D2B2A744}"/>
              </a:ext>
            </a:extLst>
          </p:cNvPr>
          <p:cNvSpPr>
            <a:spLocks noGrp="1"/>
          </p:cNvSpPr>
          <p:nvPr>
            <p:ph type="dt" sz="half" idx="10"/>
          </p:nvPr>
        </p:nvSpPr>
        <p:spPr/>
        <p:txBody>
          <a:bodyPr/>
          <a:lstStyle/>
          <a:p>
            <a:fld id="{41F757D7-8C26-41C6-9B8F-F68FFB035D6A}" type="datetimeFigureOut">
              <a:rPr lang="en-IN" smtClean="0"/>
              <a:t>03-12-2025</a:t>
            </a:fld>
            <a:endParaRPr lang="en-IN"/>
          </a:p>
        </p:txBody>
      </p:sp>
      <p:sp>
        <p:nvSpPr>
          <p:cNvPr id="5" name="Footer Placeholder 4">
            <a:extLst>
              <a:ext uri="{FF2B5EF4-FFF2-40B4-BE49-F238E27FC236}">
                <a16:creationId xmlns:a16="http://schemas.microsoft.com/office/drawing/2014/main" id="{A4ED9220-0924-3B18-9468-97B3C371DF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8646E-FE75-EFF1-5A05-2261EED0032A}"/>
              </a:ext>
            </a:extLst>
          </p:cNvPr>
          <p:cNvSpPr>
            <a:spLocks noGrp="1"/>
          </p:cNvSpPr>
          <p:nvPr>
            <p:ph type="sldNum" sz="quarter" idx="12"/>
          </p:nvPr>
        </p:nvSpPr>
        <p:spPr/>
        <p:txBody>
          <a:bodyPr/>
          <a:lstStyle/>
          <a:p>
            <a:fld id="{3F84DD53-69E9-44C7-BAAC-4EBC42F4BD36}" type="slidenum">
              <a:rPr lang="en-IN" smtClean="0"/>
              <a:t>‹#›</a:t>
            </a:fld>
            <a:endParaRPr lang="en-IN"/>
          </a:p>
        </p:txBody>
      </p:sp>
    </p:spTree>
    <p:extLst>
      <p:ext uri="{BB962C8B-B14F-4D97-AF65-F5344CB8AC3E}">
        <p14:creationId xmlns:p14="http://schemas.microsoft.com/office/powerpoint/2010/main" val="1154714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B998C-5CC9-3AE9-5AA0-D8E21297EB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735688-0D08-B295-54FF-18CD580812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1B019E-1463-6C6E-DD03-91B35CAC6569}"/>
              </a:ext>
            </a:extLst>
          </p:cNvPr>
          <p:cNvSpPr>
            <a:spLocks noGrp="1"/>
          </p:cNvSpPr>
          <p:nvPr>
            <p:ph type="dt" sz="half" idx="10"/>
          </p:nvPr>
        </p:nvSpPr>
        <p:spPr/>
        <p:txBody>
          <a:bodyPr/>
          <a:lstStyle/>
          <a:p>
            <a:fld id="{41F757D7-8C26-41C6-9B8F-F68FFB035D6A}" type="datetimeFigureOut">
              <a:rPr lang="en-IN" smtClean="0"/>
              <a:t>03-12-2025</a:t>
            </a:fld>
            <a:endParaRPr lang="en-IN"/>
          </a:p>
        </p:txBody>
      </p:sp>
      <p:sp>
        <p:nvSpPr>
          <p:cNvPr id="5" name="Footer Placeholder 4">
            <a:extLst>
              <a:ext uri="{FF2B5EF4-FFF2-40B4-BE49-F238E27FC236}">
                <a16:creationId xmlns:a16="http://schemas.microsoft.com/office/drawing/2014/main" id="{47FE5CF2-E2E1-4892-F1EB-CA8D63612E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1059D6-C830-932E-828A-D46CEA6955C6}"/>
              </a:ext>
            </a:extLst>
          </p:cNvPr>
          <p:cNvSpPr>
            <a:spLocks noGrp="1"/>
          </p:cNvSpPr>
          <p:nvPr>
            <p:ph type="sldNum" sz="quarter" idx="12"/>
          </p:nvPr>
        </p:nvSpPr>
        <p:spPr/>
        <p:txBody>
          <a:bodyPr/>
          <a:lstStyle/>
          <a:p>
            <a:fld id="{3F84DD53-69E9-44C7-BAAC-4EBC42F4BD36}" type="slidenum">
              <a:rPr lang="en-IN" smtClean="0"/>
              <a:t>‹#›</a:t>
            </a:fld>
            <a:endParaRPr lang="en-IN"/>
          </a:p>
        </p:txBody>
      </p:sp>
    </p:spTree>
    <p:extLst>
      <p:ext uri="{BB962C8B-B14F-4D97-AF65-F5344CB8AC3E}">
        <p14:creationId xmlns:p14="http://schemas.microsoft.com/office/powerpoint/2010/main" val="2666951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5734E-1E89-2E71-65D0-1AE2B5AB6A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77365E-4F4C-C26A-04E5-03D99AE4E7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326600-414A-247A-7B5D-CECD604508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FA2CB04-A07A-20B8-FD2E-4D84F1E57A0D}"/>
              </a:ext>
            </a:extLst>
          </p:cNvPr>
          <p:cNvSpPr>
            <a:spLocks noGrp="1"/>
          </p:cNvSpPr>
          <p:nvPr>
            <p:ph type="dt" sz="half" idx="10"/>
          </p:nvPr>
        </p:nvSpPr>
        <p:spPr/>
        <p:txBody>
          <a:bodyPr/>
          <a:lstStyle/>
          <a:p>
            <a:fld id="{41F757D7-8C26-41C6-9B8F-F68FFB035D6A}" type="datetimeFigureOut">
              <a:rPr lang="en-IN" smtClean="0"/>
              <a:t>03-12-2025</a:t>
            </a:fld>
            <a:endParaRPr lang="en-IN"/>
          </a:p>
        </p:txBody>
      </p:sp>
      <p:sp>
        <p:nvSpPr>
          <p:cNvPr id="6" name="Footer Placeholder 5">
            <a:extLst>
              <a:ext uri="{FF2B5EF4-FFF2-40B4-BE49-F238E27FC236}">
                <a16:creationId xmlns:a16="http://schemas.microsoft.com/office/drawing/2014/main" id="{245AA747-4C15-8D37-C1CA-A8495FE17A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0D88A6-5452-9175-2E09-B98F05FA383C}"/>
              </a:ext>
            </a:extLst>
          </p:cNvPr>
          <p:cNvSpPr>
            <a:spLocks noGrp="1"/>
          </p:cNvSpPr>
          <p:nvPr>
            <p:ph type="sldNum" sz="quarter" idx="12"/>
          </p:nvPr>
        </p:nvSpPr>
        <p:spPr/>
        <p:txBody>
          <a:bodyPr/>
          <a:lstStyle/>
          <a:p>
            <a:fld id="{3F84DD53-69E9-44C7-BAAC-4EBC42F4BD36}" type="slidenum">
              <a:rPr lang="en-IN" smtClean="0"/>
              <a:t>‹#›</a:t>
            </a:fld>
            <a:endParaRPr lang="en-IN"/>
          </a:p>
        </p:txBody>
      </p:sp>
    </p:spTree>
    <p:extLst>
      <p:ext uri="{BB962C8B-B14F-4D97-AF65-F5344CB8AC3E}">
        <p14:creationId xmlns:p14="http://schemas.microsoft.com/office/powerpoint/2010/main" val="2236028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4B179-0934-9FD8-0660-92E5223BB5D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06A927-042D-877E-90D2-A051399211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49D648-6DF0-75AF-EDC8-2547B51DFB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2FEDC9C-9AA4-B78C-C378-1018BDB3F3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430D36-5FE3-D915-3707-2A66A6A9CC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E2DF9AB-B7B9-EF4E-10C1-6742F5C39832}"/>
              </a:ext>
            </a:extLst>
          </p:cNvPr>
          <p:cNvSpPr>
            <a:spLocks noGrp="1"/>
          </p:cNvSpPr>
          <p:nvPr>
            <p:ph type="dt" sz="half" idx="10"/>
          </p:nvPr>
        </p:nvSpPr>
        <p:spPr/>
        <p:txBody>
          <a:bodyPr/>
          <a:lstStyle/>
          <a:p>
            <a:fld id="{41F757D7-8C26-41C6-9B8F-F68FFB035D6A}" type="datetimeFigureOut">
              <a:rPr lang="en-IN" smtClean="0"/>
              <a:t>03-12-2025</a:t>
            </a:fld>
            <a:endParaRPr lang="en-IN"/>
          </a:p>
        </p:txBody>
      </p:sp>
      <p:sp>
        <p:nvSpPr>
          <p:cNvPr id="8" name="Footer Placeholder 7">
            <a:extLst>
              <a:ext uri="{FF2B5EF4-FFF2-40B4-BE49-F238E27FC236}">
                <a16:creationId xmlns:a16="http://schemas.microsoft.com/office/drawing/2014/main" id="{B06B532C-8FB6-B1A3-B418-2AAC6FA11B0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8FFAD3A-B383-3EE5-874C-45A7E2A919E9}"/>
              </a:ext>
            </a:extLst>
          </p:cNvPr>
          <p:cNvSpPr>
            <a:spLocks noGrp="1"/>
          </p:cNvSpPr>
          <p:nvPr>
            <p:ph type="sldNum" sz="quarter" idx="12"/>
          </p:nvPr>
        </p:nvSpPr>
        <p:spPr/>
        <p:txBody>
          <a:bodyPr/>
          <a:lstStyle/>
          <a:p>
            <a:fld id="{3F84DD53-69E9-44C7-BAAC-4EBC42F4BD36}" type="slidenum">
              <a:rPr lang="en-IN" smtClean="0"/>
              <a:t>‹#›</a:t>
            </a:fld>
            <a:endParaRPr lang="en-IN"/>
          </a:p>
        </p:txBody>
      </p:sp>
    </p:spTree>
    <p:extLst>
      <p:ext uri="{BB962C8B-B14F-4D97-AF65-F5344CB8AC3E}">
        <p14:creationId xmlns:p14="http://schemas.microsoft.com/office/powerpoint/2010/main" val="3685342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F4795-94C3-5C6B-A7FB-CD37B02B6B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932A860-4D27-A539-6433-FD6F3787C2C8}"/>
              </a:ext>
            </a:extLst>
          </p:cNvPr>
          <p:cNvSpPr>
            <a:spLocks noGrp="1"/>
          </p:cNvSpPr>
          <p:nvPr>
            <p:ph type="dt" sz="half" idx="10"/>
          </p:nvPr>
        </p:nvSpPr>
        <p:spPr/>
        <p:txBody>
          <a:bodyPr/>
          <a:lstStyle/>
          <a:p>
            <a:fld id="{41F757D7-8C26-41C6-9B8F-F68FFB035D6A}" type="datetimeFigureOut">
              <a:rPr lang="en-IN" smtClean="0"/>
              <a:t>03-12-2025</a:t>
            </a:fld>
            <a:endParaRPr lang="en-IN"/>
          </a:p>
        </p:txBody>
      </p:sp>
      <p:sp>
        <p:nvSpPr>
          <p:cNvPr id="4" name="Footer Placeholder 3">
            <a:extLst>
              <a:ext uri="{FF2B5EF4-FFF2-40B4-BE49-F238E27FC236}">
                <a16:creationId xmlns:a16="http://schemas.microsoft.com/office/drawing/2014/main" id="{BB0A93FA-5671-19E8-D535-C69626B0B38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AB3976F-8852-DE31-7004-6300AE7F8486}"/>
              </a:ext>
            </a:extLst>
          </p:cNvPr>
          <p:cNvSpPr>
            <a:spLocks noGrp="1"/>
          </p:cNvSpPr>
          <p:nvPr>
            <p:ph type="sldNum" sz="quarter" idx="12"/>
          </p:nvPr>
        </p:nvSpPr>
        <p:spPr/>
        <p:txBody>
          <a:bodyPr/>
          <a:lstStyle/>
          <a:p>
            <a:fld id="{3F84DD53-69E9-44C7-BAAC-4EBC42F4BD36}" type="slidenum">
              <a:rPr lang="en-IN" smtClean="0"/>
              <a:t>‹#›</a:t>
            </a:fld>
            <a:endParaRPr lang="en-IN"/>
          </a:p>
        </p:txBody>
      </p:sp>
    </p:spTree>
    <p:extLst>
      <p:ext uri="{BB962C8B-B14F-4D97-AF65-F5344CB8AC3E}">
        <p14:creationId xmlns:p14="http://schemas.microsoft.com/office/powerpoint/2010/main" val="4149209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95EF64-44E9-AB1C-2FCF-8F025D3F66DA}"/>
              </a:ext>
            </a:extLst>
          </p:cNvPr>
          <p:cNvSpPr>
            <a:spLocks noGrp="1"/>
          </p:cNvSpPr>
          <p:nvPr>
            <p:ph type="dt" sz="half" idx="10"/>
          </p:nvPr>
        </p:nvSpPr>
        <p:spPr/>
        <p:txBody>
          <a:bodyPr/>
          <a:lstStyle/>
          <a:p>
            <a:fld id="{41F757D7-8C26-41C6-9B8F-F68FFB035D6A}" type="datetimeFigureOut">
              <a:rPr lang="en-IN" smtClean="0"/>
              <a:t>03-12-2025</a:t>
            </a:fld>
            <a:endParaRPr lang="en-IN"/>
          </a:p>
        </p:txBody>
      </p:sp>
      <p:sp>
        <p:nvSpPr>
          <p:cNvPr id="3" name="Footer Placeholder 2">
            <a:extLst>
              <a:ext uri="{FF2B5EF4-FFF2-40B4-BE49-F238E27FC236}">
                <a16:creationId xmlns:a16="http://schemas.microsoft.com/office/drawing/2014/main" id="{4F10B7ED-D2C7-3FE3-7FB9-B4AFADAFE89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8087FF7-A90E-6FBF-E764-15FB425E69B7}"/>
              </a:ext>
            </a:extLst>
          </p:cNvPr>
          <p:cNvSpPr>
            <a:spLocks noGrp="1"/>
          </p:cNvSpPr>
          <p:nvPr>
            <p:ph type="sldNum" sz="quarter" idx="12"/>
          </p:nvPr>
        </p:nvSpPr>
        <p:spPr/>
        <p:txBody>
          <a:bodyPr/>
          <a:lstStyle/>
          <a:p>
            <a:fld id="{3F84DD53-69E9-44C7-BAAC-4EBC42F4BD36}" type="slidenum">
              <a:rPr lang="en-IN" smtClean="0"/>
              <a:t>‹#›</a:t>
            </a:fld>
            <a:endParaRPr lang="en-IN"/>
          </a:p>
        </p:txBody>
      </p:sp>
    </p:spTree>
    <p:extLst>
      <p:ext uri="{BB962C8B-B14F-4D97-AF65-F5344CB8AC3E}">
        <p14:creationId xmlns:p14="http://schemas.microsoft.com/office/powerpoint/2010/main" val="2218986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8A005-1829-9167-54EA-211E8CB88F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AE774E6-3AE6-78B4-2404-E430F93EC1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5D748A7-D054-28D3-3566-BD62B4CEC6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38545B-1DF4-8B02-9597-AEEB90B971BC}"/>
              </a:ext>
            </a:extLst>
          </p:cNvPr>
          <p:cNvSpPr>
            <a:spLocks noGrp="1"/>
          </p:cNvSpPr>
          <p:nvPr>
            <p:ph type="dt" sz="half" idx="10"/>
          </p:nvPr>
        </p:nvSpPr>
        <p:spPr/>
        <p:txBody>
          <a:bodyPr/>
          <a:lstStyle/>
          <a:p>
            <a:fld id="{41F757D7-8C26-41C6-9B8F-F68FFB035D6A}" type="datetimeFigureOut">
              <a:rPr lang="en-IN" smtClean="0"/>
              <a:t>03-12-2025</a:t>
            </a:fld>
            <a:endParaRPr lang="en-IN"/>
          </a:p>
        </p:txBody>
      </p:sp>
      <p:sp>
        <p:nvSpPr>
          <p:cNvPr id="6" name="Footer Placeholder 5">
            <a:extLst>
              <a:ext uri="{FF2B5EF4-FFF2-40B4-BE49-F238E27FC236}">
                <a16:creationId xmlns:a16="http://schemas.microsoft.com/office/drawing/2014/main" id="{C35F1D93-B1DB-3401-5736-5B942A414B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89F2BC-03E2-83F9-A09A-FD9F860EB703}"/>
              </a:ext>
            </a:extLst>
          </p:cNvPr>
          <p:cNvSpPr>
            <a:spLocks noGrp="1"/>
          </p:cNvSpPr>
          <p:nvPr>
            <p:ph type="sldNum" sz="quarter" idx="12"/>
          </p:nvPr>
        </p:nvSpPr>
        <p:spPr/>
        <p:txBody>
          <a:bodyPr/>
          <a:lstStyle/>
          <a:p>
            <a:fld id="{3F84DD53-69E9-44C7-BAAC-4EBC42F4BD36}" type="slidenum">
              <a:rPr lang="en-IN" smtClean="0"/>
              <a:t>‹#›</a:t>
            </a:fld>
            <a:endParaRPr lang="en-IN"/>
          </a:p>
        </p:txBody>
      </p:sp>
    </p:spTree>
    <p:extLst>
      <p:ext uri="{BB962C8B-B14F-4D97-AF65-F5344CB8AC3E}">
        <p14:creationId xmlns:p14="http://schemas.microsoft.com/office/powerpoint/2010/main" val="3445057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8F80E-E401-4D2F-035C-9F31919228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55D460-C069-79AE-FBA1-BE08CD2B5F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92532E-3CB8-3DB3-3F7F-339B8111B7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5E9622-ECA3-9B82-C13F-78C2D9C87923}"/>
              </a:ext>
            </a:extLst>
          </p:cNvPr>
          <p:cNvSpPr>
            <a:spLocks noGrp="1"/>
          </p:cNvSpPr>
          <p:nvPr>
            <p:ph type="dt" sz="half" idx="10"/>
          </p:nvPr>
        </p:nvSpPr>
        <p:spPr/>
        <p:txBody>
          <a:bodyPr/>
          <a:lstStyle/>
          <a:p>
            <a:fld id="{41F757D7-8C26-41C6-9B8F-F68FFB035D6A}" type="datetimeFigureOut">
              <a:rPr lang="en-IN" smtClean="0"/>
              <a:t>03-12-2025</a:t>
            </a:fld>
            <a:endParaRPr lang="en-IN"/>
          </a:p>
        </p:txBody>
      </p:sp>
      <p:sp>
        <p:nvSpPr>
          <p:cNvPr id="6" name="Footer Placeholder 5">
            <a:extLst>
              <a:ext uri="{FF2B5EF4-FFF2-40B4-BE49-F238E27FC236}">
                <a16:creationId xmlns:a16="http://schemas.microsoft.com/office/drawing/2014/main" id="{3D0725B2-0BA5-4929-0A8C-E9FF6B96FC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D542EC-4686-B791-C909-3AB08C7E2B5E}"/>
              </a:ext>
            </a:extLst>
          </p:cNvPr>
          <p:cNvSpPr>
            <a:spLocks noGrp="1"/>
          </p:cNvSpPr>
          <p:nvPr>
            <p:ph type="sldNum" sz="quarter" idx="12"/>
          </p:nvPr>
        </p:nvSpPr>
        <p:spPr/>
        <p:txBody>
          <a:bodyPr/>
          <a:lstStyle/>
          <a:p>
            <a:fld id="{3F84DD53-69E9-44C7-BAAC-4EBC42F4BD36}" type="slidenum">
              <a:rPr lang="en-IN" smtClean="0"/>
              <a:t>‹#›</a:t>
            </a:fld>
            <a:endParaRPr lang="en-IN"/>
          </a:p>
        </p:txBody>
      </p:sp>
    </p:spTree>
    <p:extLst>
      <p:ext uri="{BB962C8B-B14F-4D97-AF65-F5344CB8AC3E}">
        <p14:creationId xmlns:p14="http://schemas.microsoft.com/office/powerpoint/2010/main" val="3186351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A6CA1-76A8-F34C-00BD-EEB253E4486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0475FB-4A06-2737-2D37-2FD9881783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3ADC88-7927-8D10-BC03-4061F8C8DC99}"/>
              </a:ext>
            </a:extLst>
          </p:cNvPr>
          <p:cNvSpPr>
            <a:spLocks noGrp="1"/>
          </p:cNvSpPr>
          <p:nvPr>
            <p:ph type="dt" sz="half" idx="10"/>
          </p:nvPr>
        </p:nvSpPr>
        <p:spPr/>
        <p:txBody>
          <a:bodyPr/>
          <a:lstStyle/>
          <a:p>
            <a:fld id="{41F757D7-8C26-41C6-9B8F-F68FFB035D6A}" type="datetimeFigureOut">
              <a:rPr lang="en-IN" smtClean="0"/>
              <a:t>03-12-2025</a:t>
            </a:fld>
            <a:endParaRPr lang="en-IN"/>
          </a:p>
        </p:txBody>
      </p:sp>
      <p:sp>
        <p:nvSpPr>
          <p:cNvPr id="5" name="Footer Placeholder 4">
            <a:extLst>
              <a:ext uri="{FF2B5EF4-FFF2-40B4-BE49-F238E27FC236}">
                <a16:creationId xmlns:a16="http://schemas.microsoft.com/office/drawing/2014/main" id="{1E28FEE2-90BC-D4AF-E6E1-7598EB63BA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788B25-7616-9210-1F04-6C9B6C238027}"/>
              </a:ext>
            </a:extLst>
          </p:cNvPr>
          <p:cNvSpPr>
            <a:spLocks noGrp="1"/>
          </p:cNvSpPr>
          <p:nvPr>
            <p:ph type="sldNum" sz="quarter" idx="12"/>
          </p:nvPr>
        </p:nvSpPr>
        <p:spPr/>
        <p:txBody>
          <a:bodyPr/>
          <a:lstStyle/>
          <a:p>
            <a:fld id="{3F84DD53-69E9-44C7-BAAC-4EBC42F4BD36}" type="slidenum">
              <a:rPr lang="en-IN" smtClean="0"/>
              <a:t>‹#›</a:t>
            </a:fld>
            <a:endParaRPr lang="en-IN"/>
          </a:p>
        </p:txBody>
      </p:sp>
    </p:spTree>
    <p:extLst>
      <p:ext uri="{BB962C8B-B14F-4D97-AF65-F5344CB8AC3E}">
        <p14:creationId xmlns:p14="http://schemas.microsoft.com/office/powerpoint/2010/main" val="658244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674A39-915B-7119-37C0-A2B795AC2E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AA0C76-5A9D-3528-5A7D-2F746962AD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FBAADF-8497-4ABD-CDA6-B2C95B1553FD}"/>
              </a:ext>
            </a:extLst>
          </p:cNvPr>
          <p:cNvSpPr>
            <a:spLocks noGrp="1"/>
          </p:cNvSpPr>
          <p:nvPr>
            <p:ph type="dt" sz="half" idx="10"/>
          </p:nvPr>
        </p:nvSpPr>
        <p:spPr/>
        <p:txBody>
          <a:bodyPr/>
          <a:lstStyle/>
          <a:p>
            <a:fld id="{41F757D7-8C26-41C6-9B8F-F68FFB035D6A}" type="datetimeFigureOut">
              <a:rPr lang="en-IN" smtClean="0"/>
              <a:t>03-12-2025</a:t>
            </a:fld>
            <a:endParaRPr lang="en-IN"/>
          </a:p>
        </p:txBody>
      </p:sp>
      <p:sp>
        <p:nvSpPr>
          <p:cNvPr id="5" name="Footer Placeholder 4">
            <a:extLst>
              <a:ext uri="{FF2B5EF4-FFF2-40B4-BE49-F238E27FC236}">
                <a16:creationId xmlns:a16="http://schemas.microsoft.com/office/drawing/2014/main" id="{2A300FCC-4612-37F4-F42E-3C087668ED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DBB944-86CE-9DD3-BF75-C11C3EC276BE}"/>
              </a:ext>
            </a:extLst>
          </p:cNvPr>
          <p:cNvSpPr>
            <a:spLocks noGrp="1"/>
          </p:cNvSpPr>
          <p:nvPr>
            <p:ph type="sldNum" sz="quarter" idx="12"/>
          </p:nvPr>
        </p:nvSpPr>
        <p:spPr/>
        <p:txBody>
          <a:bodyPr/>
          <a:lstStyle/>
          <a:p>
            <a:fld id="{3F84DD53-69E9-44C7-BAAC-4EBC42F4BD36}" type="slidenum">
              <a:rPr lang="en-IN" smtClean="0"/>
              <a:t>‹#›</a:t>
            </a:fld>
            <a:endParaRPr lang="en-IN"/>
          </a:p>
        </p:txBody>
      </p:sp>
    </p:spTree>
    <p:extLst>
      <p:ext uri="{BB962C8B-B14F-4D97-AF65-F5344CB8AC3E}">
        <p14:creationId xmlns:p14="http://schemas.microsoft.com/office/powerpoint/2010/main" val="3890896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E295C9-F1A4-6060-0C8E-DAE7701B9A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4373F1-3227-F668-3AE3-E2D2356256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72AF34-4793-8B0A-9EE9-339FB29E58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F757D7-8C26-41C6-9B8F-F68FFB035D6A}" type="datetimeFigureOut">
              <a:rPr lang="en-IN" smtClean="0"/>
              <a:t>03-12-2025</a:t>
            </a:fld>
            <a:endParaRPr lang="en-IN"/>
          </a:p>
        </p:txBody>
      </p:sp>
      <p:sp>
        <p:nvSpPr>
          <p:cNvPr id="5" name="Footer Placeholder 4">
            <a:extLst>
              <a:ext uri="{FF2B5EF4-FFF2-40B4-BE49-F238E27FC236}">
                <a16:creationId xmlns:a16="http://schemas.microsoft.com/office/drawing/2014/main" id="{FAB907A6-2ABB-B606-1762-1A92E4D4FA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BB0DA61-BD66-4ACB-8A54-560461787E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84DD53-69E9-44C7-BAAC-4EBC42F4BD36}" type="slidenum">
              <a:rPr lang="en-IN" smtClean="0"/>
              <a:t>‹#›</a:t>
            </a:fld>
            <a:endParaRPr lang="en-IN"/>
          </a:p>
        </p:txBody>
      </p:sp>
    </p:spTree>
    <p:extLst>
      <p:ext uri="{BB962C8B-B14F-4D97-AF65-F5344CB8AC3E}">
        <p14:creationId xmlns:p14="http://schemas.microsoft.com/office/powerpoint/2010/main" val="177315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85A6C-A6D2-FD96-56A7-53D17B668DE1}"/>
              </a:ext>
            </a:extLst>
          </p:cNvPr>
          <p:cNvSpPr>
            <a:spLocks noGrp="1"/>
          </p:cNvSpPr>
          <p:nvPr>
            <p:ph type="ctrTitle"/>
          </p:nvPr>
        </p:nvSpPr>
        <p:spPr>
          <a:xfrm>
            <a:off x="1524000" y="3342502"/>
            <a:ext cx="9144000" cy="1780017"/>
          </a:xfrm>
        </p:spPr>
        <p:txBody>
          <a:bodyPr/>
          <a:lstStyle/>
          <a:p>
            <a:r>
              <a:rPr lang="en-IN" dirty="0"/>
              <a:t>Volatile Artifacts Analysis Memory Forensics</a:t>
            </a:r>
          </a:p>
        </p:txBody>
      </p:sp>
      <p:sp>
        <p:nvSpPr>
          <p:cNvPr id="3" name="Subtitle 2">
            <a:extLst>
              <a:ext uri="{FF2B5EF4-FFF2-40B4-BE49-F238E27FC236}">
                <a16:creationId xmlns:a16="http://schemas.microsoft.com/office/drawing/2014/main" id="{0571186A-95C5-EA5C-34A2-F83810BAE58D}"/>
              </a:ext>
            </a:extLst>
          </p:cNvPr>
          <p:cNvSpPr>
            <a:spLocks noGrp="1"/>
          </p:cNvSpPr>
          <p:nvPr>
            <p:ph type="subTitle" idx="1"/>
          </p:nvPr>
        </p:nvSpPr>
        <p:spPr>
          <a:xfrm>
            <a:off x="1622854" y="5383491"/>
            <a:ext cx="9144000" cy="704292"/>
          </a:xfrm>
        </p:spPr>
        <p:txBody>
          <a:bodyPr/>
          <a:lstStyle/>
          <a:p>
            <a:r>
              <a:rPr lang="en-IN" dirty="0"/>
              <a:t>Dr. Modhuparna Manna</a:t>
            </a:r>
          </a:p>
        </p:txBody>
      </p:sp>
      <p:pic>
        <p:nvPicPr>
          <p:cNvPr id="4" name="Picture 3">
            <a:extLst>
              <a:ext uri="{FF2B5EF4-FFF2-40B4-BE49-F238E27FC236}">
                <a16:creationId xmlns:a16="http://schemas.microsoft.com/office/drawing/2014/main" id="{9D8FEABE-49D3-209F-C95D-5C8AA88437BF}"/>
              </a:ext>
            </a:extLst>
          </p:cNvPr>
          <p:cNvPicPr>
            <a:picLocks noChangeAspect="1"/>
          </p:cNvPicPr>
          <p:nvPr/>
        </p:nvPicPr>
        <p:blipFill>
          <a:blip r:embed="rId2"/>
          <a:stretch>
            <a:fillRect/>
          </a:stretch>
        </p:blipFill>
        <p:spPr>
          <a:xfrm>
            <a:off x="303769" y="59066"/>
            <a:ext cx="11473248" cy="3283436"/>
          </a:xfrm>
          <a:prstGeom prst="rect">
            <a:avLst/>
          </a:prstGeom>
        </p:spPr>
      </p:pic>
    </p:spTree>
    <p:extLst>
      <p:ext uri="{BB962C8B-B14F-4D97-AF65-F5344CB8AC3E}">
        <p14:creationId xmlns:p14="http://schemas.microsoft.com/office/powerpoint/2010/main" val="1359037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9016A-6ACC-15ED-30CE-9D58AF2BA127}"/>
              </a:ext>
            </a:extLst>
          </p:cNvPr>
          <p:cNvSpPr>
            <a:spLocks noGrp="1"/>
          </p:cNvSpPr>
          <p:nvPr>
            <p:ph type="title"/>
          </p:nvPr>
        </p:nvSpPr>
        <p:spPr/>
        <p:txBody>
          <a:bodyPr/>
          <a:lstStyle/>
          <a:p>
            <a:r>
              <a:rPr lang="en-IN" dirty="0"/>
              <a:t>Case Study 1:</a:t>
            </a:r>
          </a:p>
        </p:txBody>
      </p:sp>
      <p:sp>
        <p:nvSpPr>
          <p:cNvPr id="3" name="Content Placeholder 2">
            <a:extLst>
              <a:ext uri="{FF2B5EF4-FFF2-40B4-BE49-F238E27FC236}">
                <a16:creationId xmlns:a16="http://schemas.microsoft.com/office/drawing/2014/main" id="{2815BE69-9F96-7481-B9E3-4EF469FE6CEB}"/>
              </a:ext>
            </a:extLst>
          </p:cNvPr>
          <p:cNvSpPr>
            <a:spLocks noGrp="1"/>
          </p:cNvSpPr>
          <p:nvPr>
            <p:ph idx="1"/>
          </p:nvPr>
        </p:nvSpPr>
        <p:spPr>
          <a:xfrm>
            <a:off x="838200" y="1594022"/>
            <a:ext cx="10515600" cy="4582941"/>
          </a:xfrm>
        </p:spPr>
        <p:txBody>
          <a:bodyPr>
            <a:normAutofit/>
          </a:bodyPr>
          <a:lstStyle/>
          <a:p>
            <a:pPr marL="0" indent="0">
              <a:buNone/>
            </a:pPr>
            <a:r>
              <a:rPr lang="en-IN" b="1" dirty="0"/>
              <a:t>Stuxnet (2010)</a:t>
            </a:r>
          </a:p>
          <a:p>
            <a:r>
              <a:rPr lang="en-US" dirty="0"/>
              <a:t>Stuxnet was specifically designed to target Siemens Step7 controllers used in Iran’s Natanz nuclear facility</a:t>
            </a:r>
          </a:p>
          <a:p>
            <a:r>
              <a:rPr lang="en-US" dirty="0"/>
              <a:t>Stuxnet had multiple components that lived actively in RAM, including driver modules, injected DLLs, code responsible for manipulating PLC instructions, Command &amp; Control (C2) communication routines, Kernel-level hooks to hide itself</a:t>
            </a:r>
          </a:p>
          <a:p>
            <a:r>
              <a:rPr lang="en-US" dirty="0"/>
              <a:t>injected code regions without backing file on disk.</a:t>
            </a:r>
          </a:p>
          <a:p>
            <a:endParaRPr lang="en-IN" dirty="0"/>
          </a:p>
        </p:txBody>
      </p:sp>
    </p:spTree>
    <p:extLst>
      <p:ext uri="{BB962C8B-B14F-4D97-AF65-F5344CB8AC3E}">
        <p14:creationId xmlns:p14="http://schemas.microsoft.com/office/powerpoint/2010/main" val="956233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3CF9B-8BBF-F433-1BE6-F073B49DFB97}"/>
              </a:ext>
            </a:extLst>
          </p:cNvPr>
          <p:cNvSpPr>
            <a:spLocks noGrp="1"/>
          </p:cNvSpPr>
          <p:nvPr>
            <p:ph type="title"/>
          </p:nvPr>
        </p:nvSpPr>
        <p:spPr/>
        <p:txBody>
          <a:bodyPr/>
          <a:lstStyle/>
          <a:p>
            <a:r>
              <a:rPr lang="en-IN" dirty="0"/>
              <a:t>Case Study 2:</a:t>
            </a:r>
          </a:p>
        </p:txBody>
      </p:sp>
      <p:sp>
        <p:nvSpPr>
          <p:cNvPr id="3" name="Content Placeholder 2">
            <a:extLst>
              <a:ext uri="{FF2B5EF4-FFF2-40B4-BE49-F238E27FC236}">
                <a16:creationId xmlns:a16="http://schemas.microsoft.com/office/drawing/2014/main" id="{802F06C0-0F36-3F81-186F-1464C2734C41}"/>
              </a:ext>
            </a:extLst>
          </p:cNvPr>
          <p:cNvSpPr>
            <a:spLocks noGrp="1"/>
          </p:cNvSpPr>
          <p:nvPr>
            <p:ph idx="1"/>
          </p:nvPr>
        </p:nvSpPr>
        <p:spPr/>
        <p:txBody>
          <a:bodyPr>
            <a:normAutofit/>
          </a:bodyPr>
          <a:lstStyle/>
          <a:p>
            <a:pPr marL="0" indent="0">
              <a:buNone/>
            </a:pPr>
            <a:r>
              <a:rPr lang="en-US" b="1" dirty="0" err="1"/>
              <a:t>BlackEnergy</a:t>
            </a:r>
            <a:r>
              <a:rPr lang="en-US" b="1" dirty="0"/>
              <a:t> (Ukraine Power Grid Attack)</a:t>
            </a:r>
          </a:p>
          <a:p>
            <a:r>
              <a:rPr lang="en-US" dirty="0"/>
              <a:t>Attackers injected payloads inside memory, no disk artifacts</a:t>
            </a:r>
          </a:p>
          <a:p>
            <a:r>
              <a:rPr lang="en-IN" dirty="0"/>
              <a:t>Has a runtime encryptor to evade detection by antivirus software</a:t>
            </a:r>
          </a:p>
          <a:p>
            <a:r>
              <a:rPr lang="en-IN" dirty="0"/>
              <a:t>Hides its processes in a system driver (syssrv.sys)</a:t>
            </a:r>
          </a:p>
          <a:p>
            <a:r>
              <a:rPr lang="en-IN" dirty="0"/>
              <a:t>Executes DDoS attack commands (e.g. ICMP flood, TCP SYN flood, UDP flood, HTTP get flood, DNS flood, etc)</a:t>
            </a:r>
          </a:p>
          <a:p>
            <a:r>
              <a:rPr lang="en-IN" dirty="0"/>
              <a:t>Download commands to retrieve and launch new or updated executables from its server</a:t>
            </a:r>
            <a:endParaRPr lang="en-US" dirty="0"/>
          </a:p>
          <a:p>
            <a:r>
              <a:rPr lang="en-US" dirty="0"/>
              <a:t>Memory dump revealed remote shells &amp; exfil commands</a:t>
            </a:r>
          </a:p>
          <a:p>
            <a:endParaRPr lang="en-IN" dirty="0"/>
          </a:p>
        </p:txBody>
      </p:sp>
    </p:spTree>
    <p:extLst>
      <p:ext uri="{BB962C8B-B14F-4D97-AF65-F5344CB8AC3E}">
        <p14:creationId xmlns:p14="http://schemas.microsoft.com/office/powerpoint/2010/main" val="1244383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7CFFA-3560-E14C-88A6-9682162D70CD}"/>
              </a:ext>
            </a:extLst>
          </p:cNvPr>
          <p:cNvSpPr>
            <a:spLocks noGrp="1"/>
          </p:cNvSpPr>
          <p:nvPr>
            <p:ph type="title"/>
          </p:nvPr>
        </p:nvSpPr>
        <p:spPr/>
        <p:txBody>
          <a:bodyPr/>
          <a:lstStyle/>
          <a:p>
            <a:r>
              <a:rPr lang="en-IN" dirty="0"/>
              <a:t>Motivation?</a:t>
            </a:r>
          </a:p>
        </p:txBody>
      </p:sp>
      <p:sp>
        <p:nvSpPr>
          <p:cNvPr id="3" name="Content Placeholder 2">
            <a:extLst>
              <a:ext uri="{FF2B5EF4-FFF2-40B4-BE49-F238E27FC236}">
                <a16:creationId xmlns:a16="http://schemas.microsoft.com/office/drawing/2014/main" id="{E3E85959-DB6C-323D-ED0B-AC23C6964CA8}"/>
              </a:ext>
            </a:extLst>
          </p:cNvPr>
          <p:cNvSpPr>
            <a:spLocks noGrp="1"/>
          </p:cNvSpPr>
          <p:nvPr>
            <p:ph idx="1"/>
          </p:nvPr>
        </p:nvSpPr>
        <p:spPr/>
        <p:txBody>
          <a:bodyPr/>
          <a:lstStyle/>
          <a:p>
            <a:r>
              <a:rPr lang="en-IN" dirty="0"/>
              <a:t>Fileless malware</a:t>
            </a:r>
          </a:p>
          <a:p>
            <a:r>
              <a:rPr lang="en-IN" dirty="0"/>
              <a:t>Deal with packed/encrypted malware</a:t>
            </a:r>
          </a:p>
          <a:p>
            <a:r>
              <a:rPr lang="en-IN" dirty="0"/>
              <a:t>Get plethora of evidences</a:t>
            </a:r>
          </a:p>
          <a:p>
            <a:r>
              <a:rPr lang="en-IN" dirty="0"/>
              <a:t>Hard disk might be encrypted</a:t>
            </a:r>
          </a:p>
          <a:p>
            <a:r>
              <a:rPr lang="en-IN" dirty="0"/>
              <a:t>Immediate information</a:t>
            </a:r>
          </a:p>
        </p:txBody>
      </p:sp>
    </p:spTree>
    <p:extLst>
      <p:ext uri="{BB962C8B-B14F-4D97-AF65-F5344CB8AC3E}">
        <p14:creationId xmlns:p14="http://schemas.microsoft.com/office/powerpoint/2010/main" val="1721272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301D2-E097-B299-BC10-F87C276B5D80}"/>
              </a:ext>
            </a:extLst>
          </p:cNvPr>
          <p:cNvSpPr>
            <a:spLocks noGrp="1"/>
          </p:cNvSpPr>
          <p:nvPr>
            <p:ph type="title"/>
          </p:nvPr>
        </p:nvSpPr>
        <p:spPr/>
        <p:txBody>
          <a:bodyPr/>
          <a:lstStyle/>
          <a:p>
            <a:r>
              <a:rPr lang="en-IN" dirty="0"/>
              <a:t>What are Volatile Artifacts?</a:t>
            </a:r>
          </a:p>
        </p:txBody>
      </p:sp>
      <p:sp>
        <p:nvSpPr>
          <p:cNvPr id="3" name="Content Placeholder 2">
            <a:extLst>
              <a:ext uri="{FF2B5EF4-FFF2-40B4-BE49-F238E27FC236}">
                <a16:creationId xmlns:a16="http://schemas.microsoft.com/office/drawing/2014/main" id="{3A53B011-7F1C-81DF-3A3D-C74DB6108991}"/>
              </a:ext>
            </a:extLst>
          </p:cNvPr>
          <p:cNvSpPr>
            <a:spLocks noGrp="1"/>
          </p:cNvSpPr>
          <p:nvPr>
            <p:ph idx="1"/>
          </p:nvPr>
        </p:nvSpPr>
        <p:spPr>
          <a:xfrm>
            <a:off x="2314833" y="2085117"/>
            <a:ext cx="8231660" cy="4351338"/>
          </a:xfrm>
        </p:spPr>
        <p:txBody>
          <a:bodyPr/>
          <a:lstStyle/>
          <a:p>
            <a:pPr marL="0" indent="0" algn="just">
              <a:buNone/>
            </a:pPr>
            <a:r>
              <a:rPr lang="en-US" dirty="0"/>
              <a:t>Volatile artifacts are digital evidences stored temporarily in  system’s RAM (Random Access Memory) that are lost when the system is powered off, rebooted, or crashed. These artifacts exist only during live system operation, making them extremely time-sensitive and crucial for incident response</a:t>
            </a:r>
          </a:p>
          <a:p>
            <a:endParaRPr lang="en-IN" dirty="0"/>
          </a:p>
        </p:txBody>
      </p:sp>
    </p:spTree>
    <p:extLst>
      <p:ext uri="{BB962C8B-B14F-4D97-AF65-F5344CB8AC3E}">
        <p14:creationId xmlns:p14="http://schemas.microsoft.com/office/powerpoint/2010/main" val="85191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33098-1E12-C827-BDE2-6938E6C49D3F}"/>
              </a:ext>
            </a:extLst>
          </p:cNvPr>
          <p:cNvSpPr>
            <a:spLocks noGrp="1"/>
          </p:cNvSpPr>
          <p:nvPr>
            <p:ph type="title"/>
          </p:nvPr>
        </p:nvSpPr>
        <p:spPr/>
        <p:txBody>
          <a:bodyPr/>
          <a:lstStyle/>
          <a:p>
            <a:r>
              <a:rPr lang="en-IN" dirty="0"/>
              <a:t>Why attackers abuse RAM?</a:t>
            </a:r>
          </a:p>
        </p:txBody>
      </p:sp>
      <p:sp>
        <p:nvSpPr>
          <p:cNvPr id="3" name="Content Placeholder 2">
            <a:extLst>
              <a:ext uri="{FF2B5EF4-FFF2-40B4-BE49-F238E27FC236}">
                <a16:creationId xmlns:a16="http://schemas.microsoft.com/office/drawing/2014/main" id="{FFCC1938-DAA2-2758-2D1B-DDFE92E2E6CA}"/>
              </a:ext>
            </a:extLst>
          </p:cNvPr>
          <p:cNvSpPr>
            <a:spLocks noGrp="1"/>
          </p:cNvSpPr>
          <p:nvPr>
            <p:ph idx="1"/>
          </p:nvPr>
        </p:nvSpPr>
        <p:spPr/>
        <p:txBody>
          <a:bodyPr/>
          <a:lstStyle/>
          <a:p>
            <a:pPr marL="0" indent="0">
              <a:buNone/>
            </a:pPr>
            <a:r>
              <a:rPr lang="en-IN" dirty="0"/>
              <a:t>Perfect environment for fileless and APT malware</a:t>
            </a:r>
          </a:p>
          <a:p>
            <a:pPr lvl="0"/>
            <a:r>
              <a:rPr lang="en-IN" dirty="0"/>
              <a:t>Avoid detection</a:t>
            </a:r>
          </a:p>
          <a:p>
            <a:pPr lvl="0"/>
            <a:r>
              <a:rPr lang="en-IN" dirty="0"/>
              <a:t>Evidence disappears on reboot</a:t>
            </a:r>
          </a:p>
          <a:p>
            <a:pPr lvl="0"/>
            <a:r>
              <a:rPr lang="en-IN" dirty="0"/>
              <a:t>For speed and efficiency</a:t>
            </a:r>
          </a:p>
          <a:p>
            <a:pPr lvl="0"/>
            <a:r>
              <a:rPr lang="en-IN" dirty="0"/>
              <a:t>They can inject code into trusted processes</a:t>
            </a:r>
          </a:p>
          <a:p>
            <a:pPr lvl="0"/>
            <a:r>
              <a:rPr lang="en-IN" dirty="0"/>
              <a:t>Sensitive data such as passwords, keys can be in RAM</a:t>
            </a:r>
          </a:p>
          <a:p>
            <a:pPr lvl="0"/>
            <a:r>
              <a:rPr lang="en-IN" dirty="0"/>
              <a:t>No disk artifacts = no forensic trail</a:t>
            </a:r>
          </a:p>
          <a:p>
            <a:endParaRPr lang="en-IN" dirty="0"/>
          </a:p>
        </p:txBody>
      </p:sp>
    </p:spTree>
    <p:extLst>
      <p:ext uri="{BB962C8B-B14F-4D97-AF65-F5344CB8AC3E}">
        <p14:creationId xmlns:p14="http://schemas.microsoft.com/office/powerpoint/2010/main" val="168125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CB885-D7B5-38DD-96D0-37AA24173344}"/>
              </a:ext>
            </a:extLst>
          </p:cNvPr>
          <p:cNvSpPr>
            <a:spLocks noGrp="1"/>
          </p:cNvSpPr>
          <p:nvPr>
            <p:ph type="title"/>
          </p:nvPr>
        </p:nvSpPr>
        <p:spPr/>
        <p:txBody>
          <a:bodyPr/>
          <a:lstStyle/>
          <a:p>
            <a:r>
              <a:rPr lang="en-IN" dirty="0"/>
              <a:t>What do volatile artifacts reveal?</a:t>
            </a:r>
          </a:p>
        </p:txBody>
      </p:sp>
      <p:sp>
        <p:nvSpPr>
          <p:cNvPr id="6" name="Rectangle 3">
            <a:extLst>
              <a:ext uri="{FF2B5EF4-FFF2-40B4-BE49-F238E27FC236}">
                <a16:creationId xmlns:a16="http://schemas.microsoft.com/office/drawing/2014/main" id="{B50EAB08-23F8-5121-025D-AD419CE83501}"/>
              </a:ext>
            </a:extLst>
          </p:cNvPr>
          <p:cNvSpPr>
            <a:spLocks noGrp="1" noChangeArrowheads="1"/>
          </p:cNvSpPr>
          <p:nvPr>
            <p:ph idx="1"/>
          </p:nvPr>
        </p:nvSpPr>
        <p:spPr bwMode="auto">
          <a:xfrm>
            <a:off x="838200" y="2447023"/>
            <a:ext cx="1022727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rPr>
              <a:t>Running malware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rPr>
              <a:t>Active network connections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rPr>
              <a:t>Injected code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rPr>
              <a:t>In-memory-only payloads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rPr>
              <a:t>Decryption keys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rPr>
              <a:t>User activity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rPr>
              <a:t>Rootkit behavior</a:t>
            </a:r>
          </a:p>
        </p:txBody>
      </p:sp>
    </p:spTree>
    <p:extLst>
      <p:ext uri="{BB962C8B-B14F-4D97-AF65-F5344CB8AC3E}">
        <p14:creationId xmlns:p14="http://schemas.microsoft.com/office/powerpoint/2010/main" val="1181998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E6B66-1503-B811-C9EA-DC5828CA8782}"/>
              </a:ext>
            </a:extLst>
          </p:cNvPr>
          <p:cNvSpPr>
            <a:spLocks noGrp="1"/>
          </p:cNvSpPr>
          <p:nvPr>
            <p:ph type="title"/>
          </p:nvPr>
        </p:nvSpPr>
        <p:spPr/>
        <p:txBody>
          <a:bodyPr/>
          <a:lstStyle/>
          <a:p>
            <a:r>
              <a:rPr lang="en-IN" dirty="0"/>
              <a:t>Memory Acquisition tools</a:t>
            </a:r>
          </a:p>
        </p:txBody>
      </p:sp>
      <p:sp>
        <p:nvSpPr>
          <p:cNvPr id="3" name="Content Placeholder 2">
            <a:extLst>
              <a:ext uri="{FF2B5EF4-FFF2-40B4-BE49-F238E27FC236}">
                <a16:creationId xmlns:a16="http://schemas.microsoft.com/office/drawing/2014/main" id="{F59077BF-7CD9-A626-EEAA-2D22027C7ED7}"/>
              </a:ext>
            </a:extLst>
          </p:cNvPr>
          <p:cNvSpPr>
            <a:spLocks noGrp="1"/>
          </p:cNvSpPr>
          <p:nvPr>
            <p:ph idx="1"/>
          </p:nvPr>
        </p:nvSpPr>
        <p:spPr/>
        <p:txBody>
          <a:bodyPr/>
          <a:lstStyle/>
          <a:p>
            <a:r>
              <a:rPr lang="en-IN" dirty="0"/>
              <a:t>FTK Imager</a:t>
            </a:r>
          </a:p>
          <a:p>
            <a:r>
              <a:rPr lang="en-IN" dirty="0" err="1"/>
              <a:t>Belkasoft</a:t>
            </a:r>
            <a:endParaRPr lang="en-IN" dirty="0"/>
          </a:p>
          <a:p>
            <a:r>
              <a:rPr lang="en-IN" dirty="0"/>
              <a:t>Magnet RAM</a:t>
            </a:r>
          </a:p>
          <a:p>
            <a:r>
              <a:rPr lang="en-IN" dirty="0"/>
              <a:t>DumpIt</a:t>
            </a:r>
          </a:p>
          <a:p>
            <a:r>
              <a:rPr lang="en-IN" dirty="0"/>
              <a:t>AVML</a:t>
            </a:r>
          </a:p>
          <a:p>
            <a:r>
              <a:rPr lang="en-IN" dirty="0" err="1"/>
              <a:t>Osxpmem</a:t>
            </a:r>
            <a:endParaRPr lang="en-IN" dirty="0"/>
          </a:p>
        </p:txBody>
      </p:sp>
    </p:spTree>
    <p:extLst>
      <p:ext uri="{BB962C8B-B14F-4D97-AF65-F5344CB8AC3E}">
        <p14:creationId xmlns:p14="http://schemas.microsoft.com/office/powerpoint/2010/main" val="649969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96178-7074-9728-BD46-4DE0EE800E67}"/>
              </a:ext>
            </a:extLst>
          </p:cNvPr>
          <p:cNvSpPr>
            <a:spLocks noGrp="1"/>
          </p:cNvSpPr>
          <p:nvPr>
            <p:ph type="title"/>
          </p:nvPr>
        </p:nvSpPr>
        <p:spPr/>
        <p:txBody>
          <a:bodyPr/>
          <a:lstStyle/>
          <a:p>
            <a:r>
              <a:rPr lang="en-IN" dirty="0"/>
              <a:t>Memory Analysis tools</a:t>
            </a:r>
          </a:p>
        </p:txBody>
      </p:sp>
      <p:sp>
        <p:nvSpPr>
          <p:cNvPr id="3" name="Content Placeholder 2">
            <a:extLst>
              <a:ext uri="{FF2B5EF4-FFF2-40B4-BE49-F238E27FC236}">
                <a16:creationId xmlns:a16="http://schemas.microsoft.com/office/drawing/2014/main" id="{AF01BAB5-EC14-971B-9F12-B2135B1D2D18}"/>
              </a:ext>
            </a:extLst>
          </p:cNvPr>
          <p:cNvSpPr>
            <a:spLocks noGrp="1"/>
          </p:cNvSpPr>
          <p:nvPr>
            <p:ph idx="1"/>
          </p:nvPr>
        </p:nvSpPr>
        <p:spPr/>
        <p:txBody>
          <a:bodyPr/>
          <a:lstStyle/>
          <a:p>
            <a:r>
              <a:rPr lang="en-IN" dirty="0" err="1"/>
              <a:t>Voltility</a:t>
            </a:r>
            <a:r>
              <a:rPr lang="en-IN" dirty="0"/>
              <a:t> 3 and Volatility 2</a:t>
            </a:r>
          </a:p>
          <a:p>
            <a:r>
              <a:rPr lang="en-IN" dirty="0" err="1"/>
              <a:t>MemProcFS</a:t>
            </a:r>
            <a:endParaRPr lang="en-IN" dirty="0"/>
          </a:p>
        </p:txBody>
      </p:sp>
    </p:spTree>
    <p:extLst>
      <p:ext uri="{BB962C8B-B14F-4D97-AF65-F5344CB8AC3E}">
        <p14:creationId xmlns:p14="http://schemas.microsoft.com/office/powerpoint/2010/main" val="3254397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AE0F0-B5E4-C0DB-0A36-B25B9BA77801}"/>
              </a:ext>
            </a:extLst>
          </p:cNvPr>
          <p:cNvSpPr>
            <a:spLocks noGrp="1"/>
          </p:cNvSpPr>
          <p:nvPr>
            <p:ph type="title"/>
          </p:nvPr>
        </p:nvSpPr>
        <p:spPr/>
        <p:txBody>
          <a:bodyPr/>
          <a:lstStyle/>
          <a:p>
            <a:r>
              <a:rPr lang="en-IN" dirty="0"/>
              <a:t>Critical Volatile Artifacts</a:t>
            </a:r>
          </a:p>
        </p:txBody>
      </p:sp>
      <p:sp>
        <p:nvSpPr>
          <p:cNvPr id="3" name="Content Placeholder 2">
            <a:extLst>
              <a:ext uri="{FF2B5EF4-FFF2-40B4-BE49-F238E27FC236}">
                <a16:creationId xmlns:a16="http://schemas.microsoft.com/office/drawing/2014/main" id="{9727687E-B83E-1C87-1F1E-A1449EE10E99}"/>
              </a:ext>
            </a:extLst>
          </p:cNvPr>
          <p:cNvSpPr>
            <a:spLocks noGrp="1"/>
          </p:cNvSpPr>
          <p:nvPr>
            <p:ph idx="1"/>
          </p:nvPr>
        </p:nvSpPr>
        <p:spPr/>
        <p:txBody>
          <a:bodyPr/>
          <a:lstStyle/>
          <a:p>
            <a:r>
              <a:rPr lang="en-IN" dirty="0"/>
              <a:t>Processes</a:t>
            </a:r>
          </a:p>
          <a:p>
            <a:r>
              <a:rPr lang="en-IN" dirty="0"/>
              <a:t>DLLS</a:t>
            </a:r>
          </a:p>
          <a:p>
            <a:r>
              <a:rPr lang="en-IN" dirty="0"/>
              <a:t>Network connections</a:t>
            </a:r>
          </a:p>
          <a:p>
            <a:r>
              <a:rPr lang="en-IN" dirty="0"/>
              <a:t>Handles, Objects, File Mappings</a:t>
            </a:r>
          </a:p>
          <a:p>
            <a:r>
              <a:rPr lang="en-IN" dirty="0"/>
              <a:t>Registry</a:t>
            </a:r>
          </a:p>
          <a:p>
            <a:r>
              <a:rPr lang="en-IN" dirty="0"/>
              <a:t>Malware</a:t>
            </a:r>
          </a:p>
        </p:txBody>
      </p:sp>
    </p:spTree>
    <p:extLst>
      <p:ext uri="{BB962C8B-B14F-4D97-AF65-F5344CB8AC3E}">
        <p14:creationId xmlns:p14="http://schemas.microsoft.com/office/powerpoint/2010/main" val="2273107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B0119-B0DC-AB74-5174-2ED93A58C149}"/>
              </a:ext>
            </a:extLst>
          </p:cNvPr>
          <p:cNvSpPr>
            <a:spLocks noGrp="1"/>
          </p:cNvSpPr>
          <p:nvPr>
            <p:ph type="title"/>
          </p:nvPr>
        </p:nvSpPr>
        <p:spPr/>
        <p:txBody>
          <a:bodyPr/>
          <a:lstStyle/>
          <a:p>
            <a:r>
              <a:rPr lang="en-IN" dirty="0"/>
              <a:t>Volatility</a:t>
            </a:r>
          </a:p>
        </p:txBody>
      </p:sp>
      <p:sp>
        <p:nvSpPr>
          <p:cNvPr id="3" name="Content Placeholder 2">
            <a:extLst>
              <a:ext uri="{FF2B5EF4-FFF2-40B4-BE49-F238E27FC236}">
                <a16:creationId xmlns:a16="http://schemas.microsoft.com/office/drawing/2014/main" id="{491643D7-2115-AE0B-8F81-A35BDEF208B5}"/>
              </a:ext>
            </a:extLst>
          </p:cNvPr>
          <p:cNvSpPr>
            <a:spLocks noGrp="1"/>
          </p:cNvSpPr>
          <p:nvPr>
            <p:ph idx="1"/>
          </p:nvPr>
        </p:nvSpPr>
        <p:spPr>
          <a:xfrm>
            <a:off x="838200" y="1825625"/>
            <a:ext cx="10515600" cy="4253899"/>
          </a:xfrm>
        </p:spPr>
        <p:txBody>
          <a:bodyPr>
            <a:noAutofit/>
          </a:bodyPr>
          <a:lstStyle/>
          <a:p>
            <a:pPr>
              <a:lnSpc>
                <a:spcPct val="120000"/>
              </a:lnSpc>
            </a:pPr>
            <a:r>
              <a:rPr lang="en-IN" dirty="0"/>
              <a:t>Open-source memory forensics tool</a:t>
            </a:r>
          </a:p>
          <a:p>
            <a:pPr>
              <a:lnSpc>
                <a:spcPct val="120000"/>
              </a:lnSpc>
            </a:pPr>
            <a:r>
              <a:rPr lang="en-IN" dirty="0" err="1"/>
              <a:t>Analyze</a:t>
            </a:r>
            <a:r>
              <a:rPr lang="en-IN" dirty="0"/>
              <a:t> RAM for digital forensics</a:t>
            </a:r>
          </a:p>
          <a:p>
            <a:pPr>
              <a:lnSpc>
                <a:spcPct val="120000"/>
              </a:lnSpc>
            </a:pPr>
            <a:r>
              <a:rPr lang="en-IN" dirty="0"/>
              <a:t>Extracts volatile data from memory dumps</a:t>
            </a:r>
          </a:p>
          <a:p>
            <a:pPr>
              <a:lnSpc>
                <a:spcPct val="120000"/>
              </a:lnSpc>
            </a:pPr>
            <a:r>
              <a:rPr lang="en-IN" dirty="0"/>
              <a:t>Supports various operating systems</a:t>
            </a:r>
          </a:p>
          <a:p>
            <a:pPr>
              <a:lnSpc>
                <a:spcPct val="120000"/>
              </a:lnSpc>
            </a:pPr>
            <a:r>
              <a:rPr lang="en-IN" dirty="0"/>
              <a:t>Helps in malware analysis</a:t>
            </a:r>
          </a:p>
          <a:p>
            <a:pPr>
              <a:lnSpc>
                <a:spcPct val="120000"/>
              </a:lnSpc>
            </a:pPr>
            <a:r>
              <a:rPr lang="en-IN" dirty="0"/>
              <a:t>Identifies running processes and network connections</a:t>
            </a:r>
          </a:p>
        </p:txBody>
      </p:sp>
    </p:spTree>
    <p:extLst>
      <p:ext uri="{BB962C8B-B14F-4D97-AF65-F5344CB8AC3E}">
        <p14:creationId xmlns:p14="http://schemas.microsoft.com/office/powerpoint/2010/main" val="2549018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5513B-9E8B-0943-7E12-76BEBF9A1965}"/>
              </a:ext>
            </a:extLst>
          </p:cNvPr>
          <p:cNvSpPr>
            <a:spLocks noGrp="1"/>
          </p:cNvSpPr>
          <p:nvPr>
            <p:ph type="title"/>
          </p:nvPr>
        </p:nvSpPr>
        <p:spPr/>
        <p:txBody>
          <a:bodyPr/>
          <a:lstStyle/>
          <a:p>
            <a:r>
              <a:rPr lang="en-IN" dirty="0"/>
              <a:t>How processes </a:t>
            </a:r>
            <a:r>
              <a:rPr lang="en-IN"/>
              <a:t>are tracked?</a:t>
            </a:r>
          </a:p>
        </p:txBody>
      </p:sp>
      <p:pic>
        <p:nvPicPr>
          <p:cNvPr id="5" name="Content Placeholder 4">
            <a:extLst>
              <a:ext uri="{FF2B5EF4-FFF2-40B4-BE49-F238E27FC236}">
                <a16:creationId xmlns:a16="http://schemas.microsoft.com/office/drawing/2014/main" id="{600648CF-DC36-5B43-B91B-3A5028D44471}"/>
              </a:ext>
            </a:extLst>
          </p:cNvPr>
          <p:cNvPicPr>
            <a:picLocks noGrp="1" noChangeAspect="1"/>
          </p:cNvPicPr>
          <p:nvPr>
            <p:ph idx="1"/>
          </p:nvPr>
        </p:nvPicPr>
        <p:blipFill>
          <a:blip r:embed="rId2"/>
          <a:stretch>
            <a:fillRect/>
          </a:stretch>
        </p:blipFill>
        <p:spPr>
          <a:xfrm>
            <a:off x="851583" y="2143897"/>
            <a:ext cx="10327345" cy="3657600"/>
          </a:xfrm>
          <a:prstGeom prst="rect">
            <a:avLst/>
          </a:prstGeom>
        </p:spPr>
      </p:pic>
    </p:spTree>
    <p:extLst>
      <p:ext uri="{BB962C8B-B14F-4D97-AF65-F5344CB8AC3E}">
        <p14:creationId xmlns:p14="http://schemas.microsoft.com/office/powerpoint/2010/main" val="1422778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DDFB02-DB55-C1E2-E705-BDA87B6A7967}"/>
              </a:ext>
            </a:extLst>
          </p:cNvPr>
          <p:cNvPicPr>
            <a:picLocks noChangeAspect="1"/>
          </p:cNvPicPr>
          <p:nvPr/>
        </p:nvPicPr>
        <p:blipFill>
          <a:blip r:embed="rId2"/>
          <a:stretch>
            <a:fillRect/>
          </a:stretch>
        </p:blipFill>
        <p:spPr>
          <a:xfrm>
            <a:off x="342401" y="110202"/>
            <a:ext cx="11507197" cy="6637595"/>
          </a:xfrm>
          <a:prstGeom prst="rect">
            <a:avLst/>
          </a:prstGeom>
        </p:spPr>
      </p:pic>
    </p:spTree>
    <p:extLst>
      <p:ext uri="{BB962C8B-B14F-4D97-AF65-F5344CB8AC3E}">
        <p14:creationId xmlns:p14="http://schemas.microsoft.com/office/powerpoint/2010/main" val="1260419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144C62-4174-FFAF-E7EA-29D1B820310F}"/>
              </a:ext>
            </a:extLst>
          </p:cNvPr>
          <p:cNvPicPr>
            <a:picLocks noChangeAspect="1"/>
          </p:cNvPicPr>
          <p:nvPr/>
        </p:nvPicPr>
        <p:blipFill>
          <a:blip r:embed="rId2"/>
          <a:stretch>
            <a:fillRect/>
          </a:stretch>
        </p:blipFill>
        <p:spPr>
          <a:xfrm>
            <a:off x="1081216" y="945328"/>
            <a:ext cx="10029640" cy="4967380"/>
          </a:xfrm>
          <a:prstGeom prst="rect">
            <a:avLst/>
          </a:prstGeom>
        </p:spPr>
      </p:pic>
    </p:spTree>
    <p:extLst>
      <p:ext uri="{BB962C8B-B14F-4D97-AF65-F5344CB8AC3E}">
        <p14:creationId xmlns:p14="http://schemas.microsoft.com/office/powerpoint/2010/main" val="779272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75677E-CF7D-6867-4787-D7B30FA1B434}"/>
              </a:ext>
            </a:extLst>
          </p:cNvPr>
          <p:cNvPicPr>
            <a:picLocks noChangeAspect="1"/>
          </p:cNvPicPr>
          <p:nvPr/>
        </p:nvPicPr>
        <p:blipFill>
          <a:blip r:embed="rId2"/>
          <a:stretch>
            <a:fillRect/>
          </a:stretch>
        </p:blipFill>
        <p:spPr>
          <a:xfrm>
            <a:off x="43290" y="180693"/>
            <a:ext cx="12105419" cy="6496613"/>
          </a:xfrm>
          <a:prstGeom prst="rect">
            <a:avLst/>
          </a:prstGeom>
        </p:spPr>
      </p:pic>
    </p:spTree>
    <p:extLst>
      <p:ext uri="{BB962C8B-B14F-4D97-AF65-F5344CB8AC3E}">
        <p14:creationId xmlns:p14="http://schemas.microsoft.com/office/powerpoint/2010/main" val="1738340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2C0CCB-DC49-9F25-67C9-CE1649E0FF8A}"/>
              </a:ext>
            </a:extLst>
          </p:cNvPr>
          <p:cNvPicPr>
            <a:picLocks noChangeAspect="1"/>
          </p:cNvPicPr>
          <p:nvPr/>
        </p:nvPicPr>
        <p:blipFill>
          <a:blip r:embed="rId2"/>
          <a:stretch>
            <a:fillRect/>
          </a:stretch>
        </p:blipFill>
        <p:spPr>
          <a:xfrm>
            <a:off x="75678" y="171167"/>
            <a:ext cx="12040643" cy="6515665"/>
          </a:xfrm>
          <a:prstGeom prst="rect">
            <a:avLst/>
          </a:prstGeom>
        </p:spPr>
      </p:pic>
    </p:spTree>
    <p:extLst>
      <p:ext uri="{BB962C8B-B14F-4D97-AF65-F5344CB8AC3E}">
        <p14:creationId xmlns:p14="http://schemas.microsoft.com/office/powerpoint/2010/main" val="4025034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56A964-4DE3-0BDB-DEA8-58C60FEADB38}"/>
              </a:ext>
            </a:extLst>
          </p:cNvPr>
          <p:cNvPicPr>
            <a:picLocks noChangeAspect="1"/>
          </p:cNvPicPr>
          <p:nvPr/>
        </p:nvPicPr>
        <p:blipFill>
          <a:blip r:embed="rId2"/>
          <a:stretch>
            <a:fillRect/>
          </a:stretch>
        </p:blipFill>
        <p:spPr>
          <a:xfrm>
            <a:off x="834081" y="910385"/>
            <a:ext cx="11121786" cy="5861118"/>
          </a:xfrm>
          <a:prstGeom prst="rect">
            <a:avLst/>
          </a:prstGeom>
        </p:spPr>
      </p:pic>
      <p:sp>
        <p:nvSpPr>
          <p:cNvPr id="4" name="TextBox 3">
            <a:extLst>
              <a:ext uri="{FF2B5EF4-FFF2-40B4-BE49-F238E27FC236}">
                <a16:creationId xmlns:a16="http://schemas.microsoft.com/office/drawing/2014/main" id="{70E9305B-7DAE-25D9-FDBC-DDF1DA7A2852}"/>
              </a:ext>
            </a:extLst>
          </p:cNvPr>
          <p:cNvSpPr txBox="1"/>
          <p:nvPr/>
        </p:nvSpPr>
        <p:spPr>
          <a:xfrm>
            <a:off x="852616" y="240957"/>
            <a:ext cx="818173" cy="369332"/>
          </a:xfrm>
          <a:prstGeom prst="rect">
            <a:avLst/>
          </a:prstGeom>
          <a:noFill/>
        </p:spPr>
        <p:txBody>
          <a:bodyPr wrap="none" rtlCol="0">
            <a:spAutoFit/>
          </a:bodyPr>
          <a:lstStyle/>
          <a:p>
            <a:r>
              <a:rPr lang="en-IN" dirty="0" err="1"/>
              <a:t>pstree</a:t>
            </a:r>
            <a:endParaRPr lang="en-IN" dirty="0"/>
          </a:p>
        </p:txBody>
      </p:sp>
    </p:spTree>
    <p:extLst>
      <p:ext uri="{BB962C8B-B14F-4D97-AF65-F5344CB8AC3E}">
        <p14:creationId xmlns:p14="http://schemas.microsoft.com/office/powerpoint/2010/main" val="1425277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99D102-AA91-B6CE-004A-8AE6BBBC4CD2}"/>
              </a:ext>
            </a:extLst>
          </p:cNvPr>
          <p:cNvPicPr>
            <a:picLocks noChangeAspect="1"/>
          </p:cNvPicPr>
          <p:nvPr/>
        </p:nvPicPr>
        <p:blipFill>
          <a:blip r:embed="rId2"/>
          <a:stretch>
            <a:fillRect/>
          </a:stretch>
        </p:blipFill>
        <p:spPr>
          <a:xfrm>
            <a:off x="2150075" y="1036645"/>
            <a:ext cx="7661727" cy="5776760"/>
          </a:xfrm>
          <a:prstGeom prst="rect">
            <a:avLst/>
          </a:prstGeom>
        </p:spPr>
      </p:pic>
      <p:sp>
        <p:nvSpPr>
          <p:cNvPr id="4" name="TextBox 3">
            <a:extLst>
              <a:ext uri="{FF2B5EF4-FFF2-40B4-BE49-F238E27FC236}">
                <a16:creationId xmlns:a16="http://schemas.microsoft.com/office/drawing/2014/main" id="{D08B98FB-B565-E177-72C3-4670F478A1C6}"/>
              </a:ext>
            </a:extLst>
          </p:cNvPr>
          <p:cNvSpPr txBox="1"/>
          <p:nvPr/>
        </p:nvSpPr>
        <p:spPr>
          <a:xfrm>
            <a:off x="988541" y="494270"/>
            <a:ext cx="972830" cy="369332"/>
          </a:xfrm>
          <a:prstGeom prst="rect">
            <a:avLst/>
          </a:prstGeom>
          <a:noFill/>
        </p:spPr>
        <p:txBody>
          <a:bodyPr wrap="none" rtlCol="0">
            <a:spAutoFit/>
          </a:bodyPr>
          <a:lstStyle/>
          <a:p>
            <a:r>
              <a:rPr lang="en-IN" dirty="0" err="1"/>
              <a:t>Psxview</a:t>
            </a:r>
            <a:endParaRPr lang="en-IN" dirty="0"/>
          </a:p>
        </p:txBody>
      </p:sp>
    </p:spTree>
    <p:extLst>
      <p:ext uri="{BB962C8B-B14F-4D97-AF65-F5344CB8AC3E}">
        <p14:creationId xmlns:p14="http://schemas.microsoft.com/office/powerpoint/2010/main" val="3287638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C57C6-0865-55CB-D16B-932F611F380E}"/>
              </a:ext>
            </a:extLst>
          </p:cNvPr>
          <p:cNvSpPr>
            <a:spLocks noGrp="1"/>
          </p:cNvSpPr>
          <p:nvPr>
            <p:ph type="title"/>
          </p:nvPr>
        </p:nvSpPr>
        <p:spPr/>
        <p:txBody>
          <a:bodyPr/>
          <a:lstStyle/>
          <a:p>
            <a:r>
              <a:rPr lang="en-IN" dirty="0"/>
              <a:t>Once you detect something suspicious…</a:t>
            </a:r>
          </a:p>
        </p:txBody>
      </p:sp>
      <p:sp>
        <p:nvSpPr>
          <p:cNvPr id="3" name="Content Placeholder 2">
            <a:extLst>
              <a:ext uri="{FF2B5EF4-FFF2-40B4-BE49-F238E27FC236}">
                <a16:creationId xmlns:a16="http://schemas.microsoft.com/office/drawing/2014/main" id="{C1DA4240-F7BF-BEB2-80D3-633830F2DE69}"/>
              </a:ext>
            </a:extLst>
          </p:cNvPr>
          <p:cNvSpPr>
            <a:spLocks noGrp="1"/>
          </p:cNvSpPr>
          <p:nvPr>
            <p:ph idx="1"/>
          </p:nvPr>
        </p:nvSpPr>
        <p:spPr/>
        <p:txBody>
          <a:bodyPr/>
          <a:lstStyle/>
          <a:p>
            <a:r>
              <a:rPr lang="en-IN" dirty="0"/>
              <a:t>volatility3 -f </a:t>
            </a:r>
            <a:r>
              <a:rPr lang="en-IN" dirty="0" err="1"/>
              <a:t>memory.raw</a:t>
            </a:r>
            <a:r>
              <a:rPr lang="en-IN" dirty="0"/>
              <a:t> </a:t>
            </a:r>
            <a:r>
              <a:rPr lang="en-IN" dirty="0" err="1"/>
              <a:t>windows.dumpfiles</a:t>
            </a:r>
            <a:r>
              <a:rPr lang="en-IN" dirty="0"/>
              <a:t> --</a:t>
            </a:r>
            <a:r>
              <a:rPr lang="en-IN" dirty="0" err="1"/>
              <a:t>pid</a:t>
            </a:r>
            <a:r>
              <a:rPr lang="en-IN" dirty="0"/>
              <a:t> &lt;PID&gt;</a:t>
            </a:r>
          </a:p>
          <a:p>
            <a:r>
              <a:rPr lang="en-IN" dirty="0"/>
              <a:t>volatility3 -f </a:t>
            </a:r>
            <a:r>
              <a:rPr lang="en-IN" dirty="0" err="1"/>
              <a:t>memory.raw</a:t>
            </a:r>
            <a:r>
              <a:rPr lang="en-IN" dirty="0"/>
              <a:t> </a:t>
            </a:r>
            <a:r>
              <a:rPr lang="en-IN" dirty="0" err="1"/>
              <a:t>windows.dumpfiles</a:t>
            </a:r>
            <a:r>
              <a:rPr lang="en-IN" dirty="0"/>
              <a:t> --</a:t>
            </a:r>
            <a:r>
              <a:rPr lang="en-IN" dirty="0" err="1"/>
              <a:t>pid</a:t>
            </a:r>
            <a:r>
              <a:rPr lang="en-IN" dirty="0"/>
              <a:t> &lt;PID&gt; --name *.</a:t>
            </a:r>
            <a:r>
              <a:rPr lang="en-IN" dirty="0" err="1"/>
              <a:t>dll</a:t>
            </a:r>
            <a:endParaRPr lang="en-IN" dirty="0"/>
          </a:p>
          <a:p>
            <a:r>
              <a:rPr lang="en-IN" dirty="0"/>
              <a:t>volatility3 -f </a:t>
            </a:r>
            <a:r>
              <a:rPr lang="en-IN" dirty="0" err="1"/>
              <a:t>memory.raw</a:t>
            </a:r>
            <a:r>
              <a:rPr lang="en-IN" dirty="0"/>
              <a:t> </a:t>
            </a:r>
            <a:r>
              <a:rPr lang="en-IN" dirty="0" err="1"/>
              <a:t>windows.dumpfiles</a:t>
            </a:r>
            <a:r>
              <a:rPr lang="en-IN" dirty="0"/>
              <a:t> --name *SYSTEM*</a:t>
            </a:r>
          </a:p>
          <a:p>
            <a:r>
              <a:rPr lang="en-IN" dirty="0"/>
              <a:t>volatility3 -f </a:t>
            </a:r>
            <a:r>
              <a:rPr lang="en-IN" dirty="0" err="1"/>
              <a:t>memory.raw</a:t>
            </a:r>
            <a:r>
              <a:rPr lang="en-IN" dirty="0"/>
              <a:t> </a:t>
            </a:r>
            <a:r>
              <a:rPr lang="en-IN" dirty="0" err="1"/>
              <a:t>windows.dumpfiles</a:t>
            </a:r>
            <a:r>
              <a:rPr lang="en-IN" dirty="0"/>
              <a:t> --name *SAM*</a:t>
            </a:r>
          </a:p>
          <a:p>
            <a:r>
              <a:rPr lang="en-IN" dirty="0"/>
              <a:t>volatility3 -f </a:t>
            </a:r>
            <a:r>
              <a:rPr lang="en-IN" dirty="0" err="1"/>
              <a:t>memory.raw</a:t>
            </a:r>
            <a:r>
              <a:rPr lang="en-IN" dirty="0"/>
              <a:t> </a:t>
            </a:r>
            <a:r>
              <a:rPr lang="en-IN" dirty="0" err="1"/>
              <a:t>windows.dumpfiles</a:t>
            </a:r>
            <a:r>
              <a:rPr lang="en-IN" dirty="0"/>
              <a:t> --name *NTUSER.DAT*</a:t>
            </a:r>
          </a:p>
          <a:p>
            <a:pPr marL="0" indent="0">
              <a:buNone/>
            </a:pPr>
            <a:endParaRPr lang="en-IN" dirty="0"/>
          </a:p>
        </p:txBody>
      </p:sp>
    </p:spTree>
    <p:extLst>
      <p:ext uri="{BB962C8B-B14F-4D97-AF65-F5344CB8AC3E}">
        <p14:creationId xmlns:p14="http://schemas.microsoft.com/office/powerpoint/2010/main" val="14447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8CAD9-831C-976E-C66F-52437772CC86}"/>
              </a:ext>
            </a:extLst>
          </p:cNvPr>
          <p:cNvSpPr>
            <a:spLocks noGrp="1"/>
          </p:cNvSpPr>
          <p:nvPr>
            <p:ph type="title"/>
          </p:nvPr>
        </p:nvSpPr>
        <p:spPr/>
        <p:txBody>
          <a:bodyPr/>
          <a:lstStyle/>
          <a:p>
            <a:r>
              <a:rPr lang="en-IN" dirty="0"/>
              <a:t>Next steps</a:t>
            </a:r>
          </a:p>
        </p:txBody>
      </p:sp>
      <p:sp>
        <p:nvSpPr>
          <p:cNvPr id="3" name="Content Placeholder 2">
            <a:extLst>
              <a:ext uri="{FF2B5EF4-FFF2-40B4-BE49-F238E27FC236}">
                <a16:creationId xmlns:a16="http://schemas.microsoft.com/office/drawing/2014/main" id="{18A6FF1F-8174-2314-8CD3-B64A37B04361}"/>
              </a:ext>
            </a:extLst>
          </p:cNvPr>
          <p:cNvSpPr>
            <a:spLocks noGrp="1"/>
          </p:cNvSpPr>
          <p:nvPr>
            <p:ph idx="1"/>
          </p:nvPr>
        </p:nvSpPr>
        <p:spPr/>
        <p:txBody>
          <a:bodyPr/>
          <a:lstStyle/>
          <a:p>
            <a:r>
              <a:rPr lang="en-IN" dirty="0"/>
              <a:t>Check if known malware</a:t>
            </a:r>
          </a:p>
          <a:p>
            <a:r>
              <a:rPr lang="en-IN" dirty="0"/>
              <a:t>Further analysis if unknown malware</a:t>
            </a:r>
          </a:p>
        </p:txBody>
      </p:sp>
    </p:spTree>
    <p:extLst>
      <p:ext uri="{BB962C8B-B14F-4D97-AF65-F5344CB8AC3E}">
        <p14:creationId xmlns:p14="http://schemas.microsoft.com/office/powerpoint/2010/main" val="1171117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0C393-4E06-5688-CAF6-3403EBAC0901}"/>
              </a:ext>
            </a:extLst>
          </p:cNvPr>
          <p:cNvSpPr>
            <a:spLocks noGrp="1"/>
          </p:cNvSpPr>
          <p:nvPr>
            <p:ph type="title"/>
          </p:nvPr>
        </p:nvSpPr>
        <p:spPr/>
        <p:txBody>
          <a:bodyPr/>
          <a:lstStyle/>
          <a:p>
            <a:r>
              <a:rPr lang="en-IN" dirty="0" err="1"/>
              <a:t>MemProcFS</a:t>
            </a:r>
            <a:endParaRPr lang="en-IN" dirty="0"/>
          </a:p>
        </p:txBody>
      </p:sp>
      <p:pic>
        <p:nvPicPr>
          <p:cNvPr id="5" name="Content Placeholder 4">
            <a:extLst>
              <a:ext uri="{FF2B5EF4-FFF2-40B4-BE49-F238E27FC236}">
                <a16:creationId xmlns:a16="http://schemas.microsoft.com/office/drawing/2014/main" id="{9D964C06-CEFB-B14C-7CC4-DF8B7751297F}"/>
              </a:ext>
            </a:extLst>
          </p:cNvPr>
          <p:cNvPicPr>
            <a:picLocks noGrp="1" noChangeAspect="1"/>
          </p:cNvPicPr>
          <p:nvPr>
            <p:ph idx="1"/>
          </p:nvPr>
        </p:nvPicPr>
        <p:blipFill>
          <a:blip r:embed="rId2"/>
          <a:stretch>
            <a:fillRect/>
          </a:stretch>
        </p:blipFill>
        <p:spPr>
          <a:xfrm>
            <a:off x="2156254" y="1667751"/>
            <a:ext cx="7917842" cy="4689800"/>
          </a:xfrm>
          <a:prstGeom prst="rect">
            <a:avLst/>
          </a:prstGeom>
        </p:spPr>
      </p:pic>
    </p:spTree>
    <p:extLst>
      <p:ext uri="{BB962C8B-B14F-4D97-AF65-F5344CB8AC3E}">
        <p14:creationId xmlns:p14="http://schemas.microsoft.com/office/powerpoint/2010/main" val="909228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CE401-FFCF-312C-1B9A-AEF6CE3D19D0}"/>
              </a:ext>
            </a:extLst>
          </p:cNvPr>
          <p:cNvSpPr>
            <a:spLocks noGrp="1"/>
          </p:cNvSpPr>
          <p:nvPr>
            <p:ph type="title"/>
          </p:nvPr>
        </p:nvSpPr>
        <p:spPr>
          <a:xfrm>
            <a:off x="4596714" y="2704434"/>
            <a:ext cx="2631989" cy="1325563"/>
          </a:xfrm>
        </p:spPr>
        <p:txBody>
          <a:bodyPr/>
          <a:lstStyle/>
          <a:p>
            <a:r>
              <a:rPr lang="en-IN" dirty="0"/>
              <a:t>Thank You!</a:t>
            </a:r>
          </a:p>
        </p:txBody>
      </p:sp>
    </p:spTree>
    <p:extLst>
      <p:ext uri="{BB962C8B-B14F-4D97-AF65-F5344CB8AC3E}">
        <p14:creationId xmlns:p14="http://schemas.microsoft.com/office/powerpoint/2010/main" val="520599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TotalTime>
  <Words>481</Words>
  <Application>Microsoft Office PowerPoint</Application>
  <PresentationFormat>Widescreen</PresentationFormat>
  <Paragraphs>77</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Volatile Artifacts Analysis Memory Forensics</vt:lpstr>
      <vt:lpstr>Case Study 1:</vt:lpstr>
      <vt:lpstr>Case Study 2:</vt:lpstr>
      <vt:lpstr>Motivation?</vt:lpstr>
      <vt:lpstr>What are Volatile Artifacts?</vt:lpstr>
      <vt:lpstr>Why attackers abuse RAM?</vt:lpstr>
      <vt:lpstr>What do volatile artifacts reveal?</vt:lpstr>
      <vt:lpstr>Memory Acquisition tools</vt:lpstr>
      <vt:lpstr>Memory Analysis tools</vt:lpstr>
      <vt:lpstr>Critical Volatile Artifacts</vt:lpstr>
      <vt:lpstr>Volatility</vt:lpstr>
      <vt:lpstr>How processes are tracked?</vt:lpstr>
      <vt:lpstr>PowerPoint Presentation</vt:lpstr>
      <vt:lpstr>PowerPoint Presentation</vt:lpstr>
      <vt:lpstr>PowerPoint Presentation</vt:lpstr>
      <vt:lpstr>PowerPoint Presentation</vt:lpstr>
      <vt:lpstr>PowerPoint Presentation</vt:lpstr>
      <vt:lpstr>PowerPoint Presentation</vt:lpstr>
      <vt:lpstr>Once you detect something suspicious…</vt:lpstr>
      <vt:lpstr>Next steps</vt:lpstr>
      <vt:lpstr>MemProcFS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Modhuparna Manna</dc:creator>
  <cp:lastModifiedBy>Modhuparna Manna</cp:lastModifiedBy>
  <cp:revision>12</cp:revision>
  <dcterms:created xsi:type="dcterms:W3CDTF">2025-12-02T15:30:00Z</dcterms:created>
  <dcterms:modified xsi:type="dcterms:W3CDTF">2025-12-02T23:18:34Z</dcterms:modified>
</cp:coreProperties>
</file>