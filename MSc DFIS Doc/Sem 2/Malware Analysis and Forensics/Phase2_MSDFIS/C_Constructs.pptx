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62" d="100"/>
          <a:sy n="62" d="100"/>
        </p:scale>
        <p:origin x="840" y="2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F7AD8-2641-BC7B-383C-FAB63C5B3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497A27-11BF-E633-31C6-3F2E31399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D483B-4067-C86F-5352-F38AB5048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BBE65-49F6-400B-9EC4-80B5D917D8F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92CE7-F97E-97F3-85C2-B43B52B5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1A389-424B-8CB7-23F4-7BFBC7E29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CDBFA-968D-46F2-9DE3-63726640C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113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4D40E-2736-5E5F-9F91-AF9F56F9A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2624A-6B4F-3217-03D6-02F3E2100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931D7-46EE-6FF7-97AB-85D477C54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BBE65-49F6-400B-9EC4-80B5D917D8F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A0516-8CB6-A565-90A3-42769178A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53CA5-48F9-9151-ECDE-F869A4972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CDBFA-968D-46F2-9DE3-63726640C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554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A1A72-E30E-A18A-394F-040566039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EF948-5EFF-B435-507B-342AB152E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9E919-D3B8-411D-F99E-AD56DFBB1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BBE65-49F6-400B-9EC4-80B5D917D8F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B2B87-364C-90CC-4EA6-C6741D894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D45C-2912-F48C-D097-E4028389E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CDBFA-968D-46F2-9DE3-63726640C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786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89673-0752-6B10-96F6-A496E3691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6EEE0-005F-E319-AE84-778E6A8B66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D27AD-AB1E-82FC-9C81-6B7D5C54B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EBC87-A820-B404-B7FA-FF5C5DDB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BBE65-49F6-400B-9EC4-80B5D917D8F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F3A3B-B1F0-1A34-C0EA-402C0753A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FD22D-DB03-E98D-C7E3-59E6C528A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CDBFA-968D-46F2-9DE3-63726640C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512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B61BD-1C0F-A717-52B7-DFFC2344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5216A-01F6-2341-25BD-C3C31B896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D576B-364E-3256-1F6F-BFA293947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497EA9-63F9-B3A8-166F-5E1AC08AC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4C93F0-7F8D-29B9-99E1-B3302212B0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958A0E-A6AE-DA13-AFCA-1FBE121E5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BBE65-49F6-400B-9EC4-80B5D917D8F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A6B12C-9805-22B9-B8FC-A39E42E99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6DC778-07F5-2704-605F-5FBBF12F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CDBFA-968D-46F2-9DE3-63726640C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608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7B34E-6558-315B-AF14-FE707F714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3F8D28-6B4B-36A7-AA78-4941474A5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BBE65-49F6-400B-9EC4-80B5D917D8F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6B78D-7A21-0702-789E-96A2BE544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AFB64-252F-BF76-6022-D7DB8B76A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CDBFA-968D-46F2-9DE3-63726640C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92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BF442F-58EF-AADF-9CC8-F36EA0C51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BBE65-49F6-400B-9EC4-80B5D917D8F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B585AA-C3A6-2B9E-7E97-171504C5B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2DEE2-E348-3D64-4B52-AA1D51F6B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CDBFA-968D-46F2-9DE3-63726640C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550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AE18-B99E-D885-E34B-124CCAAB2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5DA81-1158-3789-D8A3-59DDB8978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B2530-37FD-ADFD-2358-5854F4E32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AA472-F07E-7BA9-9EF3-02C2BDB7B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BBE65-49F6-400B-9EC4-80B5D917D8F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356F9-3948-2BFB-2542-D69F92212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9C80A-FCC8-4A57-CE35-8C4EF107B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CDBFA-968D-46F2-9DE3-63726640C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151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ACD0E-609F-0479-A9AD-B82266F6C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1C9F2E-58D6-3561-684C-D94CF0B1C7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127249-36EF-1C50-C2FB-ABD3A828E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7E2047-BF0E-68B8-BA01-AB2337F8A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BBE65-49F6-400B-9EC4-80B5D917D8F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9B303-A33B-133E-6C91-D1940219A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F4C35-3791-DCFE-F9F8-D1AC20FC7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CDBFA-968D-46F2-9DE3-63726640C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264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C6090-45D3-B60F-123B-BA102C9A5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BC1E8E-BE8C-AC5A-E20F-A91413D5C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ED101-B818-C8C2-B739-AC4685743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BBE65-49F6-400B-9EC4-80B5D917D8F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70974-1432-FB26-3858-41D540979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6FF46-DCD5-764F-5F3E-D65E7F5D6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CDBFA-968D-46F2-9DE3-63726640C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029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85CC9D-047B-7E4C-FCCC-5E1404F6D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4F4D8B-50C3-2342-D1CA-908FCE964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276CE-DC71-F00D-C692-659E98FD9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BBE65-49F6-400B-9EC4-80B5D917D8F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2F70F-8E82-CDD2-0EDB-0ED6A47E6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7B076-CB0A-A6C0-91B1-361612DC0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CDBFA-968D-46F2-9DE3-63726640C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808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7AECD3-EA92-4147-E9CE-1F6081DAF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24280-0107-FB3B-C9ED-1D076F19A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8062F-59BE-3386-0B9E-456B4B7FFB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9BBE65-49F6-400B-9EC4-80B5D917D8F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DAE27-A641-AFF7-09E5-8C2F72FD7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EF3DE-BE54-E75A-A6F0-4F5BE9B409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CDBFA-968D-46F2-9DE3-63726640C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45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252DF-6169-90C5-B5A9-871DF04179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Understanding C Constructs in Assembly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64DE7E-2DCC-4A1C-5487-2D857D19ED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Dr Modhuparna Manna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B1562B7-D844-CCCA-7DA4-E540DA6AF6C1}"/>
              </a:ext>
            </a:extLst>
          </p:cNvPr>
          <p:cNvSpPr txBox="1"/>
          <p:nvPr/>
        </p:nvSpPr>
        <p:spPr>
          <a:xfrm>
            <a:off x="356287" y="6219567"/>
            <a:ext cx="38862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dirty="0">
                <a:latin typeface="Trebuchet MS"/>
                <a:cs typeface="Trebuchet MS"/>
              </a:rPr>
              <a:t>Slides adapted from Sam Bowne’s lecture notes</a:t>
            </a:r>
            <a:endParaRPr sz="12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35942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573937"/>
            <a:ext cx="10515600" cy="907941"/>
          </a:xfrm>
          <a:prstGeom prst="rect">
            <a:avLst/>
          </a:prstGeom>
        </p:spPr>
        <p:txBody>
          <a:bodyPr vert="horz" wrap="square" lIns="0" tIns="228600" rIns="0" bIns="0" rtlCol="0" anchor="ctr">
            <a:spAutoFit/>
          </a:bodyPr>
          <a:lstStyle/>
          <a:p>
            <a:pPr marL="237490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</a:t>
            </a:r>
            <a:r>
              <a:rPr spc="-60" dirty="0"/>
              <a:t> </a:t>
            </a:r>
            <a:r>
              <a:rPr spc="-20" dirty="0"/>
              <a:t>Call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009" y="1503245"/>
            <a:ext cx="7600284" cy="4626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19400" y="520700"/>
            <a:ext cx="6055360" cy="6197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56205" algn="l"/>
                <a:tab pos="3913504" algn="l"/>
              </a:tabLst>
            </a:pPr>
            <a:r>
              <a:rPr sz="3900" dirty="0"/>
              <a:t>Finding</a:t>
            </a:r>
            <a:r>
              <a:rPr sz="3900" spc="-90" dirty="0"/>
              <a:t> </a:t>
            </a:r>
            <a:r>
              <a:rPr sz="3900" spc="-25" dirty="0"/>
              <a:t>the</a:t>
            </a:r>
            <a:r>
              <a:rPr sz="3900" dirty="0"/>
              <a:t>	</a:t>
            </a:r>
            <a:r>
              <a:rPr sz="3900" spc="-20" dirty="0"/>
              <a:t>Code</a:t>
            </a:r>
            <a:r>
              <a:rPr sz="3900" dirty="0"/>
              <a:t>	in</a:t>
            </a:r>
            <a:r>
              <a:rPr sz="3900" spc="-15" dirty="0"/>
              <a:t> </a:t>
            </a:r>
            <a:r>
              <a:rPr sz="3900" dirty="0"/>
              <a:t>IDA</a:t>
            </a:r>
            <a:r>
              <a:rPr sz="3900" spc="-229" dirty="0"/>
              <a:t> </a:t>
            </a:r>
            <a:r>
              <a:rPr sz="3900" spc="-35" dirty="0"/>
              <a:t>Pro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2095501" y="1270000"/>
            <a:ext cx="59048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IDA</a:t>
            </a:r>
            <a:r>
              <a:rPr sz="3200" spc="-22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shows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only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entry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point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86038" y="1989402"/>
            <a:ext cx="7019925" cy="4645025"/>
            <a:chOff x="1062037" y="1989401"/>
            <a:chExt cx="7019925" cy="46450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800" y="2006864"/>
              <a:ext cx="7010400" cy="46228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66800" y="1994164"/>
              <a:ext cx="7010400" cy="4635500"/>
            </a:xfrm>
            <a:custGeom>
              <a:avLst/>
              <a:gdLst/>
              <a:ahLst/>
              <a:cxnLst/>
              <a:rect l="l" t="t" r="r" b="b"/>
              <a:pathLst>
                <a:path w="7010400" h="4635500">
                  <a:moveTo>
                    <a:pt x="0" y="0"/>
                  </a:moveTo>
                  <a:lnTo>
                    <a:pt x="7010400" y="0"/>
                  </a:lnTo>
                  <a:lnTo>
                    <a:pt x="7010400" y="4635500"/>
                  </a:lnTo>
                  <a:lnTo>
                    <a:pt x="0" y="46355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63900" y="254000"/>
            <a:ext cx="567436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3785" algn="l"/>
              </a:tabLst>
            </a:pPr>
            <a:r>
              <a:rPr spc="-25" dirty="0"/>
              <a:t>Use</a:t>
            </a:r>
            <a:r>
              <a:rPr dirty="0"/>
              <a:t>	Strings,</a:t>
            </a:r>
            <a:r>
              <a:rPr spc="-55" dirty="0"/>
              <a:t> </a:t>
            </a:r>
            <a:r>
              <a:rPr dirty="0"/>
              <a:t>then</a:t>
            </a:r>
            <a:r>
              <a:rPr spc="-50" dirty="0"/>
              <a:t> </a:t>
            </a:r>
            <a:r>
              <a:rPr spc="-20" dirty="0"/>
              <a:t>XREF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76097" y="1256372"/>
            <a:ext cx="6139815" cy="2167890"/>
            <a:chOff x="2152096" y="1256372"/>
            <a:chExt cx="6139815" cy="21678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56858" y="1261135"/>
              <a:ext cx="6130100" cy="215787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56858" y="1261135"/>
              <a:ext cx="6130290" cy="2158365"/>
            </a:xfrm>
            <a:custGeom>
              <a:avLst/>
              <a:gdLst/>
              <a:ahLst/>
              <a:cxnLst/>
              <a:rect l="l" t="t" r="r" b="b"/>
              <a:pathLst>
                <a:path w="6130290" h="2158365">
                  <a:moveTo>
                    <a:pt x="0" y="0"/>
                  </a:moveTo>
                  <a:lnTo>
                    <a:pt x="0" y="2157808"/>
                  </a:lnTo>
                  <a:lnTo>
                    <a:pt x="6130131" y="2157808"/>
                  </a:lnTo>
                  <a:lnTo>
                    <a:pt x="6130131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466867" y="3673409"/>
            <a:ext cx="7258684" cy="3018790"/>
            <a:chOff x="942867" y="3673409"/>
            <a:chExt cx="7258684" cy="301879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7629" y="3678171"/>
              <a:ext cx="7248740" cy="300919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47629" y="3678171"/>
              <a:ext cx="7249159" cy="3009265"/>
            </a:xfrm>
            <a:custGeom>
              <a:avLst/>
              <a:gdLst/>
              <a:ahLst/>
              <a:cxnLst/>
              <a:rect l="l" t="t" r="r" b="b"/>
              <a:pathLst>
                <a:path w="7249159" h="3009265">
                  <a:moveTo>
                    <a:pt x="0" y="0"/>
                  </a:moveTo>
                  <a:lnTo>
                    <a:pt x="7248740" y="0"/>
                  </a:lnTo>
                  <a:lnTo>
                    <a:pt x="7248740" y="3009191"/>
                  </a:lnTo>
                  <a:lnTo>
                    <a:pt x="0" y="30091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78000" y="1270000"/>
            <a:ext cx="1821180" cy="21463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spcBef>
                <a:spcPts val="700"/>
              </a:spcBef>
              <a:buFont typeface="Arial"/>
              <a:buChar char="•"/>
              <a:tabLst>
                <a:tab pos="354965" algn="l"/>
              </a:tabLst>
            </a:pPr>
            <a:r>
              <a:rPr sz="2500" spc="-10" dirty="0">
                <a:latin typeface="Trebuchet MS"/>
                <a:cs typeface="Trebuchet MS"/>
              </a:rPr>
              <a:t>Shift+F12</a:t>
            </a:r>
            <a:endParaRPr sz="2500">
              <a:latin typeface="Trebuchet MS"/>
              <a:cs typeface="Trebuchet MS"/>
            </a:endParaRPr>
          </a:p>
          <a:p>
            <a:pPr marL="355600" marR="358140" indent="-342900">
              <a:lnSpc>
                <a:spcPts val="2900"/>
              </a:lnSpc>
              <a:spcBef>
                <a:spcPts val="780"/>
              </a:spcBef>
              <a:buFont typeface="Arial"/>
              <a:buChar char="•"/>
              <a:tabLst>
                <a:tab pos="355600" algn="l"/>
              </a:tabLst>
            </a:pPr>
            <a:r>
              <a:rPr sz="2500" spc="-10" dirty="0">
                <a:latin typeface="Trebuchet MS"/>
                <a:cs typeface="Trebuchet MS"/>
              </a:rPr>
              <a:t>Double-click</a:t>
            </a:r>
            <a:endParaRPr sz="2500">
              <a:latin typeface="Trebuchet MS"/>
              <a:cs typeface="Trebuchet MS"/>
            </a:endParaRPr>
          </a:p>
          <a:p>
            <a:pPr marL="355600" marR="5080" indent="-342900">
              <a:lnSpc>
                <a:spcPts val="2900"/>
              </a:lnSpc>
              <a:spcBef>
                <a:spcPts val="800"/>
              </a:spcBef>
              <a:buFont typeface="Arial"/>
              <a:buChar char="•"/>
              <a:tabLst>
                <a:tab pos="355600" algn="l"/>
              </a:tabLst>
            </a:pPr>
            <a:r>
              <a:rPr sz="2500" spc="-10" dirty="0">
                <a:latin typeface="Trebuchet MS"/>
                <a:cs typeface="Trebuchet MS"/>
              </a:rPr>
              <a:t>Double-</a:t>
            </a:r>
            <a:r>
              <a:rPr sz="2500" dirty="0">
                <a:latin typeface="Trebuchet MS"/>
                <a:cs typeface="Trebuchet MS"/>
              </a:rPr>
              <a:t>click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XREF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586761"/>
            <a:ext cx="10515600" cy="882293"/>
          </a:xfrm>
          <a:prstGeom prst="rect">
            <a:avLst/>
          </a:prstGeom>
        </p:spPr>
        <p:txBody>
          <a:bodyPr vert="horz" wrap="square" lIns="0" tIns="279400" rIns="0" bIns="0" rtlCol="0" anchor="ctr">
            <a:spAutoFit/>
          </a:bodyPr>
          <a:lstStyle/>
          <a:p>
            <a:pPr marL="1562100">
              <a:lnSpc>
                <a:spcPct val="100000"/>
              </a:lnSpc>
              <a:spcBef>
                <a:spcPts val="100"/>
              </a:spcBef>
            </a:pPr>
            <a:r>
              <a:rPr sz="3900" dirty="0"/>
              <a:t>Disassembly</a:t>
            </a:r>
            <a:r>
              <a:rPr sz="3900" spc="-45" dirty="0"/>
              <a:t> </a:t>
            </a:r>
            <a:r>
              <a:rPr sz="3900" dirty="0"/>
              <a:t>in</a:t>
            </a:r>
            <a:r>
              <a:rPr sz="3900" spc="-50" dirty="0"/>
              <a:t> </a:t>
            </a:r>
            <a:r>
              <a:rPr sz="3900" dirty="0"/>
              <a:t>IDA</a:t>
            </a:r>
            <a:r>
              <a:rPr sz="3900" spc="-260" dirty="0"/>
              <a:t> </a:t>
            </a:r>
            <a:r>
              <a:rPr sz="3900" spc="-25" dirty="0"/>
              <a:t>Pro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2019300" y="1709928"/>
            <a:ext cx="2683510" cy="445325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42900" marR="391160" indent="-330200" algn="just">
              <a:lnSpc>
                <a:spcPts val="3600"/>
              </a:lnSpc>
              <a:spcBef>
                <a:spcPts val="355"/>
              </a:spcBef>
              <a:buFont typeface="Arial"/>
              <a:buChar char="•"/>
              <a:tabLst>
                <a:tab pos="342900" algn="l"/>
              </a:tabLst>
            </a:pPr>
            <a:r>
              <a:rPr sz="3100" spc="-10" dirty="0">
                <a:latin typeface="Trebuchet MS"/>
                <a:cs typeface="Trebuchet MS"/>
              </a:rPr>
              <a:t>Arguments </a:t>
            </a:r>
            <a:r>
              <a:rPr sz="3100" dirty="0">
                <a:latin typeface="Trebuchet MS"/>
                <a:cs typeface="Trebuchet MS"/>
              </a:rPr>
              <a:t>for</a:t>
            </a:r>
            <a:r>
              <a:rPr sz="3100" spc="40" dirty="0">
                <a:latin typeface="Trebuchet MS"/>
                <a:cs typeface="Trebuchet MS"/>
              </a:rPr>
              <a:t> </a:t>
            </a:r>
            <a:r>
              <a:rPr sz="3100" spc="-10" dirty="0">
                <a:latin typeface="Trebuchet MS"/>
                <a:cs typeface="Trebuchet MS"/>
              </a:rPr>
              <a:t>printf() function</a:t>
            </a:r>
            <a:endParaRPr sz="3100">
              <a:latin typeface="Trebuchet MS"/>
              <a:cs typeface="Trebuchet MS"/>
            </a:endParaRPr>
          </a:p>
          <a:p>
            <a:pPr marL="342900" marR="152400" indent="-330200">
              <a:lnSpc>
                <a:spcPts val="3600"/>
              </a:lnSpc>
              <a:spcBef>
                <a:spcPts val="800"/>
              </a:spcBef>
              <a:buFont typeface="Arial"/>
              <a:buChar char="•"/>
              <a:tabLst>
                <a:tab pos="342900" algn="l"/>
              </a:tabLst>
            </a:pPr>
            <a:r>
              <a:rPr sz="3100" dirty="0">
                <a:latin typeface="Trebuchet MS"/>
                <a:cs typeface="Trebuchet MS"/>
              </a:rPr>
              <a:t>Pushed</a:t>
            </a:r>
            <a:r>
              <a:rPr sz="3100" spc="95" dirty="0">
                <a:latin typeface="Trebuchet MS"/>
                <a:cs typeface="Trebuchet MS"/>
              </a:rPr>
              <a:t> </a:t>
            </a:r>
            <a:r>
              <a:rPr sz="3100" spc="-20" dirty="0">
                <a:latin typeface="Trebuchet MS"/>
                <a:cs typeface="Trebuchet MS"/>
              </a:rPr>
              <a:t>onto </a:t>
            </a:r>
            <a:r>
              <a:rPr sz="3100" spc="-10" dirty="0">
                <a:latin typeface="Trebuchet MS"/>
                <a:cs typeface="Trebuchet MS"/>
              </a:rPr>
              <a:t>stack</a:t>
            </a:r>
            <a:endParaRPr sz="3100">
              <a:latin typeface="Trebuchet MS"/>
              <a:cs typeface="Trebuchet MS"/>
            </a:endParaRPr>
          </a:p>
          <a:p>
            <a:pPr marL="342900" marR="954405" indent="-330200">
              <a:lnSpc>
                <a:spcPts val="3600"/>
              </a:lnSpc>
              <a:spcBef>
                <a:spcPts val="700"/>
              </a:spcBef>
              <a:buFont typeface="Arial"/>
              <a:buChar char="•"/>
              <a:tabLst>
                <a:tab pos="342900" algn="l"/>
              </a:tabLst>
            </a:pPr>
            <a:r>
              <a:rPr sz="3100" spc="-10" dirty="0">
                <a:latin typeface="Trebuchet MS"/>
                <a:cs typeface="Trebuchet MS"/>
              </a:rPr>
              <a:t>Reverse order</a:t>
            </a:r>
            <a:endParaRPr sz="3100">
              <a:latin typeface="Trebuchet MS"/>
              <a:cs typeface="Trebuchet MS"/>
            </a:endParaRPr>
          </a:p>
          <a:p>
            <a:pPr marL="342900" marR="5080" indent="-330200">
              <a:lnSpc>
                <a:spcPts val="3600"/>
              </a:lnSpc>
              <a:spcBef>
                <a:spcPts val="800"/>
              </a:spcBef>
              <a:buFont typeface="Arial"/>
              <a:buChar char="•"/>
              <a:tabLst>
                <a:tab pos="342900" algn="l"/>
              </a:tabLst>
            </a:pPr>
            <a:r>
              <a:rPr sz="3100" b="1" dirty="0">
                <a:latin typeface="Trebuchet MS"/>
                <a:cs typeface="Trebuchet MS"/>
              </a:rPr>
              <a:t>call</a:t>
            </a:r>
            <a:r>
              <a:rPr sz="3100" b="1" spc="45" dirty="0">
                <a:latin typeface="Trebuchet MS"/>
                <a:cs typeface="Trebuchet MS"/>
              </a:rPr>
              <a:t> </a:t>
            </a:r>
            <a:r>
              <a:rPr sz="3100" spc="-10" dirty="0">
                <a:latin typeface="Trebuchet MS"/>
                <a:cs typeface="Trebuchet MS"/>
              </a:rPr>
              <a:t>launches function</a:t>
            </a:r>
            <a:endParaRPr sz="31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519813" y="2883809"/>
            <a:ext cx="4666615" cy="3512820"/>
            <a:chOff x="3995812" y="2883809"/>
            <a:chExt cx="4666615" cy="35128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0574" y="2888571"/>
              <a:ext cx="4656361" cy="350262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000574" y="2888571"/>
              <a:ext cx="4657090" cy="3503295"/>
            </a:xfrm>
            <a:custGeom>
              <a:avLst/>
              <a:gdLst/>
              <a:ahLst/>
              <a:cxnLst/>
              <a:rect l="l" t="t" r="r" b="b"/>
              <a:pathLst>
                <a:path w="4657090" h="3503295">
                  <a:moveTo>
                    <a:pt x="0" y="0"/>
                  </a:moveTo>
                  <a:lnTo>
                    <a:pt x="0" y="3502818"/>
                  </a:lnTo>
                  <a:lnTo>
                    <a:pt x="4656533" y="3502818"/>
                  </a:lnTo>
                  <a:lnTo>
                    <a:pt x="4656533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422440" y="1602817"/>
            <a:ext cx="4860925" cy="519430"/>
            <a:chOff x="3898439" y="1602817"/>
            <a:chExt cx="4860925" cy="51943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9096" y="1694618"/>
              <a:ext cx="4432192" cy="28598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903201" y="1607579"/>
              <a:ext cx="4851400" cy="509905"/>
            </a:xfrm>
            <a:custGeom>
              <a:avLst/>
              <a:gdLst/>
              <a:ahLst/>
              <a:cxnLst/>
              <a:rect l="l" t="t" r="r" b="b"/>
              <a:pathLst>
                <a:path w="4851400" h="509905">
                  <a:moveTo>
                    <a:pt x="0" y="0"/>
                  </a:moveTo>
                  <a:lnTo>
                    <a:pt x="4851281" y="0"/>
                  </a:lnTo>
                  <a:lnTo>
                    <a:pt x="4851281" y="509795"/>
                  </a:lnTo>
                  <a:lnTo>
                    <a:pt x="0" y="50979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573937"/>
            <a:ext cx="10515600" cy="907941"/>
          </a:xfrm>
          <a:prstGeom prst="rect">
            <a:avLst/>
          </a:prstGeom>
        </p:spPr>
        <p:txBody>
          <a:bodyPr vert="horz" wrap="square" lIns="0" tIns="228600" rIns="0" bIns="0" rtlCol="0" anchor="ctr">
            <a:spAutoFit/>
          </a:bodyPr>
          <a:lstStyle/>
          <a:p>
            <a:pPr marL="825500">
              <a:lnSpc>
                <a:spcPct val="100000"/>
              </a:lnSpc>
              <a:spcBef>
                <a:spcPts val="100"/>
              </a:spcBef>
            </a:pPr>
            <a:r>
              <a:rPr dirty="0"/>
              <a:t>Global</a:t>
            </a:r>
            <a:r>
              <a:rPr spc="-50" dirty="0"/>
              <a:t> </a:t>
            </a:r>
            <a:r>
              <a:rPr dirty="0"/>
              <a:t>vs.</a:t>
            </a:r>
            <a:r>
              <a:rPr spc="-50" dirty="0"/>
              <a:t> </a:t>
            </a:r>
            <a:r>
              <a:rPr dirty="0"/>
              <a:t>Local</a:t>
            </a:r>
            <a:r>
              <a:rPr spc="-50" dirty="0"/>
              <a:t> </a:t>
            </a:r>
            <a:r>
              <a:rPr spc="-2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9301" y="1518919"/>
            <a:ext cx="7566025" cy="354330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54965" indent="-342265">
              <a:spcBef>
                <a:spcPts val="74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Global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variables</a:t>
            </a:r>
            <a:endParaRPr sz="3200">
              <a:latin typeface="Trebuchet MS"/>
              <a:cs typeface="Trebuchet MS"/>
            </a:endParaRPr>
          </a:p>
          <a:p>
            <a:pPr marL="748030" lvl="1" indent="-278130">
              <a:spcBef>
                <a:spcPts val="560"/>
              </a:spcBef>
              <a:buFont typeface="Arial"/>
              <a:buChar char="–"/>
              <a:tabLst>
                <a:tab pos="748030" algn="l"/>
              </a:tabLst>
            </a:pPr>
            <a:r>
              <a:rPr sz="2800" spc="-10" dirty="0">
                <a:latin typeface="Trebuchet MS"/>
                <a:cs typeface="Trebuchet MS"/>
              </a:rPr>
              <a:t>Available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any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function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program</a:t>
            </a:r>
            <a:endParaRPr sz="2800">
              <a:latin typeface="Trebuchet MS"/>
              <a:cs typeface="Trebuchet MS"/>
            </a:endParaRPr>
          </a:p>
          <a:p>
            <a:pPr marL="748030" lvl="1" indent="-278130">
              <a:spcBef>
                <a:spcPts val="540"/>
              </a:spcBef>
              <a:buFont typeface="Arial"/>
              <a:buChar char="–"/>
              <a:tabLst>
                <a:tab pos="748030" algn="l"/>
              </a:tabLst>
            </a:pPr>
            <a:r>
              <a:rPr sz="2800" dirty="0">
                <a:latin typeface="Trebuchet MS"/>
                <a:cs typeface="Trebuchet MS"/>
              </a:rPr>
              <a:t>Stored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outside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all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functions</a:t>
            </a:r>
            <a:endParaRPr sz="2800">
              <a:latin typeface="Trebuchet MS"/>
              <a:cs typeface="Trebuchet MS"/>
            </a:endParaRPr>
          </a:p>
          <a:p>
            <a:pPr marL="354965" indent="-342265">
              <a:spcBef>
                <a:spcPts val="64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Local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variables</a:t>
            </a:r>
            <a:endParaRPr sz="3200">
              <a:latin typeface="Trebuchet MS"/>
              <a:cs typeface="Trebuchet MS"/>
            </a:endParaRPr>
          </a:p>
          <a:p>
            <a:pPr marL="748030" marR="5080" lvl="1" indent="-278130">
              <a:lnSpc>
                <a:spcPts val="3200"/>
              </a:lnSpc>
              <a:spcBef>
                <a:spcPts val="700"/>
              </a:spcBef>
              <a:buFont typeface="Arial"/>
              <a:buChar char="–"/>
              <a:tabLst>
                <a:tab pos="749300" algn="l"/>
              </a:tabLst>
            </a:pPr>
            <a:r>
              <a:rPr sz="2800" dirty="0">
                <a:latin typeface="Trebuchet MS"/>
                <a:cs typeface="Trebuchet MS"/>
              </a:rPr>
              <a:t>Defined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function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only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available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 	</a:t>
            </a:r>
            <a:r>
              <a:rPr sz="2800" dirty="0">
                <a:latin typeface="Trebuchet MS"/>
                <a:cs typeface="Trebuchet MS"/>
              </a:rPr>
              <a:t>that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function</a:t>
            </a:r>
            <a:endParaRPr sz="2800">
              <a:latin typeface="Trebuchet MS"/>
              <a:cs typeface="Trebuchet MS"/>
            </a:endParaRPr>
          </a:p>
          <a:p>
            <a:pPr marL="748030" lvl="1" indent="-278130">
              <a:spcBef>
                <a:spcPts val="459"/>
              </a:spcBef>
              <a:buFont typeface="Arial"/>
              <a:buChar char="–"/>
              <a:tabLst>
                <a:tab pos="748030" algn="l"/>
              </a:tabLst>
            </a:pPr>
            <a:r>
              <a:rPr sz="2800" dirty="0">
                <a:latin typeface="Trebuchet MS"/>
                <a:cs typeface="Trebuchet MS"/>
              </a:rPr>
              <a:t>Stored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on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stack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573937"/>
            <a:ext cx="10515600" cy="907941"/>
          </a:xfrm>
          <a:prstGeom prst="rect">
            <a:avLst/>
          </a:prstGeom>
        </p:spPr>
        <p:txBody>
          <a:bodyPr vert="horz" wrap="square" lIns="0" tIns="228600" rIns="0" bIns="0" rtlCol="0" anchor="ctr">
            <a:spAutoFit/>
          </a:bodyPr>
          <a:lstStyle/>
          <a:p>
            <a:pPr marL="825500">
              <a:lnSpc>
                <a:spcPct val="100000"/>
              </a:lnSpc>
              <a:spcBef>
                <a:spcPts val="100"/>
              </a:spcBef>
            </a:pPr>
            <a:r>
              <a:rPr dirty="0"/>
              <a:t>Global</a:t>
            </a:r>
            <a:r>
              <a:rPr spc="-50" dirty="0"/>
              <a:t> </a:t>
            </a:r>
            <a:r>
              <a:rPr dirty="0"/>
              <a:t>vs.</a:t>
            </a:r>
            <a:r>
              <a:rPr spc="-50" dirty="0"/>
              <a:t> </a:t>
            </a:r>
            <a:r>
              <a:rPr dirty="0"/>
              <a:t>Local</a:t>
            </a:r>
            <a:r>
              <a:rPr spc="-50" dirty="0"/>
              <a:t> </a:t>
            </a:r>
            <a:r>
              <a:rPr spc="-20" dirty="0"/>
              <a:t>Variables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435279" y="1644222"/>
            <a:ext cx="3916045" cy="4653915"/>
            <a:chOff x="4911278" y="1644221"/>
            <a:chExt cx="3916045" cy="46539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6040" y="1648984"/>
              <a:ext cx="3906376" cy="464394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916040" y="1648984"/>
              <a:ext cx="3906520" cy="4644390"/>
            </a:xfrm>
            <a:custGeom>
              <a:avLst/>
              <a:gdLst/>
              <a:ahLst/>
              <a:cxnLst/>
              <a:rect l="l" t="t" r="r" b="b"/>
              <a:pathLst>
                <a:path w="3906520" h="4644390">
                  <a:moveTo>
                    <a:pt x="0" y="0"/>
                  </a:moveTo>
                  <a:lnTo>
                    <a:pt x="3906376" y="0"/>
                  </a:lnTo>
                  <a:lnTo>
                    <a:pt x="3906376" y="4643944"/>
                  </a:lnTo>
                  <a:lnTo>
                    <a:pt x="0" y="464394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3278" y="2364808"/>
            <a:ext cx="4661893" cy="27820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573937"/>
            <a:ext cx="10515600" cy="907941"/>
          </a:xfrm>
          <a:prstGeom prst="rect">
            <a:avLst/>
          </a:prstGeom>
        </p:spPr>
        <p:txBody>
          <a:bodyPr vert="horz" wrap="square" lIns="0" tIns="228600" rIns="0" bIns="0" rtlCol="0" anchor="ctr">
            <a:spAutoFit/>
          </a:bodyPr>
          <a:lstStyle/>
          <a:p>
            <a:pPr marL="1257300">
              <a:lnSpc>
                <a:spcPct val="100000"/>
              </a:lnSpc>
              <a:spcBef>
                <a:spcPts val="100"/>
              </a:spcBef>
            </a:pPr>
            <a:r>
              <a:rPr dirty="0"/>
              <a:t>Arithmetic</a:t>
            </a:r>
            <a:r>
              <a:rPr spc="-120" dirty="0"/>
              <a:t> </a:t>
            </a:r>
            <a:r>
              <a:rPr spc="-10" dirty="0"/>
              <a:t>Operations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10474" y="1347788"/>
            <a:ext cx="8420735" cy="5262245"/>
            <a:chOff x="386473" y="1347787"/>
            <a:chExt cx="8420735" cy="52622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235" y="3386942"/>
              <a:ext cx="6030224" cy="30657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91235" y="3386942"/>
              <a:ext cx="6030595" cy="3218180"/>
            </a:xfrm>
            <a:custGeom>
              <a:avLst/>
              <a:gdLst/>
              <a:ahLst/>
              <a:cxnLst/>
              <a:rect l="l" t="t" r="r" b="b"/>
              <a:pathLst>
                <a:path w="6030595" h="3218179">
                  <a:moveTo>
                    <a:pt x="0" y="0"/>
                  </a:moveTo>
                  <a:lnTo>
                    <a:pt x="6030224" y="0"/>
                  </a:lnTo>
                  <a:lnTo>
                    <a:pt x="6030224" y="3217757"/>
                  </a:lnTo>
                  <a:lnTo>
                    <a:pt x="0" y="321775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6979" y="1352549"/>
              <a:ext cx="3705090" cy="448727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96979" y="1352550"/>
              <a:ext cx="3705225" cy="4487545"/>
            </a:xfrm>
            <a:custGeom>
              <a:avLst/>
              <a:gdLst/>
              <a:ahLst/>
              <a:cxnLst/>
              <a:rect l="l" t="t" r="r" b="b"/>
              <a:pathLst>
                <a:path w="3705225" h="4487545">
                  <a:moveTo>
                    <a:pt x="0" y="0"/>
                  </a:moveTo>
                  <a:lnTo>
                    <a:pt x="3705090" y="0"/>
                  </a:lnTo>
                  <a:lnTo>
                    <a:pt x="3705090" y="4487277"/>
                  </a:lnTo>
                  <a:lnTo>
                    <a:pt x="0" y="448727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573937"/>
            <a:ext cx="10515600" cy="907941"/>
          </a:xfrm>
          <a:prstGeom prst="rect">
            <a:avLst/>
          </a:prstGeom>
        </p:spPr>
        <p:txBody>
          <a:bodyPr vert="horz" wrap="square" lIns="0" tIns="2286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Branching</a:t>
            </a:r>
            <a:r>
              <a:rPr spc="-75" dirty="0"/>
              <a:t> </a:t>
            </a:r>
            <a:r>
              <a:rPr spc="-20" dirty="0"/>
              <a:t>(if)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13964" y="213112"/>
            <a:ext cx="4518025" cy="3044825"/>
            <a:chOff x="4289963" y="213111"/>
            <a:chExt cx="4518025" cy="30448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4725" y="217873"/>
              <a:ext cx="4178300" cy="3035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294725" y="217873"/>
              <a:ext cx="4508500" cy="3035300"/>
            </a:xfrm>
            <a:custGeom>
              <a:avLst/>
              <a:gdLst/>
              <a:ahLst/>
              <a:cxnLst/>
              <a:rect l="l" t="t" r="r" b="b"/>
              <a:pathLst>
                <a:path w="4508500" h="3035300">
                  <a:moveTo>
                    <a:pt x="0" y="0"/>
                  </a:moveTo>
                  <a:lnTo>
                    <a:pt x="4508500" y="0"/>
                  </a:lnTo>
                  <a:lnTo>
                    <a:pt x="4508500" y="3035300"/>
                  </a:lnTo>
                  <a:lnTo>
                    <a:pt x="0" y="30353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573237" y="3381880"/>
            <a:ext cx="8658860" cy="3355340"/>
            <a:chOff x="49237" y="3381880"/>
            <a:chExt cx="8658860" cy="335534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999" y="3386642"/>
              <a:ext cx="8648941" cy="334563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3999" y="3386642"/>
              <a:ext cx="8649335" cy="3345815"/>
            </a:xfrm>
            <a:custGeom>
              <a:avLst/>
              <a:gdLst/>
              <a:ahLst/>
              <a:cxnLst/>
              <a:rect l="l" t="t" r="r" b="b"/>
              <a:pathLst>
                <a:path w="8649335" h="3345815">
                  <a:moveTo>
                    <a:pt x="0" y="0"/>
                  </a:moveTo>
                  <a:lnTo>
                    <a:pt x="8648941" y="0"/>
                  </a:lnTo>
                  <a:lnTo>
                    <a:pt x="8648941" y="3345638"/>
                  </a:lnTo>
                  <a:lnTo>
                    <a:pt x="0" y="33456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25233"/>
            <a:ext cx="10515600" cy="805349"/>
          </a:xfrm>
          <a:prstGeom prst="rect">
            <a:avLst/>
          </a:prstGeom>
        </p:spPr>
        <p:txBody>
          <a:bodyPr vert="horz" wrap="square" lIns="0" tIns="127000" rIns="0" bIns="0" rtlCol="0" anchor="ctr">
            <a:spAutoFit/>
          </a:bodyPr>
          <a:lstStyle/>
          <a:p>
            <a:pPr marL="1879600">
              <a:lnSpc>
                <a:spcPct val="100000"/>
              </a:lnSpc>
              <a:spcBef>
                <a:spcPts val="100"/>
              </a:spcBef>
            </a:pPr>
            <a:r>
              <a:rPr dirty="0"/>
              <a:t>Finding</a:t>
            </a:r>
            <a:r>
              <a:rPr spc="-55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spc="-10" dirty="0"/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3300" y="4152900"/>
            <a:ext cx="3945890" cy="18415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spcBef>
                <a:spcPts val="600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Trebuchet MS"/>
                <a:cs typeface="Trebuchet MS"/>
              </a:rPr>
              <a:t>Four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components</a:t>
            </a:r>
            <a:endParaRPr sz="2000">
              <a:latin typeface="Trebuchet MS"/>
              <a:cs typeface="Trebuchet MS"/>
            </a:endParaRPr>
          </a:p>
          <a:p>
            <a:pPr marL="812165" lvl="1" indent="-342265">
              <a:spcBef>
                <a:spcPts val="500"/>
              </a:spcBef>
              <a:buFont typeface="Arial"/>
              <a:buChar char="•"/>
              <a:tabLst>
                <a:tab pos="812165" algn="l"/>
              </a:tabLst>
            </a:pPr>
            <a:r>
              <a:rPr sz="2000" b="1" dirty="0">
                <a:latin typeface="Trebuchet MS"/>
                <a:cs typeface="Trebuchet MS"/>
              </a:rPr>
              <a:t>Initialization</a:t>
            </a:r>
            <a:r>
              <a:rPr sz="2000" dirty="0">
                <a:latin typeface="Trebuchet MS"/>
                <a:cs typeface="Trebuchet MS"/>
              </a:rPr>
              <a:t>: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starts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at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0</a:t>
            </a:r>
            <a:endParaRPr sz="2000">
              <a:latin typeface="Trebuchet MS"/>
              <a:cs typeface="Trebuchet MS"/>
            </a:endParaRPr>
          </a:p>
          <a:p>
            <a:pPr marL="812165" lvl="1" indent="-342265">
              <a:spcBef>
                <a:spcPts val="400"/>
              </a:spcBef>
              <a:buFont typeface="Arial"/>
              <a:buChar char="•"/>
              <a:tabLst>
                <a:tab pos="812165" algn="l"/>
              </a:tabLst>
            </a:pPr>
            <a:r>
              <a:rPr sz="2000" b="1" dirty="0">
                <a:latin typeface="Trebuchet MS"/>
                <a:cs typeface="Trebuchet MS"/>
              </a:rPr>
              <a:t>Comparison</a:t>
            </a:r>
            <a:r>
              <a:rPr sz="2000" dirty="0">
                <a:latin typeface="Trebuchet MS"/>
                <a:cs typeface="Trebuchet MS"/>
              </a:rPr>
              <a:t>: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i&lt;100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?</a:t>
            </a:r>
            <a:endParaRPr sz="2000">
              <a:latin typeface="Trebuchet MS"/>
              <a:cs typeface="Trebuchet MS"/>
            </a:endParaRPr>
          </a:p>
          <a:p>
            <a:pPr marL="812165" lvl="1" indent="-342265">
              <a:spcBef>
                <a:spcPts val="500"/>
              </a:spcBef>
              <a:buFont typeface="Arial"/>
              <a:buChar char="•"/>
              <a:tabLst>
                <a:tab pos="812165" algn="l"/>
              </a:tabLst>
            </a:pPr>
            <a:r>
              <a:rPr sz="2000" b="1" dirty="0">
                <a:latin typeface="Trebuchet MS"/>
                <a:cs typeface="Trebuchet MS"/>
              </a:rPr>
              <a:t>Execution</a:t>
            </a:r>
            <a:r>
              <a:rPr sz="2000" dirty="0">
                <a:latin typeface="Trebuchet MS"/>
                <a:cs typeface="Trebuchet MS"/>
              </a:rPr>
              <a:t>: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printf</a:t>
            </a:r>
            <a:endParaRPr sz="2000">
              <a:latin typeface="Trebuchet MS"/>
              <a:cs typeface="Trebuchet MS"/>
            </a:endParaRPr>
          </a:p>
          <a:p>
            <a:pPr marL="812165" lvl="1" indent="-342265">
              <a:spcBef>
                <a:spcPts val="400"/>
              </a:spcBef>
              <a:buFont typeface="Arial"/>
              <a:buChar char="•"/>
              <a:tabLst>
                <a:tab pos="812165" algn="l"/>
              </a:tabLst>
            </a:pPr>
            <a:r>
              <a:rPr sz="2000" b="1" spc="-10" dirty="0">
                <a:latin typeface="Trebuchet MS"/>
                <a:cs typeface="Trebuchet MS"/>
              </a:rPr>
              <a:t>Increment/decrement</a:t>
            </a:r>
            <a:r>
              <a:rPr sz="2000" spc="-10" dirty="0">
                <a:latin typeface="Trebuchet MS"/>
                <a:cs typeface="Trebuchet MS"/>
              </a:rPr>
              <a:t>:</a:t>
            </a:r>
            <a:r>
              <a:rPr sz="2000" spc="3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i++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657529" y="1364817"/>
            <a:ext cx="4877435" cy="2294255"/>
            <a:chOff x="2133528" y="1364816"/>
            <a:chExt cx="4877435" cy="22942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41100" y="1483786"/>
              <a:ext cx="4284341" cy="203035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138291" y="1369579"/>
              <a:ext cx="4867910" cy="2284730"/>
            </a:xfrm>
            <a:custGeom>
              <a:avLst/>
              <a:gdLst/>
              <a:ahLst/>
              <a:cxnLst/>
              <a:rect l="l" t="t" r="r" b="b"/>
              <a:pathLst>
                <a:path w="4867909" h="2284729">
                  <a:moveTo>
                    <a:pt x="0" y="0"/>
                  </a:moveTo>
                  <a:lnTo>
                    <a:pt x="4867417" y="0"/>
                  </a:lnTo>
                  <a:lnTo>
                    <a:pt x="4867417" y="2284150"/>
                  </a:lnTo>
                  <a:lnTo>
                    <a:pt x="0" y="228415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5513" y="1164975"/>
            <a:ext cx="6937197" cy="48550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25233"/>
            <a:ext cx="10515600" cy="805349"/>
          </a:xfrm>
          <a:prstGeom prst="rect">
            <a:avLst/>
          </a:prstGeom>
        </p:spPr>
        <p:txBody>
          <a:bodyPr vert="horz" wrap="square" lIns="0" tIns="127000" rIns="0" bIns="0" rtlCol="0" anchor="ctr">
            <a:spAutoFit/>
          </a:bodyPr>
          <a:lstStyle/>
          <a:p>
            <a:pPr marL="32512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Arrays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016904" y="1417780"/>
            <a:ext cx="4429125" cy="4022725"/>
            <a:chOff x="2492903" y="1417779"/>
            <a:chExt cx="4429125" cy="40227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38957" y="1574931"/>
              <a:ext cx="3847971" cy="360654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497665" y="1422542"/>
              <a:ext cx="4419600" cy="4013200"/>
            </a:xfrm>
            <a:custGeom>
              <a:avLst/>
              <a:gdLst/>
              <a:ahLst/>
              <a:cxnLst/>
              <a:rect l="l" t="t" r="r" b="b"/>
              <a:pathLst>
                <a:path w="4419600" h="4013200">
                  <a:moveTo>
                    <a:pt x="0" y="0"/>
                  </a:moveTo>
                  <a:lnTo>
                    <a:pt x="4419452" y="0"/>
                  </a:lnTo>
                  <a:lnTo>
                    <a:pt x="4419452" y="4012915"/>
                  </a:lnTo>
                  <a:lnTo>
                    <a:pt x="0" y="401291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8489" y="1201899"/>
            <a:ext cx="8425043" cy="49756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573937"/>
            <a:ext cx="10515600" cy="907941"/>
          </a:xfrm>
          <a:prstGeom prst="rect">
            <a:avLst/>
          </a:prstGeom>
        </p:spPr>
        <p:txBody>
          <a:bodyPr vert="horz" wrap="square" lIns="0" tIns="228600" rIns="0" bIns="0" rtlCol="0" anchor="ctr">
            <a:spAutoFit/>
          </a:bodyPr>
          <a:lstStyle/>
          <a:p>
            <a:pPr marL="28829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9301" y="1616964"/>
            <a:ext cx="8089265" cy="4232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42265" indent="-329565">
              <a:spcBef>
                <a:spcPts val="114"/>
              </a:spcBef>
              <a:buFont typeface="Arial"/>
              <a:buChar char="•"/>
              <a:tabLst>
                <a:tab pos="342265" algn="l"/>
              </a:tabLst>
            </a:pPr>
            <a:r>
              <a:rPr sz="3150" dirty="0">
                <a:latin typeface="Trebuchet MS"/>
                <a:cs typeface="Trebuchet MS"/>
              </a:rPr>
              <a:t>Finding</a:t>
            </a:r>
            <a:r>
              <a:rPr sz="3150" spc="5" dirty="0">
                <a:latin typeface="Trebuchet MS"/>
                <a:cs typeface="Trebuchet MS"/>
              </a:rPr>
              <a:t> </a:t>
            </a:r>
            <a:r>
              <a:rPr sz="3150" dirty="0">
                <a:latin typeface="Trebuchet MS"/>
                <a:cs typeface="Trebuchet MS"/>
              </a:rPr>
              <a:t>the </a:t>
            </a:r>
            <a:r>
              <a:rPr sz="3150" spc="-20" dirty="0">
                <a:latin typeface="Trebuchet MS"/>
                <a:cs typeface="Trebuchet MS"/>
              </a:rPr>
              <a:t>Code</a:t>
            </a:r>
            <a:endParaRPr sz="3150">
              <a:latin typeface="Trebuchet MS"/>
              <a:cs typeface="Trebuchet MS"/>
            </a:endParaRPr>
          </a:p>
          <a:p>
            <a:pPr marL="748030" lvl="1" indent="-278130">
              <a:spcBef>
                <a:spcPts val="120"/>
              </a:spcBef>
              <a:buFont typeface="Arial"/>
              <a:buChar char="–"/>
              <a:tabLst>
                <a:tab pos="748030" algn="l"/>
              </a:tabLst>
            </a:pPr>
            <a:r>
              <a:rPr sz="2750" dirty="0">
                <a:latin typeface="Trebuchet MS"/>
                <a:cs typeface="Trebuchet MS"/>
              </a:rPr>
              <a:t>Strings,</a:t>
            </a:r>
            <a:r>
              <a:rPr sz="2750" spc="20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then</a:t>
            </a:r>
            <a:r>
              <a:rPr sz="2750" spc="20" dirty="0">
                <a:latin typeface="Trebuchet MS"/>
                <a:cs typeface="Trebuchet MS"/>
              </a:rPr>
              <a:t> </a:t>
            </a:r>
            <a:r>
              <a:rPr sz="2750" spc="-20" dirty="0">
                <a:latin typeface="Trebuchet MS"/>
                <a:cs typeface="Trebuchet MS"/>
              </a:rPr>
              <a:t>XREF</a:t>
            </a:r>
            <a:endParaRPr sz="2750">
              <a:latin typeface="Trebuchet MS"/>
              <a:cs typeface="Trebuchet MS"/>
            </a:endParaRPr>
          </a:p>
          <a:p>
            <a:pPr marL="342265" indent="-329565">
              <a:spcBef>
                <a:spcPts val="400"/>
              </a:spcBef>
              <a:buFont typeface="Arial"/>
              <a:buChar char="•"/>
              <a:tabLst>
                <a:tab pos="342265" algn="l"/>
              </a:tabLst>
            </a:pPr>
            <a:r>
              <a:rPr sz="3150" dirty="0">
                <a:latin typeface="Trebuchet MS"/>
                <a:cs typeface="Trebuchet MS"/>
              </a:rPr>
              <a:t>Function</a:t>
            </a:r>
            <a:r>
              <a:rPr sz="3150" spc="-15" dirty="0">
                <a:latin typeface="Trebuchet MS"/>
                <a:cs typeface="Trebuchet MS"/>
              </a:rPr>
              <a:t> </a:t>
            </a:r>
            <a:r>
              <a:rPr sz="3150" spc="-20" dirty="0">
                <a:latin typeface="Trebuchet MS"/>
                <a:cs typeface="Trebuchet MS"/>
              </a:rPr>
              <a:t>Call</a:t>
            </a:r>
            <a:endParaRPr sz="3150">
              <a:latin typeface="Trebuchet MS"/>
              <a:cs typeface="Trebuchet MS"/>
            </a:endParaRPr>
          </a:p>
          <a:p>
            <a:pPr marL="748030" lvl="1" indent="-278130">
              <a:spcBef>
                <a:spcPts val="220"/>
              </a:spcBef>
              <a:buFont typeface="Arial"/>
              <a:buChar char="–"/>
              <a:tabLst>
                <a:tab pos="748030" algn="l"/>
              </a:tabLst>
            </a:pPr>
            <a:r>
              <a:rPr sz="2750" dirty="0">
                <a:latin typeface="Trebuchet MS"/>
                <a:cs typeface="Trebuchet MS"/>
              </a:rPr>
              <a:t>Arguments</a:t>
            </a:r>
            <a:r>
              <a:rPr sz="2750" spc="1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pushed</a:t>
            </a:r>
            <a:r>
              <a:rPr sz="2750" spc="1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onto</a:t>
            </a:r>
            <a:r>
              <a:rPr sz="2750" spc="15" dirty="0">
                <a:latin typeface="Trebuchet MS"/>
                <a:cs typeface="Trebuchet MS"/>
              </a:rPr>
              <a:t> </a:t>
            </a:r>
            <a:r>
              <a:rPr sz="2750" spc="-10" dirty="0">
                <a:latin typeface="Trebuchet MS"/>
                <a:cs typeface="Trebuchet MS"/>
              </a:rPr>
              <a:t>stack</a:t>
            </a:r>
            <a:endParaRPr sz="2750">
              <a:latin typeface="Trebuchet MS"/>
              <a:cs typeface="Trebuchet MS"/>
            </a:endParaRPr>
          </a:p>
          <a:p>
            <a:pPr marL="748030" lvl="1" indent="-278130">
              <a:spcBef>
                <a:spcPts val="200"/>
              </a:spcBef>
              <a:buFont typeface="Arial"/>
              <a:buChar char="–"/>
              <a:tabLst>
                <a:tab pos="748030" algn="l"/>
              </a:tabLst>
            </a:pPr>
            <a:r>
              <a:rPr sz="2750" dirty="0">
                <a:latin typeface="Trebuchet MS"/>
                <a:cs typeface="Trebuchet MS"/>
              </a:rPr>
              <a:t>Reverse</a:t>
            </a:r>
            <a:r>
              <a:rPr sz="2750" spc="-125" dirty="0">
                <a:latin typeface="Trebuchet MS"/>
                <a:cs typeface="Trebuchet MS"/>
              </a:rPr>
              <a:t> </a:t>
            </a:r>
            <a:r>
              <a:rPr sz="2750" spc="-20" dirty="0">
                <a:latin typeface="Trebuchet MS"/>
                <a:cs typeface="Trebuchet MS"/>
              </a:rPr>
              <a:t>order</a:t>
            </a:r>
            <a:endParaRPr sz="2750">
              <a:latin typeface="Trebuchet MS"/>
              <a:cs typeface="Trebuchet MS"/>
            </a:endParaRPr>
          </a:p>
          <a:p>
            <a:pPr marL="748030" lvl="1" indent="-278130">
              <a:spcBef>
                <a:spcPts val="300"/>
              </a:spcBef>
              <a:buFont typeface="Arial"/>
              <a:buChar char="–"/>
              <a:tabLst>
                <a:tab pos="748030" algn="l"/>
              </a:tabLst>
            </a:pPr>
            <a:r>
              <a:rPr sz="2750" spc="-20" dirty="0">
                <a:latin typeface="Trebuchet MS"/>
                <a:cs typeface="Trebuchet MS"/>
              </a:rPr>
              <a:t>call</a:t>
            </a:r>
            <a:endParaRPr sz="2750">
              <a:latin typeface="Trebuchet MS"/>
              <a:cs typeface="Trebuchet MS"/>
            </a:endParaRPr>
          </a:p>
          <a:p>
            <a:pPr marL="342265" indent="-329565">
              <a:spcBef>
                <a:spcPts val="300"/>
              </a:spcBef>
              <a:buFont typeface="Arial"/>
              <a:buChar char="•"/>
              <a:tabLst>
                <a:tab pos="342265" algn="l"/>
              </a:tabLst>
            </a:pPr>
            <a:r>
              <a:rPr sz="3150" spc="-10" dirty="0">
                <a:latin typeface="Trebuchet MS"/>
                <a:cs typeface="Trebuchet MS"/>
              </a:rPr>
              <a:t>Variables</a:t>
            </a:r>
            <a:endParaRPr sz="3150">
              <a:latin typeface="Trebuchet MS"/>
              <a:cs typeface="Trebuchet MS"/>
            </a:endParaRPr>
          </a:p>
          <a:p>
            <a:pPr marL="748030" lvl="1" indent="-278130">
              <a:spcBef>
                <a:spcPts val="220"/>
              </a:spcBef>
              <a:buFont typeface="Arial"/>
              <a:buChar char="–"/>
              <a:tabLst>
                <a:tab pos="748030" algn="l"/>
              </a:tabLst>
            </a:pPr>
            <a:r>
              <a:rPr sz="2750" dirty="0">
                <a:latin typeface="Trebuchet MS"/>
                <a:cs typeface="Trebuchet MS"/>
              </a:rPr>
              <a:t>Global:</a:t>
            </a:r>
            <a:r>
              <a:rPr sz="2750" spc="-30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in</a:t>
            </a:r>
            <a:r>
              <a:rPr sz="2750" spc="-30" dirty="0">
                <a:latin typeface="Trebuchet MS"/>
                <a:cs typeface="Trebuchet MS"/>
              </a:rPr>
              <a:t> </a:t>
            </a:r>
            <a:r>
              <a:rPr sz="2750" spc="-25" dirty="0">
                <a:latin typeface="Trebuchet MS"/>
                <a:cs typeface="Trebuchet MS"/>
              </a:rPr>
              <a:t>memory,</a:t>
            </a:r>
            <a:r>
              <a:rPr sz="2750" spc="-30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available</a:t>
            </a:r>
            <a:r>
              <a:rPr sz="2750" spc="-30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to</a:t>
            </a:r>
            <a:r>
              <a:rPr sz="2750" spc="-30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all</a:t>
            </a:r>
            <a:r>
              <a:rPr sz="2750" spc="-30" dirty="0">
                <a:latin typeface="Trebuchet MS"/>
                <a:cs typeface="Trebuchet MS"/>
              </a:rPr>
              <a:t> </a:t>
            </a:r>
            <a:r>
              <a:rPr sz="2750" spc="-10" dirty="0">
                <a:latin typeface="Trebuchet MS"/>
                <a:cs typeface="Trebuchet MS"/>
              </a:rPr>
              <a:t>functions</a:t>
            </a:r>
            <a:endParaRPr sz="2750">
              <a:latin typeface="Trebuchet MS"/>
              <a:cs typeface="Trebuchet MS"/>
            </a:endParaRPr>
          </a:p>
          <a:p>
            <a:pPr marL="748030" lvl="1" indent="-278130">
              <a:spcBef>
                <a:spcPts val="200"/>
              </a:spcBef>
              <a:buFont typeface="Arial"/>
              <a:buChar char="–"/>
              <a:tabLst>
                <a:tab pos="748030" algn="l"/>
              </a:tabLst>
            </a:pPr>
            <a:r>
              <a:rPr sz="2750" dirty="0">
                <a:latin typeface="Trebuchet MS"/>
                <a:cs typeface="Trebuchet MS"/>
              </a:rPr>
              <a:t>Local: on stack,</a:t>
            </a:r>
            <a:r>
              <a:rPr sz="2750" spc="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only</a:t>
            </a:r>
            <a:r>
              <a:rPr sz="2750" spc="-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available</a:t>
            </a:r>
            <a:r>
              <a:rPr sz="2750" spc="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to one </a:t>
            </a:r>
            <a:r>
              <a:rPr sz="2750" spc="-10" dirty="0">
                <a:latin typeface="Trebuchet MS"/>
                <a:cs typeface="Trebuchet MS"/>
              </a:rPr>
              <a:t>function</a:t>
            </a:r>
            <a:endParaRPr sz="2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573937"/>
            <a:ext cx="10515600" cy="907941"/>
          </a:xfrm>
          <a:prstGeom prst="rect">
            <a:avLst/>
          </a:prstGeom>
        </p:spPr>
        <p:txBody>
          <a:bodyPr vert="horz" wrap="square" lIns="0" tIns="228600" rIns="0" bIns="0" rtlCol="0" anchor="ctr">
            <a:spAutoFit/>
          </a:bodyPr>
          <a:lstStyle/>
          <a:p>
            <a:pPr marL="28829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Summary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362200" y="1825625"/>
            <a:ext cx="10515600" cy="400366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354965" algn="l"/>
              </a:tabLst>
            </a:pPr>
            <a:r>
              <a:rPr spc="-10" dirty="0"/>
              <a:t>Arithmetic</a:t>
            </a:r>
          </a:p>
          <a:p>
            <a:pPr marL="748030" lvl="1" indent="-278130">
              <a:lnSpc>
                <a:spcPct val="100000"/>
              </a:lnSpc>
              <a:spcBef>
                <a:spcPts val="560"/>
              </a:spcBef>
              <a:buFont typeface="Arial"/>
              <a:buChar char="–"/>
              <a:tabLst>
                <a:tab pos="748030" algn="l"/>
              </a:tabLst>
            </a:pPr>
            <a:r>
              <a:rPr sz="2800" dirty="0">
                <a:latin typeface="Trebuchet MS"/>
                <a:cs typeface="Trebuchet MS"/>
              </a:rPr>
              <a:t>Move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variables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into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registers</a:t>
            </a:r>
            <a:endParaRPr sz="2800">
              <a:latin typeface="Trebuchet MS"/>
              <a:cs typeface="Trebuchet MS"/>
            </a:endParaRPr>
          </a:p>
          <a:p>
            <a:pPr marL="748030" lvl="1" indent="-278130">
              <a:lnSpc>
                <a:spcPct val="100000"/>
              </a:lnSpc>
              <a:spcBef>
                <a:spcPts val="540"/>
              </a:spcBef>
              <a:buFont typeface="Arial"/>
              <a:buChar char="–"/>
              <a:tabLst>
                <a:tab pos="748030" algn="l"/>
              </a:tabLst>
            </a:pPr>
            <a:r>
              <a:rPr sz="2800" dirty="0">
                <a:latin typeface="Trebuchet MS"/>
                <a:cs typeface="Trebuchet MS"/>
              </a:rPr>
              <a:t>Perform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arithmetic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(</a:t>
            </a:r>
            <a:r>
              <a:rPr sz="2800" b="1" dirty="0">
                <a:latin typeface="Trebuchet MS"/>
                <a:cs typeface="Trebuchet MS"/>
              </a:rPr>
              <a:t>add</a:t>
            </a:r>
            <a:r>
              <a:rPr sz="2800" dirty="0">
                <a:latin typeface="Trebuchet MS"/>
                <a:cs typeface="Trebuchet MS"/>
              </a:rPr>
              <a:t>,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sub</a:t>
            </a:r>
            <a:r>
              <a:rPr sz="2800" dirty="0">
                <a:latin typeface="Trebuchet MS"/>
                <a:cs typeface="Trebuchet MS"/>
              </a:rPr>
              <a:t>,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idiv</a:t>
            </a:r>
            <a:r>
              <a:rPr sz="2800" dirty="0">
                <a:latin typeface="Trebuchet MS"/>
                <a:cs typeface="Trebuchet MS"/>
              </a:rPr>
              <a:t>,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etc.)</a:t>
            </a:r>
            <a:endParaRPr sz="2800">
              <a:latin typeface="Trebuchet MS"/>
              <a:cs typeface="Trebuchet MS"/>
            </a:endParaRPr>
          </a:p>
          <a:p>
            <a:pPr marL="748030" lvl="1" indent="-278130">
              <a:lnSpc>
                <a:spcPct val="100000"/>
              </a:lnSpc>
              <a:spcBef>
                <a:spcPts val="540"/>
              </a:spcBef>
              <a:buFont typeface="Arial"/>
              <a:buChar char="–"/>
              <a:tabLst>
                <a:tab pos="748030" algn="l"/>
              </a:tabLst>
            </a:pPr>
            <a:r>
              <a:rPr sz="2800" dirty="0">
                <a:latin typeface="Trebuchet MS"/>
                <a:cs typeface="Trebuchet MS"/>
              </a:rPr>
              <a:t>Move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results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back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into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variables</a:t>
            </a:r>
            <a:endParaRPr sz="2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540"/>
              </a:spcBef>
              <a:buFont typeface="Arial"/>
              <a:buChar char="•"/>
              <a:tabLst>
                <a:tab pos="354965" algn="l"/>
              </a:tabLst>
            </a:pPr>
            <a:r>
              <a:rPr spc="-10" dirty="0"/>
              <a:t>Branching</a:t>
            </a:r>
          </a:p>
          <a:p>
            <a:pPr marL="748030" lvl="1" indent="-278130">
              <a:lnSpc>
                <a:spcPct val="100000"/>
              </a:lnSpc>
              <a:spcBef>
                <a:spcPts val="560"/>
              </a:spcBef>
              <a:buFont typeface="Arial"/>
              <a:buChar char="–"/>
              <a:tabLst>
                <a:tab pos="748030" algn="l"/>
              </a:tabLst>
            </a:pPr>
            <a:r>
              <a:rPr sz="2800" dirty="0">
                <a:latin typeface="Trebuchet MS"/>
                <a:cs typeface="Trebuchet MS"/>
              </a:rPr>
              <a:t>Compare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(</a:t>
            </a:r>
            <a:r>
              <a:rPr sz="2800" b="1" dirty="0">
                <a:latin typeface="Trebuchet MS"/>
                <a:cs typeface="Trebuchet MS"/>
              </a:rPr>
              <a:t>cmp</a:t>
            </a:r>
            <a:r>
              <a:rPr sz="2800" dirty="0">
                <a:latin typeface="Trebuchet MS"/>
                <a:cs typeface="Trebuchet MS"/>
              </a:rPr>
              <a:t>,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test</a:t>
            </a:r>
            <a:r>
              <a:rPr sz="2800" dirty="0">
                <a:latin typeface="Trebuchet MS"/>
                <a:cs typeface="Trebuchet MS"/>
              </a:rPr>
              <a:t>,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etc.)</a:t>
            </a:r>
            <a:endParaRPr sz="2800">
              <a:latin typeface="Trebuchet MS"/>
              <a:cs typeface="Trebuchet MS"/>
            </a:endParaRPr>
          </a:p>
          <a:p>
            <a:pPr marL="748030" lvl="1" indent="-278130">
              <a:lnSpc>
                <a:spcPct val="100000"/>
              </a:lnSpc>
              <a:spcBef>
                <a:spcPts val="540"/>
              </a:spcBef>
              <a:buFont typeface="Arial"/>
              <a:buChar char="–"/>
              <a:tabLst>
                <a:tab pos="748030" algn="l"/>
              </a:tabLst>
            </a:pPr>
            <a:r>
              <a:rPr sz="2800" dirty="0">
                <a:latin typeface="Trebuchet MS"/>
                <a:cs typeface="Trebuchet MS"/>
              </a:rPr>
              <a:t>Conditional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jump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(</a:t>
            </a:r>
            <a:r>
              <a:rPr sz="2800" b="1" dirty="0">
                <a:latin typeface="Trebuchet MS"/>
                <a:cs typeface="Trebuchet MS"/>
              </a:rPr>
              <a:t>jz</a:t>
            </a:r>
            <a:r>
              <a:rPr sz="2800" dirty="0">
                <a:latin typeface="Trebuchet MS"/>
                <a:cs typeface="Trebuchet MS"/>
              </a:rPr>
              <a:t>,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jnz</a:t>
            </a:r>
            <a:r>
              <a:rPr sz="2800" dirty="0">
                <a:latin typeface="Trebuchet MS"/>
                <a:cs typeface="Trebuchet MS"/>
              </a:rPr>
              <a:t>,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etc.)</a:t>
            </a:r>
            <a:endParaRPr sz="2800">
              <a:latin typeface="Trebuchet MS"/>
              <a:cs typeface="Trebuchet MS"/>
            </a:endParaRPr>
          </a:p>
          <a:p>
            <a:pPr marL="748030" lvl="1" indent="-278130">
              <a:lnSpc>
                <a:spcPct val="100000"/>
              </a:lnSpc>
              <a:spcBef>
                <a:spcPts val="440"/>
              </a:spcBef>
              <a:buFont typeface="Arial"/>
              <a:buChar char="–"/>
              <a:tabLst>
                <a:tab pos="748030" algn="l"/>
              </a:tabLst>
            </a:pPr>
            <a:r>
              <a:rPr sz="2800" dirty="0">
                <a:latin typeface="Trebuchet MS"/>
                <a:cs typeface="Trebuchet MS"/>
              </a:rPr>
              <a:t>Red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arrow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if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false,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green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arrow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if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true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220</Words>
  <Application>Microsoft Office PowerPoint</Application>
  <PresentationFormat>Widescreen</PresentationFormat>
  <Paragraphs>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Trebuchet MS</vt:lpstr>
      <vt:lpstr>Office Theme</vt:lpstr>
      <vt:lpstr>Understanding C Constructs in Assembly</vt:lpstr>
      <vt:lpstr>Function Call</vt:lpstr>
      <vt:lpstr>Finding the Code in IDA Pro</vt:lpstr>
      <vt:lpstr>Use Strings, then XREF</vt:lpstr>
      <vt:lpstr>Disassembly in IDA Pro</vt:lpstr>
      <vt:lpstr>Global vs. Local Variables</vt:lpstr>
      <vt:lpstr>Global vs. Local Variables</vt:lpstr>
      <vt:lpstr>Arithmetic Operations</vt:lpstr>
      <vt:lpstr>Branching (if)</vt:lpstr>
      <vt:lpstr>Finding for Loops</vt:lpstr>
      <vt:lpstr>PowerPoint Presentation</vt:lpstr>
      <vt:lpstr>Arrays</vt:lpstr>
      <vt:lpstr>PowerPoint Presentation</vt:lpstr>
      <vt:lpstr>Summary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Modhuparna Manna</dc:creator>
  <cp:lastModifiedBy>Modhuparna Manna</cp:lastModifiedBy>
  <cp:revision>1</cp:revision>
  <dcterms:created xsi:type="dcterms:W3CDTF">2026-03-08T12:04:52Z</dcterms:created>
  <dcterms:modified xsi:type="dcterms:W3CDTF">2026-03-08T12:32:22Z</dcterms:modified>
</cp:coreProperties>
</file>