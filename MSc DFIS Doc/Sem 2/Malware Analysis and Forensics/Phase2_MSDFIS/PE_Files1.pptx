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2" r:id="rId7"/>
    <p:sldId id="307" r:id="rId8"/>
    <p:sldId id="308" r:id="rId9"/>
    <p:sldId id="263" r:id="rId10"/>
    <p:sldId id="309" r:id="rId11"/>
    <p:sldId id="310" r:id="rId12"/>
    <p:sldId id="264" r:id="rId13"/>
    <p:sldId id="265" r:id="rId14"/>
    <p:sldId id="266" r:id="rId15"/>
    <p:sldId id="311" r:id="rId16"/>
    <p:sldId id="267" r:id="rId17"/>
    <p:sldId id="268" r:id="rId18"/>
    <p:sldId id="312" r:id="rId19"/>
    <p:sldId id="313" r:id="rId20"/>
    <p:sldId id="314" r:id="rId21"/>
    <p:sldId id="269" r:id="rId22"/>
    <p:sldId id="270" r:id="rId23"/>
    <p:sldId id="315" r:id="rId24"/>
    <p:sldId id="316" r:id="rId25"/>
    <p:sldId id="271" r:id="rId26"/>
    <p:sldId id="272" r:id="rId27"/>
    <p:sldId id="275" r:id="rId28"/>
    <p:sldId id="284" r:id="rId29"/>
    <p:sldId id="285" r:id="rId30"/>
    <p:sldId id="293" r:id="rId31"/>
    <p:sldId id="294" r:id="rId32"/>
    <p:sldId id="295" r:id="rId33"/>
    <p:sldId id="317" r:id="rId34"/>
    <p:sldId id="306" r:id="rId35"/>
    <p:sldId id="305"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59" autoAdjust="0"/>
    <p:restoredTop sz="94660"/>
  </p:normalViewPr>
  <p:slideViewPr>
    <p:cSldViewPr snapToGrid="0" snapToObjects="1">
      <p:cViewPr varScale="1">
        <p:scale>
          <a:sx n="58" d="100"/>
          <a:sy n="58" d="100"/>
        </p:scale>
        <p:origin x="1418" y="25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2628" y="770467"/>
            <a:ext cx="8086725"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500634" y="4198409"/>
            <a:ext cx="692115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fld id="{5BCAD085-E8A6-8845-BD4E-CB4CCA059FC4}" type="datetimeFigureOut">
              <a:rPr lang="en-US" smtClean="0"/>
              <a:t>1/30/2026</a:t>
            </a:fld>
            <a:endParaRPr lang="en-US"/>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1435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08334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2628" y="767419"/>
            <a:ext cx="8085582" cy="3355848"/>
          </a:xfrm>
        </p:spPr>
        <p:txBody>
          <a:bodyPr anchor="b">
            <a:normAutofit/>
          </a:bodyPr>
          <a:lstStyle>
            <a:lvl1pPr>
              <a:lnSpc>
                <a:spcPct val="80000"/>
              </a:lnSpc>
              <a:defRPr sz="80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00634" y="4187275"/>
            <a:ext cx="6919722" cy="1645920"/>
          </a:xfrm>
        </p:spPr>
        <p:txBody>
          <a:bodyPr anchor="t">
            <a:normAutofit/>
          </a:bodyPr>
          <a:lstStyle>
            <a:lvl1pPr marL="0" indent="0">
              <a:buNone/>
              <a:defRPr sz="28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8452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7492"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7738"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37342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07492" y="2032000"/>
            <a:ext cx="3806190" cy="723400"/>
          </a:xfrm>
        </p:spPr>
        <p:txBody>
          <a:bodyPr anchor="ctr">
            <a:normAutofit/>
          </a:bodyPr>
          <a:lstStyle>
            <a:lvl1pPr marL="0" indent="0">
              <a:spcBef>
                <a:spcPts val="0"/>
              </a:spcBef>
              <a:buNone/>
              <a:defRPr sz="20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7492" y="2736150"/>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66310" y="2029968"/>
            <a:ext cx="3806190" cy="722376"/>
          </a:xfrm>
        </p:spPr>
        <p:txBody>
          <a:bodyPr anchor="ctr">
            <a:normAutofit/>
          </a:bodyPr>
          <a:lstStyle>
            <a:lvl1pPr marL="0" indent="0">
              <a:spcBef>
                <a:spcPts val="0"/>
              </a:spcBef>
              <a:buNone/>
              <a:defRPr sz="20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310" y="2734056"/>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8678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0015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8003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5715000" y="0"/>
            <a:ext cx="3429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6196053" y="542282"/>
            <a:ext cx="2537460" cy="1920240"/>
          </a:xfrm>
        </p:spPr>
        <p:txBody>
          <a:bodyPr anchor="b">
            <a:noAutofit/>
          </a:bodyPr>
          <a:lstStyle>
            <a:lvl1pPr>
              <a:lnSpc>
                <a:spcPct val="85000"/>
              </a:lnSpc>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1500" y="762000"/>
            <a:ext cx="4572000" cy="4572000"/>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06987" y="2511813"/>
            <a:ext cx="254889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5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44163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918" y="5418668"/>
            <a:ext cx="8085582" cy="613283"/>
          </a:xfrm>
        </p:spPr>
        <p:txBody>
          <a:bodyPr anchor="b">
            <a:normAutofit/>
          </a:bodyPr>
          <a:lstStyle>
            <a:lvl1pPr>
              <a:lnSpc>
                <a:spcPct val="85000"/>
              </a:lnSpc>
              <a:defRPr sz="2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9144000" cy="5330952"/>
          </a:xfrm>
          <a:solidFill>
            <a:schemeClr val="accent1">
              <a:lumMod val="40000"/>
              <a:lumOff val="60000"/>
            </a:schemeClr>
          </a:solidFill>
        </p:spPr>
        <p:txBody>
          <a:bodyPr anchor="t"/>
          <a:lstStyle>
            <a:lvl1pPr marL="0" indent="0" algn="ctr">
              <a:spcBef>
                <a:spcPts val="800"/>
              </a:spcBef>
              <a:buNone/>
              <a:defRPr sz="3200">
                <a:solidFill>
                  <a:srgbClr val="4D4D4D"/>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07492" y="5909735"/>
            <a:ext cx="6922008" cy="533400"/>
          </a:xfrm>
        </p:spPr>
        <p:txBody>
          <a:bodyPr>
            <a:normAutofit/>
          </a:bodyPr>
          <a:lstStyle>
            <a:lvl1pPr marL="0" indent="0">
              <a:lnSpc>
                <a:spcPct val="90000"/>
              </a:lnSpc>
              <a:spcBef>
                <a:spcPts val="1200"/>
              </a:spcBef>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75000"/>
                  </a:srgbClr>
                </a:solidFill>
              </a:defRPr>
            </a:lvl1pPr>
          </a:lstStyle>
          <a:p>
            <a:fld id="{5BCAD085-E8A6-8845-BD4E-CB4CCA059FC4}" type="datetimeFigureOut">
              <a:rPr lang="en-US" smtClean="0"/>
              <a:t>1/30/2026</a:t>
            </a:fld>
            <a:endParaRPr lang="en-US"/>
          </a:p>
        </p:txBody>
      </p:sp>
      <p:sp>
        <p:nvSpPr>
          <p:cNvPr id="6" name="Footer Placeholder 5"/>
          <p:cNvSpPr>
            <a:spLocks noGrp="1"/>
          </p:cNvSpPr>
          <p:nvPr>
            <p:ph type="ftr" sz="quarter" idx="11"/>
          </p:nvPr>
        </p:nvSpPr>
        <p:spPr/>
        <p:txBody>
          <a:bodyPr/>
          <a:lstStyle>
            <a:lvl1pPr>
              <a:defRPr>
                <a:solidFill>
                  <a:srgbClr val="FFFFFF">
                    <a:alpha val="75000"/>
                  </a:srgb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8425067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1582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7963" y="695325"/>
            <a:ext cx="1971675"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8644" y="714376"/>
            <a:ext cx="5800725"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8502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2919" y="499533"/>
            <a:ext cx="8079581"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07206" y="1993393"/>
            <a:ext cx="8065294"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4350" y="6412447"/>
            <a:ext cx="3086100" cy="228600"/>
          </a:xfrm>
          <a:prstGeom prst="rect">
            <a:avLst/>
          </a:prstGeom>
        </p:spPr>
        <p:txBody>
          <a:bodyPr vert="horz" lIns="91440" tIns="45720" rIns="91440" bIns="45720" rtlCol="0" anchor="ctr"/>
          <a:lstStyle>
            <a:lvl1pPr algn="l">
              <a:defRPr sz="950">
                <a:solidFill>
                  <a:schemeClr val="tx1">
                    <a:alpha val="75000"/>
                  </a:schemeClr>
                </a:solidFill>
              </a:defRPr>
            </a:lvl1pPr>
          </a:lstStyle>
          <a:p>
            <a:fld id="{5BCAD085-E8A6-8845-BD4E-CB4CCA059FC4}" type="datetimeFigureOut">
              <a:rPr lang="en-US" smtClean="0"/>
              <a:t>1/30/2026</a:t>
            </a:fld>
            <a:endParaRPr lang="en-US"/>
          </a:p>
        </p:txBody>
      </p:sp>
      <p:sp>
        <p:nvSpPr>
          <p:cNvPr id="5" name="Footer Placeholder 4"/>
          <p:cNvSpPr>
            <a:spLocks noGrp="1"/>
          </p:cNvSpPr>
          <p:nvPr>
            <p:ph type="ftr" sz="quarter" idx="3"/>
          </p:nvPr>
        </p:nvSpPr>
        <p:spPr>
          <a:xfrm>
            <a:off x="514350" y="6554697"/>
            <a:ext cx="3771900" cy="228600"/>
          </a:xfrm>
          <a:prstGeom prst="rect">
            <a:avLst/>
          </a:prstGeom>
        </p:spPr>
        <p:txBody>
          <a:bodyPr vert="horz" lIns="91440" tIns="45720" rIns="91440" bIns="45720" rtlCol="0" anchor="ctr"/>
          <a:lstStyle>
            <a:lvl1pPr algn="l">
              <a:defRPr sz="950" cap="all" baseline="0">
                <a:solidFill>
                  <a:schemeClr val="tx1">
                    <a:alpha val="75000"/>
                  </a:schemeClr>
                </a:solidFill>
              </a:defRPr>
            </a:lvl1pPr>
          </a:lstStyle>
          <a:p>
            <a:endParaRPr lang="en-US"/>
          </a:p>
        </p:txBody>
      </p:sp>
      <p:sp>
        <p:nvSpPr>
          <p:cNvPr id="6" name="Slide Number Placeholder 5"/>
          <p:cNvSpPr>
            <a:spLocks noGrp="1"/>
          </p:cNvSpPr>
          <p:nvPr>
            <p:ph type="sldNum" sz="quarter" idx="4"/>
          </p:nvPr>
        </p:nvSpPr>
        <p:spPr>
          <a:xfrm>
            <a:off x="6541193" y="5829748"/>
            <a:ext cx="2194560" cy="1397039"/>
          </a:xfrm>
          <a:prstGeom prst="rect">
            <a:avLst/>
          </a:prstGeom>
        </p:spPr>
        <p:txBody>
          <a:bodyPr vert="horz" lIns="91440" tIns="45720" rIns="91440" bIns="45720" rtlCol="0" anchor="b"/>
          <a:lstStyle>
            <a:lvl1pPr algn="r">
              <a:defRPr sz="9000" b="0">
                <a:ln>
                  <a:noFill/>
                </a:ln>
                <a:solidFill>
                  <a:schemeClr val="accent1">
                    <a:alpha val="20000"/>
                  </a:schemeClr>
                </a:solidFill>
                <a:latin typeface="+mj-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721061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0xrick.github.io/win-internals/pe3/"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hyperlink" Target="https://www.curlybrace.com/archive/PE%20File%20Structure.pdf" TargetMode="External"/><Relationship Id="rId7" Type="http://schemas.openxmlformats.org/officeDocument/2006/relationships/hyperlink" Target="https://www.cse.tkk.fi/fi/opinnot/T-110.6220/2011_Spring_Malware_Analysis_and_Antivirus_Technologies/luennot-files/Reverse%20Engineering%20III.PDF" TargetMode="External"/><Relationship Id="rId2" Type="http://schemas.openxmlformats.org/officeDocument/2006/relationships/hyperlink" Target="https://github.com/corkami/pics/blob/master/binary/PE101.png" TargetMode="External"/><Relationship Id="rId1" Type="http://schemas.openxmlformats.org/officeDocument/2006/relationships/slideLayout" Target="../slideLayouts/slideLayout2.xml"/><Relationship Id="rId6" Type="http://schemas.openxmlformats.org/officeDocument/2006/relationships/hyperlink" Target="https://0xrick.github.io/win-internals/pe3/" TargetMode="External"/><Relationship Id="rId5" Type="http://schemas.openxmlformats.org/officeDocument/2006/relationships/hyperlink" Target="https://astra-labs.co/posts/PE-Header-Funamentals-The-First-Step-in-Malware-Analysis/" TargetMode="External"/><Relationship Id="rId4" Type="http://schemas.openxmlformats.org/officeDocument/2006/relationships/hyperlink" Target="https://elhacker.info/manuales/PE/pecoff_v8.pdf"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1460" y="2050306"/>
            <a:ext cx="5432145" cy="1658198"/>
          </a:xfrm>
        </p:spPr>
        <p:txBody>
          <a:bodyPr/>
          <a:lstStyle/>
          <a:p>
            <a:pPr algn="ctr"/>
            <a:r>
              <a:rPr b="1" dirty="0"/>
              <a:t>PE </a:t>
            </a:r>
            <a:r>
              <a:rPr lang="en-IN" b="1" dirty="0"/>
              <a:t>File Structure and</a:t>
            </a:r>
            <a:br>
              <a:rPr lang="en-IN" b="1" dirty="0"/>
            </a:br>
            <a:r>
              <a:rPr b="1" dirty="0"/>
              <a:t>Header Fundamentals</a:t>
            </a:r>
          </a:p>
        </p:txBody>
      </p:sp>
      <p:sp>
        <p:nvSpPr>
          <p:cNvPr id="3" name="Content Placeholder 2"/>
          <p:cNvSpPr>
            <a:spLocks noGrp="1"/>
          </p:cNvSpPr>
          <p:nvPr>
            <p:ph idx="1"/>
          </p:nvPr>
        </p:nvSpPr>
        <p:spPr>
          <a:xfrm>
            <a:off x="2675816" y="4186718"/>
            <a:ext cx="3354280" cy="545921"/>
          </a:xfrm>
        </p:spPr>
        <p:txBody>
          <a:bodyPr/>
          <a:lstStyle/>
          <a:p>
            <a:r>
              <a:rPr lang="en-IN" dirty="0"/>
              <a:t>Dr. Modhuparna Manna</a:t>
            </a:r>
            <a:endParaRPr dirty="0"/>
          </a:p>
        </p:txBody>
      </p:sp>
      <p:sp>
        <p:nvSpPr>
          <p:cNvPr id="4" name="TextBox 3">
            <a:extLst>
              <a:ext uri="{FF2B5EF4-FFF2-40B4-BE49-F238E27FC236}">
                <a16:creationId xmlns:a16="http://schemas.microsoft.com/office/drawing/2014/main" id="{78AFB761-DE0B-C771-D095-FD5D4979A3E6}"/>
              </a:ext>
            </a:extLst>
          </p:cNvPr>
          <p:cNvSpPr txBox="1"/>
          <p:nvPr/>
        </p:nvSpPr>
        <p:spPr>
          <a:xfrm>
            <a:off x="131568" y="6354281"/>
            <a:ext cx="4988289" cy="369332"/>
          </a:xfrm>
          <a:prstGeom prst="rect">
            <a:avLst/>
          </a:prstGeom>
          <a:noFill/>
        </p:spPr>
        <p:txBody>
          <a:bodyPr wrap="none" rtlCol="0">
            <a:spAutoFit/>
          </a:bodyPr>
          <a:lstStyle/>
          <a:p>
            <a:r>
              <a:rPr lang="en-IN" dirty="0"/>
              <a:t>Materials used from various sources on the internet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PE Analysis?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IN" dirty="0"/>
              <a:t> The first step of malware analysis is to understand the file format.</a:t>
            </a:r>
          </a:p>
          <a:p>
            <a:pPr>
              <a:buFont typeface="Wingdings" panose="05000000000000000000" pitchFamily="2" charset="2"/>
              <a:buChar char="Ø"/>
            </a:pPr>
            <a:r>
              <a:rPr lang="en-IN" dirty="0"/>
              <a:t>For Windows this happens to be the </a:t>
            </a:r>
            <a:r>
              <a:rPr lang="en-US" dirty="0"/>
              <a:t>PE (Portable Executable) built upon the COFF (Common Object File Format), a generic structure for compiled code. </a:t>
            </a:r>
            <a:endParaRPr lang="en-IN" dirty="0"/>
          </a:p>
          <a:p>
            <a:pPr>
              <a:buFont typeface="Wingdings" panose="05000000000000000000" pitchFamily="2" charset="2"/>
              <a:buChar char="Ø"/>
            </a:pPr>
            <a:r>
              <a:rPr lang="en-IN" dirty="0"/>
              <a:t>PE files are therefore the c</a:t>
            </a:r>
            <a:r>
              <a:rPr dirty="0"/>
              <a:t>ore of Windows malware</a:t>
            </a:r>
          </a:p>
          <a:p>
            <a:pPr>
              <a:buFont typeface="Wingdings" panose="05000000000000000000" pitchFamily="2" charset="2"/>
              <a:buChar char="Ø"/>
            </a:pPr>
            <a:r>
              <a:rPr lang="en-IN" dirty="0"/>
              <a:t>Analysis of PE files is the f</a:t>
            </a:r>
            <a:r>
              <a:rPr dirty="0" err="1"/>
              <a:t>oundation</a:t>
            </a:r>
            <a:r>
              <a:rPr dirty="0"/>
              <a:t> of static analysis</a:t>
            </a:r>
            <a:r>
              <a:rPr lang="en-IN" dirty="0"/>
              <a:t> for Windows malware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Portable Executable Format</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a:t>PE (Portable Executable)</a:t>
            </a:r>
            <a:r>
              <a:rPr lang="en-US" dirty="0"/>
              <a:t> is the standard file format for Windows executables (like .exe, .</a:t>
            </a:r>
            <a:r>
              <a:rPr lang="en-US" dirty="0" err="1"/>
              <a:t>dll</a:t>
            </a:r>
            <a:r>
              <a:rPr lang="en-US" dirty="0"/>
              <a:t>)</a:t>
            </a:r>
          </a:p>
          <a:p>
            <a:pPr>
              <a:buFont typeface="Wingdings" panose="05000000000000000000" pitchFamily="2" charset="2"/>
              <a:buChar char="Ø"/>
            </a:pPr>
            <a:r>
              <a:rPr lang="en-US" dirty="0"/>
              <a:t>It is built upon the </a:t>
            </a:r>
            <a:r>
              <a:rPr lang="en-US" b="1" dirty="0"/>
              <a:t>COFF (Common Object File Format), </a:t>
            </a:r>
            <a:r>
              <a:rPr lang="en-US" dirty="0"/>
              <a:t>a generic structure for compiled code</a:t>
            </a:r>
          </a:p>
          <a:p>
            <a:pPr>
              <a:buFont typeface="Wingdings" panose="05000000000000000000" pitchFamily="2" charset="2"/>
              <a:buChar char="Ø"/>
            </a:pPr>
            <a:r>
              <a:rPr lang="en-US" dirty="0"/>
              <a:t> Understanding PE/COFF headers is crucial for analyzing malware's structure, identifying packed/obfuscated code, and finding malicious indicators like imports, exports, and resource sections</a:t>
            </a:r>
          </a:p>
          <a:p>
            <a:pPr>
              <a:buFont typeface="Wingdings" panose="05000000000000000000" pitchFamily="2" charset="2"/>
              <a:buChar char="Ø"/>
            </a:pPr>
            <a:r>
              <a:rPr lang="en-US" dirty="0" err="1"/>
              <a:t>Analysing</a:t>
            </a:r>
            <a:r>
              <a:rPr lang="en-US" dirty="0"/>
              <a:t> PE structure can reveal the malware's capabilities and intent in Windows malware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Where PE is Used</a:t>
            </a:r>
          </a:p>
        </p:txBody>
      </p:sp>
      <p:sp>
        <p:nvSpPr>
          <p:cNvPr id="3" name="Content Placeholder 2"/>
          <p:cNvSpPr>
            <a:spLocks noGrp="1"/>
          </p:cNvSpPr>
          <p:nvPr>
            <p:ph idx="1"/>
          </p:nvPr>
        </p:nvSpPr>
        <p:spPr>
          <a:xfrm>
            <a:off x="413951" y="1723769"/>
            <a:ext cx="8158549" cy="4392826"/>
          </a:xfrm>
        </p:spPr>
        <p:txBody>
          <a:bodyPr>
            <a:normAutofit/>
          </a:bodyPr>
          <a:lstStyle/>
          <a:p>
            <a:pPr>
              <a:buFont typeface="Wingdings" panose="05000000000000000000" pitchFamily="2" charset="2"/>
              <a:buChar char="Ø"/>
            </a:pPr>
            <a:r>
              <a:rPr lang="en-US" dirty="0"/>
              <a:t>The </a:t>
            </a:r>
            <a:r>
              <a:rPr lang="en-US" b="1" dirty="0"/>
              <a:t>Portable Executable (PE)</a:t>
            </a:r>
            <a:r>
              <a:rPr lang="en-US" dirty="0"/>
              <a:t> file format is used by Windows executables, object code, and DLLs. </a:t>
            </a:r>
          </a:p>
          <a:p>
            <a:pPr>
              <a:buFont typeface="Wingdings" panose="05000000000000000000" pitchFamily="2" charset="2"/>
              <a:buChar char="Ø"/>
            </a:pPr>
            <a:r>
              <a:rPr lang="en-US" dirty="0"/>
              <a:t>The PE file format can be found in Windows .exe, .</a:t>
            </a:r>
            <a:r>
              <a:rPr lang="en-US" dirty="0" err="1"/>
              <a:t>dll</a:t>
            </a:r>
            <a:r>
              <a:rPr lang="en-US" dirty="0"/>
              <a:t>, .sys </a:t>
            </a:r>
            <a:r>
              <a:rPr lang="en-US" dirty="0" err="1"/>
              <a:t>etc</a:t>
            </a:r>
            <a:endParaRPr lang="en-US" dirty="0"/>
          </a:p>
          <a:p>
            <a:pPr>
              <a:buFont typeface="Wingdings" panose="05000000000000000000" pitchFamily="2" charset="2"/>
              <a:buChar char="Ø"/>
            </a:pPr>
            <a:r>
              <a:rPr lang="en-US" dirty="0"/>
              <a:t>The PE file format is a data structure that contains the information necessary for the Windows OS loader to manage the wrapped executable code. </a:t>
            </a:r>
          </a:p>
          <a:p>
            <a:pPr>
              <a:buFont typeface="Wingdings" panose="05000000000000000000" pitchFamily="2" charset="2"/>
              <a:buChar char="Ø"/>
            </a:pPr>
            <a:r>
              <a:rPr lang="en-US" dirty="0"/>
              <a:t>Nearly every file with executable code that is loaded by Windows is in the PE file format. </a:t>
            </a:r>
          </a:p>
          <a:p>
            <a:pPr>
              <a:buFont typeface="Wingdings" panose="05000000000000000000" pitchFamily="2" charset="2"/>
              <a:buChar char="Ø"/>
            </a:pPr>
            <a:r>
              <a:rPr lang="en-US" dirty="0"/>
              <a:t>Most of the malware we analyze is built for the Windows OS, so understanding how to extract information from PE files is critical.</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happens in pre-execution?</a:t>
            </a:r>
            <a:br>
              <a:rPr lang="en-IN" dirty="0"/>
            </a:br>
            <a:endParaRPr dirty="0"/>
          </a:p>
        </p:txBody>
      </p:sp>
      <p:sp>
        <p:nvSpPr>
          <p:cNvPr id="3" name="Content Placeholder 2"/>
          <p:cNvSpPr>
            <a:spLocks noGrp="1"/>
          </p:cNvSpPr>
          <p:nvPr>
            <p:ph idx="1"/>
          </p:nvPr>
        </p:nvSpPr>
        <p:spPr>
          <a:xfrm>
            <a:off x="492919" y="1359243"/>
            <a:ext cx="8079581" cy="4400335"/>
          </a:xfrm>
        </p:spPr>
        <p:txBody>
          <a:bodyPr>
            <a:normAutofit fontScale="85000" lnSpcReduction="10000"/>
          </a:bodyPr>
          <a:lstStyle/>
          <a:p>
            <a:r>
              <a:rPr lang="en-US" b="1" dirty="0"/>
              <a:t>Loading and Parsing Headers:</a:t>
            </a:r>
            <a:r>
              <a:rPr lang="en-US" dirty="0"/>
              <a:t> The operating system reads the PE headers</a:t>
            </a:r>
          </a:p>
          <a:p>
            <a:r>
              <a:rPr lang="en-US" b="1" dirty="0"/>
              <a:t>Memory Mapping:</a:t>
            </a:r>
            <a:r>
              <a:rPr lang="en-US" dirty="0"/>
              <a:t> The loader maps the different sections of the PE file (e.g., .text for code, .data for variables) into the virtual memory space, assigning appropriate read/write/execute permissions to each, such as ensuring code sections are not writable.</a:t>
            </a:r>
          </a:p>
          <a:p>
            <a:r>
              <a:rPr lang="en-US" b="1" dirty="0"/>
              <a:t>Dependency Resolution (Import Table):</a:t>
            </a:r>
            <a:r>
              <a:rPr lang="en-US" dirty="0"/>
              <a:t> The loader examines the Import Address Table (IAT) to locate necessary dynamic-link libraries (DLLs) and resolve the memory addresses of functions the program relies on.</a:t>
            </a:r>
          </a:p>
          <a:p>
            <a:r>
              <a:rPr lang="en-US" b="1" dirty="0"/>
              <a:t>Base Relocation:</a:t>
            </a:r>
            <a:r>
              <a:rPr lang="en-US" dirty="0"/>
              <a:t> If the program cannot be loaded at its preferred base address, the loader uses the .</a:t>
            </a:r>
            <a:r>
              <a:rPr lang="en-US" dirty="0" err="1"/>
              <a:t>reloc</a:t>
            </a:r>
            <a:r>
              <a:rPr lang="en-US" dirty="0"/>
              <a:t> section to adjust internal memory references.</a:t>
            </a:r>
          </a:p>
          <a:p>
            <a:r>
              <a:rPr lang="en-US" b="1" dirty="0"/>
              <a:t>Unpacking/Unmasking:</a:t>
            </a:r>
            <a:r>
              <a:rPr lang="en-US" dirty="0"/>
              <a:t> In many cases, particularly with malware, the file is packed or compressed. The loader must first allow a small "unpacker stub" to decompress or decrypt the actual malicious code into memory before execution. </a:t>
            </a:r>
          </a:p>
          <a:p>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High Level PE Structure</a:t>
            </a:r>
          </a:p>
        </p:txBody>
      </p:sp>
      <p:sp>
        <p:nvSpPr>
          <p:cNvPr id="3" name="Content Placeholder 2"/>
          <p:cNvSpPr>
            <a:spLocks noGrp="1"/>
          </p:cNvSpPr>
          <p:nvPr>
            <p:ph idx="1"/>
          </p:nvPr>
        </p:nvSpPr>
        <p:spPr/>
        <p:txBody>
          <a:bodyPr/>
          <a:lstStyle/>
          <a:p>
            <a:r>
              <a:rPr lang="en-IN" dirty="0"/>
              <a:t>PE Files contain the following:</a:t>
            </a:r>
          </a:p>
          <a:p>
            <a:pPr>
              <a:buFont typeface="Wingdings" panose="05000000000000000000" pitchFamily="2" charset="2"/>
              <a:buChar char="Ø"/>
            </a:pPr>
            <a:r>
              <a:rPr dirty="0"/>
              <a:t>DOS Header</a:t>
            </a:r>
          </a:p>
          <a:p>
            <a:pPr>
              <a:buFont typeface="Wingdings" panose="05000000000000000000" pitchFamily="2" charset="2"/>
              <a:buChar char="Ø"/>
            </a:pPr>
            <a:r>
              <a:rPr dirty="0"/>
              <a:t>NT Headers</a:t>
            </a:r>
          </a:p>
          <a:p>
            <a:pPr>
              <a:buFont typeface="Wingdings" panose="05000000000000000000" pitchFamily="2" charset="2"/>
              <a:buChar char="Ø"/>
            </a:pPr>
            <a:r>
              <a:rPr dirty="0"/>
              <a:t>Section Table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A38F79D-538E-EACB-68A1-CB7C09124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367" y="691978"/>
            <a:ext cx="8604591" cy="5561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277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94E94-1F00-FBD9-31A8-CA855258B064}"/>
              </a:ext>
            </a:extLst>
          </p:cNvPr>
          <p:cNvSpPr>
            <a:spLocks noGrp="1"/>
          </p:cNvSpPr>
          <p:nvPr>
            <p:ph type="title"/>
          </p:nvPr>
        </p:nvSpPr>
        <p:spPr/>
        <p:txBody>
          <a:bodyPr/>
          <a:lstStyle/>
          <a:p>
            <a:r>
              <a:rPr lang="en-IN" dirty="0"/>
              <a:t>PE Headers</a:t>
            </a:r>
          </a:p>
        </p:txBody>
      </p:sp>
      <p:sp>
        <p:nvSpPr>
          <p:cNvPr id="3" name="Content Placeholder 2">
            <a:extLst>
              <a:ext uri="{FF2B5EF4-FFF2-40B4-BE49-F238E27FC236}">
                <a16:creationId xmlns:a16="http://schemas.microsoft.com/office/drawing/2014/main" id="{7C1D7E93-3D02-4065-291E-401DEFAAD57E}"/>
              </a:ext>
            </a:extLst>
          </p:cNvPr>
          <p:cNvSpPr>
            <a:spLocks noGrp="1"/>
          </p:cNvSpPr>
          <p:nvPr>
            <p:ph idx="1"/>
          </p:nvPr>
        </p:nvSpPr>
        <p:spPr>
          <a:xfrm>
            <a:off x="492919" y="1940011"/>
            <a:ext cx="8079581" cy="4145692"/>
          </a:xfrm>
        </p:spPr>
        <p:txBody>
          <a:bodyPr>
            <a:normAutofit/>
          </a:bodyPr>
          <a:lstStyle/>
          <a:p>
            <a:pPr>
              <a:buFont typeface="Wingdings" panose="05000000000000000000" pitchFamily="2" charset="2"/>
              <a:buChar char="Ø"/>
            </a:pPr>
            <a:r>
              <a:rPr lang="en-US" dirty="0"/>
              <a:t>PE Files begin with a </a:t>
            </a:r>
            <a:r>
              <a:rPr lang="en-US" b="1" dirty="0"/>
              <a:t>header</a:t>
            </a:r>
            <a:r>
              <a:rPr lang="en-US" dirty="0"/>
              <a:t> which includes information about the code, the type of application, required library functions, and space requirements. </a:t>
            </a:r>
          </a:p>
          <a:p>
            <a:pPr>
              <a:buFont typeface="Wingdings" panose="05000000000000000000" pitchFamily="2" charset="2"/>
              <a:buChar char="Ø"/>
            </a:pPr>
            <a:r>
              <a:rPr lang="en-US" dirty="0"/>
              <a:t>The information in a PE header is very valuable for formulating an effective approach to analyzing that specific binary</a:t>
            </a:r>
          </a:p>
          <a:p>
            <a:pPr>
              <a:buFont typeface="Wingdings" panose="05000000000000000000" pitchFamily="2" charset="2"/>
              <a:buChar char="Ø"/>
            </a:pPr>
            <a:r>
              <a:rPr lang="en-US" dirty="0"/>
              <a:t>The PE file format contains a header followed by a series of </a:t>
            </a:r>
            <a:r>
              <a:rPr lang="en-US" b="1" dirty="0"/>
              <a:t>sections</a:t>
            </a:r>
            <a:r>
              <a:rPr lang="en-US" dirty="0"/>
              <a:t>. </a:t>
            </a:r>
          </a:p>
          <a:p>
            <a:pPr>
              <a:buFont typeface="Wingdings" panose="05000000000000000000" pitchFamily="2" charset="2"/>
              <a:buChar char="Ø"/>
            </a:pPr>
            <a:r>
              <a:rPr lang="en-US" dirty="0"/>
              <a:t>The header contains metadata about the file itself.</a:t>
            </a:r>
          </a:p>
          <a:p>
            <a:pPr>
              <a:buFont typeface="Wingdings" panose="05000000000000000000" pitchFamily="2" charset="2"/>
              <a:buChar char="Ø"/>
            </a:pPr>
            <a:r>
              <a:rPr lang="en-US" dirty="0"/>
              <a:t> Following the header are the actual sections of the file, each of which contains useful information.</a:t>
            </a:r>
            <a:endParaRPr lang="en-IN" dirty="0"/>
          </a:p>
        </p:txBody>
      </p:sp>
    </p:spTree>
    <p:extLst>
      <p:ext uri="{BB962C8B-B14F-4D97-AF65-F5344CB8AC3E}">
        <p14:creationId xmlns:p14="http://schemas.microsoft.com/office/powerpoint/2010/main" val="2082433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DOS Header</a:t>
            </a: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IN" dirty="0"/>
              <a:t>The DOS header (also called the MS-DOS header) is a 64-byte-long structure that exists at the start of the PE </a:t>
            </a:r>
            <a:r>
              <a:rPr lang="en-IN" dirty="0" err="1"/>
              <a:t>file.I</a:t>
            </a:r>
            <a:endParaRPr lang="en-IN" dirty="0"/>
          </a:p>
          <a:p>
            <a:pPr>
              <a:buFont typeface="Wingdings" panose="05000000000000000000" pitchFamily="2" charset="2"/>
              <a:buChar char="Ø"/>
            </a:pPr>
            <a:r>
              <a:rPr lang="en-IN" dirty="0"/>
              <a:t>It’s not important for the functionality of PE files on modern Windows systems, however it’s there because of backward compatibility reasons.</a:t>
            </a:r>
          </a:p>
          <a:p>
            <a:pPr>
              <a:buFont typeface="Wingdings" panose="05000000000000000000" pitchFamily="2" charset="2"/>
              <a:buChar char="Ø"/>
            </a:pPr>
            <a:r>
              <a:rPr lang="en-IN" dirty="0"/>
              <a:t>This header makes the file an MS-DOS executable, so when it’s loaded on MS-DOS the DOS stub gets executed instead of the actual program.</a:t>
            </a:r>
          </a:p>
          <a:p>
            <a:pPr>
              <a:buFont typeface="Wingdings" panose="05000000000000000000" pitchFamily="2" charset="2"/>
              <a:buChar char="Ø"/>
            </a:pPr>
            <a:r>
              <a:rPr lang="en-IN" dirty="0"/>
              <a:t>Without this header, if you attempt to load the executable on MS-DOS it will not be loaded and will just produce a generic error.</a:t>
            </a:r>
          </a:p>
          <a:p>
            <a:pPr>
              <a:buFont typeface="Wingdings" panose="05000000000000000000" pitchFamily="2" charset="2"/>
              <a:buChar char="Ø"/>
            </a:pPr>
            <a:r>
              <a:rPr lang="en-IN" dirty="0"/>
              <a:t>It starts with MZ signature</a:t>
            </a:r>
          </a:p>
          <a:p>
            <a:pPr>
              <a:buFont typeface="Wingdings" panose="05000000000000000000" pitchFamily="2" charset="2"/>
              <a:buChar char="Ø"/>
            </a:pPr>
            <a:endParaRPr lang="en-IN" dirty="0"/>
          </a:p>
          <a:p>
            <a:endParaRPr lang="en-IN" dirty="0"/>
          </a:p>
          <a:p>
            <a:endParaRPr lang="en-IN" dirty="0"/>
          </a:p>
          <a:p>
            <a:pPr marL="0" indent="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BA4E5A-50DA-D1EA-26A5-BD5A50AAECEB}"/>
              </a:ext>
            </a:extLst>
          </p:cNvPr>
          <p:cNvPicPr>
            <a:picLocks noChangeAspect="1"/>
          </p:cNvPicPr>
          <p:nvPr/>
        </p:nvPicPr>
        <p:blipFill>
          <a:blip r:embed="rId2"/>
          <a:stretch>
            <a:fillRect/>
          </a:stretch>
        </p:blipFill>
        <p:spPr>
          <a:xfrm>
            <a:off x="1199858" y="481709"/>
            <a:ext cx="6744284" cy="5894581"/>
          </a:xfrm>
          <a:prstGeom prst="rect">
            <a:avLst/>
          </a:prstGeom>
        </p:spPr>
      </p:pic>
    </p:spTree>
    <p:extLst>
      <p:ext uri="{BB962C8B-B14F-4D97-AF65-F5344CB8AC3E}">
        <p14:creationId xmlns:p14="http://schemas.microsoft.com/office/powerpoint/2010/main" val="1996157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6C1A84-4E73-7334-A51D-81994B699F09}"/>
              </a:ext>
            </a:extLst>
          </p:cNvPr>
          <p:cNvPicPr>
            <a:picLocks noChangeAspect="1"/>
          </p:cNvPicPr>
          <p:nvPr/>
        </p:nvPicPr>
        <p:blipFill>
          <a:blip r:embed="rId2"/>
          <a:stretch>
            <a:fillRect/>
          </a:stretch>
        </p:blipFill>
        <p:spPr>
          <a:xfrm>
            <a:off x="1204784" y="211070"/>
            <a:ext cx="6586787" cy="6294762"/>
          </a:xfrm>
          <a:prstGeom prst="rect">
            <a:avLst/>
          </a:prstGeom>
        </p:spPr>
      </p:pic>
    </p:spTree>
    <p:extLst>
      <p:ext uri="{BB962C8B-B14F-4D97-AF65-F5344CB8AC3E}">
        <p14:creationId xmlns:p14="http://schemas.microsoft.com/office/powerpoint/2010/main" val="92226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DOS Stub</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a:t>The DOS stub is an MS-DOS program that prints an error message saying that the executable is not compatible with DOS then exits.</a:t>
            </a:r>
          </a:p>
          <a:p>
            <a:pPr>
              <a:buFont typeface="Wingdings" panose="05000000000000000000" pitchFamily="2" charset="2"/>
              <a:buChar char="Ø"/>
            </a:pPr>
            <a:r>
              <a:rPr lang="en-IN" dirty="0"/>
              <a:t>This is what gets executed when the program is loaded in MS-DOS, the default error message is “This program cannot be run in DOS mode.”, however this message can be changed by the user during compile time.</a:t>
            </a:r>
          </a:p>
          <a:p>
            <a:pPr marL="0" indent="0">
              <a:buNone/>
            </a:pPr>
            <a:r>
              <a:rPr lang="en-IN" dirty="0"/>
              <a:t>Analysis: </a:t>
            </a:r>
            <a:r>
              <a:rPr lang="en-IN" dirty="0">
                <a:hlinkClick r:id="rId2"/>
              </a:rPr>
              <a:t>https://0xrick.github.io/win-internals/pe3/</a:t>
            </a:r>
            <a:endParaRPr lang="en-IN" dirty="0"/>
          </a:p>
          <a:p>
            <a:pPr marL="0" indent="0">
              <a:buNone/>
            </a:pP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Important </a:t>
            </a:r>
            <a:r>
              <a:rPr dirty="0"/>
              <a:t>Field</a:t>
            </a:r>
            <a:r>
              <a:rPr lang="en-IN" dirty="0"/>
              <a:t>s</a:t>
            </a:r>
            <a:endParaRPr dirty="0"/>
          </a:p>
        </p:txBody>
      </p:sp>
      <p:sp>
        <p:nvSpPr>
          <p:cNvPr id="3" name="Content Placeholder 2"/>
          <p:cNvSpPr>
            <a:spLocks noGrp="1"/>
          </p:cNvSpPr>
          <p:nvPr>
            <p:ph idx="1"/>
          </p:nvPr>
        </p:nvSpPr>
        <p:spPr/>
        <p:txBody>
          <a:bodyPr/>
          <a:lstStyle/>
          <a:p>
            <a:pPr lvl="0"/>
            <a:r>
              <a:rPr lang="en-IN" b="1" dirty="0" err="1"/>
              <a:t>e_magic</a:t>
            </a:r>
            <a:r>
              <a:rPr lang="en-IN" b="1" dirty="0"/>
              <a:t>:</a:t>
            </a:r>
            <a:r>
              <a:rPr lang="en-IN" dirty="0"/>
              <a:t> This is the first member of the DOS Header, it’s a WORD so it occupies 2 bytes, it’s usually called the magic number. It has a fixed value of 0x5A4D or MZ in ASCII, and it serves as a signature that marks the file as an MS-DOS executable.</a:t>
            </a:r>
          </a:p>
          <a:p>
            <a:pPr lvl="0"/>
            <a:r>
              <a:rPr lang="en-IN" b="1" dirty="0" err="1"/>
              <a:t>e_lfanew</a:t>
            </a:r>
            <a:r>
              <a:rPr lang="en-IN" b="1" dirty="0"/>
              <a:t>:</a:t>
            </a:r>
            <a:r>
              <a:rPr lang="en-IN" dirty="0"/>
              <a:t> This is the last member of the DOS header structure, it’s located at offset 0x3C into the DOS header and it holds an offset to the start of the NT headers. This member is important to the PE loader on Windows systems because it tells the loader where to look for the file header.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NT Headers</a:t>
            </a:r>
          </a:p>
        </p:txBody>
      </p:sp>
      <p:sp>
        <p:nvSpPr>
          <p:cNvPr id="3" name="Content Placeholder 2"/>
          <p:cNvSpPr>
            <a:spLocks noGrp="1"/>
          </p:cNvSpPr>
          <p:nvPr>
            <p:ph idx="1"/>
          </p:nvPr>
        </p:nvSpPr>
        <p:spPr>
          <a:xfrm>
            <a:off x="507206" y="1993393"/>
            <a:ext cx="8065294" cy="4623650"/>
          </a:xfrm>
        </p:spPr>
        <p:txBody>
          <a:bodyPr>
            <a:normAutofit fontScale="85000" lnSpcReduction="10000"/>
          </a:bodyPr>
          <a:lstStyle/>
          <a:p>
            <a:pPr>
              <a:buFont typeface="Wingdings" panose="05000000000000000000" pitchFamily="2" charset="2"/>
              <a:buChar char="Ø"/>
            </a:pPr>
            <a:r>
              <a:rPr lang="en-IN" sz="2600" dirty="0"/>
              <a:t>NT headers is a structure defined in </a:t>
            </a:r>
            <a:r>
              <a:rPr lang="en-IN" sz="2600" dirty="0" err="1"/>
              <a:t>winnt.h</a:t>
            </a:r>
            <a:r>
              <a:rPr lang="en-IN" sz="2600" dirty="0"/>
              <a:t> as IMAGE_NT_HEADERS.</a:t>
            </a:r>
          </a:p>
          <a:p>
            <a:pPr>
              <a:buFont typeface="Wingdings" panose="05000000000000000000" pitchFamily="2" charset="2"/>
              <a:buChar char="Ø"/>
            </a:pPr>
            <a:r>
              <a:rPr lang="en-IN" sz="2600" dirty="0"/>
              <a:t>By looking at its definition we can see that it has three members, a DWORD signature, an IMAGE_FILE_HEADER structure called </a:t>
            </a:r>
            <a:r>
              <a:rPr lang="en-IN" sz="2600" dirty="0" err="1"/>
              <a:t>FileHeader</a:t>
            </a:r>
            <a:r>
              <a:rPr lang="en-IN" sz="2600" dirty="0"/>
              <a:t> and an IMAGE_OPTIONAL_HEADER structure called </a:t>
            </a:r>
            <a:r>
              <a:rPr lang="en-IN" sz="2600" dirty="0" err="1"/>
              <a:t>OptionalHeader</a:t>
            </a:r>
            <a:r>
              <a:rPr lang="en-IN" sz="2600" dirty="0"/>
              <a:t>.</a:t>
            </a:r>
          </a:p>
          <a:p>
            <a:pPr>
              <a:buFont typeface="Wingdings" panose="05000000000000000000" pitchFamily="2" charset="2"/>
              <a:buChar char="Ø"/>
            </a:pPr>
            <a:r>
              <a:rPr lang="en-IN" sz="2600" dirty="0"/>
              <a:t>This structure is defined in two different versions, one for 32-bit executables (Also named PE32 executables) named IMAGE_NT_HEADERS and one for 64-bit executables (Also named PE32+ executables) named IMAGE_NT_HEADERS64.</a:t>
            </a:r>
          </a:p>
          <a:p>
            <a:pPr>
              <a:buFont typeface="Wingdings" panose="05000000000000000000" pitchFamily="2" charset="2"/>
              <a:buChar char="Ø"/>
            </a:pPr>
            <a:r>
              <a:rPr lang="en-IN" sz="2600" dirty="0"/>
              <a:t>The main difference between the two versions is the used version of IMAGE_OPTIONAL_HEADER structure which has two versions, IMAGE_OPTIONAL_HEADER32 for 32-bit executables and IMAGE_OPTIONAL_HEADER64 for 64-bit executables.</a:t>
            </a:r>
          </a:p>
          <a:p>
            <a:r>
              <a:rPr lang="en-IN" dirty="0"/>
              <a:t> </a:t>
            </a:r>
          </a:p>
          <a:p>
            <a:pPr marL="0" indent="0">
              <a:buNone/>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AC9E9A-A95F-5CC0-F471-9181AC22D10D}"/>
              </a:ext>
            </a:extLst>
          </p:cNvPr>
          <p:cNvPicPr>
            <a:picLocks noChangeAspect="1"/>
          </p:cNvPicPr>
          <p:nvPr/>
        </p:nvPicPr>
        <p:blipFill>
          <a:blip r:embed="rId2"/>
          <a:stretch>
            <a:fillRect/>
          </a:stretch>
        </p:blipFill>
        <p:spPr>
          <a:xfrm>
            <a:off x="1031789" y="546257"/>
            <a:ext cx="6916642" cy="5632121"/>
          </a:xfrm>
          <a:prstGeom prst="rect">
            <a:avLst/>
          </a:prstGeom>
        </p:spPr>
      </p:pic>
    </p:spTree>
    <p:extLst>
      <p:ext uri="{BB962C8B-B14F-4D97-AF65-F5344CB8AC3E}">
        <p14:creationId xmlns:p14="http://schemas.microsoft.com/office/powerpoint/2010/main" val="2860838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PE Signature</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a:t>First member of the NT headers structure is the PE signature, it’s a DWORD which means that it occupies 4 bytes.</a:t>
            </a:r>
          </a:p>
          <a:p>
            <a:pPr>
              <a:buFont typeface="Wingdings" panose="05000000000000000000" pitchFamily="2" charset="2"/>
              <a:buChar char="Ø"/>
            </a:pPr>
            <a:r>
              <a:rPr lang="en-IN" dirty="0"/>
              <a:t>It always has a fixed value of 0x50450000 which translates to PE\0\0 in ASCII</a:t>
            </a:r>
          </a:p>
          <a:p>
            <a:pPr marL="0" indent="0">
              <a:buNone/>
            </a:pPr>
            <a:endParaRPr lang="en-IN" dirty="0"/>
          </a:p>
        </p:txBody>
      </p:sp>
      <p:pic>
        <p:nvPicPr>
          <p:cNvPr id="5" name="Picture 4">
            <a:extLst>
              <a:ext uri="{FF2B5EF4-FFF2-40B4-BE49-F238E27FC236}">
                <a16:creationId xmlns:a16="http://schemas.microsoft.com/office/drawing/2014/main" id="{B31BDD3F-18D7-9A92-7493-AFA7D59E25A6}"/>
              </a:ext>
            </a:extLst>
          </p:cNvPr>
          <p:cNvPicPr>
            <a:picLocks noChangeAspect="1"/>
          </p:cNvPicPr>
          <p:nvPr/>
        </p:nvPicPr>
        <p:blipFill>
          <a:blip r:embed="rId2"/>
          <a:stretch>
            <a:fillRect/>
          </a:stretch>
        </p:blipFill>
        <p:spPr>
          <a:xfrm>
            <a:off x="132965" y="4051427"/>
            <a:ext cx="8878069" cy="10287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File Header</a:t>
            </a:r>
          </a:p>
        </p:txBody>
      </p:sp>
      <p:sp>
        <p:nvSpPr>
          <p:cNvPr id="3" name="Content Placeholder 2"/>
          <p:cNvSpPr>
            <a:spLocks noGrp="1"/>
          </p:cNvSpPr>
          <p:nvPr>
            <p:ph idx="1"/>
          </p:nvPr>
        </p:nvSpPr>
        <p:spPr/>
        <p:txBody>
          <a:bodyPr/>
          <a:lstStyle/>
          <a:p>
            <a:r>
              <a:rPr lang="en-IN" dirty="0"/>
              <a:t>Also called “The COFF File Header”, the File Header is a structure that holds some information about the PE file.</a:t>
            </a:r>
            <a:br>
              <a:rPr lang="en-IN" dirty="0"/>
            </a:br>
            <a:r>
              <a:rPr lang="en-IN" dirty="0"/>
              <a:t>It’s defined as IMAGE_FILE_HEADER in </a:t>
            </a:r>
            <a:r>
              <a:rPr lang="en-IN" dirty="0" err="1"/>
              <a:t>winnt.h</a:t>
            </a:r>
            <a:r>
              <a:rPr lang="en-IN" dirty="0"/>
              <a:t>, here’s the definition:</a:t>
            </a:r>
          </a:p>
          <a:p>
            <a:endParaRPr lang="en-IN" dirty="0"/>
          </a:p>
        </p:txBody>
      </p:sp>
      <p:pic>
        <p:nvPicPr>
          <p:cNvPr id="5" name="Picture 4">
            <a:extLst>
              <a:ext uri="{FF2B5EF4-FFF2-40B4-BE49-F238E27FC236}">
                <a16:creationId xmlns:a16="http://schemas.microsoft.com/office/drawing/2014/main" id="{0B2AC401-42B8-7494-3593-753644B023E7}"/>
              </a:ext>
            </a:extLst>
          </p:cNvPr>
          <p:cNvPicPr>
            <a:picLocks noChangeAspect="1"/>
          </p:cNvPicPr>
          <p:nvPr/>
        </p:nvPicPr>
        <p:blipFill>
          <a:blip r:embed="rId2"/>
          <a:stretch>
            <a:fillRect/>
          </a:stretch>
        </p:blipFill>
        <p:spPr>
          <a:xfrm>
            <a:off x="1863129" y="3429000"/>
            <a:ext cx="4438817" cy="31950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26BD2-F34C-AEFD-9BF0-CB13A94CABDC}"/>
              </a:ext>
            </a:extLst>
          </p:cNvPr>
          <p:cNvSpPr>
            <a:spLocks noGrp="1"/>
          </p:cNvSpPr>
          <p:nvPr>
            <p:ph type="title"/>
          </p:nvPr>
        </p:nvSpPr>
        <p:spPr/>
        <p:txBody>
          <a:bodyPr/>
          <a:lstStyle/>
          <a:p>
            <a:r>
              <a:rPr lang="en-IN" dirty="0"/>
              <a:t>File Header</a:t>
            </a:r>
          </a:p>
        </p:txBody>
      </p:sp>
      <p:sp>
        <p:nvSpPr>
          <p:cNvPr id="3" name="Content Placeholder 2">
            <a:extLst>
              <a:ext uri="{FF2B5EF4-FFF2-40B4-BE49-F238E27FC236}">
                <a16:creationId xmlns:a16="http://schemas.microsoft.com/office/drawing/2014/main" id="{1D0E1D85-76F3-155C-F638-4F830FFBD4CD}"/>
              </a:ext>
            </a:extLst>
          </p:cNvPr>
          <p:cNvSpPr>
            <a:spLocks noGrp="1"/>
          </p:cNvSpPr>
          <p:nvPr>
            <p:ph idx="1"/>
          </p:nvPr>
        </p:nvSpPr>
        <p:spPr/>
        <p:txBody>
          <a:bodyPr>
            <a:normAutofit/>
          </a:bodyPr>
          <a:lstStyle/>
          <a:p>
            <a:pPr lvl="0"/>
            <a:r>
              <a:rPr lang="en-IN" b="1" dirty="0"/>
              <a:t>Machine:</a:t>
            </a:r>
            <a:r>
              <a:rPr lang="en-IN" dirty="0"/>
              <a:t> This is a number that indicates the type of machine (CPU Architecture) the executable is targeting, this field can have a lot of values, but we’re only interested in two of them, 0x8864 for AMD64 and 0x14c for i386. </a:t>
            </a:r>
          </a:p>
          <a:p>
            <a:pPr lvl="0"/>
            <a:r>
              <a:rPr lang="en-IN" b="1" dirty="0" err="1"/>
              <a:t>NumberOfSections</a:t>
            </a:r>
            <a:r>
              <a:rPr lang="en-IN" b="1" dirty="0"/>
              <a:t>:</a:t>
            </a:r>
            <a:r>
              <a:rPr lang="en-IN" dirty="0"/>
              <a:t> This field holds the number of sections (or the number of section headers aka. the size of the section table.).</a:t>
            </a:r>
          </a:p>
          <a:p>
            <a:pPr lvl="0"/>
            <a:r>
              <a:rPr lang="en-IN" b="1" dirty="0" err="1"/>
              <a:t>TimeDateStamp</a:t>
            </a:r>
            <a:r>
              <a:rPr lang="en-IN" b="1" dirty="0"/>
              <a:t>:</a:t>
            </a:r>
            <a:r>
              <a:rPr lang="en-IN" dirty="0"/>
              <a:t> A </a:t>
            </a:r>
            <a:r>
              <a:rPr lang="en-IN" dirty="0" err="1"/>
              <a:t>unix</a:t>
            </a:r>
            <a:r>
              <a:rPr lang="en-IN" dirty="0"/>
              <a:t> timestamp that indicates when the file was created.</a:t>
            </a:r>
          </a:p>
          <a:p>
            <a:endParaRPr lang="en-IN" dirty="0"/>
          </a:p>
        </p:txBody>
      </p:sp>
    </p:spTree>
    <p:extLst>
      <p:ext uri="{BB962C8B-B14F-4D97-AF65-F5344CB8AC3E}">
        <p14:creationId xmlns:p14="http://schemas.microsoft.com/office/powerpoint/2010/main" val="2810126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DD90A-18AC-08C0-336E-69A8A956DDED}"/>
              </a:ext>
            </a:extLst>
          </p:cNvPr>
          <p:cNvSpPr>
            <a:spLocks noGrp="1"/>
          </p:cNvSpPr>
          <p:nvPr>
            <p:ph type="title"/>
          </p:nvPr>
        </p:nvSpPr>
        <p:spPr/>
        <p:txBody>
          <a:bodyPr/>
          <a:lstStyle/>
          <a:p>
            <a:r>
              <a:rPr lang="en-IN" dirty="0"/>
              <a:t>File Header</a:t>
            </a:r>
          </a:p>
        </p:txBody>
      </p:sp>
      <p:sp>
        <p:nvSpPr>
          <p:cNvPr id="3" name="Content Placeholder 2">
            <a:extLst>
              <a:ext uri="{FF2B5EF4-FFF2-40B4-BE49-F238E27FC236}">
                <a16:creationId xmlns:a16="http://schemas.microsoft.com/office/drawing/2014/main" id="{B9BDF780-048F-53CD-C05B-722ABAA03288}"/>
              </a:ext>
            </a:extLst>
          </p:cNvPr>
          <p:cNvSpPr>
            <a:spLocks noGrp="1"/>
          </p:cNvSpPr>
          <p:nvPr>
            <p:ph idx="1"/>
          </p:nvPr>
        </p:nvSpPr>
        <p:spPr/>
        <p:txBody>
          <a:bodyPr/>
          <a:lstStyle/>
          <a:p>
            <a:pPr lvl="0"/>
            <a:r>
              <a:rPr lang="en-IN" b="1" dirty="0" err="1"/>
              <a:t>PointerToSymbolTable</a:t>
            </a:r>
            <a:r>
              <a:rPr lang="en-IN" b="1" dirty="0"/>
              <a:t> and </a:t>
            </a:r>
            <a:r>
              <a:rPr lang="en-IN" b="1" dirty="0" err="1"/>
              <a:t>NumberOfSymbols</a:t>
            </a:r>
            <a:r>
              <a:rPr lang="en-IN" b="1" dirty="0"/>
              <a:t>:</a:t>
            </a:r>
            <a:r>
              <a:rPr lang="en-IN" dirty="0"/>
              <a:t> These two fields hold the file offset to the COFF symbol table and the number of entries in that symbol table, however they get set to 0 which means that no COFF symbol table is present, this is done because the COFF debugging information is deprecated.</a:t>
            </a:r>
          </a:p>
          <a:p>
            <a:pPr lvl="0"/>
            <a:r>
              <a:rPr lang="en-IN" b="1" dirty="0" err="1"/>
              <a:t>SizeOfOptionalHeader</a:t>
            </a:r>
            <a:r>
              <a:rPr lang="en-IN" b="1" dirty="0"/>
              <a:t>:</a:t>
            </a:r>
            <a:r>
              <a:rPr lang="en-IN" dirty="0"/>
              <a:t> The size of the Optional Header.</a:t>
            </a:r>
          </a:p>
          <a:p>
            <a:pPr lvl="0"/>
            <a:r>
              <a:rPr lang="en-IN" b="1" dirty="0"/>
              <a:t>Characteristics:</a:t>
            </a:r>
            <a:r>
              <a:rPr lang="en-IN" dirty="0"/>
              <a:t> A flag that indicates the attributes of the file, these attributes can be things like the file being executable, the file being a system file and not a user program, and a lot of other things. </a:t>
            </a:r>
          </a:p>
          <a:p>
            <a:endParaRPr lang="en-IN" dirty="0"/>
          </a:p>
        </p:txBody>
      </p:sp>
    </p:spTree>
    <p:extLst>
      <p:ext uri="{BB962C8B-B14F-4D97-AF65-F5344CB8AC3E}">
        <p14:creationId xmlns:p14="http://schemas.microsoft.com/office/powerpoint/2010/main" val="3008980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0DC707-FCAD-F099-F0E7-B38632E3B81D}"/>
              </a:ext>
            </a:extLst>
          </p:cNvPr>
          <p:cNvPicPr>
            <a:picLocks noChangeAspect="1"/>
          </p:cNvPicPr>
          <p:nvPr/>
        </p:nvPicPr>
        <p:blipFill>
          <a:blip r:embed="rId2"/>
          <a:stretch>
            <a:fillRect/>
          </a:stretch>
        </p:blipFill>
        <p:spPr>
          <a:xfrm>
            <a:off x="275852" y="1901057"/>
            <a:ext cx="8592295" cy="3055885"/>
          </a:xfrm>
          <a:prstGeom prst="rect">
            <a:avLst/>
          </a:prstGeom>
        </p:spPr>
      </p:pic>
    </p:spTree>
    <p:extLst>
      <p:ext uri="{BB962C8B-B14F-4D97-AF65-F5344CB8AC3E}">
        <p14:creationId xmlns:p14="http://schemas.microsoft.com/office/powerpoint/2010/main" val="447717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Optional Header</a:t>
            </a: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IN" dirty="0"/>
              <a:t>The Optional Header is the most important header of the NT headers, the PE loader looks for specific information provided by that header to be able to load and run the executable.</a:t>
            </a:r>
          </a:p>
          <a:p>
            <a:pPr>
              <a:buFont typeface="Wingdings" panose="05000000000000000000" pitchFamily="2" charset="2"/>
              <a:buChar char="Ø"/>
            </a:pPr>
            <a:r>
              <a:rPr lang="en-IN" dirty="0"/>
              <a:t>It’s called the optional header because some file types like object files don’t have it, however this header is essential for image files.</a:t>
            </a:r>
          </a:p>
          <a:p>
            <a:pPr>
              <a:buFont typeface="Wingdings" panose="05000000000000000000" pitchFamily="2" charset="2"/>
              <a:buChar char="Ø"/>
            </a:pPr>
            <a:r>
              <a:rPr lang="en-IN" dirty="0"/>
              <a:t>It doesn’t have a fixed size, that’s why the </a:t>
            </a:r>
            <a:r>
              <a:rPr lang="en-IN" dirty="0" err="1"/>
              <a:t>IMAGE_FILE_HEADER.SizeOfOptionalHeader</a:t>
            </a:r>
            <a:r>
              <a:rPr lang="en-IN" dirty="0"/>
              <a:t> member exists.</a:t>
            </a:r>
          </a:p>
          <a:p>
            <a:pPr>
              <a:buFont typeface="Wingdings" panose="05000000000000000000" pitchFamily="2" charset="2"/>
              <a:buChar char="Ø"/>
            </a:pPr>
            <a:r>
              <a:rPr lang="en-IN" dirty="0"/>
              <a:t>The first 8 members of the Optional Header structure are standard for every implementation of the COFF file format, the rest of the header is an extension to the standard COFF optional header defined by Microsoft, these additional members of the structure are needed by the Windows PE loader and linker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Optional Header Matters</a:t>
            </a:r>
          </a:p>
        </p:txBody>
      </p:sp>
      <p:sp>
        <p:nvSpPr>
          <p:cNvPr id="3" name="Content Placeholder 2"/>
          <p:cNvSpPr>
            <a:spLocks noGrp="1"/>
          </p:cNvSpPr>
          <p:nvPr>
            <p:ph idx="1"/>
          </p:nvPr>
        </p:nvSpPr>
        <p:spPr>
          <a:xfrm>
            <a:off x="388127" y="1644604"/>
            <a:ext cx="8184373" cy="4910655"/>
          </a:xfrm>
        </p:spPr>
        <p:txBody>
          <a:bodyPr>
            <a:normAutofit fontScale="70000" lnSpcReduction="20000"/>
          </a:bodyPr>
          <a:lstStyle/>
          <a:p>
            <a:pPr marL="0" indent="0">
              <a:buNone/>
            </a:pPr>
            <a:endParaRPr lang="en-IN" dirty="0"/>
          </a:p>
          <a:p>
            <a:pPr lvl="0">
              <a:buFont typeface="Wingdings" panose="05000000000000000000" pitchFamily="2" charset="2"/>
              <a:buChar char="Ø"/>
            </a:pPr>
            <a:r>
              <a:rPr lang="en-IN" sz="3200" b="1" dirty="0"/>
              <a:t>The size of the structure itself (or the number of members defined within the structure):</a:t>
            </a:r>
            <a:r>
              <a:rPr lang="en-IN" sz="3200" dirty="0"/>
              <a:t> IMAGE_OPTIONAL_HEADER32 has 31 members</a:t>
            </a:r>
          </a:p>
          <a:p>
            <a:pPr lvl="0">
              <a:buFont typeface="Wingdings" panose="05000000000000000000" pitchFamily="2" charset="2"/>
              <a:buChar char="Ø"/>
            </a:pPr>
            <a:r>
              <a:rPr lang="en-IN" sz="3200" dirty="0"/>
              <a:t>IMAGE_OPTIONAL_HEADER64 only has 30 members, that additional member in the 32-bit version is a DWORD named </a:t>
            </a:r>
            <a:r>
              <a:rPr lang="en-IN" sz="3200" dirty="0" err="1"/>
              <a:t>BaseOfData</a:t>
            </a:r>
            <a:r>
              <a:rPr lang="en-IN" sz="3200" dirty="0"/>
              <a:t> which holds an RVA of the beginning of the data section.</a:t>
            </a:r>
          </a:p>
          <a:p>
            <a:pPr lvl="0">
              <a:buFont typeface="Wingdings" panose="05000000000000000000" pitchFamily="2" charset="2"/>
              <a:buChar char="Ø"/>
            </a:pPr>
            <a:r>
              <a:rPr lang="en-IN" sz="3200" b="1" dirty="0"/>
              <a:t>The data type of some of the members:</a:t>
            </a:r>
            <a:r>
              <a:rPr lang="en-IN" sz="3200" dirty="0"/>
              <a:t> The following 5 members of the Optional Header structure are defined as DWORD in the 32-bit version and as ULONGLONG in the 64-bit version:</a:t>
            </a:r>
          </a:p>
          <a:p>
            <a:pPr lvl="1">
              <a:buFont typeface="Wingdings" panose="05000000000000000000" pitchFamily="2" charset="2"/>
              <a:buChar char="§"/>
            </a:pPr>
            <a:r>
              <a:rPr lang="en-IN" sz="3200" b="1" dirty="0" err="1"/>
              <a:t>ImageBase</a:t>
            </a:r>
            <a:endParaRPr lang="en-IN" sz="3200" dirty="0"/>
          </a:p>
          <a:p>
            <a:pPr lvl="1">
              <a:buFont typeface="Wingdings" panose="05000000000000000000" pitchFamily="2" charset="2"/>
              <a:buChar char="§"/>
            </a:pPr>
            <a:r>
              <a:rPr lang="en-IN" sz="3200" b="1" dirty="0" err="1"/>
              <a:t>SizeOfStackReserve</a:t>
            </a:r>
            <a:endParaRPr lang="en-IN" sz="3200" dirty="0"/>
          </a:p>
          <a:p>
            <a:pPr lvl="1">
              <a:buFont typeface="Wingdings" panose="05000000000000000000" pitchFamily="2" charset="2"/>
              <a:buChar char="§"/>
            </a:pPr>
            <a:r>
              <a:rPr lang="en-IN" sz="3200" b="1" dirty="0" err="1"/>
              <a:t>SizeOfStackCommit</a:t>
            </a:r>
            <a:endParaRPr lang="en-IN" sz="3200" dirty="0"/>
          </a:p>
          <a:p>
            <a:pPr lvl="1">
              <a:buFont typeface="Wingdings" panose="05000000000000000000" pitchFamily="2" charset="2"/>
              <a:buChar char="§"/>
            </a:pPr>
            <a:r>
              <a:rPr lang="en-IN" sz="3200" b="1" dirty="0" err="1"/>
              <a:t>SizeOfHeapReserve</a:t>
            </a:r>
            <a:endParaRPr lang="en-IN" sz="3200" dirty="0"/>
          </a:p>
          <a:p>
            <a:pPr lvl="1">
              <a:buFont typeface="Wingdings" panose="05000000000000000000" pitchFamily="2" charset="2"/>
              <a:buChar char="§"/>
            </a:pPr>
            <a:r>
              <a:rPr lang="en-IN" sz="3200" b="1" dirty="0" err="1"/>
              <a:t>SizeOfHeapCommit</a:t>
            </a:r>
            <a:endParaRPr lang="en-IN" sz="3200" dirty="0"/>
          </a:p>
          <a:p>
            <a:r>
              <a:rPr lang="en-IN" dirty="0"/>
              <a:t> </a:t>
            </a:r>
          </a:p>
          <a:p>
            <a:r>
              <a:rPr lang="en-IN"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8C0C6A-A747-53F8-1282-D73B5812C27B}"/>
              </a:ext>
            </a:extLst>
          </p:cNvPr>
          <p:cNvPicPr>
            <a:picLocks noChangeAspect="1"/>
          </p:cNvPicPr>
          <p:nvPr/>
        </p:nvPicPr>
        <p:blipFill>
          <a:blip r:embed="rId2"/>
          <a:stretch>
            <a:fillRect/>
          </a:stretch>
        </p:blipFill>
        <p:spPr>
          <a:xfrm>
            <a:off x="2026507" y="134710"/>
            <a:ext cx="5113917" cy="6618257"/>
          </a:xfrm>
          <a:prstGeom prst="rect">
            <a:avLst/>
          </a:prstGeom>
        </p:spPr>
      </p:pic>
    </p:spTree>
    <p:extLst>
      <p:ext uri="{BB962C8B-B14F-4D97-AF65-F5344CB8AC3E}">
        <p14:creationId xmlns:p14="http://schemas.microsoft.com/office/powerpoint/2010/main" val="3834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C19F4-6E49-DFCE-A804-85C3B20D8552}"/>
              </a:ext>
            </a:extLst>
          </p:cNvPr>
          <p:cNvSpPr>
            <a:spLocks noGrp="1"/>
          </p:cNvSpPr>
          <p:nvPr>
            <p:ph type="title"/>
          </p:nvPr>
        </p:nvSpPr>
        <p:spPr/>
        <p:txBody>
          <a:bodyPr/>
          <a:lstStyle/>
          <a:p>
            <a:r>
              <a:rPr lang="en-IN" dirty="0"/>
              <a:t>Optional Header</a:t>
            </a:r>
          </a:p>
        </p:txBody>
      </p:sp>
      <p:sp>
        <p:nvSpPr>
          <p:cNvPr id="3" name="Content Placeholder 2">
            <a:extLst>
              <a:ext uri="{FF2B5EF4-FFF2-40B4-BE49-F238E27FC236}">
                <a16:creationId xmlns:a16="http://schemas.microsoft.com/office/drawing/2014/main" id="{BECB698E-196F-7808-DBAF-A163DC9B52DF}"/>
              </a:ext>
            </a:extLst>
          </p:cNvPr>
          <p:cNvSpPr>
            <a:spLocks noGrp="1"/>
          </p:cNvSpPr>
          <p:nvPr>
            <p:ph idx="1"/>
          </p:nvPr>
        </p:nvSpPr>
        <p:spPr>
          <a:xfrm>
            <a:off x="438665" y="1773195"/>
            <a:ext cx="8133835" cy="4763529"/>
          </a:xfrm>
        </p:spPr>
        <p:txBody>
          <a:bodyPr>
            <a:normAutofit fontScale="77500" lnSpcReduction="20000"/>
          </a:bodyPr>
          <a:lstStyle/>
          <a:p>
            <a:pPr lvl="0"/>
            <a:r>
              <a:rPr lang="en-IN" b="1" dirty="0"/>
              <a:t>Magic:</a:t>
            </a:r>
            <a:r>
              <a:rPr lang="en-IN" dirty="0"/>
              <a:t> Microsoft documentation describes this field as an integer that identifies the state of the image, the documentation mentions three common values:</a:t>
            </a:r>
          </a:p>
          <a:p>
            <a:pPr lvl="1"/>
            <a:r>
              <a:rPr lang="en-IN" b="1" dirty="0"/>
              <a:t>0x10B:</a:t>
            </a:r>
            <a:r>
              <a:rPr lang="en-IN" dirty="0"/>
              <a:t> Identifies the image as a PE32 executable.</a:t>
            </a:r>
          </a:p>
          <a:p>
            <a:pPr lvl="1"/>
            <a:r>
              <a:rPr lang="en-IN" b="1" dirty="0"/>
              <a:t>0x20B:</a:t>
            </a:r>
            <a:r>
              <a:rPr lang="en-IN" dirty="0"/>
              <a:t> Identifies the image as a PE32+ executable.</a:t>
            </a:r>
          </a:p>
          <a:p>
            <a:pPr lvl="1"/>
            <a:r>
              <a:rPr lang="en-IN" b="1" dirty="0"/>
              <a:t>0x107:</a:t>
            </a:r>
            <a:r>
              <a:rPr lang="en-IN" dirty="0"/>
              <a:t> Identifies the image as a ROM image.</a:t>
            </a:r>
          </a:p>
          <a:p>
            <a:r>
              <a:rPr lang="en-IN" dirty="0"/>
              <a:t>The value of this field is what determines whether the executable is 32-bit or 64-bit, </a:t>
            </a:r>
            <a:r>
              <a:rPr lang="en-IN" dirty="0" err="1"/>
              <a:t>IMAGE_FILE_HEADER.Machine</a:t>
            </a:r>
            <a:r>
              <a:rPr lang="en-IN" dirty="0"/>
              <a:t> is ignored by the Windows PE loader.</a:t>
            </a:r>
          </a:p>
          <a:p>
            <a:pPr lvl="0"/>
            <a:r>
              <a:rPr lang="en-IN" b="1" dirty="0" err="1"/>
              <a:t>MajorLinkerVersion</a:t>
            </a:r>
            <a:r>
              <a:rPr lang="en-IN" b="1" dirty="0"/>
              <a:t> and </a:t>
            </a:r>
            <a:r>
              <a:rPr lang="en-IN" b="1" dirty="0" err="1"/>
              <a:t>MinorLinkerVersion</a:t>
            </a:r>
            <a:r>
              <a:rPr lang="en-IN" b="1" dirty="0"/>
              <a:t>:</a:t>
            </a:r>
            <a:r>
              <a:rPr lang="en-IN" dirty="0"/>
              <a:t> The linker major and minor version numbers.</a:t>
            </a:r>
          </a:p>
          <a:p>
            <a:pPr lvl="0"/>
            <a:r>
              <a:rPr lang="en-IN" b="1" dirty="0" err="1"/>
              <a:t>SizeOfCode</a:t>
            </a:r>
            <a:r>
              <a:rPr lang="en-IN" b="1" dirty="0"/>
              <a:t>:</a:t>
            </a:r>
            <a:r>
              <a:rPr lang="en-IN" dirty="0"/>
              <a:t> This field holds the size of the code (.text) section, or the sum of all code sections if there are multiple sections.</a:t>
            </a:r>
          </a:p>
          <a:p>
            <a:pPr lvl="0"/>
            <a:r>
              <a:rPr lang="en-IN" b="1" dirty="0" err="1"/>
              <a:t>SizeOfInitializedData</a:t>
            </a:r>
            <a:r>
              <a:rPr lang="en-IN" b="1" dirty="0"/>
              <a:t>:</a:t>
            </a:r>
            <a:r>
              <a:rPr lang="en-IN" dirty="0"/>
              <a:t> This field holds the size of the initialized data (.data) section, or the sum of all initialized data sections if there are multiple sections.</a:t>
            </a:r>
          </a:p>
          <a:p>
            <a:pPr lvl="0"/>
            <a:r>
              <a:rPr lang="en-IN" b="1" dirty="0" err="1"/>
              <a:t>SizeOfUninitializedData</a:t>
            </a:r>
            <a:r>
              <a:rPr lang="en-IN" b="1" dirty="0"/>
              <a:t>:</a:t>
            </a:r>
            <a:r>
              <a:rPr lang="en-IN" dirty="0"/>
              <a:t> This field holds the size of the uninitialized data (.</a:t>
            </a:r>
            <a:r>
              <a:rPr lang="en-IN" dirty="0" err="1"/>
              <a:t>bss</a:t>
            </a:r>
            <a:r>
              <a:rPr lang="en-IN" dirty="0"/>
              <a:t>) section, or the sum of all uninitialized data sections if there are multiple sections.</a:t>
            </a:r>
          </a:p>
          <a:p>
            <a:r>
              <a:rPr lang="en-IN" dirty="0"/>
              <a:t> </a:t>
            </a:r>
          </a:p>
          <a:p>
            <a:endParaRPr lang="en-IN" dirty="0"/>
          </a:p>
        </p:txBody>
      </p:sp>
    </p:spTree>
    <p:extLst>
      <p:ext uri="{BB962C8B-B14F-4D97-AF65-F5344CB8AC3E}">
        <p14:creationId xmlns:p14="http://schemas.microsoft.com/office/powerpoint/2010/main" val="2939098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AddressOfEntryPoint</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An RVA of the entry point when the file is loaded into memory. The documentation states that for program images this relative address points to the starting address and for device drivers </a:t>
            </a:r>
          </a:p>
          <a:p>
            <a:pPr>
              <a:buFont typeface="Wingdings" panose="05000000000000000000" pitchFamily="2" charset="2"/>
              <a:buChar char="Ø"/>
            </a:pPr>
            <a:r>
              <a:rPr lang="en-US" dirty="0"/>
              <a:t>it points to initialization function. </a:t>
            </a:r>
          </a:p>
          <a:p>
            <a:pPr>
              <a:buFont typeface="Wingdings" panose="05000000000000000000" pitchFamily="2" charset="2"/>
              <a:buChar char="Ø"/>
            </a:pPr>
            <a:r>
              <a:rPr lang="en-US" dirty="0"/>
              <a:t>For DLLs an entry point is optional, and in the case of entry point absence the </a:t>
            </a:r>
            <a:r>
              <a:rPr lang="en-US" dirty="0" err="1"/>
              <a:t>AddressOfEntryPoint</a:t>
            </a:r>
            <a:r>
              <a:rPr lang="en-US" dirty="0"/>
              <a:t> field is set to 0.</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ImageBase</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Ø"/>
            </a:pPr>
            <a:r>
              <a:rPr lang="en-IN" dirty="0"/>
              <a:t>This field holds the preferred address of the first byte of image when loaded into memory (the preferred base address), this value must be a multiple of 64K. </a:t>
            </a:r>
          </a:p>
          <a:p>
            <a:pPr>
              <a:buFont typeface="Wingdings" panose="05000000000000000000" pitchFamily="2" charset="2"/>
              <a:buChar char="Ø"/>
            </a:pPr>
            <a:r>
              <a:rPr lang="en-IN" dirty="0"/>
              <a:t>Due to memory protections like ASLR, and a lot of other reasons, the address specified by this field is almost never used, in this case the PE loader chooses an unused memory range to load the image into, after loading the image into that address the loader goes into a process called the relocating where it fixes the constant addresses within the image to work with the new image base, there’s a special section that holds information about places that will need fixing if relocation is needed, that section is called the relocation section (.</a:t>
            </a:r>
            <a:r>
              <a:rPr lang="en-IN" dirty="0" err="1"/>
              <a:t>reloc</a:t>
            </a:r>
            <a:r>
              <a:rPr lang="en-IN" dirty="0"/>
              <a:t>)</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206" y="183779"/>
            <a:ext cx="8079581" cy="1658198"/>
          </a:xfrm>
        </p:spPr>
        <p:txBody>
          <a:bodyPr/>
          <a:lstStyle/>
          <a:p>
            <a:r>
              <a:rPr dirty="0"/>
              <a:t>Section Table</a:t>
            </a:r>
          </a:p>
        </p:txBody>
      </p:sp>
      <p:pic>
        <p:nvPicPr>
          <p:cNvPr id="5" name="Content Placeholder 4">
            <a:extLst>
              <a:ext uri="{FF2B5EF4-FFF2-40B4-BE49-F238E27FC236}">
                <a16:creationId xmlns:a16="http://schemas.microsoft.com/office/drawing/2014/main" id="{4E42A115-7A79-ECA1-D5B1-AD1E4CFB4987}"/>
              </a:ext>
            </a:extLst>
          </p:cNvPr>
          <p:cNvPicPr>
            <a:picLocks noGrp="1" noChangeAspect="1"/>
          </p:cNvPicPr>
          <p:nvPr>
            <p:ph idx="1"/>
          </p:nvPr>
        </p:nvPicPr>
        <p:blipFill>
          <a:blip r:embed="rId2"/>
          <a:stretch>
            <a:fillRect/>
          </a:stretch>
        </p:blipFill>
        <p:spPr>
          <a:xfrm>
            <a:off x="440754" y="1293799"/>
            <a:ext cx="8146033" cy="548451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Section Flags</a:t>
            </a:r>
          </a:p>
        </p:txBody>
      </p:sp>
      <p:sp>
        <p:nvSpPr>
          <p:cNvPr id="3" name="Content Placeholder 2"/>
          <p:cNvSpPr>
            <a:spLocks noGrp="1"/>
          </p:cNvSpPr>
          <p:nvPr>
            <p:ph idx="1"/>
          </p:nvPr>
        </p:nvSpPr>
        <p:spPr/>
        <p:txBody>
          <a:bodyPr/>
          <a:lstStyle/>
          <a:p>
            <a:r>
              <a:rPr dirty="0"/>
              <a:t>Read, Write, Execute</a:t>
            </a:r>
            <a:endParaRPr lang="en-IN" dirty="0"/>
          </a:p>
          <a:p>
            <a:endParaRPr dirty="0"/>
          </a:p>
        </p:txBody>
      </p:sp>
      <p:graphicFrame>
        <p:nvGraphicFramePr>
          <p:cNvPr id="4" name="Table 3">
            <a:extLst>
              <a:ext uri="{FF2B5EF4-FFF2-40B4-BE49-F238E27FC236}">
                <a16:creationId xmlns:a16="http://schemas.microsoft.com/office/drawing/2014/main" id="{98F490E7-E12F-85E4-F640-91324B9C4CD6}"/>
              </a:ext>
            </a:extLst>
          </p:cNvPr>
          <p:cNvGraphicFramePr>
            <a:graphicFrameLocks noGrp="1"/>
          </p:cNvGraphicFramePr>
          <p:nvPr>
            <p:extLst>
              <p:ext uri="{D42A27DB-BD31-4B8C-83A1-F6EECF244321}">
                <p14:modId xmlns:p14="http://schemas.microsoft.com/office/powerpoint/2010/main" val="3371906822"/>
              </p:ext>
            </p:extLst>
          </p:nvPr>
        </p:nvGraphicFramePr>
        <p:xfrm>
          <a:off x="506412" y="2870835"/>
          <a:ext cx="8130381" cy="2155076"/>
        </p:xfrm>
        <a:graphic>
          <a:graphicData uri="http://schemas.openxmlformats.org/drawingml/2006/table">
            <a:tbl>
              <a:tblPr/>
              <a:tblGrid>
                <a:gridCol w="3105139">
                  <a:extLst>
                    <a:ext uri="{9D8B030D-6E8A-4147-A177-3AD203B41FA5}">
                      <a16:colId xmlns:a16="http://schemas.microsoft.com/office/drawing/2014/main" val="1429055881"/>
                    </a:ext>
                  </a:extLst>
                </a:gridCol>
                <a:gridCol w="2315115">
                  <a:extLst>
                    <a:ext uri="{9D8B030D-6E8A-4147-A177-3AD203B41FA5}">
                      <a16:colId xmlns:a16="http://schemas.microsoft.com/office/drawing/2014/main" val="440882269"/>
                    </a:ext>
                  </a:extLst>
                </a:gridCol>
                <a:gridCol w="2710127">
                  <a:extLst>
                    <a:ext uri="{9D8B030D-6E8A-4147-A177-3AD203B41FA5}">
                      <a16:colId xmlns:a16="http://schemas.microsoft.com/office/drawing/2014/main" val="2090826758"/>
                    </a:ext>
                  </a:extLst>
                </a:gridCol>
              </a:tblGrid>
              <a:tr h="391832">
                <a:tc>
                  <a:txBody>
                    <a:bodyPr/>
                    <a:lstStyle/>
                    <a:p>
                      <a:pPr>
                        <a:buNone/>
                      </a:pPr>
                      <a:r>
                        <a:rPr lang="en-IN" sz="1800"/>
                        <a:t>Flag</a:t>
                      </a:r>
                    </a:p>
                  </a:txBody>
                  <a:tcPr anchor="ctr">
                    <a:lnL>
                      <a:noFill/>
                    </a:lnL>
                    <a:lnR>
                      <a:noFill/>
                    </a:lnR>
                    <a:lnT>
                      <a:noFill/>
                    </a:lnT>
                    <a:lnB>
                      <a:noFill/>
                    </a:lnB>
                    <a:noFill/>
                  </a:tcPr>
                </a:tc>
                <a:tc>
                  <a:txBody>
                    <a:bodyPr/>
                    <a:lstStyle/>
                    <a:p>
                      <a:pPr>
                        <a:buNone/>
                      </a:pPr>
                      <a:r>
                        <a:rPr lang="en-IN" sz="1800"/>
                        <a:t>Hex</a:t>
                      </a:r>
                    </a:p>
                  </a:txBody>
                  <a:tcPr anchor="ctr">
                    <a:lnL>
                      <a:noFill/>
                    </a:lnL>
                    <a:lnR>
                      <a:noFill/>
                    </a:lnR>
                    <a:lnT>
                      <a:noFill/>
                    </a:lnT>
                    <a:lnB>
                      <a:noFill/>
                    </a:lnB>
                    <a:noFill/>
                  </a:tcPr>
                </a:tc>
                <a:tc>
                  <a:txBody>
                    <a:bodyPr/>
                    <a:lstStyle/>
                    <a:p>
                      <a:pPr>
                        <a:buNone/>
                      </a:pPr>
                      <a:r>
                        <a:rPr lang="en-IN" sz="1800"/>
                        <a:t>Meaning</a:t>
                      </a:r>
                    </a:p>
                  </a:txBody>
                  <a:tcPr anchor="ctr">
                    <a:lnL>
                      <a:noFill/>
                    </a:lnL>
                    <a:lnR>
                      <a:noFill/>
                    </a:lnR>
                    <a:lnT>
                      <a:noFill/>
                    </a:lnT>
                    <a:lnB>
                      <a:noFill/>
                    </a:lnB>
                    <a:noFill/>
                  </a:tcPr>
                </a:tc>
                <a:extLst>
                  <a:ext uri="{0D108BD9-81ED-4DB2-BD59-A6C34878D82A}">
                    <a16:rowId xmlns:a16="http://schemas.microsoft.com/office/drawing/2014/main" val="2306773096"/>
                  </a:ext>
                </a:extLst>
              </a:tr>
              <a:tr h="685706">
                <a:tc>
                  <a:txBody>
                    <a:bodyPr/>
                    <a:lstStyle/>
                    <a:p>
                      <a:pPr>
                        <a:buNone/>
                      </a:pPr>
                      <a:r>
                        <a:rPr lang="en-IN" sz="1800">
                          <a:latin typeface="Courier New" panose="02070309020205020404" pitchFamily="49" charset="0"/>
                        </a:rPr>
                        <a:t>IMAGE_SCN_MEM_EXECUTE</a:t>
                      </a:r>
                      <a:endParaRPr lang="en-IN" sz="1800"/>
                    </a:p>
                  </a:txBody>
                  <a:tcPr anchor="ctr">
                    <a:lnL>
                      <a:noFill/>
                    </a:lnL>
                    <a:lnR>
                      <a:noFill/>
                    </a:lnR>
                    <a:lnT>
                      <a:noFill/>
                    </a:lnT>
                    <a:lnB>
                      <a:noFill/>
                    </a:lnB>
                    <a:noFill/>
                  </a:tcPr>
                </a:tc>
                <a:tc>
                  <a:txBody>
                    <a:bodyPr/>
                    <a:lstStyle/>
                    <a:p>
                      <a:pPr>
                        <a:buNone/>
                      </a:pPr>
                      <a:r>
                        <a:rPr lang="en-IN" sz="1800">
                          <a:latin typeface="Courier New" panose="02070309020205020404" pitchFamily="49" charset="0"/>
                        </a:rPr>
                        <a:t>0x20000000</a:t>
                      </a:r>
                      <a:endParaRPr lang="en-IN" sz="1800"/>
                    </a:p>
                  </a:txBody>
                  <a:tcPr anchor="ctr">
                    <a:lnL>
                      <a:noFill/>
                    </a:lnL>
                    <a:lnR>
                      <a:noFill/>
                    </a:lnR>
                    <a:lnT>
                      <a:noFill/>
                    </a:lnT>
                    <a:lnB>
                      <a:noFill/>
                    </a:lnB>
                    <a:noFill/>
                  </a:tcPr>
                </a:tc>
                <a:tc>
                  <a:txBody>
                    <a:bodyPr/>
                    <a:lstStyle/>
                    <a:p>
                      <a:pPr>
                        <a:buNone/>
                      </a:pPr>
                      <a:r>
                        <a:rPr lang="en-IN" sz="1800"/>
                        <a:t>Section can be executed</a:t>
                      </a:r>
                    </a:p>
                  </a:txBody>
                  <a:tcPr anchor="ctr">
                    <a:lnL>
                      <a:noFill/>
                    </a:lnL>
                    <a:lnR>
                      <a:noFill/>
                    </a:lnR>
                    <a:lnT>
                      <a:noFill/>
                    </a:lnT>
                    <a:lnB>
                      <a:noFill/>
                    </a:lnB>
                    <a:noFill/>
                  </a:tcPr>
                </a:tc>
                <a:extLst>
                  <a:ext uri="{0D108BD9-81ED-4DB2-BD59-A6C34878D82A}">
                    <a16:rowId xmlns:a16="http://schemas.microsoft.com/office/drawing/2014/main" val="650861213"/>
                  </a:ext>
                </a:extLst>
              </a:tr>
              <a:tr h="391832">
                <a:tc>
                  <a:txBody>
                    <a:bodyPr/>
                    <a:lstStyle/>
                    <a:p>
                      <a:pPr>
                        <a:buNone/>
                      </a:pPr>
                      <a:r>
                        <a:rPr lang="en-IN" sz="1800">
                          <a:latin typeface="Courier New" panose="02070309020205020404" pitchFamily="49" charset="0"/>
                        </a:rPr>
                        <a:t>IMAGE_SCN_MEM_READ</a:t>
                      </a:r>
                      <a:endParaRPr lang="en-IN" sz="1800"/>
                    </a:p>
                  </a:txBody>
                  <a:tcPr anchor="ctr">
                    <a:lnL>
                      <a:noFill/>
                    </a:lnL>
                    <a:lnR>
                      <a:noFill/>
                    </a:lnR>
                    <a:lnT>
                      <a:noFill/>
                    </a:lnT>
                    <a:lnB>
                      <a:noFill/>
                    </a:lnB>
                    <a:noFill/>
                  </a:tcPr>
                </a:tc>
                <a:tc>
                  <a:txBody>
                    <a:bodyPr/>
                    <a:lstStyle/>
                    <a:p>
                      <a:pPr>
                        <a:buNone/>
                      </a:pPr>
                      <a:r>
                        <a:rPr lang="en-IN" sz="1800">
                          <a:latin typeface="Courier New" panose="02070309020205020404" pitchFamily="49" charset="0"/>
                        </a:rPr>
                        <a:t>0x40000000</a:t>
                      </a:r>
                      <a:endParaRPr lang="en-IN" sz="1800"/>
                    </a:p>
                  </a:txBody>
                  <a:tcPr anchor="ctr">
                    <a:lnL>
                      <a:noFill/>
                    </a:lnL>
                    <a:lnR>
                      <a:noFill/>
                    </a:lnR>
                    <a:lnT>
                      <a:noFill/>
                    </a:lnT>
                    <a:lnB>
                      <a:noFill/>
                    </a:lnB>
                    <a:noFill/>
                  </a:tcPr>
                </a:tc>
                <a:tc>
                  <a:txBody>
                    <a:bodyPr/>
                    <a:lstStyle/>
                    <a:p>
                      <a:pPr>
                        <a:buNone/>
                      </a:pPr>
                      <a:r>
                        <a:rPr lang="en-IN" sz="1800"/>
                        <a:t>Section can be read</a:t>
                      </a:r>
                    </a:p>
                  </a:txBody>
                  <a:tcPr anchor="ctr">
                    <a:lnL>
                      <a:noFill/>
                    </a:lnL>
                    <a:lnR>
                      <a:noFill/>
                    </a:lnR>
                    <a:lnT>
                      <a:noFill/>
                    </a:lnT>
                    <a:lnB>
                      <a:noFill/>
                    </a:lnB>
                    <a:noFill/>
                  </a:tcPr>
                </a:tc>
                <a:extLst>
                  <a:ext uri="{0D108BD9-81ED-4DB2-BD59-A6C34878D82A}">
                    <a16:rowId xmlns:a16="http://schemas.microsoft.com/office/drawing/2014/main" val="2796666614"/>
                  </a:ext>
                </a:extLst>
              </a:tr>
              <a:tr h="685706">
                <a:tc>
                  <a:txBody>
                    <a:bodyPr/>
                    <a:lstStyle/>
                    <a:p>
                      <a:pPr>
                        <a:buNone/>
                      </a:pPr>
                      <a:r>
                        <a:rPr lang="en-IN" sz="1800">
                          <a:latin typeface="Courier New" panose="02070309020205020404" pitchFamily="49" charset="0"/>
                        </a:rPr>
                        <a:t>IMAGE_SCN_MEM_WRITE</a:t>
                      </a:r>
                      <a:endParaRPr lang="en-IN" sz="1800"/>
                    </a:p>
                  </a:txBody>
                  <a:tcPr anchor="ctr">
                    <a:lnL>
                      <a:noFill/>
                    </a:lnL>
                    <a:lnR>
                      <a:noFill/>
                    </a:lnR>
                    <a:lnT>
                      <a:noFill/>
                    </a:lnT>
                    <a:lnB>
                      <a:noFill/>
                    </a:lnB>
                    <a:noFill/>
                  </a:tcPr>
                </a:tc>
                <a:tc>
                  <a:txBody>
                    <a:bodyPr/>
                    <a:lstStyle/>
                    <a:p>
                      <a:pPr>
                        <a:buNone/>
                      </a:pPr>
                      <a:r>
                        <a:rPr lang="en-IN" sz="1800">
                          <a:latin typeface="Courier New" panose="02070309020205020404" pitchFamily="49" charset="0"/>
                        </a:rPr>
                        <a:t>0x80000000</a:t>
                      </a:r>
                      <a:endParaRPr lang="en-IN" sz="1800"/>
                    </a:p>
                  </a:txBody>
                  <a:tcPr anchor="ctr">
                    <a:lnL>
                      <a:noFill/>
                    </a:lnL>
                    <a:lnR>
                      <a:noFill/>
                    </a:lnR>
                    <a:lnT>
                      <a:noFill/>
                    </a:lnT>
                    <a:lnB>
                      <a:noFill/>
                    </a:lnB>
                    <a:noFill/>
                  </a:tcPr>
                </a:tc>
                <a:tc>
                  <a:txBody>
                    <a:bodyPr/>
                    <a:lstStyle/>
                    <a:p>
                      <a:pPr>
                        <a:buNone/>
                      </a:pPr>
                      <a:r>
                        <a:rPr lang="en-IN" sz="1800" dirty="0"/>
                        <a:t>Section can be written</a:t>
                      </a:r>
                    </a:p>
                  </a:txBody>
                  <a:tcPr anchor="ctr">
                    <a:lnL>
                      <a:noFill/>
                    </a:lnL>
                    <a:lnR>
                      <a:noFill/>
                    </a:lnR>
                    <a:lnT>
                      <a:noFill/>
                    </a:lnT>
                    <a:lnB>
                      <a:noFill/>
                    </a:lnB>
                    <a:noFill/>
                  </a:tcPr>
                </a:tc>
                <a:extLst>
                  <a:ext uri="{0D108BD9-81ED-4DB2-BD59-A6C34878D82A}">
                    <a16:rowId xmlns:a16="http://schemas.microsoft.com/office/drawing/2014/main" val="468039639"/>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Red Flags for Malware</a:t>
            </a:r>
            <a:endParaRPr dirty="0"/>
          </a:p>
        </p:txBody>
      </p:sp>
      <p:sp>
        <p:nvSpPr>
          <p:cNvPr id="3" name="Content Placeholder 2"/>
          <p:cNvSpPr>
            <a:spLocks noGrp="1"/>
          </p:cNvSpPr>
          <p:nvPr>
            <p:ph idx="1"/>
          </p:nvPr>
        </p:nvSpPr>
        <p:spPr/>
        <p:txBody>
          <a:bodyPr/>
          <a:lstStyle/>
          <a:p>
            <a:pPr>
              <a:buFont typeface="Wingdings" panose="05000000000000000000" pitchFamily="2" charset="2"/>
              <a:buChar char="Ø"/>
            </a:pPr>
            <a:r>
              <a:rPr dirty="0"/>
              <a:t>Fake names</a:t>
            </a:r>
          </a:p>
          <a:p>
            <a:pPr>
              <a:buFont typeface="Wingdings" panose="05000000000000000000" pitchFamily="2" charset="2"/>
              <a:buChar char="Ø"/>
            </a:pPr>
            <a:r>
              <a:rPr dirty="0"/>
              <a:t>Extra sections</a:t>
            </a:r>
            <a:endParaRPr lang="en-IN" dirty="0"/>
          </a:p>
          <a:p>
            <a:pPr>
              <a:buFont typeface="Wingdings" panose="05000000000000000000" pitchFamily="2" charset="2"/>
              <a:buChar char="Ø"/>
            </a:pPr>
            <a:r>
              <a:rPr lang="en-IN" dirty="0"/>
              <a:t>Oversized sections</a:t>
            </a:r>
          </a:p>
          <a:p>
            <a:pPr>
              <a:buFont typeface="Wingdings" panose="05000000000000000000" pitchFamily="2" charset="2"/>
              <a:buChar char="Ø"/>
            </a:pPr>
            <a:r>
              <a:rPr lang="en-IN" dirty="0"/>
              <a:t>Entropy Analysis can show packed malware</a:t>
            </a:r>
          </a:p>
          <a:p>
            <a:pPr>
              <a:buFont typeface="Wingdings" panose="05000000000000000000" pitchFamily="2" charset="2"/>
              <a:buChar char="Ø"/>
            </a:pPr>
            <a:r>
              <a:rPr lang="en-IN" dirty="0"/>
              <a:t>Unusual section names can be indicators of obfuscation</a:t>
            </a:r>
          </a:p>
          <a:p>
            <a:pPr>
              <a:buFont typeface="Wingdings" panose="05000000000000000000" pitchFamily="2" charset="2"/>
              <a:buChar char="Ø"/>
            </a:pPr>
            <a:r>
              <a:rPr lang="en-IN" dirty="0"/>
              <a:t>Import Table Analysis can API behaviour clues</a:t>
            </a:r>
          </a:p>
          <a:p>
            <a:pPr>
              <a:buFont typeface="Wingdings" panose="05000000000000000000" pitchFamily="2" charset="2"/>
              <a:buChar char="Ø"/>
            </a:pPr>
            <a:r>
              <a:rPr lang="en-IN" dirty="0"/>
              <a:t>Export Table Analysis can show DLL backdoors</a:t>
            </a:r>
          </a:p>
          <a:p>
            <a:pPr>
              <a:buFont typeface="Wingdings" panose="05000000000000000000" pitchFamily="2" charset="2"/>
              <a:buChar char="Ø"/>
            </a:pPr>
            <a:r>
              <a:rPr lang="en-IN" dirty="0"/>
              <a:t>Timestamp Analysis can show fake compilation time</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PEview</a:t>
            </a:r>
          </a:p>
        </p:txBody>
      </p:sp>
      <p:sp>
        <p:nvSpPr>
          <p:cNvPr id="3" name="Content Placeholder 2"/>
          <p:cNvSpPr>
            <a:spLocks noGrp="1"/>
          </p:cNvSpPr>
          <p:nvPr>
            <p:ph idx="1"/>
          </p:nvPr>
        </p:nvSpPr>
        <p:spPr/>
        <p:txBody>
          <a:bodyPr>
            <a:normAutofit/>
          </a:bodyPr>
          <a:lstStyle/>
          <a:p>
            <a:pPr marL="0" indent="0">
              <a:buNone/>
            </a:pPr>
            <a:r>
              <a:rPr lang="en-IN" sz="2800" dirty="0" err="1"/>
              <a:t>PEView</a:t>
            </a:r>
            <a:r>
              <a:rPr lang="en-IN" sz="2800" dirty="0"/>
              <a:t> is a lightweight tool that allows you to explore the structure of a PE file in detail. It breaks down headers, sections, imports, and exports in a clean and readable format. While it doesn’t analyse the file’s behaviour, it’s excellent for understanding the internal organization of an executable and identifying unusual modifications.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PEStudio</a:t>
            </a:r>
          </a:p>
        </p:txBody>
      </p:sp>
      <p:sp>
        <p:nvSpPr>
          <p:cNvPr id="3" name="Content Placeholder 2"/>
          <p:cNvSpPr>
            <a:spLocks noGrp="1"/>
          </p:cNvSpPr>
          <p:nvPr>
            <p:ph idx="1"/>
          </p:nvPr>
        </p:nvSpPr>
        <p:spPr/>
        <p:txBody>
          <a:bodyPr/>
          <a:lstStyle/>
          <a:p>
            <a:pPr marL="0" indent="0">
              <a:buNone/>
            </a:pPr>
            <a:r>
              <a:rPr lang="en-IN" dirty="0" err="1"/>
              <a:t>PEStudio</a:t>
            </a:r>
            <a:r>
              <a:rPr lang="en-IN" dirty="0"/>
              <a:t> is a powerful static analysis tool that quickly scans Portable Executable (PE) files for suspicious indicators. It highlights metadata like imported libraries, strings, sections, and resources, and flags anomalies such as blacklisted functions, unsigned files, or unusual entropy levels. It’s often used as a first step to determine whether a file warrants deeper analysis.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DIE</a:t>
            </a:r>
          </a:p>
        </p:txBody>
      </p:sp>
      <p:sp>
        <p:nvSpPr>
          <p:cNvPr id="3" name="Content Placeholder 2"/>
          <p:cNvSpPr>
            <a:spLocks noGrp="1"/>
          </p:cNvSpPr>
          <p:nvPr>
            <p:ph idx="1"/>
          </p:nvPr>
        </p:nvSpPr>
        <p:spPr/>
        <p:txBody>
          <a:bodyPr/>
          <a:lstStyle/>
          <a:p>
            <a:pPr marL="0" indent="0">
              <a:buNone/>
            </a:pPr>
            <a:r>
              <a:rPr lang="en-IN" dirty="0"/>
              <a:t>DIE, short for “Detect It Easy,” is a versatile tool that identifies packers, </a:t>
            </a:r>
            <a:r>
              <a:rPr lang="en-IN" dirty="0" err="1"/>
              <a:t>cryptors</a:t>
            </a:r>
            <a:r>
              <a:rPr lang="en-IN" dirty="0"/>
              <a:t>, and compilers within PE files. It supports multiple file formats and provides detailed signatures and entropy information to help analysts determine if a file has been packed or obfuscated. Its straightforward interface and flexibility make it a great alternative to older tools like </a:t>
            </a:r>
            <a:r>
              <a:rPr lang="en-IN" dirty="0" err="1"/>
              <a:t>PEiD</a:t>
            </a:r>
            <a:r>
              <a:rPr lang="en-IN"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7D57A-74E3-D404-ADCA-A23BFF847C1A}"/>
              </a:ext>
            </a:extLst>
          </p:cNvPr>
          <p:cNvSpPr>
            <a:spLocks noGrp="1"/>
          </p:cNvSpPr>
          <p:nvPr>
            <p:ph type="title"/>
          </p:nvPr>
        </p:nvSpPr>
        <p:spPr/>
        <p:txBody>
          <a:bodyPr/>
          <a:lstStyle/>
          <a:p>
            <a:r>
              <a:rPr lang="en-IN" dirty="0"/>
              <a:t>Tools</a:t>
            </a:r>
          </a:p>
        </p:txBody>
      </p:sp>
      <p:sp>
        <p:nvSpPr>
          <p:cNvPr id="3" name="TextBox 2">
            <a:extLst>
              <a:ext uri="{FF2B5EF4-FFF2-40B4-BE49-F238E27FC236}">
                <a16:creationId xmlns:a16="http://schemas.microsoft.com/office/drawing/2014/main" id="{C223DE1C-B203-D146-41C0-4A1E2A423D40}"/>
              </a:ext>
            </a:extLst>
          </p:cNvPr>
          <p:cNvSpPr txBox="1"/>
          <p:nvPr/>
        </p:nvSpPr>
        <p:spPr>
          <a:xfrm>
            <a:off x="361813" y="2065623"/>
            <a:ext cx="8361168" cy="1815882"/>
          </a:xfrm>
          <a:prstGeom prst="rect">
            <a:avLst/>
          </a:prstGeom>
          <a:noFill/>
        </p:spPr>
        <p:txBody>
          <a:bodyPr wrap="square" rtlCol="0">
            <a:spAutoFit/>
          </a:bodyPr>
          <a:lstStyle/>
          <a:p>
            <a:pPr marL="457200" indent="-457200">
              <a:buFont typeface="Wingdings" panose="05000000000000000000" pitchFamily="2" charset="2"/>
              <a:buChar char="Ø"/>
            </a:pPr>
            <a:r>
              <a:rPr lang="en-IN" sz="2800" dirty="0"/>
              <a:t>The above mentioned tools are just some of the tools. </a:t>
            </a:r>
          </a:p>
          <a:p>
            <a:pPr marL="457200" indent="-457200">
              <a:buFont typeface="Wingdings" panose="05000000000000000000" pitchFamily="2" charset="2"/>
              <a:buChar char="Ø"/>
            </a:pPr>
            <a:endParaRPr lang="en-IN" sz="2800" dirty="0"/>
          </a:p>
          <a:p>
            <a:pPr marL="457200" indent="-457200">
              <a:buFont typeface="Wingdings" panose="05000000000000000000" pitchFamily="2" charset="2"/>
              <a:buChar char="Ø"/>
            </a:pPr>
            <a:r>
              <a:rPr lang="en-IN" sz="2800" dirty="0"/>
              <a:t>There are many similar tools besides disassemblers, debuggers, etc.</a:t>
            </a:r>
          </a:p>
        </p:txBody>
      </p:sp>
    </p:spTree>
    <p:extLst>
      <p:ext uri="{BB962C8B-B14F-4D97-AF65-F5344CB8AC3E}">
        <p14:creationId xmlns:p14="http://schemas.microsoft.com/office/powerpoint/2010/main" val="11172968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F01F3-CD7B-9847-B78F-A6351BA9A39E}"/>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22EEEF6D-0C46-54FE-FEE2-DABD6EC2ECB5}"/>
              </a:ext>
            </a:extLst>
          </p:cNvPr>
          <p:cNvSpPr>
            <a:spLocks noGrp="1"/>
          </p:cNvSpPr>
          <p:nvPr>
            <p:ph idx="1"/>
          </p:nvPr>
        </p:nvSpPr>
        <p:spPr>
          <a:xfrm>
            <a:off x="210064" y="1993393"/>
            <a:ext cx="8705335" cy="4215877"/>
          </a:xfrm>
        </p:spPr>
        <p:txBody>
          <a:bodyPr/>
          <a:lstStyle/>
          <a:p>
            <a:pPr marL="457200" indent="-457200">
              <a:buFont typeface="+mj-lt"/>
              <a:buAutoNum type="arabicPeriod"/>
            </a:pPr>
            <a:r>
              <a:rPr lang="en-IN" dirty="0">
                <a:hlinkClick r:id="rId2"/>
              </a:rPr>
              <a:t>https://github.com/corkami/pics/blob/master/binary/PE101.png</a:t>
            </a:r>
            <a:endParaRPr lang="en-IN" dirty="0"/>
          </a:p>
          <a:p>
            <a:pPr marL="457200" indent="-457200">
              <a:buFont typeface="+mj-lt"/>
              <a:buAutoNum type="arabicPeriod"/>
            </a:pPr>
            <a:r>
              <a:rPr lang="en-IN" dirty="0">
                <a:hlinkClick r:id="rId3"/>
              </a:rPr>
              <a:t>https://www.curlybrace.com/archive/PE%20File%20Structure.pdf</a:t>
            </a:r>
            <a:endParaRPr lang="en-IN" dirty="0"/>
          </a:p>
          <a:p>
            <a:pPr marL="457200" indent="-457200">
              <a:buFont typeface="+mj-lt"/>
              <a:buAutoNum type="arabicPeriod"/>
            </a:pPr>
            <a:r>
              <a:rPr lang="en-IN" dirty="0">
                <a:hlinkClick r:id="rId4"/>
              </a:rPr>
              <a:t>https://elhacker.info/manuales/PE/pecoff_v8.pdf</a:t>
            </a:r>
            <a:endParaRPr lang="en-IN" dirty="0"/>
          </a:p>
          <a:p>
            <a:pPr marL="457200" indent="-457200">
              <a:buFont typeface="+mj-lt"/>
              <a:buAutoNum type="arabicPeriod"/>
            </a:pPr>
            <a:r>
              <a:rPr lang="en-IN" dirty="0">
                <a:hlinkClick r:id="rId5"/>
              </a:rPr>
              <a:t>https://astra-labs.co/posts/PE-Header-Funamentals-The-First-Step-in-Malware-Analysis/</a:t>
            </a:r>
            <a:endParaRPr lang="en-IN" dirty="0"/>
          </a:p>
          <a:p>
            <a:pPr marL="457200" indent="-457200">
              <a:buFont typeface="+mj-lt"/>
              <a:buAutoNum type="arabicPeriod"/>
            </a:pPr>
            <a:r>
              <a:rPr lang="en-IN" dirty="0">
                <a:hlinkClick r:id="rId6"/>
              </a:rPr>
              <a:t>https://0xrick.github.io/win-internals/pe3/</a:t>
            </a:r>
            <a:endParaRPr lang="en-IN" dirty="0"/>
          </a:p>
          <a:p>
            <a:pPr marL="457200" indent="-457200">
              <a:buFont typeface="+mj-lt"/>
              <a:buAutoNum type="arabicPeriod"/>
            </a:pPr>
            <a:r>
              <a:rPr lang="en-IN" dirty="0">
                <a:hlinkClick r:id="rId7"/>
              </a:rPr>
              <a:t>https://www.cse.tkk.fi/fi/opinnot/T-110.6220/2011_Spring_Malware_Analysis_and_Antivirus_Technologies/luennot-files/Reverse%20Engineering%20III.PDF</a:t>
            </a:r>
            <a:endParaRPr lang="en-IN" dirty="0"/>
          </a:p>
          <a:p>
            <a:pPr marL="457200" indent="-457200">
              <a:buFont typeface="+mj-lt"/>
              <a:buAutoNum type="arabicPeriod"/>
            </a:pPr>
            <a:endParaRPr lang="en-IN" dirty="0"/>
          </a:p>
        </p:txBody>
      </p:sp>
    </p:spTree>
    <p:extLst>
      <p:ext uri="{BB962C8B-B14F-4D97-AF65-F5344CB8AC3E}">
        <p14:creationId xmlns:p14="http://schemas.microsoft.com/office/powerpoint/2010/main" val="2263805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1914" y="2643431"/>
            <a:ext cx="4054366" cy="1658198"/>
          </a:xfrm>
        </p:spPr>
        <p:txBody>
          <a:bodyPr/>
          <a:lstStyle/>
          <a:p>
            <a:r>
              <a:rPr dirty="0"/>
              <a:t>Thank You</a:t>
            </a:r>
            <a:r>
              <a:rPr lang="en-IN" dirty="0"/>
              <a:t>!</a:t>
            </a:r>
            <a:endParaRPr dirty="0"/>
          </a:p>
        </p:txBody>
      </p:sp>
    </p:spTree>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TM03457491[[fn=Metropolitan]]</Template>
  <TotalTime>1702</TotalTime>
  <Words>2358</Words>
  <Application>Microsoft Office PowerPoint</Application>
  <PresentationFormat>On-screen Show (4:3)</PresentationFormat>
  <Paragraphs>147</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 Light</vt:lpstr>
      <vt:lpstr>Courier New</vt:lpstr>
      <vt:lpstr>Wingdings</vt:lpstr>
      <vt:lpstr>Metropolitan</vt:lpstr>
      <vt:lpstr>PE File Structure and Header Fundamentals</vt:lpstr>
      <vt:lpstr>Why PE Analysis?</vt:lpstr>
      <vt:lpstr>Portable Executable Format</vt:lpstr>
      <vt:lpstr>Where PE is Used</vt:lpstr>
      <vt:lpstr>What happens in pre-execution? </vt:lpstr>
      <vt:lpstr>High Level PE Structure</vt:lpstr>
      <vt:lpstr>PowerPoint Presentation</vt:lpstr>
      <vt:lpstr>PE Headers</vt:lpstr>
      <vt:lpstr>DOS Header</vt:lpstr>
      <vt:lpstr>PowerPoint Presentation</vt:lpstr>
      <vt:lpstr>PowerPoint Presentation</vt:lpstr>
      <vt:lpstr>DOS Stub</vt:lpstr>
      <vt:lpstr>Important Fields</vt:lpstr>
      <vt:lpstr>NT Headers</vt:lpstr>
      <vt:lpstr>PowerPoint Presentation</vt:lpstr>
      <vt:lpstr>PE Signature</vt:lpstr>
      <vt:lpstr>File Header</vt:lpstr>
      <vt:lpstr>File Header</vt:lpstr>
      <vt:lpstr>File Header</vt:lpstr>
      <vt:lpstr>PowerPoint Presentation</vt:lpstr>
      <vt:lpstr>Optional Header</vt:lpstr>
      <vt:lpstr>Why Optional Header Matters</vt:lpstr>
      <vt:lpstr>PowerPoint Presentation</vt:lpstr>
      <vt:lpstr>Optional Header</vt:lpstr>
      <vt:lpstr>AddressOfEntryPoint</vt:lpstr>
      <vt:lpstr>ImageBase</vt:lpstr>
      <vt:lpstr>Section Table</vt:lpstr>
      <vt:lpstr>Section Flags</vt:lpstr>
      <vt:lpstr>Red Flags for Malware</vt:lpstr>
      <vt:lpstr>Tools: PEview</vt:lpstr>
      <vt:lpstr>Tools: PEStudio</vt:lpstr>
      <vt:lpstr>Tools: DIE</vt:lpstr>
      <vt:lpstr>Tools</vt:lpstr>
      <vt:lpstr>References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Modhuparna Manna</dc:creator>
  <cp:keywords/>
  <dc:description>generated using python-pptx</dc:description>
  <cp:lastModifiedBy>Modhuparna Manna</cp:lastModifiedBy>
  <cp:revision>23</cp:revision>
  <dcterms:created xsi:type="dcterms:W3CDTF">2013-01-27T09:14:16Z</dcterms:created>
  <dcterms:modified xsi:type="dcterms:W3CDTF">2026-01-30T08:46:15Z</dcterms:modified>
  <cp:category/>
</cp:coreProperties>
</file>