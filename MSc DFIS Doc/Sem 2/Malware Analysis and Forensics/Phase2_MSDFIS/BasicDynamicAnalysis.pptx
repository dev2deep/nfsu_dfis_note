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98" r:id="rId31"/>
    <p:sldId id="299" r:id="rId32"/>
    <p:sldId id="30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>
        <p:scale>
          <a:sx n="58" d="100"/>
          <a:sy n="58" d="100"/>
        </p:scale>
        <p:origin x="984" y="2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0C45E-3353-A26A-9658-162A7F3A8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8D5EB-F2B8-6FE8-39DB-5039E9AAC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3B1D3-804C-A3DA-8A2E-75336CDA8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EEAB-DA52-4D9F-B7B8-273189D5249A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0DEB1-0C45-7A1F-C24A-2EB93ED85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79CB5-08E4-6DAB-7CBD-CE0CDDF7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F319-2CDF-4D83-83DB-B77CBF29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174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196CB-AA53-5C3E-5AE1-660A965B1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CE0EE-3EFB-AEE4-802A-03CC9F908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071DD-CFD2-CEB3-C112-5F37FF2F6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EEAB-DA52-4D9F-B7B8-273189D5249A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D9D3A-0F50-CE31-982A-22721B141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0EA5C-DBBF-6B59-2CFB-4BD7426E4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F319-2CDF-4D83-83DB-B77CBF29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91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2A95-98AA-EDAA-D075-23249DB10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3C88E-C3DE-0FD5-E1E5-D99A1A141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A2988-0F5F-3AAA-A582-B6F951CB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EEAB-DA52-4D9F-B7B8-273189D5249A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0369B-C8C2-A1AB-A1F3-83216D2C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C98C4-3811-C647-B735-1084E75E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F319-2CDF-4D83-83DB-B77CBF29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814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976A0-C949-3A36-711A-6ADFB1B1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CC842-9186-A306-43D7-820DBD86F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8E103-B64B-56AA-9F30-F88F8C78C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4795E-EB0E-B1DA-005E-63EE3A1C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EEAB-DA52-4D9F-B7B8-273189D5249A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C5703-65B1-7AA7-B48B-63D436734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67D55-1E8C-8D58-3CC1-CC13DCB0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F319-2CDF-4D83-83DB-B77CBF29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27892-140E-CCB7-BDE6-33B522234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1F9C2-AC27-7F25-424F-71241BD5D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F0E5C-2C22-2ED1-A89F-E848EBF18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4AB471-8B7B-522C-7B09-2FA36F549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418880-C863-A50A-87C3-A39488FBC8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DBEAA5-D1F0-0F6A-6751-8BA4AC3AE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EEAB-DA52-4D9F-B7B8-273189D5249A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2283A1-56AF-579D-9438-708BE1998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EE518B-8135-12F6-B012-E377ADA47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F319-2CDF-4D83-83DB-B77CBF29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5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71297-A4ED-90B6-CABA-88E91AEE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D166FE-7AE3-D866-241D-A4A41564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EEAB-DA52-4D9F-B7B8-273189D5249A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D76C7E-E3EA-0B1B-69C4-0A1F464D1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2EBF2-270F-0796-040D-DE93CC969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F319-2CDF-4D83-83DB-B77CBF29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31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F67122-3D81-81DD-A93D-1F060FC14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EEAB-DA52-4D9F-B7B8-273189D5249A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156BA3-22C0-517E-DC14-50B6266FF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2A871-448F-E65D-FF36-80AA73A28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F319-2CDF-4D83-83DB-B77CBF29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904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93588-E4BD-4043-3FB1-8CE0DDD8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FF811-47F4-FCC9-11C2-523E8D0BC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AE7FE-6C6C-77B6-9CAA-A4B78E632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2ADF4B-6145-5B89-2841-1D2870724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EEAB-DA52-4D9F-B7B8-273189D5249A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71499-2559-792F-B234-49E229E7E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72826-A07B-6203-358A-728B44B45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F319-2CDF-4D83-83DB-B77CBF29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6D653-5C20-71BA-016C-25ABB3551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DB1B75-828E-82D9-1EDB-667FBB884E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982BF-60B2-8C58-36E2-EAF8F840D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DAA4A-C14F-651C-AF99-EF141BA69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EEAB-DA52-4D9F-B7B8-273189D5249A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1D12C-7ECF-021F-FE6E-60C5DE37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5FEBA-52F6-91BD-74F5-6A1B0B865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F319-2CDF-4D83-83DB-B77CBF29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380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498C9-01EB-86B4-FCDF-6B242B1CB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86238-A54F-7559-B918-EC663A321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64FC5-2231-161C-6CF0-6B7E6CD70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EEAB-DA52-4D9F-B7B8-273189D5249A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14DEF-2942-2B47-5EBF-6F7E163A1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27451-32F5-3937-F75D-730BF275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F319-2CDF-4D83-83DB-B77CBF29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61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FA920F-3943-339B-1EF7-7F9956BE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C9159-CC13-22EA-4B60-F0C574BA1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2F087-1A62-CCF5-AD17-F64D3ACA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EEAB-DA52-4D9F-B7B8-273189D5249A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4C1C9-A546-EACA-50EC-4936444E3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CBDF3-33DD-EB63-4204-573CBC6D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F319-2CDF-4D83-83DB-B77CBF29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329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7910B0-3D18-5A8C-FE05-B51913B4F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E7420-1FF8-B654-CDA4-1E2E3297C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2D874-7C8C-2AED-AF79-B468721A3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C5EEAB-DA52-4D9F-B7B8-273189D5249A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6F1F8-E393-A6C7-BA1E-21EC42F873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C23CF-B461-D56C-2250-60E2966EB3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80F319-2CDF-4D83-83DB-B77CBF29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489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692F7-C81C-BD86-1FF9-E3B87561B9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Basic Dynamic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B0FAE-D21E-DE08-0D91-E2D77EBC1A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Dr Modhuparna Manna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89D4B267-AD0A-077B-8467-BDC4D218BAFB}"/>
              </a:ext>
            </a:extLst>
          </p:cNvPr>
          <p:cNvSpPr txBox="1"/>
          <p:nvPr/>
        </p:nvSpPr>
        <p:spPr>
          <a:xfrm>
            <a:off x="152400" y="6324600"/>
            <a:ext cx="38862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latin typeface="Trebuchet MS"/>
                <a:cs typeface="Trebuchet MS"/>
              </a:rPr>
              <a:t>Slides adapted from Sam Bowne’s lecture notes</a:t>
            </a:r>
            <a:endParaRPr sz="12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28610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964055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24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20" y="1606431"/>
            <a:ext cx="7820025" cy="41395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4965" marR="802005" indent="-342900">
              <a:lnSpc>
                <a:spcPts val="3700"/>
              </a:lnSpc>
              <a:spcBef>
                <a:spcPts val="34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Running</a:t>
            </a:r>
            <a:r>
              <a:rPr sz="3200" spc="-1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malware</a:t>
            </a:r>
            <a:r>
              <a:rPr sz="3200" spc="-165" dirty="0">
                <a:latin typeface="Trebuchet MS"/>
                <a:cs typeface="Trebuchet MS"/>
              </a:rPr>
              <a:t> </a:t>
            </a:r>
            <a:r>
              <a:rPr sz="3200" spc="-30" dirty="0">
                <a:latin typeface="Trebuchet MS"/>
                <a:cs typeface="Trebuchet MS"/>
              </a:rPr>
              <a:t>deliberately,</a:t>
            </a:r>
            <a:r>
              <a:rPr sz="3200" spc="-16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while </a:t>
            </a:r>
            <a:r>
              <a:rPr sz="3200" dirty="0">
                <a:latin typeface="Trebuchet MS"/>
                <a:cs typeface="Trebuchet MS"/>
              </a:rPr>
              <a:t>monitoring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results</a:t>
            </a:r>
            <a:endParaRPr sz="3200">
              <a:latin typeface="Trebuchet MS"/>
              <a:cs typeface="Trebuchet MS"/>
            </a:endParaRPr>
          </a:p>
          <a:p>
            <a:pPr marL="354965" indent="-342265">
              <a:spcBef>
                <a:spcPts val="525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10" dirty="0">
                <a:latin typeface="Trebuchet MS"/>
                <a:cs typeface="Trebuchet MS"/>
              </a:rPr>
              <a:t>Requires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safe</a:t>
            </a:r>
            <a:r>
              <a:rPr sz="3200" b="1" spc="-6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environment</a:t>
            </a:r>
            <a:endParaRPr sz="3200">
              <a:latin typeface="Trebuchet MS"/>
              <a:cs typeface="Trebuchet MS"/>
            </a:endParaRPr>
          </a:p>
          <a:p>
            <a:pPr marL="354965" marR="36195" indent="-342900">
              <a:lnSpc>
                <a:spcPts val="3700"/>
              </a:lnSpc>
              <a:spcBef>
                <a:spcPts val="869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Must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prevent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malware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from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spreading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to </a:t>
            </a:r>
            <a:r>
              <a:rPr sz="3200" dirty="0">
                <a:latin typeface="Trebuchet MS"/>
                <a:cs typeface="Trebuchet MS"/>
              </a:rPr>
              <a:t>production</a:t>
            </a:r>
            <a:r>
              <a:rPr sz="3200" spc="-17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machines</a:t>
            </a:r>
            <a:endParaRPr sz="3200">
              <a:latin typeface="Trebuchet MS"/>
              <a:cs typeface="Trebuchet MS"/>
            </a:endParaRPr>
          </a:p>
          <a:p>
            <a:pPr marL="354965" marR="5080" indent="-342900">
              <a:lnSpc>
                <a:spcPts val="37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Real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machines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can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be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airgapped</a:t>
            </a:r>
            <a:r>
              <a:rPr sz="3200" b="1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–</a:t>
            </a:r>
            <a:r>
              <a:rPr sz="3200" spc="-25" dirty="0">
                <a:latin typeface="Trebuchet MS"/>
                <a:cs typeface="Trebuchet MS"/>
              </a:rPr>
              <a:t>no </a:t>
            </a:r>
            <a:r>
              <a:rPr sz="3200" dirty="0">
                <a:latin typeface="Trebuchet MS"/>
                <a:cs typeface="Trebuchet MS"/>
              </a:rPr>
              <a:t>network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connection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Internet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to </a:t>
            </a:r>
            <a:r>
              <a:rPr sz="3200" dirty="0">
                <a:latin typeface="Trebuchet MS"/>
                <a:cs typeface="Trebuchet MS"/>
              </a:rPr>
              <a:t>other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machines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7862" y="285181"/>
            <a:ext cx="10176811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330450" algn="ctr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Dynamic Analysis in </a:t>
            </a:r>
            <a:br>
              <a:rPr lang="en-IN" dirty="0"/>
            </a:br>
            <a:r>
              <a:rPr dirty="0"/>
              <a:t>Real</a:t>
            </a:r>
            <a:r>
              <a:rPr spc="-275" dirty="0"/>
              <a:t> </a:t>
            </a:r>
            <a:r>
              <a:rPr spc="-10" dirty="0"/>
              <a:t>Machines</a:t>
            </a:r>
            <a:r>
              <a:rPr lang="en-IN" spc="-10" dirty="0"/>
              <a:t> vs Virtual Machines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014220" y="1530831"/>
            <a:ext cx="7820025" cy="3895297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4965" indent="-342265">
              <a:spcBef>
                <a:spcPts val="695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10" dirty="0">
                <a:latin typeface="Trebuchet MS"/>
                <a:cs typeface="Trebuchet MS"/>
              </a:rPr>
              <a:t>Disadvantages</a:t>
            </a:r>
            <a:endParaRPr sz="3200">
              <a:latin typeface="Trebuchet MS"/>
              <a:cs typeface="Trebuchet MS"/>
            </a:endParaRPr>
          </a:p>
          <a:p>
            <a:pPr marL="753745" marR="820419" lvl="1" indent="-284480">
              <a:lnSpc>
                <a:spcPts val="3200"/>
              </a:lnSpc>
              <a:spcBef>
                <a:spcPts val="760"/>
              </a:spcBef>
              <a:buFont typeface="Arial"/>
              <a:buChar char="–"/>
              <a:tabLst>
                <a:tab pos="755015" algn="l"/>
              </a:tabLst>
            </a:pPr>
            <a:r>
              <a:rPr sz="2800" dirty="0">
                <a:latin typeface="Trebuchet MS"/>
                <a:cs typeface="Trebuchet MS"/>
              </a:rPr>
              <a:t>No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Internet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connection,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so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parts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the 	</a:t>
            </a:r>
            <a:r>
              <a:rPr sz="2800" dirty="0">
                <a:latin typeface="Trebuchet MS"/>
                <a:cs typeface="Trebuchet MS"/>
              </a:rPr>
              <a:t>malware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may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not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work</a:t>
            </a:r>
            <a:endParaRPr sz="2800">
              <a:latin typeface="Trebuchet MS"/>
              <a:cs typeface="Trebuchet MS"/>
            </a:endParaRPr>
          </a:p>
          <a:p>
            <a:pPr marL="753745" marR="225425" lvl="1" indent="-284480">
              <a:lnSpc>
                <a:spcPts val="3200"/>
              </a:lnSpc>
              <a:spcBef>
                <a:spcPts val="670"/>
              </a:spcBef>
              <a:buFont typeface="Arial"/>
              <a:buChar char="–"/>
              <a:tabLst>
                <a:tab pos="755015" algn="l"/>
              </a:tabLst>
            </a:pPr>
            <a:r>
              <a:rPr sz="2800" dirty="0">
                <a:latin typeface="Trebuchet MS"/>
                <a:cs typeface="Trebuchet MS"/>
              </a:rPr>
              <a:t>Can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difficult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remove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malware,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so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re-	</a:t>
            </a:r>
            <a:r>
              <a:rPr sz="2800" dirty="0">
                <a:latin typeface="Trebuchet MS"/>
                <a:cs typeface="Trebuchet MS"/>
              </a:rPr>
              <a:t>imaging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machine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will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be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necessary</a:t>
            </a:r>
            <a:endParaRPr sz="2800">
              <a:latin typeface="Trebuchet MS"/>
              <a:cs typeface="Trebuchet MS"/>
            </a:endParaRPr>
          </a:p>
          <a:p>
            <a:pPr marL="354965" indent="-342265">
              <a:spcBef>
                <a:spcPts val="540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10" dirty="0">
                <a:latin typeface="Trebuchet MS"/>
                <a:cs typeface="Trebuchet MS"/>
              </a:rPr>
              <a:t>Advantage</a:t>
            </a:r>
            <a:endParaRPr sz="3200">
              <a:latin typeface="Trebuchet MS"/>
              <a:cs typeface="Trebuchet MS"/>
            </a:endParaRPr>
          </a:p>
          <a:p>
            <a:pPr marL="753745" marR="5080" lvl="1" indent="-284480">
              <a:lnSpc>
                <a:spcPts val="3200"/>
              </a:lnSpc>
              <a:spcBef>
                <a:spcPts val="760"/>
              </a:spcBef>
              <a:buFont typeface="Arial"/>
              <a:buChar char="–"/>
              <a:tabLst>
                <a:tab pos="755015" algn="l"/>
              </a:tabLst>
            </a:pPr>
            <a:r>
              <a:rPr sz="2800" dirty="0">
                <a:latin typeface="Trebuchet MS"/>
                <a:cs typeface="Trebuchet MS"/>
              </a:rPr>
              <a:t>Some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malware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detects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virtual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machines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and 	</a:t>
            </a:r>
            <a:r>
              <a:rPr sz="2800" dirty="0">
                <a:latin typeface="Trebuchet MS"/>
                <a:cs typeface="Trebuchet MS"/>
              </a:rPr>
              <a:t>won't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run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properly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one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023745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175" dirty="0"/>
              <a:t> </a:t>
            </a:r>
            <a:r>
              <a:rPr spc="-10" dirty="0"/>
              <a:t>Machines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526674"/>
            <a:ext cx="7816850" cy="297068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4965" indent="-342265">
              <a:spcBef>
                <a:spcPts val="72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most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common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method</a:t>
            </a:r>
            <a:endParaRPr sz="3200" dirty="0">
              <a:latin typeface="Trebuchet MS"/>
              <a:cs typeface="Trebuchet MS"/>
            </a:endParaRPr>
          </a:p>
          <a:p>
            <a:pPr marL="354965" marR="94615" indent="-342900">
              <a:lnSpc>
                <a:spcPts val="3700"/>
              </a:lnSpc>
              <a:spcBef>
                <a:spcPts val="865"/>
              </a:spcBef>
              <a:buFont typeface="Arial"/>
              <a:buChar char="•"/>
              <a:tabLst>
                <a:tab pos="354965" algn="l"/>
              </a:tabLst>
            </a:pPr>
            <a:r>
              <a:rPr lang="en-IN" sz="3200" dirty="0">
                <a:latin typeface="Trebuchet MS"/>
                <a:cs typeface="Trebuchet MS"/>
              </a:rPr>
              <a:t>P</a:t>
            </a:r>
            <a:r>
              <a:rPr sz="3200" dirty="0" err="1">
                <a:latin typeface="Trebuchet MS"/>
                <a:cs typeface="Trebuchet MS"/>
              </a:rPr>
              <a:t>rotects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host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machine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from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the </a:t>
            </a:r>
            <a:r>
              <a:rPr sz="3200" spc="-10" dirty="0">
                <a:latin typeface="Trebuchet MS"/>
                <a:cs typeface="Trebuchet MS"/>
              </a:rPr>
              <a:t>malware</a:t>
            </a:r>
            <a:endParaRPr sz="3200" dirty="0">
              <a:latin typeface="Trebuchet MS"/>
              <a:cs typeface="Trebuchet MS"/>
            </a:endParaRPr>
          </a:p>
          <a:p>
            <a:pPr marL="755015" marR="5080" indent="-285750">
              <a:lnSpc>
                <a:spcPts val="3200"/>
              </a:lnSpc>
              <a:spcBef>
                <a:spcPts val="665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Trebuchet MS"/>
                <a:cs typeface="Trebuchet MS"/>
              </a:rPr>
              <a:t>Except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for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few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very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rare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cases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malware </a:t>
            </a:r>
            <a:r>
              <a:rPr sz="2800" dirty="0">
                <a:latin typeface="Trebuchet MS"/>
                <a:cs typeface="Trebuchet MS"/>
              </a:rPr>
              <a:t>that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escape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virtual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machine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infect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1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host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59258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10" dirty="0"/>
              <a:t> </a:t>
            </a:r>
            <a:r>
              <a:rPr spc="-10" dirty="0"/>
              <a:t>VMware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20" y="1606431"/>
            <a:ext cx="8057515" cy="204414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4965" marR="5080" indent="-342900">
              <a:lnSpc>
                <a:spcPts val="3700"/>
              </a:lnSpc>
              <a:spcBef>
                <a:spcPts val="340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85" dirty="0">
                <a:latin typeface="Trebuchet MS"/>
                <a:cs typeface="Trebuchet MS"/>
              </a:rPr>
              <a:t>You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can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disable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networking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by </a:t>
            </a:r>
            <a:r>
              <a:rPr sz="3200" dirty="0">
                <a:latin typeface="Trebuchet MS"/>
                <a:cs typeface="Trebuchet MS"/>
              </a:rPr>
              <a:t>disconnecting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virtual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network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adapter</a:t>
            </a:r>
            <a:endParaRPr sz="3200">
              <a:latin typeface="Trebuchet MS"/>
              <a:cs typeface="Trebuchet MS"/>
            </a:endParaRPr>
          </a:p>
          <a:p>
            <a:pPr marL="354965" marR="636905" indent="-342900">
              <a:lnSpc>
                <a:spcPts val="37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20" dirty="0">
                <a:latin typeface="Trebuchet MS"/>
                <a:cs typeface="Trebuchet MS"/>
              </a:rPr>
              <a:t>Host-</a:t>
            </a:r>
            <a:r>
              <a:rPr sz="3200" dirty="0">
                <a:latin typeface="Trebuchet MS"/>
                <a:cs typeface="Trebuchet MS"/>
              </a:rPr>
              <a:t>only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networking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allows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network </a:t>
            </a:r>
            <a:r>
              <a:rPr sz="3200" dirty="0">
                <a:latin typeface="Trebuchet MS"/>
                <a:cs typeface="Trebuchet MS"/>
              </a:rPr>
              <a:t>traffic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host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but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not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Internet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8778" y="4195102"/>
            <a:ext cx="6235700" cy="2336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30966" y="613794"/>
            <a:ext cx="5655152" cy="6197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35500" algn="l"/>
                <a:tab pos="5247005" algn="l"/>
                <a:tab pos="6133465" algn="l"/>
              </a:tabLst>
            </a:pPr>
            <a:r>
              <a:rPr lang="en-IN" sz="3900" dirty="0"/>
              <a:t>VM Network Configurations</a:t>
            </a:r>
            <a:endParaRPr sz="3900" dirty="0"/>
          </a:p>
        </p:txBody>
      </p:sp>
      <p:sp>
        <p:nvSpPr>
          <p:cNvPr id="3" name="object 3"/>
          <p:cNvSpPr txBox="1"/>
          <p:nvPr/>
        </p:nvSpPr>
        <p:spPr>
          <a:xfrm>
            <a:off x="2014220" y="1606431"/>
            <a:ext cx="8112759" cy="3672159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54965" marR="5080" indent="-342900">
              <a:lnSpc>
                <a:spcPts val="3329"/>
              </a:lnSpc>
              <a:spcBef>
                <a:spcPts val="635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85" dirty="0">
                <a:latin typeface="Trebuchet MS"/>
                <a:cs typeface="Trebuchet MS"/>
              </a:rPr>
              <a:t>NAT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mode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lets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VMs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see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each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other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the </a:t>
            </a:r>
            <a:r>
              <a:rPr sz="3200" dirty="0">
                <a:latin typeface="Trebuchet MS"/>
                <a:cs typeface="Trebuchet MS"/>
              </a:rPr>
              <a:t>Internet,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but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puts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virtual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router </a:t>
            </a:r>
            <a:r>
              <a:rPr sz="3200" dirty="0">
                <a:latin typeface="Trebuchet MS"/>
                <a:cs typeface="Trebuchet MS"/>
              </a:rPr>
              <a:t>between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VM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LAN</a:t>
            </a:r>
            <a:endParaRPr sz="3200" dirty="0">
              <a:latin typeface="Trebuchet MS"/>
              <a:cs typeface="Trebuchet MS"/>
            </a:endParaRPr>
          </a:p>
          <a:p>
            <a:pPr marL="354965" marR="1102995" indent="-342900">
              <a:lnSpc>
                <a:spcPts val="3329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Bridged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networking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connects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VM </a:t>
            </a:r>
            <a:r>
              <a:rPr sz="3200" dirty="0">
                <a:latin typeface="Trebuchet MS"/>
                <a:cs typeface="Trebuchet MS"/>
              </a:rPr>
              <a:t>directly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LAN</a:t>
            </a:r>
            <a:r>
              <a:rPr lang="en-IN" sz="3200" spc="-25" dirty="0">
                <a:latin typeface="Trebuchet MS"/>
                <a:cs typeface="Trebuchet MS"/>
              </a:rPr>
              <a:t>. </a:t>
            </a:r>
            <a:r>
              <a:rPr sz="3200" dirty="0">
                <a:latin typeface="Trebuchet MS"/>
                <a:cs typeface="Trebuchet MS"/>
              </a:rPr>
              <a:t>Can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allow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malware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some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harm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or </a:t>
            </a:r>
            <a:r>
              <a:rPr sz="3200" dirty="0">
                <a:latin typeface="Trebuchet MS"/>
                <a:cs typeface="Trebuchet MS"/>
              </a:rPr>
              <a:t>spread</a:t>
            </a:r>
            <a:r>
              <a:rPr lang="en-IN" sz="3200" dirty="0">
                <a:latin typeface="Trebuchet MS"/>
                <a:cs typeface="Trebuchet MS"/>
              </a:rPr>
              <a:t> e.g., </a:t>
            </a:r>
            <a:r>
              <a:rPr sz="3200" spc="-80" dirty="0">
                <a:latin typeface="Trebuchet MS"/>
                <a:cs typeface="Trebuchet MS"/>
              </a:rPr>
              <a:t>You </a:t>
            </a:r>
            <a:r>
              <a:rPr sz="3200" dirty="0">
                <a:latin typeface="Trebuchet MS"/>
                <a:cs typeface="Trebuchet MS"/>
              </a:rPr>
              <a:t>could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send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spam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or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participate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a </a:t>
            </a:r>
            <a:r>
              <a:rPr sz="3200" dirty="0">
                <a:latin typeface="Trebuchet MS"/>
                <a:cs typeface="Trebuchet MS"/>
              </a:rPr>
              <a:t>DDoS</a:t>
            </a:r>
            <a:r>
              <a:rPr sz="3200" spc="-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attack</a:t>
            </a: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524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Snapshots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96734" y="1856017"/>
            <a:ext cx="6816725" cy="2460625"/>
            <a:chOff x="972733" y="1856016"/>
            <a:chExt cx="6816725" cy="24606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7196" y="2152878"/>
              <a:ext cx="6235700" cy="20192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77496" y="1860778"/>
              <a:ext cx="6807200" cy="2451100"/>
            </a:xfrm>
            <a:custGeom>
              <a:avLst/>
              <a:gdLst/>
              <a:ahLst/>
              <a:cxnLst/>
              <a:rect l="l" t="t" r="r" b="b"/>
              <a:pathLst>
                <a:path w="6807200" h="2451100">
                  <a:moveTo>
                    <a:pt x="0" y="0"/>
                  </a:moveTo>
                  <a:lnTo>
                    <a:pt x="6807200" y="0"/>
                  </a:lnTo>
                  <a:lnTo>
                    <a:pt x="6807200" y="2451100"/>
                  </a:lnTo>
                  <a:lnTo>
                    <a:pt x="0" y="24511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88106" y="277498"/>
            <a:ext cx="7016115" cy="1087120"/>
          </a:xfrm>
          <a:prstGeom prst="rect">
            <a:avLst/>
          </a:prstGeom>
        </p:spPr>
        <p:txBody>
          <a:bodyPr vert="horz" wrap="square" lIns="0" tIns="45085" rIns="0" bIns="0" rtlCol="0" anchor="ctr">
            <a:spAutoFit/>
          </a:bodyPr>
          <a:lstStyle/>
          <a:p>
            <a:pPr marL="2708910" marR="5080" indent="-2696845">
              <a:lnSpc>
                <a:spcPts val="4100"/>
              </a:lnSpc>
              <a:spcBef>
                <a:spcPts val="355"/>
              </a:spcBef>
              <a:tabLst>
                <a:tab pos="2886710" algn="l"/>
                <a:tab pos="5320030" algn="l"/>
              </a:tabLst>
            </a:pPr>
            <a:r>
              <a:rPr sz="3550" dirty="0"/>
              <a:t>Risks</a:t>
            </a:r>
            <a:r>
              <a:rPr sz="3550" spc="-35" dirty="0"/>
              <a:t> </a:t>
            </a:r>
            <a:r>
              <a:rPr sz="3550" dirty="0"/>
              <a:t>of</a:t>
            </a:r>
            <a:r>
              <a:rPr sz="3550" spc="-30" dirty="0"/>
              <a:t> </a:t>
            </a:r>
            <a:r>
              <a:rPr sz="3550" spc="-20" dirty="0"/>
              <a:t>Using</a:t>
            </a:r>
            <a:r>
              <a:rPr sz="3550" dirty="0"/>
              <a:t>	VMware</a:t>
            </a:r>
            <a:r>
              <a:rPr sz="3550" spc="-55" dirty="0"/>
              <a:t> </a:t>
            </a:r>
            <a:r>
              <a:rPr sz="3550" spc="-25" dirty="0"/>
              <a:t>for</a:t>
            </a:r>
            <a:r>
              <a:rPr lang="en-IN" sz="3550" spc="-25" dirty="0"/>
              <a:t> </a:t>
            </a:r>
            <a:r>
              <a:rPr sz="3550" spc="-10" dirty="0"/>
              <a:t>Malware Analysis</a:t>
            </a:r>
            <a:endParaRPr sz="3550" dirty="0"/>
          </a:p>
        </p:txBody>
      </p:sp>
      <p:sp>
        <p:nvSpPr>
          <p:cNvPr id="3" name="object 3"/>
          <p:cNvSpPr txBox="1"/>
          <p:nvPr/>
        </p:nvSpPr>
        <p:spPr>
          <a:xfrm>
            <a:off x="2014219" y="1606431"/>
            <a:ext cx="7990840" cy="309571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4965" marR="5080" indent="-342900">
              <a:lnSpc>
                <a:spcPts val="3700"/>
              </a:lnSpc>
              <a:spcBef>
                <a:spcPts val="34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Malware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may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detect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that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it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VM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and </a:t>
            </a:r>
            <a:r>
              <a:rPr sz="3200" dirty="0">
                <a:latin typeface="Trebuchet MS"/>
                <a:cs typeface="Trebuchet MS"/>
              </a:rPr>
              <a:t>run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differently</a:t>
            </a:r>
            <a:endParaRPr sz="3200" dirty="0">
              <a:latin typeface="Trebuchet MS"/>
              <a:cs typeface="Trebuchet MS"/>
            </a:endParaRPr>
          </a:p>
          <a:p>
            <a:pPr marL="354965" marR="250825" indent="-342900">
              <a:lnSpc>
                <a:spcPts val="37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VMware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has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bugs: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malware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may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crash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or </a:t>
            </a:r>
            <a:r>
              <a:rPr sz="3200" dirty="0">
                <a:latin typeface="Trebuchet MS"/>
                <a:cs typeface="Trebuchet MS"/>
              </a:rPr>
              <a:t>exploit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it</a:t>
            </a:r>
            <a:endParaRPr sz="3200" dirty="0">
              <a:latin typeface="Trebuchet MS"/>
              <a:cs typeface="Trebuchet MS"/>
            </a:endParaRPr>
          </a:p>
          <a:p>
            <a:pPr marL="354965" marR="294005" indent="-342900">
              <a:lnSpc>
                <a:spcPts val="37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Malware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may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spread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or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affect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host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– </a:t>
            </a:r>
            <a:r>
              <a:rPr sz="3200" dirty="0">
                <a:latin typeface="Trebuchet MS"/>
                <a:cs typeface="Trebuchet MS"/>
              </a:rPr>
              <a:t>don't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use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sensitive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host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machine</a:t>
            </a: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190" dirty="0"/>
              <a:t> </a:t>
            </a:r>
            <a:r>
              <a:rPr dirty="0"/>
              <a:t>Perform</a:t>
            </a:r>
            <a:r>
              <a:rPr spc="-155" dirty="0"/>
              <a:t> </a:t>
            </a:r>
            <a:r>
              <a:rPr dirty="0"/>
              <a:t>Dynamic</a:t>
            </a:r>
            <a:r>
              <a:rPr spc="-330" dirty="0"/>
              <a:t> </a:t>
            </a:r>
            <a:r>
              <a:rPr spc="-10" dirty="0"/>
              <a:t>Analysis?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20" y="1606430"/>
            <a:ext cx="8126095" cy="394467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4965" marR="172085" indent="-342900">
              <a:lnSpc>
                <a:spcPts val="3700"/>
              </a:lnSpc>
              <a:spcBef>
                <a:spcPts val="34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Static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analysis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can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reach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dead-</a:t>
            </a:r>
            <a:r>
              <a:rPr sz="3200" dirty="0">
                <a:latin typeface="Trebuchet MS"/>
                <a:cs typeface="Trebuchet MS"/>
              </a:rPr>
              <a:t>end,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due to</a:t>
            </a:r>
            <a:endParaRPr sz="3200">
              <a:latin typeface="Trebuchet MS"/>
              <a:cs typeface="Trebuchet MS"/>
            </a:endParaRPr>
          </a:p>
          <a:p>
            <a:pPr marL="753745" lvl="1" indent="-284480">
              <a:spcBef>
                <a:spcPts val="420"/>
              </a:spcBef>
              <a:buFont typeface="Arial"/>
              <a:buChar char="–"/>
              <a:tabLst>
                <a:tab pos="753745" algn="l"/>
              </a:tabLst>
            </a:pPr>
            <a:r>
              <a:rPr sz="2800" spc="-10" dirty="0">
                <a:latin typeface="Trebuchet MS"/>
                <a:cs typeface="Trebuchet MS"/>
              </a:rPr>
              <a:t>Obfuscation</a:t>
            </a:r>
            <a:endParaRPr sz="2800">
              <a:latin typeface="Trebuchet MS"/>
              <a:cs typeface="Trebuchet MS"/>
            </a:endParaRPr>
          </a:p>
          <a:p>
            <a:pPr marL="753745" lvl="1" indent="-284480">
              <a:spcBef>
                <a:spcPts val="509"/>
              </a:spcBef>
              <a:buFont typeface="Arial"/>
              <a:buChar char="–"/>
              <a:tabLst>
                <a:tab pos="753745" algn="l"/>
              </a:tabLst>
            </a:pPr>
            <a:r>
              <a:rPr sz="2800" spc="-10" dirty="0">
                <a:latin typeface="Trebuchet MS"/>
                <a:cs typeface="Trebuchet MS"/>
              </a:rPr>
              <a:t>Packing</a:t>
            </a:r>
            <a:endParaRPr sz="2800">
              <a:latin typeface="Trebuchet MS"/>
              <a:cs typeface="Trebuchet MS"/>
            </a:endParaRPr>
          </a:p>
          <a:p>
            <a:pPr marL="753745" marR="341630" lvl="1" indent="-284480">
              <a:lnSpc>
                <a:spcPts val="3200"/>
              </a:lnSpc>
              <a:spcBef>
                <a:spcPts val="755"/>
              </a:spcBef>
              <a:buFont typeface="Arial"/>
              <a:buChar char="–"/>
              <a:tabLst>
                <a:tab pos="755015" algn="l"/>
              </a:tabLst>
            </a:pPr>
            <a:r>
              <a:rPr sz="2800" dirty="0">
                <a:latin typeface="Trebuchet MS"/>
                <a:cs typeface="Trebuchet MS"/>
              </a:rPr>
              <a:t>Examiner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has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exhausted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available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static 	</a:t>
            </a:r>
            <a:r>
              <a:rPr sz="2800" dirty="0">
                <a:latin typeface="Trebuchet MS"/>
                <a:cs typeface="Trebuchet MS"/>
              </a:rPr>
              <a:t>analysis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techniques</a:t>
            </a:r>
            <a:endParaRPr sz="2800">
              <a:latin typeface="Trebuchet MS"/>
              <a:cs typeface="Trebuchet MS"/>
            </a:endParaRPr>
          </a:p>
          <a:p>
            <a:pPr marL="354965" marR="5080" indent="-342900">
              <a:lnSpc>
                <a:spcPts val="3700"/>
              </a:lnSpc>
              <a:spcBef>
                <a:spcPts val="77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Dynamic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analysis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efficient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will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show </a:t>
            </a:r>
            <a:r>
              <a:rPr sz="3200" dirty="0">
                <a:latin typeface="Trebuchet MS"/>
                <a:cs typeface="Trebuchet MS"/>
              </a:rPr>
              <a:t>you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exactly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what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malware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does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38990" y="2440700"/>
            <a:ext cx="9849573" cy="702756"/>
          </a:xfrm>
          <a:prstGeom prst="rect">
            <a:avLst/>
          </a:prstGeom>
        </p:spPr>
        <p:txBody>
          <a:bodyPr vert="horz" wrap="square" lIns="0" tIns="48260" rIns="0" bIns="0" rtlCol="0" anchor="ctr">
            <a:spAutoFit/>
          </a:bodyPr>
          <a:lstStyle/>
          <a:p>
            <a:pPr marL="1557655" marR="5080" indent="-1545590">
              <a:lnSpc>
                <a:spcPts val="5100"/>
              </a:lnSpc>
              <a:spcBef>
                <a:spcPts val="380"/>
              </a:spcBef>
              <a:tabLst>
                <a:tab pos="4079240" algn="l"/>
              </a:tabLst>
            </a:pPr>
            <a:r>
              <a:rPr dirty="0"/>
              <a:t>Sandboxes:</a:t>
            </a:r>
            <a:r>
              <a:rPr spc="-130" dirty="0"/>
              <a:t> </a:t>
            </a:r>
            <a:r>
              <a:rPr spc="-25" dirty="0"/>
              <a:t>The</a:t>
            </a:r>
            <a:r>
              <a:rPr lang="en-IN" spc="-25" dirty="0"/>
              <a:t> </a:t>
            </a:r>
            <a:r>
              <a:rPr spc="-10" dirty="0"/>
              <a:t>Quick-</a:t>
            </a:r>
            <a:r>
              <a:rPr spc="-20" dirty="0"/>
              <a:t>and-</a:t>
            </a:r>
            <a:r>
              <a:rPr dirty="0"/>
              <a:t>Dirty</a:t>
            </a:r>
            <a:r>
              <a:rPr spc="-290" dirty="0"/>
              <a:t> </a:t>
            </a:r>
            <a:r>
              <a:rPr spc="-10" dirty="0"/>
              <a:t>Approach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0460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Sandbox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38200" y="1854210"/>
            <a:ext cx="10515600" cy="31495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4965" marR="963930" indent="-342900">
              <a:lnSpc>
                <a:spcPts val="3700"/>
              </a:lnSpc>
              <a:spcBef>
                <a:spcPts val="340"/>
              </a:spcBef>
              <a:buFont typeface="Arial"/>
              <a:buChar char="•"/>
              <a:tabLst>
                <a:tab pos="354965" algn="l"/>
              </a:tabLst>
            </a:pPr>
            <a:r>
              <a:rPr spc="-25" dirty="0"/>
              <a:t>All-</a:t>
            </a:r>
            <a:r>
              <a:rPr spc="-20" dirty="0"/>
              <a:t>in-</a:t>
            </a:r>
            <a:r>
              <a:rPr dirty="0"/>
              <a:t>one</a:t>
            </a:r>
            <a:r>
              <a:rPr spc="-65" dirty="0"/>
              <a:t> </a:t>
            </a:r>
            <a:r>
              <a:rPr dirty="0"/>
              <a:t>software</a:t>
            </a:r>
            <a:r>
              <a:rPr spc="-60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dirty="0"/>
              <a:t>basic</a:t>
            </a:r>
            <a:r>
              <a:rPr spc="-60" dirty="0"/>
              <a:t> </a:t>
            </a:r>
            <a:r>
              <a:rPr spc="-10" dirty="0"/>
              <a:t>dynamic analysis</a:t>
            </a:r>
          </a:p>
          <a:p>
            <a:pPr marL="354965" marR="660400" indent="-342900">
              <a:lnSpc>
                <a:spcPts val="37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</a:tabLst>
            </a:pPr>
            <a:r>
              <a:rPr dirty="0"/>
              <a:t>Virtualized</a:t>
            </a:r>
            <a:r>
              <a:rPr spc="-160" dirty="0"/>
              <a:t> </a:t>
            </a:r>
            <a:r>
              <a:rPr dirty="0"/>
              <a:t>environment</a:t>
            </a:r>
            <a:r>
              <a:rPr spc="-155" dirty="0"/>
              <a:t> </a:t>
            </a:r>
            <a:r>
              <a:rPr dirty="0"/>
              <a:t>that</a:t>
            </a:r>
            <a:r>
              <a:rPr spc="-160" dirty="0"/>
              <a:t> </a:t>
            </a:r>
            <a:r>
              <a:rPr spc="-10" dirty="0"/>
              <a:t>simulates </a:t>
            </a:r>
            <a:r>
              <a:rPr dirty="0"/>
              <a:t>network</a:t>
            </a:r>
            <a:r>
              <a:rPr spc="-114" dirty="0"/>
              <a:t> </a:t>
            </a:r>
            <a:r>
              <a:rPr spc="-10" dirty="0"/>
              <a:t>services</a:t>
            </a:r>
          </a:p>
          <a:p>
            <a:pPr marL="354965" marR="5080" indent="-342900">
              <a:lnSpc>
                <a:spcPts val="37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dirty="0"/>
              <a:t>Examples:</a:t>
            </a:r>
            <a:r>
              <a:rPr spc="-85" dirty="0"/>
              <a:t> </a:t>
            </a:r>
            <a:r>
              <a:rPr dirty="0"/>
              <a:t>Norman</a:t>
            </a:r>
            <a:r>
              <a:rPr spc="-80" dirty="0"/>
              <a:t> </a:t>
            </a:r>
            <a:r>
              <a:rPr dirty="0"/>
              <a:t>Sandbox,</a:t>
            </a:r>
            <a:r>
              <a:rPr spc="-80" dirty="0"/>
              <a:t> </a:t>
            </a:r>
            <a:r>
              <a:rPr dirty="0"/>
              <a:t>GFI</a:t>
            </a:r>
            <a:r>
              <a:rPr spc="-85" dirty="0"/>
              <a:t> </a:t>
            </a:r>
            <a:r>
              <a:rPr spc="-10" dirty="0"/>
              <a:t>Sandbox, </a:t>
            </a:r>
            <a:r>
              <a:rPr dirty="0"/>
              <a:t>Anubis,</a:t>
            </a:r>
            <a:r>
              <a:rPr spc="-75" dirty="0"/>
              <a:t> </a:t>
            </a:r>
            <a:r>
              <a:rPr dirty="0"/>
              <a:t>Joe</a:t>
            </a:r>
            <a:r>
              <a:rPr spc="-70" dirty="0"/>
              <a:t> </a:t>
            </a:r>
            <a:r>
              <a:rPr dirty="0"/>
              <a:t>Sandbox,</a:t>
            </a:r>
            <a:r>
              <a:rPr spc="-125" dirty="0"/>
              <a:t> </a:t>
            </a:r>
            <a:r>
              <a:rPr spc="-10" dirty="0"/>
              <a:t>ThreatExpert, </a:t>
            </a:r>
            <a:r>
              <a:rPr dirty="0"/>
              <a:t>BitBlaze,</a:t>
            </a:r>
            <a:r>
              <a:rPr spc="-70" dirty="0"/>
              <a:t> </a:t>
            </a:r>
            <a:r>
              <a:rPr dirty="0"/>
              <a:t>Comodo</a:t>
            </a:r>
            <a:r>
              <a:rPr spc="-65" dirty="0"/>
              <a:t> </a:t>
            </a:r>
            <a:r>
              <a:rPr dirty="0"/>
              <a:t>Instant</a:t>
            </a:r>
            <a:r>
              <a:rPr spc="-55" dirty="0"/>
              <a:t> </a:t>
            </a:r>
            <a:r>
              <a:rPr spc="-20" dirty="0"/>
              <a:t>Malware</a:t>
            </a:r>
            <a:r>
              <a:rPr spc="-220" dirty="0"/>
              <a:t> </a:t>
            </a:r>
            <a:r>
              <a:rPr spc="-10" dirty="0"/>
              <a:t>Analysis</a:t>
            </a: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</a:tabLst>
            </a:pPr>
            <a:r>
              <a:rPr dirty="0"/>
              <a:t>They</a:t>
            </a:r>
            <a:r>
              <a:rPr spc="-60" dirty="0"/>
              <a:t> </a:t>
            </a:r>
            <a:r>
              <a:rPr dirty="0"/>
              <a:t>are</a:t>
            </a:r>
            <a:r>
              <a:rPr spc="-60" dirty="0"/>
              <a:t> </a:t>
            </a:r>
            <a:r>
              <a:rPr dirty="0"/>
              <a:t>expensive</a:t>
            </a:r>
            <a:r>
              <a:rPr spc="-55" dirty="0"/>
              <a:t> </a:t>
            </a:r>
            <a:r>
              <a:rPr dirty="0"/>
              <a:t>but</a:t>
            </a:r>
            <a:r>
              <a:rPr spc="-60" dirty="0"/>
              <a:t> </a:t>
            </a:r>
            <a:r>
              <a:rPr dirty="0"/>
              <a:t>easy</a:t>
            </a:r>
            <a:r>
              <a:rPr spc="-5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spc="-25" dirty="0"/>
              <a:t>use</a:t>
            </a:r>
          </a:p>
          <a:p>
            <a:pPr marL="354965" indent="-342265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354965" algn="l"/>
              </a:tabLst>
            </a:pPr>
            <a:r>
              <a:rPr dirty="0"/>
              <a:t>They</a:t>
            </a:r>
            <a:r>
              <a:rPr spc="-60" dirty="0"/>
              <a:t> </a:t>
            </a:r>
            <a:r>
              <a:rPr dirty="0"/>
              <a:t>produce</a:t>
            </a:r>
            <a:r>
              <a:rPr spc="-6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nice</a:t>
            </a:r>
            <a:r>
              <a:rPr spc="-60" dirty="0"/>
              <a:t> </a:t>
            </a:r>
            <a:r>
              <a:rPr dirty="0"/>
              <a:t>PDF</a:t>
            </a:r>
            <a:r>
              <a:rPr spc="-55" dirty="0"/>
              <a:t> </a:t>
            </a:r>
            <a:r>
              <a:rPr dirty="0"/>
              <a:t>report</a:t>
            </a:r>
            <a:r>
              <a:rPr spc="-6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10" dirty="0"/>
              <a:t>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70883" y="2496497"/>
            <a:ext cx="425069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Running</a:t>
            </a:r>
            <a:r>
              <a:rPr spc="-180" dirty="0"/>
              <a:t> </a:t>
            </a:r>
            <a:r>
              <a:rPr spc="-10" dirty="0"/>
              <a:t>Malware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172970">
              <a:lnSpc>
                <a:spcPct val="100000"/>
              </a:lnSpc>
              <a:spcBef>
                <a:spcPts val="100"/>
              </a:spcBef>
            </a:pPr>
            <a:r>
              <a:rPr dirty="0"/>
              <a:t>Launching</a:t>
            </a:r>
            <a:r>
              <a:rPr spc="-60" dirty="0"/>
              <a:t> </a:t>
            </a:r>
            <a:r>
              <a:rPr spc="-20" dirty="0"/>
              <a:t>DLLs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606430"/>
            <a:ext cx="8073390" cy="2122376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4965" marR="791210" indent="-342900">
              <a:lnSpc>
                <a:spcPts val="3700"/>
              </a:lnSpc>
              <a:spcBef>
                <a:spcPts val="34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EXE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files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can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run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35" dirty="0">
                <a:latin typeface="Trebuchet MS"/>
                <a:cs typeface="Trebuchet MS"/>
              </a:rPr>
              <a:t>directly,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but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DLLs </a:t>
            </a:r>
            <a:r>
              <a:rPr sz="3200" spc="-10" dirty="0">
                <a:latin typeface="Trebuchet MS"/>
                <a:cs typeface="Trebuchet MS"/>
              </a:rPr>
              <a:t>can't</a:t>
            </a:r>
            <a:endParaRPr sz="3200" dirty="0">
              <a:latin typeface="Trebuchet MS"/>
              <a:cs typeface="Trebuchet MS"/>
            </a:endParaRPr>
          </a:p>
          <a:p>
            <a:pPr marL="354965" marR="5080" indent="-342900">
              <a:lnSpc>
                <a:spcPts val="4470"/>
              </a:lnSpc>
              <a:spcBef>
                <a:spcPts val="150"/>
              </a:spcBef>
              <a:buFont typeface="Arial"/>
              <a:buChar char="•"/>
              <a:tabLst>
                <a:tab pos="469265" algn="l"/>
              </a:tabLst>
            </a:pPr>
            <a:r>
              <a:rPr sz="3200" dirty="0">
                <a:latin typeface="Trebuchet MS"/>
                <a:cs typeface="Trebuchet MS"/>
              </a:rPr>
              <a:t>Use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Rundll32.exe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(included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Windows) 	</a:t>
            </a:r>
            <a:r>
              <a:rPr sz="3200" dirty="0">
                <a:latin typeface="Trebuchet MS"/>
                <a:cs typeface="Trebuchet MS"/>
              </a:rPr>
              <a:t>rundll32.exe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i="1" dirty="0">
                <a:latin typeface="Trebuchet MS"/>
                <a:cs typeface="Trebuchet MS"/>
              </a:rPr>
              <a:t>DLLname,</a:t>
            </a:r>
            <a:r>
              <a:rPr sz="3200" i="1" spc="-120" dirty="0">
                <a:latin typeface="Trebuchet MS"/>
                <a:cs typeface="Trebuchet MS"/>
              </a:rPr>
              <a:t> </a:t>
            </a:r>
            <a:r>
              <a:rPr sz="3200" i="1" dirty="0">
                <a:latin typeface="Trebuchet MS"/>
                <a:cs typeface="Trebuchet MS"/>
              </a:rPr>
              <a:t>Export</a:t>
            </a:r>
            <a:r>
              <a:rPr sz="3200" i="1" spc="-120" dirty="0">
                <a:latin typeface="Trebuchet MS"/>
                <a:cs typeface="Trebuchet MS"/>
              </a:rPr>
              <a:t> </a:t>
            </a:r>
            <a:r>
              <a:rPr sz="3200" i="1" spc="-10" dirty="0">
                <a:latin typeface="Trebuchet MS"/>
                <a:cs typeface="Trebuchet MS"/>
              </a:rPr>
              <a:t>arguments</a:t>
            </a: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172970">
              <a:lnSpc>
                <a:spcPct val="100000"/>
              </a:lnSpc>
              <a:spcBef>
                <a:spcPts val="100"/>
              </a:spcBef>
            </a:pPr>
            <a:r>
              <a:rPr dirty="0"/>
              <a:t>Launching</a:t>
            </a:r>
            <a:r>
              <a:rPr spc="-60" dirty="0"/>
              <a:t> </a:t>
            </a:r>
            <a:r>
              <a:rPr spc="-20" dirty="0"/>
              <a:t>DLLs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20" y="1530830"/>
            <a:ext cx="8136255" cy="429006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4965" indent="-342265">
              <a:spcBef>
                <a:spcPts val="695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10" dirty="0">
                <a:latin typeface="Trebuchet MS"/>
                <a:cs typeface="Trebuchet MS"/>
              </a:rPr>
              <a:t>Example</a:t>
            </a:r>
            <a:endParaRPr sz="3200">
              <a:latin typeface="Trebuchet MS"/>
              <a:cs typeface="Trebuchet MS"/>
            </a:endParaRPr>
          </a:p>
          <a:p>
            <a:pPr marL="469265">
              <a:spcBef>
                <a:spcPts val="520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dirty="0">
                <a:latin typeface="Trebuchet MS"/>
                <a:cs typeface="Trebuchet MS"/>
              </a:rPr>
              <a:t>rip.dll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has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these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exports: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Install</a:t>
            </a:r>
            <a:r>
              <a:rPr sz="2800" b="1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Uninstall</a:t>
            </a:r>
            <a:endParaRPr sz="2800">
              <a:latin typeface="Trebuchet MS"/>
              <a:cs typeface="Trebuchet MS"/>
            </a:endParaRPr>
          </a:p>
          <a:p>
            <a:pPr marL="927100">
              <a:spcBef>
                <a:spcPts val="620"/>
              </a:spcBef>
            </a:pPr>
            <a:r>
              <a:rPr sz="3200" dirty="0">
                <a:latin typeface="Trebuchet MS"/>
                <a:cs typeface="Trebuchet MS"/>
              </a:rPr>
              <a:t>rundll32.exe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rip.dll,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Install</a:t>
            </a:r>
            <a:endParaRPr sz="3200">
              <a:latin typeface="Trebuchet MS"/>
              <a:cs typeface="Trebuchet MS"/>
            </a:endParaRPr>
          </a:p>
          <a:p>
            <a:pPr marL="354965" marR="99060" indent="-342900">
              <a:lnSpc>
                <a:spcPts val="3700"/>
              </a:lnSpc>
              <a:spcBef>
                <a:spcPts val="86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Some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functions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use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ordinal</a:t>
            </a:r>
            <a:r>
              <a:rPr sz="3200" b="1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values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instead </a:t>
            </a:r>
            <a:r>
              <a:rPr sz="3200" dirty="0">
                <a:latin typeface="Trebuchet MS"/>
                <a:cs typeface="Trebuchet MS"/>
              </a:rPr>
              <a:t>of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names,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like</a:t>
            </a:r>
            <a:endParaRPr sz="3200">
              <a:latin typeface="Trebuchet MS"/>
              <a:cs typeface="Trebuchet MS"/>
            </a:endParaRPr>
          </a:p>
          <a:p>
            <a:pPr marL="469265">
              <a:spcBef>
                <a:spcPts val="530"/>
              </a:spcBef>
            </a:pPr>
            <a:r>
              <a:rPr sz="3200" dirty="0">
                <a:latin typeface="Trebuchet MS"/>
                <a:cs typeface="Trebuchet MS"/>
              </a:rPr>
              <a:t>rundll32.exe</a:t>
            </a:r>
            <a:r>
              <a:rPr sz="3200" spc="-170" dirty="0">
                <a:latin typeface="Trebuchet MS"/>
                <a:cs typeface="Trebuchet MS"/>
              </a:rPr>
              <a:t> </a:t>
            </a:r>
            <a:r>
              <a:rPr sz="3200" spc="-30" dirty="0">
                <a:latin typeface="Trebuchet MS"/>
                <a:cs typeface="Trebuchet MS"/>
              </a:rPr>
              <a:t>xyzzy.dll,</a:t>
            </a:r>
            <a:r>
              <a:rPr sz="3200" spc="-17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#5</a:t>
            </a:r>
            <a:endParaRPr sz="3200">
              <a:latin typeface="Trebuchet MS"/>
              <a:cs typeface="Trebuchet MS"/>
            </a:endParaRPr>
          </a:p>
          <a:p>
            <a:pPr marL="354965" marR="296545" indent="-342900">
              <a:lnSpc>
                <a:spcPts val="3700"/>
              </a:lnSpc>
              <a:spcBef>
                <a:spcPts val="8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It's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also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possible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modify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header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convert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DLL</a:t>
            </a:r>
            <a:r>
              <a:rPr sz="3200" spc="-1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into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EXE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23407" y="2166297"/>
            <a:ext cx="5945505" cy="1343660"/>
          </a:xfrm>
          <a:prstGeom prst="rect">
            <a:avLst/>
          </a:prstGeom>
        </p:spPr>
        <p:txBody>
          <a:bodyPr vert="horz" wrap="square" lIns="0" tIns="48260" rIns="0" bIns="0" rtlCol="0" anchor="ctr">
            <a:spAutoFit/>
          </a:bodyPr>
          <a:lstStyle/>
          <a:p>
            <a:pPr marL="2022475" marR="5080" indent="-2010410">
              <a:lnSpc>
                <a:spcPts val="5100"/>
              </a:lnSpc>
              <a:spcBef>
                <a:spcPts val="380"/>
              </a:spcBef>
            </a:pPr>
            <a:r>
              <a:rPr dirty="0"/>
              <a:t>Monitoring</a:t>
            </a:r>
            <a:r>
              <a:rPr spc="-105" dirty="0"/>
              <a:t> </a:t>
            </a:r>
            <a:r>
              <a:rPr dirty="0"/>
              <a:t>with</a:t>
            </a:r>
            <a:r>
              <a:rPr spc="-100" dirty="0"/>
              <a:t> </a:t>
            </a:r>
            <a:r>
              <a:rPr spc="-10" dirty="0"/>
              <a:t>Process Monitor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129155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</a:t>
            </a:r>
            <a:r>
              <a:rPr spc="-270" dirty="0"/>
              <a:t> </a:t>
            </a:r>
            <a:r>
              <a:rPr spc="-10" dirty="0"/>
              <a:t>Monitor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606430"/>
            <a:ext cx="7971790" cy="357020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4965" marR="445134" indent="-342900" algn="just">
              <a:lnSpc>
                <a:spcPts val="3700"/>
              </a:lnSpc>
              <a:spcBef>
                <a:spcPts val="34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Monitors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35" dirty="0">
                <a:latin typeface="Trebuchet MS"/>
                <a:cs typeface="Trebuchet MS"/>
              </a:rPr>
              <a:t>registry,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file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system,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network, </a:t>
            </a:r>
            <a:r>
              <a:rPr sz="3200" dirty="0">
                <a:latin typeface="Trebuchet MS"/>
                <a:cs typeface="Trebuchet MS"/>
              </a:rPr>
              <a:t>process,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thread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activity</a:t>
            </a:r>
            <a:endParaRPr sz="3200">
              <a:latin typeface="Trebuchet MS"/>
              <a:cs typeface="Trebuchet MS"/>
            </a:endParaRPr>
          </a:p>
          <a:p>
            <a:pPr marL="354965" marR="5080" indent="-342900" algn="just">
              <a:lnSpc>
                <a:spcPts val="37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All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recorded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events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are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kept,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but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you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can </a:t>
            </a:r>
            <a:r>
              <a:rPr sz="3200" dirty="0">
                <a:latin typeface="Trebuchet MS"/>
                <a:cs typeface="Trebuchet MS"/>
              </a:rPr>
              <a:t>filter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display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make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it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easier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find </a:t>
            </a:r>
            <a:r>
              <a:rPr sz="3200" dirty="0">
                <a:latin typeface="Trebuchet MS"/>
                <a:cs typeface="Trebuchet MS"/>
              </a:rPr>
              <a:t>items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of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interest</a:t>
            </a:r>
            <a:endParaRPr sz="3200">
              <a:latin typeface="Trebuchet MS"/>
              <a:cs typeface="Trebuchet MS"/>
            </a:endParaRPr>
          </a:p>
          <a:p>
            <a:pPr marL="354965" marR="508634" indent="-342900" algn="just">
              <a:lnSpc>
                <a:spcPts val="37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Don't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run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it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too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long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or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it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will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fill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up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all </a:t>
            </a:r>
            <a:r>
              <a:rPr sz="3200" dirty="0">
                <a:latin typeface="Trebuchet MS"/>
                <a:cs typeface="Trebuchet MS"/>
              </a:rPr>
              <a:t>RAM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crash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machine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7985">
              <a:lnSpc>
                <a:spcPct val="100000"/>
              </a:lnSpc>
              <a:spcBef>
                <a:spcPts val="100"/>
              </a:spcBef>
            </a:pPr>
            <a:r>
              <a:rPr dirty="0"/>
              <a:t>Launching</a:t>
            </a:r>
            <a:r>
              <a:rPr spc="-60" dirty="0"/>
              <a:t> </a:t>
            </a:r>
            <a:r>
              <a:rPr spc="-10" dirty="0"/>
              <a:t>Calc.exe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5800" y="2392670"/>
            <a:ext cx="8255000" cy="42250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14220" y="1606430"/>
            <a:ext cx="55581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60" dirty="0">
                <a:latin typeface="Trebuchet MS"/>
                <a:cs typeface="Trebuchet MS"/>
              </a:rPr>
              <a:t>Many,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many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events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recorded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129665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</a:t>
            </a:r>
            <a:r>
              <a:rPr spc="-200" dirty="0"/>
              <a:t> </a:t>
            </a:r>
            <a:r>
              <a:rPr dirty="0"/>
              <a:t>Monitor</a:t>
            </a:r>
            <a:r>
              <a:rPr spc="-270" dirty="0"/>
              <a:t> </a:t>
            </a:r>
            <a:r>
              <a:rPr spc="-520" dirty="0"/>
              <a:t>T</a:t>
            </a:r>
            <a:r>
              <a:rPr spc="30" dirty="0"/>
              <a:t>oo</a:t>
            </a:r>
            <a:r>
              <a:rPr spc="20" dirty="0"/>
              <a:t>l</a:t>
            </a:r>
            <a:r>
              <a:rPr spc="25" dirty="0"/>
              <a:t>b</a:t>
            </a:r>
            <a:r>
              <a:rPr spc="30" dirty="0"/>
              <a:t>ar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8999" y="3664899"/>
            <a:ext cx="8331801" cy="25444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88895" y="2353957"/>
            <a:ext cx="1103630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5730" marR="5080" indent="-113664">
              <a:lnSpc>
                <a:spcPts val="2100"/>
              </a:lnSpc>
              <a:spcBef>
                <a:spcPts val="219"/>
              </a:spcBef>
            </a:pPr>
            <a:r>
              <a:rPr b="1" spc="-10" dirty="0">
                <a:latin typeface="Trebuchet MS"/>
                <a:cs typeface="Trebuchet MS"/>
              </a:rPr>
              <a:t>Start/Stop Capture</a:t>
            </a:r>
            <a:endParaRPr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14599" y="2702957"/>
            <a:ext cx="6202680" cy="1978025"/>
            <a:chOff x="990599" y="2702956"/>
            <a:chExt cx="6202680" cy="1978025"/>
          </a:xfrm>
        </p:grpSpPr>
        <p:sp>
          <p:nvSpPr>
            <p:cNvPr id="6" name="object 6"/>
            <p:cNvSpPr/>
            <p:nvPr/>
          </p:nvSpPr>
          <p:spPr>
            <a:xfrm>
              <a:off x="1015999" y="2979956"/>
              <a:ext cx="802640" cy="1592580"/>
            </a:xfrm>
            <a:custGeom>
              <a:avLst/>
              <a:gdLst/>
              <a:ahLst/>
              <a:cxnLst/>
              <a:rect l="l" t="t" r="r" b="b"/>
              <a:pathLst>
                <a:path w="802639" h="1592579">
                  <a:moveTo>
                    <a:pt x="0" y="0"/>
                  </a:moveTo>
                  <a:lnTo>
                    <a:pt x="790895" y="1569280"/>
                  </a:lnTo>
                  <a:lnTo>
                    <a:pt x="802327" y="1591962"/>
                  </a:lnTo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4759" y="4392939"/>
              <a:ext cx="244475" cy="288290"/>
            </a:xfrm>
            <a:custGeom>
              <a:avLst/>
              <a:gdLst/>
              <a:ahLst/>
              <a:cxnLst/>
              <a:rect l="l" t="t" r="r" b="b"/>
              <a:pathLst>
                <a:path w="244475" h="288289">
                  <a:moveTo>
                    <a:pt x="34398" y="93758"/>
                  </a:moveTo>
                  <a:lnTo>
                    <a:pt x="23040" y="93945"/>
                  </a:lnTo>
                  <a:lnTo>
                    <a:pt x="12580" y="98377"/>
                  </a:lnTo>
                  <a:lnTo>
                    <a:pt x="4337" y="106776"/>
                  </a:lnTo>
                  <a:lnTo>
                    <a:pt x="0" y="117715"/>
                  </a:lnTo>
                  <a:lnTo>
                    <a:pt x="186" y="129073"/>
                  </a:lnTo>
                  <a:lnTo>
                    <a:pt x="4619" y="139533"/>
                  </a:lnTo>
                  <a:lnTo>
                    <a:pt x="13018" y="147775"/>
                  </a:lnTo>
                  <a:lnTo>
                    <a:pt x="228490" y="287958"/>
                  </a:lnTo>
                  <a:lnTo>
                    <a:pt x="234846" y="182760"/>
                  </a:lnTo>
                  <a:lnTo>
                    <a:pt x="175472" y="182760"/>
                  </a:lnTo>
                  <a:lnTo>
                    <a:pt x="45337" y="98097"/>
                  </a:lnTo>
                  <a:lnTo>
                    <a:pt x="34398" y="93758"/>
                  </a:lnTo>
                  <a:close/>
                </a:path>
                <a:path w="244475" h="288289">
                  <a:moveTo>
                    <a:pt x="216202" y="0"/>
                  </a:moveTo>
                  <a:lnTo>
                    <a:pt x="184836" y="27791"/>
                  </a:lnTo>
                  <a:lnTo>
                    <a:pt x="175472" y="182760"/>
                  </a:lnTo>
                  <a:lnTo>
                    <a:pt x="234846" y="182760"/>
                  </a:lnTo>
                  <a:lnTo>
                    <a:pt x="243994" y="31366"/>
                  </a:lnTo>
                  <a:lnTo>
                    <a:pt x="242366" y="19712"/>
                  </a:lnTo>
                  <a:lnTo>
                    <a:pt x="236595" y="9927"/>
                  </a:lnTo>
                  <a:lnTo>
                    <a:pt x="227576" y="3020"/>
                  </a:lnTo>
                  <a:lnTo>
                    <a:pt x="2162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41926" y="3146266"/>
              <a:ext cx="685165" cy="1262380"/>
            </a:xfrm>
            <a:custGeom>
              <a:avLst/>
              <a:gdLst/>
              <a:ahLst/>
              <a:cxnLst/>
              <a:rect l="l" t="t" r="r" b="b"/>
              <a:pathLst>
                <a:path w="685165" h="1262379">
                  <a:moveTo>
                    <a:pt x="0" y="0"/>
                  </a:moveTo>
                  <a:lnTo>
                    <a:pt x="672767" y="1239521"/>
                  </a:lnTo>
                  <a:lnTo>
                    <a:pt x="684884" y="1261845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51459" y="4227916"/>
              <a:ext cx="241300" cy="287655"/>
            </a:xfrm>
            <a:custGeom>
              <a:avLst/>
              <a:gdLst/>
              <a:ahLst/>
              <a:cxnLst/>
              <a:rect l="l" t="t" r="r" b="b"/>
              <a:pathLst>
                <a:path w="241300" h="287654">
                  <a:moveTo>
                    <a:pt x="33654" y="99249"/>
                  </a:moveTo>
                  <a:lnTo>
                    <a:pt x="22306" y="99781"/>
                  </a:lnTo>
                  <a:lnTo>
                    <a:pt x="11986" y="104530"/>
                  </a:lnTo>
                  <a:lnTo>
                    <a:pt x="4002" y="113176"/>
                  </a:lnTo>
                  <a:lnTo>
                    <a:pt x="0" y="124241"/>
                  </a:lnTo>
                  <a:lnTo>
                    <a:pt x="532" y="135589"/>
                  </a:lnTo>
                  <a:lnTo>
                    <a:pt x="5280" y="145909"/>
                  </a:lnTo>
                  <a:lnTo>
                    <a:pt x="13926" y="153892"/>
                  </a:lnTo>
                  <a:lnTo>
                    <a:pt x="233565" y="287451"/>
                  </a:lnTo>
                  <a:lnTo>
                    <a:pt x="236663" y="183916"/>
                  </a:lnTo>
                  <a:lnTo>
                    <a:pt x="177370" y="183916"/>
                  </a:lnTo>
                  <a:lnTo>
                    <a:pt x="44719" y="103252"/>
                  </a:lnTo>
                  <a:lnTo>
                    <a:pt x="33654" y="99249"/>
                  </a:lnTo>
                  <a:close/>
                </a:path>
                <a:path w="241300" h="287654">
                  <a:moveTo>
                    <a:pt x="212520" y="0"/>
                  </a:moveTo>
                  <a:lnTo>
                    <a:pt x="182013" y="28735"/>
                  </a:lnTo>
                  <a:lnTo>
                    <a:pt x="177370" y="183916"/>
                  </a:lnTo>
                  <a:lnTo>
                    <a:pt x="236663" y="183916"/>
                  </a:lnTo>
                  <a:lnTo>
                    <a:pt x="241254" y="30506"/>
                  </a:lnTo>
                  <a:lnTo>
                    <a:pt x="239271" y="18907"/>
                  </a:lnTo>
                  <a:lnTo>
                    <a:pt x="233204" y="9302"/>
                  </a:lnTo>
                  <a:lnTo>
                    <a:pt x="223979" y="2673"/>
                  </a:lnTo>
                  <a:lnTo>
                    <a:pt x="212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84400" y="2728356"/>
              <a:ext cx="513715" cy="1835150"/>
            </a:xfrm>
            <a:custGeom>
              <a:avLst/>
              <a:gdLst/>
              <a:ahLst/>
              <a:cxnLst/>
              <a:rect l="l" t="t" r="r" b="b"/>
              <a:pathLst>
                <a:path w="513714" h="1835150">
                  <a:moveTo>
                    <a:pt x="0" y="0"/>
                  </a:moveTo>
                  <a:lnTo>
                    <a:pt x="506388" y="1810553"/>
                  </a:lnTo>
                  <a:lnTo>
                    <a:pt x="513229" y="1835015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37132" y="4395328"/>
              <a:ext cx="259079" cy="285750"/>
            </a:xfrm>
            <a:custGeom>
              <a:avLst/>
              <a:gdLst/>
              <a:ahLst/>
              <a:cxnLst/>
              <a:rect l="l" t="t" r="r" b="b"/>
              <a:pathLst>
                <a:path w="259080" h="285750">
                  <a:moveTo>
                    <a:pt x="29200" y="55570"/>
                  </a:moveTo>
                  <a:lnTo>
                    <a:pt x="18082" y="57901"/>
                  </a:lnTo>
                  <a:lnTo>
                    <a:pt x="8374" y="64552"/>
                  </a:lnTo>
                  <a:lnTo>
                    <a:pt x="2007" y="74449"/>
                  </a:lnTo>
                  <a:lnTo>
                    <a:pt x="0" y="85630"/>
                  </a:lnTo>
                  <a:lnTo>
                    <a:pt x="2331" y="96748"/>
                  </a:lnTo>
                  <a:lnTo>
                    <a:pt x="8982" y="106456"/>
                  </a:lnTo>
                  <a:lnTo>
                    <a:pt x="193367" y="285569"/>
                  </a:lnTo>
                  <a:lnTo>
                    <a:pt x="222876" y="172120"/>
                  </a:lnTo>
                  <a:lnTo>
                    <a:pt x="161638" y="172120"/>
                  </a:lnTo>
                  <a:lnTo>
                    <a:pt x="50278" y="63945"/>
                  </a:lnTo>
                  <a:lnTo>
                    <a:pt x="40382" y="57578"/>
                  </a:lnTo>
                  <a:lnTo>
                    <a:pt x="29200" y="55570"/>
                  </a:lnTo>
                  <a:close/>
                </a:path>
                <a:path w="259080" h="285750">
                  <a:moveTo>
                    <a:pt x="225107" y="0"/>
                  </a:moveTo>
                  <a:lnTo>
                    <a:pt x="214393" y="3774"/>
                  </a:lnTo>
                  <a:lnTo>
                    <a:pt x="205875" y="11292"/>
                  </a:lnTo>
                  <a:lnTo>
                    <a:pt x="200718" y="21869"/>
                  </a:lnTo>
                  <a:lnTo>
                    <a:pt x="161638" y="172120"/>
                  </a:lnTo>
                  <a:lnTo>
                    <a:pt x="222876" y="172120"/>
                  </a:lnTo>
                  <a:lnTo>
                    <a:pt x="258076" y="36787"/>
                  </a:lnTo>
                  <a:lnTo>
                    <a:pt x="258726" y="25038"/>
                  </a:lnTo>
                  <a:lnTo>
                    <a:pt x="254951" y="14323"/>
                  </a:lnTo>
                  <a:lnTo>
                    <a:pt x="247433" y="5806"/>
                  </a:lnTo>
                  <a:lnTo>
                    <a:pt x="236856" y="650"/>
                  </a:lnTo>
                  <a:lnTo>
                    <a:pt x="2251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018465" y="2188429"/>
            <a:ext cx="3365500" cy="83311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indent="902335">
              <a:lnSpc>
                <a:spcPts val="2100"/>
              </a:lnSpc>
              <a:spcBef>
                <a:spcPts val="219"/>
              </a:spcBef>
            </a:pPr>
            <a:r>
              <a:rPr b="1" dirty="0">
                <a:latin typeface="Trebuchet MS"/>
                <a:cs typeface="Trebuchet MS"/>
              </a:rPr>
              <a:t>Default</a:t>
            </a:r>
            <a:r>
              <a:rPr b="1" spc="-95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Filters </a:t>
            </a:r>
            <a:r>
              <a:rPr b="1" spc="-20" dirty="0">
                <a:latin typeface="Trebuchet MS"/>
                <a:cs typeface="Trebuchet MS"/>
              </a:rPr>
              <a:t>Registry,</a:t>
            </a:r>
            <a:r>
              <a:rPr b="1" spc="-5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File</a:t>
            </a:r>
            <a:r>
              <a:rPr b="1" spc="-5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system,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Network,</a:t>
            </a:r>
            <a:endParaRPr>
              <a:latin typeface="Trebuchet MS"/>
              <a:cs typeface="Trebuchet MS"/>
            </a:endParaRPr>
          </a:p>
          <a:p>
            <a:pPr marL="1163955">
              <a:lnSpc>
                <a:spcPts val="2039"/>
              </a:lnSpc>
            </a:pPr>
            <a:r>
              <a:rPr b="1" spc="-10" dirty="0">
                <a:latin typeface="Trebuchet MS"/>
                <a:cs typeface="Trebuchet MS"/>
              </a:rPr>
              <a:t>Processes</a:t>
            </a:r>
            <a:endParaRPr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09615" y="2379357"/>
            <a:ext cx="59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0" dirty="0">
                <a:latin typeface="Trebuchet MS"/>
                <a:cs typeface="Trebuchet MS"/>
              </a:rPr>
              <a:t>Erase</a:t>
            </a:r>
            <a:endParaRPr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17354" y="2353957"/>
            <a:ext cx="614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0" dirty="0">
                <a:latin typeface="Trebuchet MS"/>
                <a:cs typeface="Trebuchet MS"/>
              </a:rPr>
              <a:t>Filter</a:t>
            </a:r>
            <a:endParaRPr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98998" y="2677557"/>
            <a:ext cx="394970" cy="1946910"/>
            <a:chOff x="3174998" y="2677557"/>
            <a:chExt cx="394970" cy="1946910"/>
          </a:xfrm>
        </p:grpSpPr>
        <p:sp>
          <p:nvSpPr>
            <p:cNvPr id="16" name="object 16"/>
            <p:cNvSpPr/>
            <p:nvPr/>
          </p:nvSpPr>
          <p:spPr>
            <a:xfrm>
              <a:off x="3200398" y="2702957"/>
              <a:ext cx="253365" cy="1800860"/>
            </a:xfrm>
            <a:custGeom>
              <a:avLst/>
              <a:gdLst/>
              <a:ahLst/>
              <a:cxnLst/>
              <a:rect l="l" t="t" r="r" b="b"/>
              <a:pathLst>
                <a:path w="253364" h="1800860">
                  <a:moveTo>
                    <a:pt x="0" y="0"/>
                  </a:moveTo>
                  <a:lnTo>
                    <a:pt x="249367" y="1775306"/>
                  </a:lnTo>
                  <a:lnTo>
                    <a:pt x="252900" y="1800459"/>
                  </a:lnTo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05165" y="4345439"/>
              <a:ext cx="264795" cy="279400"/>
            </a:xfrm>
            <a:custGeom>
              <a:avLst/>
              <a:gdLst/>
              <a:ahLst/>
              <a:cxnLst/>
              <a:rect l="l" t="t" r="r" b="b"/>
              <a:pathLst>
                <a:path w="264795" h="279400">
                  <a:moveTo>
                    <a:pt x="32932" y="29067"/>
                  </a:moveTo>
                  <a:lnTo>
                    <a:pt x="21603" y="29901"/>
                  </a:lnTo>
                  <a:lnTo>
                    <a:pt x="11099" y="35204"/>
                  </a:lnTo>
                  <a:lnTo>
                    <a:pt x="3474" y="44168"/>
                  </a:lnTo>
                  <a:lnTo>
                    <a:pt x="0" y="54984"/>
                  </a:lnTo>
                  <a:lnTo>
                    <a:pt x="834" y="66314"/>
                  </a:lnTo>
                  <a:lnTo>
                    <a:pt x="6137" y="76819"/>
                  </a:lnTo>
                  <a:lnTo>
                    <a:pt x="165108" y="278827"/>
                  </a:lnTo>
                  <a:lnTo>
                    <a:pt x="212738" y="162170"/>
                  </a:lnTo>
                  <a:lnTo>
                    <a:pt x="148722" y="162170"/>
                  </a:lnTo>
                  <a:lnTo>
                    <a:pt x="52711" y="40166"/>
                  </a:lnTo>
                  <a:lnTo>
                    <a:pt x="43748" y="32542"/>
                  </a:lnTo>
                  <a:lnTo>
                    <a:pt x="32932" y="29067"/>
                  </a:lnTo>
                  <a:close/>
                </a:path>
                <a:path w="264795" h="279400">
                  <a:moveTo>
                    <a:pt x="234483" y="0"/>
                  </a:moveTo>
                  <a:lnTo>
                    <a:pt x="223362" y="2319"/>
                  </a:lnTo>
                  <a:lnTo>
                    <a:pt x="213869" y="8719"/>
                  </a:lnTo>
                  <a:lnTo>
                    <a:pt x="207406" y="18438"/>
                  </a:lnTo>
                  <a:lnTo>
                    <a:pt x="148722" y="162170"/>
                  </a:lnTo>
                  <a:lnTo>
                    <a:pt x="212738" y="162170"/>
                  </a:lnTo>
                  <a:lnTo>
                    <a:pt x="262275" y="40839"/>
                  </a:lnTo>
                  <a:lnTo>
                    <a:pt x="264361" y="29901"/>
                  </a:lnTo>
                  <a:lnTo>
                    <a:pt x="264435" y="29067"/>
                  </a:lnTo>
                  <a:lnTo>
                    <a:pt x="262218" y="18438"/>
                  </a:lnTo>
                  <a:lnTo>
                    <a:pt x="262160" y="18160"/>
                  </a:lnTo>
                  <a:lnTo>
                    <a:pt x="255841" y="8719"/>
                  </a:lnTo>
                  <a:lnTo>
                    <a:pt x="246216" y="2319"/>
                  </a:lnTo>
                  <a:lnTo>
                    <a:pt x="246647" y="2319"/>
                  </a:lnTo>
                  <a:lnTo>
                    <a:pt x="2344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337945">
              <a:lnSpc>
                <a:spcPct val="100000"/>
              </a:lnSpc>
              <a:spcBef>
                <a:spcPts val="100"/>
              </a:spcBef>
            </a:pPr>
            <a:r>
              <a:rPr dirty="0"/>
              <a:t>Filtering</a:t>
            </a:r>
            <a:r>
              <a:rPr spc="-90" dirty="0"/>
              <a:t> </a:t>
            </a:r>
            <a:r>
              <a:rPr dirty="0"/>
              <a:t>with</a:t>
            </a:r>
            <a:r>
              <a:rPr spc="-90" dirty="0"/>
              <a:t> </a:t>
            </a:r>
            <a:r>
              <a:rPr spc="-10" dirty="0"/>
              <a:t>Exclude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20" y="1606431"/>
            <a:ext cx="7643495" cy="26212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4965" marR="686435" indent="-342900">
              <a:lnSpc>
                <a:spcPts val="3700"/>
              </a:lnSpc>
              <a:spcBef>
                <a:spcPts val="34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One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technique: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hide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normal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activity </a:t>
            </a:r>
            <a:r>
              <a:rPr sz="3200" dirty="0">
                <a:latin typeface="Trebuchet MS"/>
                <a:cs typeface="Trebuchet MS"/>
              </a:rPr>
              <a:t>before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launching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malware</a:t>
            </a:r>
            <a:endParaRPr sz="3200" dirty="0">
              <a:latin typeface="Trebuchet MS"/>
              <a:cs typeface="Trebuchet MS"/>
            </a:endParaRPr>
          </a:p>
          <a:p>
            <a:pPr marL="354965" indent="-342265">
              <a:lnSpc>
                <a:spcPts val="3770"/>
              </a:lnSpc>
              <a:spcBef>
                <a:spcPts val="525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10" dirty="0">
                <a:latin typeface="Trebuchet MS"/>
                <a:cs typeface="Trebuchet MS"/>
              </a:rPr>
              <a:t>Right-</a:t>
            </a:r>
            <a:r>
              <a:rPr sz="3200" dirty="0">
                <a:latin typeface="Trebuchet MS"/>
                <a:cs typeface="Trebuchet MS"/>
              </a:rPr>
              <a:t>click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each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Process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Name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click</a:t>
            </a:r>
            <a:endParaRPr sz="3200" dirty="0">
              <a:latin typeface="Trebuchet MS"/>
              <a:cs typeface="Trebuchet MS"/>
            </a:endParaRPr>
          </a:p>
          <a:p>
            <a:pPr marL="354965">
              <a:lnSpc>
                <a:spcPts val="3770"/>
              </a:lnSpc>
            </a:pPr>
            <a:r>
              <a:rPr sz="3200" b="1" spc="-10" dirty="0">
                <a:latin typeface="Trebuchet MS"/>
                <a:cs typeface="Trebuchet MS"/>
              </a:rPr>
              <a:t>Exclude</a:t>
            </a:r>
            <a:endParaRPr sz="3200" dirty="0">
              <a:latin typeface="Trebuchet MS"/>
              <a:cs typeface="Trebuchet MS"/>
            </a:endParaRPr>
          </a:p>
          <a:p>
            <a:pPr marL="354965" marR="478155" indent="-342900">
              <a:lnSpc>
                <a:spcPts val="3700"/>
              </a:lnSpc>
              <a:spcBef>
                <a:spcPts val="869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Doesn't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seem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work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well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397000">
              <a:lnSpc>
                <a:spcPct val="100000"/>
              </a:lnSpc>
              <a:spcBef>
                <a:spcPts val="100"/>
              </a:spcBef>
            </a:pPr>
            <a:r>
              <a:rPr dirty="0"/>
              <a:t>Filtering</a:t>
            </a:r>
            <a:r>
              <a:rPr spc="-90" dirty="0"/>
              <a:t> </a:t>
            </a:r>
            <a:r>
              <a:rPr dirty="0"/>
              <a:t>with</a:t>
            </a:r>
            <a:r>
              <a:rPr spc="-90" dirty="0"/>
              <a:t> </a:t>
            </a:r>
            <a:r>
              <a:rPr spc="-10" dirty="0"/>
              <a:t>Include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20" y="1606430"/>
            <a:ext cx="6550025" cy="9829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4965" marR="5080" indent="-342900">
              <a:lnSpc>
                <a:spcPts val="3700"/>
              </a:lnSpc>
              <a:spcBef>
                <a:spcPts val="34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Most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useful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filters: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Process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Name, </a:t>
            </a:r>
            <a:r>
              <a:rPr sz="3200" dirty="0">
                <a:latin typeface="Trebuchet MS"/>
                <a:cs typeface="Trebuchet MS"/>
              </a:rPr>
              <a:t>Operation,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Detail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0475" y="2740025"/>
            <a:ext cx="6692900" cy="4013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08673" y="2166297"/>
            <a:ext cx="5775325" cy="1343660"/>
          </a:xfrm>
          <a:prstGeom prst="rect">
            <a:avLst/>
          </a:prstGeom>
        </p:spPr>
        <p:txBody>
          <a:bodyPr vert="horz" wrap="square" lIns="0" tIns="48260" rIns="0" bIns="0" rtlCol="0" anchor="ctr">
            <a:spAutoFit/>
          </a:bodyPr>
          <a:lstStyle/>
          <a:p>
            <a:pPr marL="837565" marR="5080" indent="-825500">
              <a:lnSpc>
                <a:spcPts val="5100"/>
              </a:lnSpc>
              <a:spcBef>
                <a:spcPts val="380"/>
              </a:spcBef>
            </a:pPr>
            <a:r>
              <a:rPr dirty="0"/>
              <a:t>Viewing</a:t>
            </a:r>
            <a:r>
              <a:rPr spc="-250" dirty="0"/>
              <a:t> </a:t>
            </a:r>
            <a:r>
              <a:rPr dirty="0"/>
              <a:t>Processes</a:t>
            </a:r>
            <a:r>
              <a:rPr spc="-250" dirty="0"/>
              <a:t> </a:t>
            </a:r>
            <a:r>
              <a:rPr spc="-20" dirty="0"/>
              <a:t>with </a:t>
            </a:r>
            <a:r>
              <a:rPr dirty="0"/>
              <a:t>Process</a:t>
            </a:r>
            <a:r>
              <a:rPr spc="-285" dirty="0"/>
              <a:t> </a:t>
            </a:r>
            <a:r>
              <a:rPr spc="-10" dirty="0"/>
              <a:t>Explorer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15" y="661373"/>
            <a:ext cx="8385098" cy="587933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0511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Coloring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526675"/>
            <a:ext cx="6195060" cy="229552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4965" indent="-342265">
              <a:spcBef>
                <a:spcPts val="72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Services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are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pink</a:t>
            </a:r>
            <a:endParaRPr sz="3200">
              <a:latin typeface="Trebuchet MS"/>
              <a:cs typeface="Trebuchet MS"/>
            </a:endParaRPr>
          </a:p>
          <a:p>
            <a:pPr marL="354965" indent="-342265">
              <a:spcBef>
                <a:spcPts val="630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10" dirty="0">
                <a:latin typeface="Trebuchet MS"/>
                <a:cs typeface="Trebuchet MS"/>
              </a:rPr>
              <a:t>Processes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are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blue</a:t>
            </a:r>
            <a:endParaRPr sz="3200">
              <a:latin typeface="Trebuchet MS"/>
              <a:cs typeface="Trebuchet MS"/>
            </a:endParaRPr>
          </a:p>
          <a:p>
            <a:pPr marL="354965" indent="-342265">
              <a:spcBef>
                <a:spcPts val="62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New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processes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are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green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briefly</a:t>
            </a:r>
            <a:endParaRPr sz="3200">
              <a:latin typeface="Trebuchet MS"/>
              <a:cs typeface="Trebuchet MS"/>
            </a:endParaRPr>
          </a:p>
          <a:p>
            <a:pPr marL="354965" indent="-342265">
              <a:spcBef>
                <a:spcPts val="630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45" dirty="0">
                <a:latin typeface="Trebuchet MS"/>
                <a:cs typeface="Trebuchet MS"/>
              </a:rPr>
              <a:t>Terminated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processes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are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red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96870">
              <a:lnSpc>
                <a:spcPct val="100000"/>
              </a:lnSpc>
              <a:spcBef>
                <a:spcPts val="100"/>
              </a:spcBef>
            </a:pPr>
            <a:r>
              <a:rPr dirty="0"/>
              <a:t>DLL</a:t>
            </a:r>
            <a:r>
              <a:rPr spc="-175" dirty="0"/>
              <a:t> </a:t>
            </a:r>
            <a:r>
              <a:rPr spc="-20" dirty="0"/>
              <a:t>Mode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9332" y="1612410"/>
            <a:ext cx="6874932" cy="48351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0797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58100" y="1429298"/>
            <a:ext cx="3893185" cy="450251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14325" marR="5080" indent="-302260">
              <a:lnSpc>
                <a:spcPts val="2880"/>
              </a:lnSpc>
              <a:spcBef>
                <a:spcPts val="610"/>
              </a:spcBef>
              <a:buFont typeface="Arial"/>
              <a:buChar char="•"/>
              <a:tabLst>
                <a:tab pos="314325" algn="l"/>
              </a:tabLst>
            </a:pPr>
            <a:r>
              <a:rPr sz="2800" dirty="0">
                <a:latin typeface="Trebuchet MS"/>
                <a:cs typeface="Trebuchet MS"/>
              </a:rPr>
              <a:t>Shows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DEP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(Data </a:t>
            </a:r>
            <a:r>
              <a:rPr sz="2800" dirty="0">
                <a:latin typeface="Trebuchet MS"/>
                <a:cs typeface="Trebuchet MS"/>
              </a:rPr>
              <a:t>Execution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Prevention)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1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ASLR</a:t>
            </a:r>
            <a:r>
              <a:rPr sz="2800" spc="-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(Address </a:t>
            </a:r>
            <a:r>
              <a:rPr sz="2800" dirty="0">
                <a:latin typeface="Trebuchet MS"/>
                <a:cs typeface="Trebuchet MS"/>
              </a:rPr>
              <a:t>Space</a:t>
            </a:r>
            <a:r>
              <a:rPr sz="2800" spc="-10" dirty="0">
                <a:latin typeface="Trebuchet MS"/>
                <a:cs typeface="Trebuchet MS"/>
              </a:rPr>
              <a:t> Layout </a:t>
            </a:r>
            <a:r>
              <a:rPr sz="2800" dirty="0">
                <a:latin typeface="Trebuchet MS"/>
                <a:cs typeface="Trebuchet MS"/>
              </a:rPr>
              <a:t>Randomization)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status</a:t>
            </a:r>
            <a:endParaRPr sz="2800">
              <a:latin typeface="Trebuchet MS"/>
              <a:cs typeface="Trebuchet MS"/>
            </a:endParaRPr>
          </a:p>
          <a:p>
            <a:pPr marL="314325" marR="287020" indent="-302260">
              <a:lnSpc>
                <a:spcPts val="2880"/>
              </a:lnSpc>
              <a:spcBef>
                <a:spcPts val="675"/>
              </a:spcBef>
              <a:buFont typeface="Arial"/>
              <a:buChar char="•"/>
              <a:tabLst>
                <a:tab pos="314325" algn="l"/>
              </a:tabLst>
            </a:pPr>
            <a:r>
              <a:rPr sz="2800" dirty="0">
                <a:latin typeface="Trebuchet MS"/>
                <a:cs typeface="Trebuchet MS"/>
              </a:rPr>
              <a:t>Verify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button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checks </a:t>
            </a:r>
            <a:r>
              <a:rPr sz="2800" dirty="0">
                <a:latin typeface="Trebuchet MS"/>
                <a:cs typeface="Trebuchet MS"/>
              </a:rPr>
              <a:t>the disk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file's </a:t>
            </a:r>
            <a:r>
              <a:rPr sz="2800" dirty="0">
                <a:latin typeface="Trebuchet MS"/>
                <a:cs typeface="Trebuchet MS"/>
              </a:rPr>
              <a:t>Windows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signature</a:t>
            </a:r>
            <a:endParaRPr sz="2800">
              <a:latin typeface="Trebuchet MS"/>
              <a:cs typeface="Trebuchet MS"/>
            </a:endParaRPr>
          </a:p>
          <a:p>
            <a:pPr marL="721360" marR="671195" indent="-251460">
              <a:lnSpc>
                <a:spcPts val="2520"/>
              </a:lnSpc>
              <a:spcBef>
                <a:spcPts val="560"/>
              </a:spcBef>
            </a:pPr>
            <a:r>
              <a:rPr sz="2450" dirty="0">
                <a:latin typeface="Arial"/>
                <a:cs typeface="Arial"/>
              </a:rPr>
              <a:t>–</a:t>
            </a:r>
            <a:r>
              <a:rPr sz="2450" spc="-80" dirty="0">
                <a:latin typeface="Arial"/>
                <a:cs typeface="Arial"/>
              </a:rPr>
              <a:t> </a:t>
            </a:r>
            <a:r>
              <a:rPr sz="2450" dirty="0">
                <a:latin typeface="Trebuchet MS"/>
                <a:cs typeface="Trebuchet MS"/>
              </a:rPr>
              <a:t>But</a:t>
            </a:r>
            <a:r>
              <a:rPr sz="2450" spc="5" dirty="0">
                <a:latin typeface="Trebuchet MS"/>
                <a:cs typeface="Trebuchet MS"/>
              </a:rPr>
              <a:t> </a:t>
            </a:r>
            <a:r>
              <a:rPr sz="2450" dirty="0">
                <a:latin typeface="Trebuchet MS"/>
                <a:cs typeface="Trebuchet MS"/>
              </a:rPr>
              <a:t>not</a:t>
            </a:r>
            <a:r>
              <a:rPr sz="2450" spc="-5" dirty="0">
                <a:latin typeface="Trebuchet MS"/>
                <a:cs typeface="Trebuchet MS"/>
              </a:rPr>
              <a:t> </a:t>
            </a:r>
            <a:r>
              <a:rPr sz="2450" dirty="0">
                <a:latin typeface="Trebuchet MS"/>
                <a:cs typeface="Trebuchet MS"/>
              </a:rPr>
              <a:t>the </a:t>
            </a:r>
            <a:r>
              <a:rPr sz="2450" spc="-25" dirty="0">
                <a:latin typeface="Trebuchet MS"/>
                <a:cs typeface="Trebuchet MS"/>
              </a:rPr>
              <a:t>RAM </a:t>
            </a:r>
            <a:r>
              <a:rPr sz="2450" dirty="0">
                <a:latin typeface="Trebuchet MS"/>
                <a:cs typeface="Trebuchet MS"/>
              </a:rPr>
              <a:t>image, so</a:t>
            </a:r>
            <a:r>
              <a:rPr sz="2450" spc="5" dirty="0">
                <a:latin typeface="Trebuchet MS"/>
                <a:cs typeface="Trebuchet MS"/>
              </a:rPr>
              <a:t> </a:t>
            </a:r>
            <a:r>
              <a:rPr sz="2450" dirty="0">
                <a:latin typeface="Trebuchet MS"/>
                <a:cs typeface="Trebuchet MS"/>
              </a:rPr>
              <a:t>it</a:t>
            </a:r>
            <a:r>
              <a:rPr sz="2450" spc="-5" dirty="0">
                <a:latin typeface="Trebuchet MS"/>
                <a:cs typeface="Trebuchet MS"/>
              </a:rPr>
              <a:t> </a:t>
            </a:r>
            <a:r>
              <a:rPr sz="2450" spc="-20" dirty="0">
                <a:latin typeface="Trebuchet MS"/>
                <a:cs typeface="Trebuchet MS"/>
              </a:rPr>
              <a:t>won't </a:t>
            </a:r>
            <a:r>
              <a:rPr sz="2450" dirty="0">
                <a:latin typeface="Trebuchet MS"/>
                <a:cs typeface="Trebuchet MS"/>
              </a:rPr>
              <a:t>detect</a:t>
            </a:r>
            <a:r>
              <a:rPr sz="2450" spc="-20" dirty="0">
                <a:latin typeface="Trebuchet MS"/>
                <a:cs typeface="Trebuchet MS"/>
              </a:rPr>
              <a:t> </a:t>
            </a:r>
            <a:r>
              <a:rPr sz="2450" b="1" spc="-10" dirty="0">
                <a:latin typeface="Trebuchet MS"/>
                <a:cs typeface="Trebuchet MS"/>
              </a:rPr>
              <a:t>process replacement</a:t>
            </a:r>
            <a:endParaRPr sz="24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0532" y="1417638"/>
            <a:ext cx="4402667" cy="528126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20" y="1606430"/>
            <a:ext cx="2980055" cy="336502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3700"/>
              </a:lnSpc>
              <a:spcBef>
                <a:spcPts val="340"/>
              </a:spcBef>
            </a:pPr>
            <a:r>
              <a:rPr sz="3200" dirty="0">
                <a:latin typeface="Trebuchet MS"/>
                <a:cs typeface="Trebuchet MS"/>
              </a:rPr>
              <a:t>Compare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Image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Memory </a:t>
            </a:r>
            <a:r>
              <a:rPr sz="3200" dirty="0">
                <a:latin typeface="Trebuchet MS"/>
                <a:cs typeface="Trebuchet MS"/>
              </a:rPr>
              <a:t>strings,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if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they </a:t>
            </a:r>
            <a:r>
              <a:rPr sz="3200" dirty="0">
                <a:latin typeface="Trebuchet MS"/>
                <a:cs typeface="Trebuchet MS"/>
              </a:rPr>
              <a:t>are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very </a:t>
            </a:r>
            <a:r>
              <a:rPr sz="3200" dirty="0">
                <a:latin typeface="Trebuchet MS"/>
                <a:cs typeface="Trebuchet MS"/>
              </a:rPr>
              <a:t>different,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it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can </a:t>
            </a:r>
            <a:r>
              <a:rPr sz="3200" dirty="0">
                <a:latin typeface="Trebuchet MS"/>
                <a:cs typeface="Trebuchet MS"/>
              </a:rPr>
              <a:t>indicate</a:t>
            </a:r>
            <a:r>
              <a:rPr sz="3200" spc="-16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process replacement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8134" y="1282170"/>
            <a:ext cx="4493779" cy="544036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90500">
              <a:lnSpc>
                <a:spcPct val="100000"/>
              </a:lnSpc>
              <a:spcBef>
                <a:spcPts val="100"/>
              </a:spcBef>
            </a:pPr>
            <a:r>
              <a:rPr dirty="0"/>
              <a:t>Detecting</a:t>
            </a:r>
            <a:r>
              <a:rPr spc="-125" dirty="0"/>
              <a:t> </a:t>
            </a:r>
            <a:r>
              <a:rPr dirty="0"/>
              <a:t>Malicious</a:t>
            </a:r>
            <a:r>
              <a:rPr spc="-120" dirty="0"/>
              <a:t> </a:t>
            </a:r>
            <a:r>
              <a:rPr spc="-10" dirty="0"/>
              <a:t>Documents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20" y="1606431"/>
            <a:ext cx="8035925" cy="309571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4965" marR="962025" indent="-342900">
              <a:lnSpc>
                <a:spcPts val="3700"/>
              </a:lnSpc>
              <a:spcBef>
                <a:spcPts val="34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Open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document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(e.g.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PDF)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on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a </a:t>
            </a:r>
            <a:r>
              <a:rPr sz="3200" dirty="0">
                <a:latin typeface="Trebuchet MS"/>
                <a:cs typeface="Trebuchet MS"/>
              </a:rPr>
              <a:t>system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with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vulnerable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application</a:t>
            </a:r>
            <a:endParaRPr sz="3200">
              <a:latin typeface="Trebuchet MS"/>
              <a:cs typeface="Trebuchet MS"/>
            </a:endParaRPr>
          </a:p>
          <a:p>
            <a:pPr marL="354965" marR="1427480" indent="-342900">
              <a:lnSpc>
                <a:spcPts val="37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10" dirty="0">
                <a:latin typeface="Trebuchet MS"/>
                <a:cs typeface="Trebuchet MS"/>
              </a:rPr>
              <a:t>Watch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Process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Explorer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see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if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it </a:t>
            </a:r>
            <a:r>
              <a:rPr sz="3200" dirty="0">
                <a:latin typeface="Trebuchet MS"/>
                <a:cs typeface="Trebuchet MS"/>
              </a:rPr>
              <a:t>launches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process</a:t>
            </a:r>
            <a:endParaRPr sz="3200">
              <a:latin typeface="Trebuchet MS"/>
              <a:cs typeface="Trebuchet MS"/>
            </a:endParaRPr>
          </a:p>
          <a:p>
            <a:pPr marL="354965" marR="5080" indent="-342900">
              <a:lnSpc>
                <a:spcPts val="37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Image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tab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of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that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process's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Properties </a:t>
            </a:r>
            <a:r>
              <a:rPr sz="3200" dirty="0">
                <a:latin typeface="Trebuchet MS"/>
                <a:cs typeface="Trebuchet MS"/>
              </a:rPr>
              <a:t>sheet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will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show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where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malware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is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59422" y="2166297"/>
            <a:ext cx="7473315" cy="1343660"/>
          </a:xfrm>
          <a:prstGeom prst="rect">
            <a:avLst/>
          </a:prstGeom>
        </p:spPr>
        <p:txBody>
          <a:bodyPr vert="horz" wrap="square" lIns="0" tIns="48260" rIns="0" bIns="0" rtlCol="0" anchor="ctr">
            <a:spAutoFit/>
          </a:bodyPr>
          <a:lstStyle/>
          <a:p>
            <a:pPr marL="2130425" marR="5080" indent="-2118360">
              <a:lnSpc>
                <a:spcPts val="5100"/>
              </a:lnSpc>
              <a:spcBef>
                <a:spcPts val="380"/>
              </a:spcBef>
            </a:pPr>
            <a:r>
              <a:rPr dirty="0"/>
              <a:t>Comparing</a:t>
            </a:r>
            <a:r>
              <a:rPr spc="-210" dirty="0"/>
              <a:t> </a:t>
            </a:r>
            <a:r>
              <a:rPr dirty="0"/>
              <a:t>Registry</a:t>
            </a:r>
            <a:r>
              <a:rPr spc="-210" dirty="0"/>
              <a:t> </a:t>
            </a:r>
            <a:r>
              <a:rPr spc="-10" dirty="0"/>
              <a:t>Snapshots </a:t>
            </a:r>
            <a:r>
              <a:rPr dirty="0"/>
              <a:t>with</a:t>
            </a:r>
            <a:r>
              <a:rPr spc="-60" dirty="0"/>
              <a:t> </a:t>
            </a:r>
            <a:r>
              <a:rPr spc="-10" dirty="0"/>
              <a:t>Regshot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14220" y="1526675"/>
            <a:ext cx="3819525" cy="323532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4965" indent="-342265">
              <a:spcBef>
                <a:spcPts val="725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80" dirty="0">
                <a:latin typeface="Trebuchet MS"/>
                <a:cs typeface="Trebuchet MS"/>
              </a:rPr>
              <a:t>Take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1st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shot</a:t>
            </a:r>
            <a:endParaRPr sz="3200">
              <a:latin typeface="Trebuchet MS"/>
              <a:cs typeface="Trebuchet MS"/>
            </a:endParaRPr>
          </a:p>
          <a:p>
            <a:pPr marL="354965" indent="-342265">
              <a:spcBef>
                <a:spcPts val="63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Run</a:t>
            </a:r>
            <a:r>
              <a:rPr sz="3200" spc="-16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malware</a:t>
            </a:r>
            <a:endParaRPr sz="3200">
              <a:latin typeface="Trebuchet MS"/>
              <a:cs typeface="Trebuchet MS"/>
            </a:endParaRPr>
          </a:p>
          <a:p>
            <a:pPr marL="354965" indent="-342265">
              <a:spcBef>
                <a:spcPts val="625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80" dirty="0">
                <a:latin typeface="Trebuchet MS"/>
                <a:cs typeface="Trebuchet MS"/>
              </a:rPr>
              <a:t>Take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2nd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shot</a:t>
            </a:r>
            <a:endParaRPr sz="3200">
              <a:latin typeface="Trebuchet MS"/>
              <a:cs typeface="Trebuchet MS"/>
            </a:endParaRPr>
          </a:p>
          <a:p>
            <a:pPr marL="354965" marR="5080" indent="-342900">
              <a:lnSpc>
                <a:spcPts val="3700"/>
              </a:lnSpc>
              <a:spcBef>
                <a:spcPts val="869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Compare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them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35" dirty="0">
                <a:latin typeface="Trebuchet MS"/>
                <a:cs typeface="Trebuchet MS"/>
              </a:rPr>
              <a:t>to </a:t>
            </a:r>
            <a:r>
              <a:rPr sz="3200" dirty="0">
                <a:latin typeface="Trebuchet MS"/>
                <a:cs typeface="Trebuchet MS"/>
              </a:rPr>
              <a:t>see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what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registry </a:t>
            </a:r>
            <a:r>
              <a:rPr sz="3200" dirty="0">
                <a:latin typeface="Trebuchet MS"/>
                <a:cs typeface="Trebuchet MS"/>
              </a:rPr>
              <a:t>keys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were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changed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8034" y="1742281"/>
            <a:ext cx="4178300" cy="42418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112904" y="475609"/>
            <a:ext cx="1966595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Regshot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86161" y="2166297"/>
            <a:ext cx="5618480" cy="1343660"/>
          </a:xfrm>
          <a:prstGeom prst="rect">
            <a:avLst/>
          </a:prstGeom>
        </p:spPr>
        <p:txBody>
          <a:bodyPr vert="horz" wrap="square" lIns="0" tIns="48260" rIns="0" bIns="0" rtlCol="0" anchor="ctr">
            <a:spAutoFit/>
          </a:bodyPr>
          <a:lstStyle/>
          <a:p>
            <a:pPr marL="1791970" marR="5080" indent="-1779905">
              <a:lnSpc>
                <a:spcPts val="5100"/>
              </a:lnSpc>
              <a:spcBef>
                <a:spcPts val="380"/>
              </a:spcBef>
            </a:pPr>
            <a:r>
              <a:rPr dirty="0"/>
              <a:t>Basic</a:t>
            </a:r>
            <a:r>
              <a:rPr spc="-135" dirty="0"/>
              <a:t> </a:t>
            </a:r>
            <a:r>
              <a:rPr dirty="0"/>
              <a:t>Dynamic</a:t>
            </a:r>
            <a:r>
              <a:rPr spc="-210" dirty="0"/>
              <a:t> </a:t>
            </a:r>
            <a:r>
              <a:rPr spc="-505" dirty="0"/>
              <a:t>T</a:t>
            </a:r>
            <a:r>
              <a:rPr spc="45" dirty="0"/>
              <a:t>ools</a:t>
            </a:r>
            <a:r>
              <a:rPr spc="-130" dirty="0"/>
              <a:t> </a:t>
            </a:r>
            <a:r>
              <a:rPr spc="-25" dirty="0"/>
              <a:t>in </a:t>
            </a:r>
            <a:r>
              <a:rPr spc="-10" dirty="0"/>
              <a:t>Practice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14539" y="475609"/>
            <a:ext cx="376301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spc="-35" dirty="0"/>
              <a:t> </a:t>
            </a:r>
            <a:r>
              <a:rPr dirty="0"/>
              <a:t>the</a:t>
            </a:r>
            <a:r>
              <a:rPr spc="-130" dirty="0"/>
              <a:t> </a:t>
            </a:r>
            <a:r>
              <a:rPr spc="-520" dirty="0"/>
              <a:t>T</a:t>
            </a:r>
            <a:r>
              <a:rPr spc="20" dirty="0"/>
              <a:t>ool</a:t>
            </a:r>
            <a:r>
              <a:rPr spc="3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530830"/>
            <a:ext cx="7773034" cy="2630848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4965" indent="-342265">
              <a:spcBef>
                <a:spcPts val="695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10" dirty="0">
                <a:latin typeface="Trebuchet MS"/>
                <a:cs typeface="Trebuchet MS"/>
              </a:rPr>
              <a:t>Procmon</a:t>
            </a:r>
            <a:endParaRPr sz="3200" dirty="0">
              <a:latin typeface="Trebuchet MS"/>
              <a:cs typeface="Trebuchet MS"/>
            </a:endParaRPr>
          </a:p>
          <a:p>
            <a:pPr marL="755015" marR="5080" indent="-285750">
              <a:lnSpc>
                <a:spcPts val="3200"/>
              </a:lnSpc>
              <a:spcBef>
                <a:spcPts val="760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dirty="0">
                <a:latin typeface="Trebuchet MS"/>
                <a:cs typeface="Trebuchet MS"/>
              </a:rPr>
              <a:t>Filter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malware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executable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name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and </a:t>
            </a:r>
            <a:r>
              <a:rPr sz="2800" dirty="0">
                <a:latin typeface="Trebuchet MS"/>
                <a:cs typeface="Trebuchet MS"/>
              </a:rPr>
              <a:t>clear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all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events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just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before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running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it</a:t>
            </a:r>
            <a:endParaRPr sz="2800" dirty="0">
              <a:latin typeface="Trebuchet MS"/>
              <a:cs typeface="Trebuchet MS"/>
            </a:endParaRPr>
          </a:p>
          <a:p>
            <a:pPr marL="354965" indent="-342265">
              <a:spcBef>
                <a:spcPts val="540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10" dirty="0">
                <a:latin typeface="Trebuchet MS"/>
                <a:cs typeface="Trebuchet MS"/>
              </a:rPr>
              <a:t>Process</a:t>
            </a:r>
            <a:r>
              <a:rPr sz="3200" spc="-18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Explorer</a:t>
            </a:r>
            <a:endParaRPr sz="3200" dirty="0">
              <a:latin typeface="Trebuchet MS"/>
              <a:cs typeface="Trebuchet MS"/>
            </a:endParaRPr>
          </a:p>
          <a:p>
            <a:pPr marL="354965" indent="-342265">
              <a:spcBef>
                <a:spcPts val="625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10" dirty="0" err="1">
                <a:latin typeface="Trebuchet MS"/>
                <a:cs typeface="Trebuchet MS"/>
              </a:rPr>
              <a:t>Regshot</a:t>
            </a: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2ACAE-1AE7-F74C-69E3-C698E2205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3173" y="2463640"/>
            <a:ext cx="2812821" cy="1325563"/>
          </a:xfrm>
        </p:spPr>
        <p:txBody>
          <a:bodyPr/>
          <a:lstStyle/>
          <a:p>
            <a:r>
              <a:rPr lang="en-IN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165266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740</Words>
  <Application>Microsoft Office PowerPoint</Application>
  <PresentationFormat>Widescreen</PresentationFormat>
  <Paragraphs>103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Trebuchet MS</vt:lpstr>
      <vt:lpstr>Office Theme</vt:lpstr>
      <vt:lpstr>Basic Dynamic Analysis</vt:lpstr>
      <vt:lpstr>Dynamic Analysis</vt:lpstr>
      <vt:lpstr>Dynamic Analysis in  Real Machines vs Virtual Machines</vt:lpstr>
      <vt:lpstr>Virtual Machines</vt:lpstr>
      <vt:lpstr>Configuring VMware</vt:lpstr>
      <vt:lpstr>VM Network Configurations</vt:lpstr>
      <vt:lpstr>Snapshots</vt:lpstr>
      <vt:lpstr>Risks of Using VMware for Malware Analysis</vt:lpstr>
      <vt:lpstr>Why Perform Dynamic Analysis?</vt:lpstr>
      <vt:lpstr>Sandboxes: The Quick-and-Dirty Approach</vt:lpstr>
      <vt:lpstr>Sandbox</vt:lpstr>
      <vt:lpstr>Running Malware</vt:lpstr>
      <vt:lpstr>Launching DLLs</vt:lpstr>
      <vt:lpstr>Launching DLLs</vt:lpstr>
      <vt:lpstr>Monitoring with Process Monitor</vt:lpstr>
      <vt:lpstr>Process Monitor</vt:lpstr>
      <vt:lpstr>Launching Calc.exe</vt:lpstr>
      <vt:lpstr>Process Monitor Toolbar</vt:lpstr>
      <vt:lpstr>Filtering with Exclude</vt:lpstr>
      <vt:lpstr>Filtering with Include</vt:lpstr>
      <vt:lpstr>Viewing Processes with Process Explorer</vt:lpstr>
      <vt:lpstr>PowerPoint Presentation</vt:lpstr>
      <vt:lpstr>Coloring</vt:lpstr>
      <vt:lpstr>DLL Mode</vt:lpstr>
      <vt:lpstr>Properties</vt:lpstr>
      <vt:lpstr>Strings</vt:lpstr>
      <vt:lpstr>Detecting Malicious Documents</vt:lpstr>
      <vt:lpstr>Comparing Registry Snapshots with Regshot</vt:lpstr>
      <vt:lpstr>Regshot</vt:lpstr>
      <vt:lpstr>Basic Dynamic Tools in Practice</vt:lpstr>
      <vt:lpstr>Using the Tools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Modhuparna Manna</dc:creator>
  <cp:lastModifiedBy>Modhuparna Manna</cp:lastModifiedBy>
  <cp:revision>3</cp:revision>
  <dcterms:created xsi:type="dcterms:W3CDTF">2026-03-08T09:25:57Z</dcterms:created>
  <dcterms:modified xsi:type="dcterms:W3CDTF">2026-03-08T09:54:09Z</dcterms:modified>
</cp:coreProperties>
</file>