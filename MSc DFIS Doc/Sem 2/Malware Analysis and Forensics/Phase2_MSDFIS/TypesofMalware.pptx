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6"/>
  </p:notesMasterIdLst>
  <p:sldIdLst>
    <p:sldId id="256" r:id="rId2"/>
    <p:sldId id="260" r:id="rId3"/>
    <p:sldId id="261" r:id="rId4"/>
    <p:sldId id="262" r:id="rId5"/>
    <p:sldId id="263" r:id="rId6"/>
    <p:sldId id="602" r:id="rId7"/>
    <p:sldId id="297" r:id="rId8"/>
    <p:sldId id="296" r:id="rId9"/>
    <p:sldId id="265" r:id="rId10"/>
    <p:sldId id="266" r:id="rId11"/>
    <p:sldId id="267" r:id="rId12"/>
    <p:sldId id="268" r:id="rId13"/>
    <p:sldId id="269" r:id="rId14"/>
    <p:sldId id="270" r:id="rId15"/>
    <p:sldId id="271" r:id="rId16"/>
    <p:sldId id="289" r:id="rId17"/>
    <p:sldId id="272" r:id="rId18"/>
    <p:sldId id="273" r:id="rId19"/>
    <p:sldId id="274" r:id="rId20"/>
    <p:sldId id="275" r:id="rId21"/>
    <p:sldId id="276" r:id="rId22"/>
    <p:sldId id="277" r:id="rId23"/>
    <p:sldId id="278" r:id="rId24"/>
    <p:sldId id="279" r:id="rId25"/>
    <p:sldId id="257" r:id="rId26"/>
    <p:sldId id="258" r:id="rId27"/>
    <p:sldId id="259" r:id="rId28"/>
    <p:sldId id="280" r:id="rId29"/>
    <p:sldId id="281" r:id="rId30"/>
    <p:sldId id="282" r:id="rId31"/>
    <p:sldId id="283" r:id="rId32"/>
    <p:sldId id="284" r:id="rId33"/>
    <p:sldId id="285" r:id="rId34"/>
    <p:sldId id="287" r:id="rId35"/>
    <p:sldId id="290" r:id="rId36"/>
    <p:sldId id="288" r:id="rId37"/>
    <p:sldId id="291" r:id="rId38"/>
    <p:sldId id="292" r:id="rId39"/>
    <p:sldId id="293" r:id="rId40"/>
    <p:sldId id="294" r:id="rId41"/>
    <p:sldId id="286" r:id="rId42"/>
    <p:sldId id="295" r:id="rId43"/>
    <p:sldId id="298" r:id="rId44"/>
    <p:sldId id="299" r:id="rId4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960" y="257"/>
      </p:cViewPr>
      <p:guideLst/>
    </p:cSldViewPr>
  </p:slideViewPr>
  <p:notesTextViewPr>
    <p:cViewPr>
      <p:scale>
        <a:sx n="1" d="1"/>
        <a:sy n="1" d="1"/>
      </p:scale>
      <p:origin x="0" y="0"/>
    </p:cViewPr>
  </p:notesTextViewPr>
  <p:notesViewPr>
    <p:cSldViewPr snapToGrid="0">
      <p:cViewPr>
        <p:scale>
          <a:sx n="56" d="100"/>
          <a:sy n="56" d="100"/>
        </p:scale>
        <p:origin x="2582"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4" name="Google Shape;114;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en-US" sz="1200" i="0" dirty="0">
              <a:solidFill>
                <a:schemeClr val="dk1"/>
              </a:solidFill>
              <a:latin typeface="Arial"/>
              <a:ea typeface="Arial"/>
              <a:cs typeface="Arial"/>
              <a:sym typeface="Arial"/>
            </a:endParaRPr>
          </a:p>
          <a:p>
            <a:pPr marL="0" lvl="0" indent="0" algn="l" rtl="0">
              <a:spcBef>
                <a:spcPts val="0"/>
              </a:spcBef>
              <a:spcAft>
                <a:spcPts val="0"/>
              </a:spcAft>
              <a:buNone/>
            </a:pPr>
            <a:r>
              <a:rPr lang="en-US" sz="1200" i="0" dirty="0">
                <a:solidFill>
                  <a:schemeClr val="dk1"/>
                </a:solidFill>
                <a:latin typeface="Arial"/>
                <a:ea typeface="Arial"/>
                <a:cs typeface="Arial"/>
                <a:sym typeface="Arial"/>
              </a:rPr>
              <a:t>.</a:t>
            </a:r>
            <a:endParaRPr dirty="0"/>
          </a:p>
        </p:txBody>
      </p:sp>
      <p:sp>
        <p:nvSpPr>
          <p:cNvPr id="128" name="Google Shape;128;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5" name="Google Shape;13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9" name="Google Shape;14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6" name="Google Shape;156;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3" name="Google Shape;163;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9" name="Google Shape;16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7617" lvl="0" indent="-227617" algn="l" rtl="0">
              <a:spcBef>
                <a:spcPts val="0"/>
              </a:spcBef>
              <a:spcAft>
                <a:spcPts val="0"/>
              </a:spcAft>
              <a:buClr>
                <a:schemeClr val="dk1"/>
              </a:buClr>
              <a:buSzPts val="1200"/>
              <a:buFont typeface="Calibri"/>
              <a:buAutoNum type="arabicPeriod"/>
            </a:pPr>
            <a:endParaRPr dirty="0">
              <a:latin typeface="Arial"/>
              <a:ea typeface="Arial"/>
              <a:cs typeface="Arial"/>
              <a:sym typeface="Arial"/>
            </a:endParaRPr>
          </a:p>
        </p:txBody>
      </p:sp>
      <p:sp>
        <p:nvSpPr>
          <p:cNvPr id="170" name="Google Shape;170;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12</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6" name="Google Shape;17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177" name="Google Shape;17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13</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3" name="Google Shape;183;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184" name="Google Shape;184;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14</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0" name="Google Shape;19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91" name="Google Shape;191;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15</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7" name="Google Shape;19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dirty="0"/>
          </a:p>
        </p:txBody>
      </p:sp>
      <p:sp>
        <p:nvSpPr>
          <p:cNvPr id="198" name="Google Shape;19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17</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4" name="Google Shape;204;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dirty="0"/>
          </a:p>
        </p:txBody>
      </p:sp>
      <p:sp>
        <p:nvSpPr>
          <p:cNvPr id="205" name="Google Shape;205;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18</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12" name="Google Shape;212;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19" name="Google Shape;219;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20</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5" name="Google Shape;22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226" name="Google Shape;226;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21</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2" name="Google Shape;232;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a:p>
        </p:txBody>
      </p:sp>
      <p:sp>
        <p:nvSpPr>
          <p:cNvPr id="233" name="Google Shape;233;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22</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1651322" y="196388"/>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dirty="0"/>
              <a:t>Types of Malicious Software</a:t>
            </a:r>
            <a:endParaRPr dirty="0"/>
          </a:p>
        </p:txBody>
      </p:sp>
      <p:pic>
        <p:nvPicPr>
          <p:cNvPr id="89" name="Google Shape;89;p13"/>
          <p:cNvPicPr preferRelativeResize="0"/>
          <p:nvPr/>
        </p:nvPicPr>
        <p:blipFill rotWithShape="1">
          <a:blip r:embed="rId3">
            <a:alphaModFix/>
          </a:blip>
          <a:srcRect/>
          <a:stretch/>
        </p:blipFill>
        <p:spPr>
          <a:xfrm>
            <a:off x="4043172" y="2836608"/>
            <a:ext cx="4105656" cy="273710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Malicious Code</a:t>
            </a:r>
            <a:endParaRPr/>
          </a:p>
        </p:txBody>
      </p:sp>
      <p:sp>
        <p:nvSpPr>
          <p:cNvPr id="117" name="Google Shape;117;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Malicious code, or malware, refers to software that has been designed for some nefarious purpose.</a:t>
            </a:r>
            <a:endParaRPr dirty="0"/>
          </a:p>
          <a:p>
            <a:pPr marL="228600" lvl="0" indent="-228600" algn="l" rtl="0">
              <a:lnSpc>
                <a:spcPct val="90000"/>
              </a:lnSpc>
              <a:spcBef>
                <a:spcPts val="1000"/>
              </a:spcBef>
              <a:spcAft>
                <a:spcPts val="0"/>
              </a:spcAft>
              <a:buClr>
                <a:schemeClr val="dk1"/>
              </a:buClr>
              <a:buSzPts val="2800"/>
              <a:buChar char="•"/>
            </a:pPr>
            <a:r>
              <a:rPr lang="en-US" dirty="0"/>
              <a:t>Patching of vulnerabilities is important, for it closes the point of entry for most malware.</a:t>
            </a:r>
            <a:endParaRPr dirty="0"/>
          </a:p>
          <a:p>
            <a:pPr marL="228600" lvl="0" indent="-228600" algn="l" rtl="0">
              <a:lnSpc>
                <a:spcPct val="90000"/>
              </a:lnSpc>
              <a:spcBef>
                <a:spcPts val="1000"/>
              </a:spcBef>
              <a:spcAft>
                <a:spcPts val="0"/>
              </a:spcAft>
              <a:buClr>
                <a:schemeClr val="dk1"/>
              </a:buClr>
              <a:buSzPts val="2800"/>
              <a:buChar char="•"/>
            </a:pPr>
            <a:r>
              <a:rPr lang="en-US" dirty="0"/>
              <a:t>Types of malicious software include:</a:t>
            </a:r>
            <a:endParaRPr dirty="0"/>
          </a:p>
          <a:p>
            <a:pPr marL="685800" lvl="1" indent="-228600" algn="l" rtl="0">
              <a:lnSpc>
                <a:spcPct val="90000"/>
              </a:lnSpc>
              <a:spcBef>
                <a:spcPts val="500"/>
              </a:spcBef>
              <a:spcAft>
                <a:spcPts val="0"/>
              </a:spcAft>
              <a:buClr>
                <a:schemeClr val="dk1"/>
              </a:buClr>
              <a:buSzPts val="2400"/>
              <a:buChar char="•"/>
            </a:pPr>
            <a:r>
              <a:rPr lang="en-US" dirty="0"/>
              <a:t>Viruses, Trojan horses, logic bombs, spyware, and worms</a:t>
            </a:r>
            <a:endParaRPr dirty="0"/>
          </a:p>
          <a:p>
            <a:pPr marL="228600" lvl="0" indent="-228600" algn="l" rtl="0">
              <a:lnSpc>
                <a:spcPct val="90000"/>
              </a:lnSpc>
              <a:spcBef>
                <a:spcPts val="1000"/>
              </a:spcBef>
              <a:spcAft>
                <a:spcPts val="0"/>
              </a:spcAft>
              <a:buClr>
                <a:schemeClr val="dk1"/>
              </a:buClr>
              <a:buSzPts val="2800"/>
              <a:buChar char="•"/>
            </a:pPr>
            <a:r>
              <a:rPr lang="en-US" dirty="0"/>
              <a:t>Malware can be complex in its construction.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Virus</a:t>
            </a:r>
            <a:endParaRPr dirty="0"/>
          </a:p>
        </p:txBody>
      </p:sp>
      <p:sp>
        <p:nvSpPr>
          <p:cNvPr id="124" name="Google Shape;124;p18"/>
          <p:cNvSpPr txBox="1">
            <a:spLocks noGrp="1"/>
          </p:cNvSpPr>
          <p:nvPr>
            <p:ph type="body" idx="1"/>
          </p:nvPr>
        </p:nvSpPr>
        <p:spPr>
          <a:xfrm>
            <a:off x="838200" y="1582223"/>
            <a:ext cx="10515600" cy="4351338"/>
          </a:xfrm>
          <a:prstGeom prst="rect">
            <a:avLst/>
          </a:prstGeom>
          <a:noFill/>
          <a:ln>
            <a:noFill/>
          </a:ln>
        </p:spPr>
        <p:txBody>
          <a:bodyPr spcFirstLastPara="1" wrap="square" lIns="91425" tIns="45700" rIns="91425" bIns="45700" anchor="t" anchorCtr="0">
            <a:normAutofit/>
          </a:bodyPr>
          <a:lstStyle/>
          <a:p>
            <a:pPr indent="-457200">
              <a:spcBef>
                <a:spcPts val="0"/>
              </a:spcBef>
              <a:buSzPts val="2800"/>
            </a:pPr>
            <a:r>
              <a:rPr lang="en-US" dirty="0"/>
              <a:t>Virus is a piece of malicious code that replicates by attaching itself to another piece of executable code.</a:t>
            </a:r>
          </a:p>
          <a:p>
            <a:pPr indent="-457200">
              <a:spcBef>
                <a:spcPts val="0"/>
              </a:spcBef>
              <a:buSzPts val="2800"/>
            </a:pPr>
            <a:endParaRPr lang="en-US" dirty="0"/>
          </a:p>
          <a:p>
            <a:pPr indent="-457200">
              <a:spcBef>
                <a:spcPts val="0"/>
              </a:spcBef>
              <a:buSzPts val="2800"/>
            </a:pPr>
            <a:r>
              <a:rPr lang="en-US" dirty="0"/>
              <a:t>When the other executable code is run, the virus also executes, infects other files and perform any other nefarious actions it was designed to do.</a:t>
            </a:r>
          </a:p>
          <a:p>
            <a:pPr indent="-457200">
              <a:spcBef>
                <a:spcPts val="0"/>
              </a:spcBef>
              <a:buSzPts val="2800"/>
            </a:pPr>
            <a:endParaRPr lang="en-US" dirty="0"/>
          </a:p>
          <a:p>
            <a:pPr indent="-457200">
              <a:spcBef>
                <a:spcPts val="0"/>
              </a:spcBef>
              <a:buSzPts val="2800"/>
            </a:pPr>
            <a:r>
              <a:rPr lang="en-US" dirty="0"/>
              <a:t>The specific way that a virus infects other files, and the type of files it infects, depends on the type of virus.</a:t>
            </a:r>
          </a:p>
          <a:p>
            <a:pPr indent="-457200">
              <a:spcBef>
                <a:spcPts val="0"/>
              </a:spcBef>
              <a:buSzPts val="2800"/>
            </a:pPr>
            <a:endParaRPr lang="en-US" dirty="0"/>
          </a:p>
          <a:p>
            <a:pPr indent="-457200">
              <a:spcBef>
                <a:spcPts val="0"/>
              </a:spcBef>
              <a:buSzPts val="2800"/>
            </a:pPr>
            <a:r>
              <a:rPr lang="en-US" dirty="0"/>
              <a:t>There are boot sector viruses and program viruses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Types of Virus</a:t>
            </a:r>
            <a:endParaRPr dirty="0"/>
          </a:p>
        </p:txBody>
      </p:sp>
      <p:sp>
        <p:nvSpPr>
          <p:cNvPr id="131" name="Google Shape;131;p19"/>
          <p:cNvSpPr txBox="1">
            <a:spLocks noGrp="1"/>
          </p:cNvSpPr>
          <p:nvPr>
            <p:ph type="body" idx="1"/>
          </p:nvPr>
        </p:nvSpPr>
        <p:spPr>
          <a:xfrm>
            <a:off x="1736702" y="1624869"/>
            <a:ext cx="8428050" cy="4644364"/>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A boot sector virus infects the boot sector portion of a floppy disk or hard drive.</a:t>
            </a:r>
            <a:endParaRPr dirty="0"/>
          </a:p>
          <a:p>
            <a:pPr marL="228600" lvl="0" indent="-228600" algn="l" rtl="0">
              <a:lnSpc>
                <a:spcPct val="90000"/>
              </a:lnSpc>
              <a:spcBef>
                <a:spcPts val="1000"/>
              </a:spcBef>
              <a:spcAft>
                <a:spcPts val="0"/>
              </a:spcAft>
              <a:buClr>
                <a:schemeClr val="dk1"/>
              </a:buClr>
              <a:buSzPts val="2800"/>
              <a:buChar char="•"/>
            </a:pPr>
            <a:r>
              <a:rPr lang="en-US" dirty="0"/>
              <a:t>A program virus attaches itself to executable files so that it is executed before the program executes.</a:t>
            </a:r>
            <a:endParaRPr dirty="0"/>
          </a:p>
          <a:p>
            <a:pPr marL="685800" lvl="1" indent="-228600" algn="l" rtl="0">
              <a:lnSpc>
                <a:spcPct val="90000"/>
              </a:lnSpc>
              <a:spcBef>
                <a:spcPts val="500"/>
              </a:spcBef>
              <a:spcAft>
                <a:spcPts val="0"/>
              </a:spcAft>
              <a:buClr>
                <a:schemeClr val="dk1"/>
              </a:buClr>
              <a:buSzPts val="2400"/>
              <a:buChar char="•"/>
            </a:pPr>
            <a:r>
              <a:rPr lang="en-US" dirty="0"/>
              <a:t>Most program viruses also hide a nefarious purpose, such as deleting the hard drive data.</a:t>
            </a:r>
            <a:endParaRPr dirty="0"/>
          </a:p>
          <a:p>
            <a:pPr marL="228600" lvl="0" indent="-228600" algn="l" rtl="0">
              <a:lnSpc>
                <a:spcPct val="90000"/>
              </a:lnSpc>
              <a:spcBef>
                <a:spcPts val="1000"/>
              </a:spcBef>
              <a:spcAft>
                <a:spcPts val="0"/>
              </a:spcAft>
              <a:buClr>
                <a:schemeClr val="dk1"/>
              </a:buClr>
              <a:buSzPts val="2800"/>
              <a:buChar char="•"/>
            </a:pPr>
            <a:r>
              <a:rPr lang="en-US" dirty="0"/>
              <a:t>A macro virus results from software that includes macro-programming languages.</a:t>
            </a:r>
            <a:endParaRPr dirty="0"/>
          </a:p>
          <a:p>
            <a:pPr marL="685800" lvl="1" indent="-228600" algn="l" rtl="0">
              <a:lnSpc>
                <a:spcPct val="90000"/>
              </a:lnSpc>
              <a:spcBef>
                <a:spcPts val="500"/>
              </a:spcBef>
              <a:spcAft>
                <a:spcPts val="0"/>
              </a:spcAft>
              <a:buClr>
                <a:schemeClr val="dk1"/>
              </a:buClr>
              <a:buSzPts val="2400"/>
              <a:buChar char="•"/>
            </a:pPr>
            <a:r>
              <a:rPr lang="en-US" dirty="0"/>
              <a:t>Best practice is to advise users never to open a document attached to an e-mail if it seems at all suspicious.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Viruses </a:t>
            </a:r>
            <a:endParaRPr dirty="0"/>
          </a:p>
        </p:txBody>
      </p:sp>
      <p:sp>
        <p:nvSpPr>
          <p:cNvPr id="138" name="Google Shape;138;p20"/>
          <p:cNvSpPr txBox="1">
            <a:spLocks noGrp="1"/>
          </p:cNvSpPr>
          <p:nvPr>
            <p:ph type="body" idx="1"/>
          </p:nvPr>
        </p:nvSpPr>
        <p:spPr>
          <a:xfrm>
            <a:off x="1644604" y="1493301"/>
            <a:ext cx="8566196" cy="4831299"/>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1000"/>
              </a:spcBef>
              <a:spcAft>
                <a:spcPts val="0"/>
              </a:spcAft>
              <a:buClr>
                <a:schemeClr val="dk1"/>
              </a:buClr>
              <a:buSzPts val="2800"/>
              <a:buChar char="•"/>
            </a:pPr>
            <a:r>
              <a:rPr lang="en-US" dirty="0"/>
              <a:t>Two advances in virus writing have made it more difficult for antivirus software to detect viruses.</a:t>
            </a:r>
            <a:endParaRPr dirty="0"/>
          </a:p>
          <a:p>
            <a:pPr marL="685800" lvl="1" indent="-228600" algn="l" rtl="0">
              <a:lnSpc>
                <a:spcPct val="90000"/>
              </a:lnSpc>
              <a:spcBef>
                <a:spcPts val="500"/>
              </a:spcBef>
              <a:spcAft>
                <a:spcPts val="0"/>
              </a:spcAft>
              <a:buClr>
                <a:schemeClr val="dk1"/>
              </a:buClr>
              <a:buSzPts val="2400"/>
              <a:buChar char="•"/>
            </a:pPr>
            <a:r>
              <a:rPr lang="en-US" sz="2800" i="1" dirty="0"/>
              <a:t>Stealth virus</a:t>
            </a:r>
            <a:endParaRPr sz="2800" dirty="0"/>
          </a:p>
          <a:p>
            <a:pPr marL="685800" lvl="1" indent="-228600" algn="l" rtl="0">
              <a:lnSpc>
                <a:spcPct val="90000"/>
              </a:lnSpc>
              <a:spcBef>
                <a:spcPts val="500"/>
              </a:spcBef>
              <a:spcAft>
                <a:spcPts val="0"/>
              </a:spcAft>
              <a:buClr>
                <a:schemeClr val="dk1"/>
              </a:buClr>
              <a:buSzPts val="2400"/>
              <a:buChar char="•"/>
            </a:pPr>
            <a:r>
              <a:rPr lang="en-US" sz="2800" i="1" dirty="0"/>
              <a:t>Polymorphic virus</a:t>
            </a:r>
          </a:p>
          <a:p>
            <a:pPr marL="457200" lvl="1" indent="0" algn="l" rtl="0">
              <a:lnSpc>
                <a:spcPct val="90000"/>
              </a:lnSpc>
              <a:spcBef>
                <a:spcPts val="500"/>
              </a:spcBef>
              <a:spcAft>
                <a:spcPts val="0"/>
              </a:spcAft>
              <a:buClr>
                <a:schemeClr val="dk1"/>
              </a:buClr>
              <a:buSzPts val="2400"/>
              <a:buNone/>
            </a:pPr>
            <a:endParaRPr lang="en-US" sz="2800" i="1" dirty="0"/>
          </a:p>
          <a:p>
            <a:pPr marL="228600" lvl="0" indent="-228600">
              <a:spcBef>
                <a:spcPts val="0"/>
              </a:spcBef>
              <a:buSzPts val="2800"/>
            </a:pPr>
            <a:r>
              <a:rPr lang="en-US" dirty="0"/>
              <a:t>Armored viruses resist being reverse-engineered.</a:t>
            </a:r>
          </a:p>
          <a:p>
            <a:pPr marL="685800" lvl="1" indent="-228600">
              <a:buSzPts val="2400"/>
            </a:pPr>
            <a:r>
              <a:rPr lang="en-US" sz="2800" dirty="0"/>
              <a:t>Makes the process of determining information from reverse engineering a viruses functionality more difficult</a:t>
            </a:r>
            <a:endParaRPr lang="en-US" sz="2800" i="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Polymorphic / Metamorphic Malware</a:t>
            </a:r>
          </a:p>
        </p:txBody>
      </p:sp>
      <p:sp>
        <p:nvSpPr>
          <p:cNvPr id="4" name="Rectangle 3"/>
          <p:cNvSpPr/>
          <p:nvPr/>
        </p:nvSpPr>
        <p:spPr>
          <a:xfrm>
            <a:off x="2805734" y="1794237"/>
            <a:ext cx="6187275" cy="652449"/>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5" name="Rectangle 4"/>
          <p:cNvSpPr/>
          <p:nvPr/>
        </p:nvSpPr>
        <p:spPr>
          <a:xfrm>
            <a:off x="2805733" y="1794237"/>
            <a:ext cx="209738" cy="65244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2805734" y="2808802"/>
            <a:ext cx="6187275" cy="652449"/>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7" name="Rectangle 6"/>
          <p:cNvSpPr/>
          <p:nvPr/>
        </p:nvSpPr>
        <p:spPr>
          <a:xfrm>
            <a:off x="2805733" y="2808802"/>
            <a:ext cx="209738" cy="652449"/>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
        <p:nvSpPr>
          <p:cNvPr id="8" name="Rectangle 7"/>
          <p:cNvSpPr/>
          <p:nvPr/>
        </p:nvSpPr>
        <p:spPr>
          <a:xfrm>
            <a:off x="2805734" y="3764175"/>
            <a:ext cx="6187275" cy="652449"/>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9" name="Rectangle 8"/>
          <p:cNvSpPr/>
          <p:nvPr/>
        </p:nvSpPr>
        <p:spPr>
          <a:xfrm>
            <a:off x="2805733" y="3764175"/>
            <a:ext cx="209738" cy="652449"/>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0" name="Rectangle 9"/>
          <p:cNvSpPr/>
          <p:nvPr/>
        </p:nvSpPr>
        <p:spPr>
          <a:xfrm>
            <a:off x="2805734" y="4778740"/>
            <a:ext cx="6187275" cy="652449"/>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 name="Rectangle 10"/>
          <p:cNvSpPr/>
          <p:nvPr/>
        </p:nvSpPr>
        <p:spPr>
          <a:xfrm>
            <a:off x="2805733" y="4778740"/>
            <a:ext cx="209738" cy="652449"/>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3" name="Circular Arrow 12"/>
          <p:cNvSpPr/>
          <p:nvPr/>
        </p:nvSpPr>
        <p:spPr>
          <a:xfrm rot="5400000">
            <a:off x="8899792" y="1840839"/>
            <a:ext cx="1106951" cy="1211692"/>
          </a:xfrm>
          <a:prstGeom prst="circular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solidFill>
                <a:schemeClr val="tx1"/>
              </a:solidFill>
            </a:endParaRPr>
          </a:p>
        </p:txBody>
      </p:sp>
      <p:sp>
        <p:nvSpPr>
          <p:cNvPr id="14" name="Circular Arrow 13"/>
          <p:cNvSpPr/>
          <p:nvPr/>
        </p:nvSpPr>
        <p:spPr>
          <a:xfrm rot="5400000">
            <a:off x="8940511" y="2947791"/>
            <a:ext cx="1106951" cy="1211692"/>
          </a:xfrm>
          <a:prstGeom prst="circular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solidFill>
                <a:schemeClr val="tx1"/>
              </a:solidFill>
            </a:endParaRPr>
          </a:p>
        </p:txBody>
      </p:sp>
      <p:sp>
        <p:nvSpPr>
          <p:cNvPr id="15" name="Circular Arrow 14"/>
          <p:cNvSpPr/>
          <p:nvPr/>
        </p:nvSpPr>
        <p:spPr>
          <a:xfrm rot="5400000">
            <a:off x="8940511" y="4054743"/>
            <a:ext cx="1106951" cy="1211692"/>
          </a:xfrm>
          <a:prstGeom prst="circular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solidFill>
                <a:schemeClr val="tx1"/>
              </a:solidFill>
            </a:endParaRPr>
          </a:p>
        </p:txBody>
      </p:sp>
      <p:cxnSp>
        <p:nvCxnSpPr>
          <p:cNvPr id="17" name="Straight Arrow Connector 16"/>
          <p:cNvCxnSpPr/>
          <p:nvPr/>
        </p:nvCxnSpPr>
        <p:spPr>
          <a:xfrm flipV="1">
            <a:off x="1861911" y="5534170"/>
            <a:ext cx="943822" cy="7806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flipV="1">
            <a:off x="1861911" y="4416624"/>
            <a:ext cx="943822" cy="189815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1861912" y="3410996"/>
            <a:ext cx="874249" cy="290378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1861912" y="2111506"/>
            <a:ext cx="874249" cy="420327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698781" y="6351479"/>
            <a:ext cx="2595582" cy="461665"/>
          </a:xfrm>
          <a:prstGeom prst="rect">
            <a:avLst/>
          </a:prstGeom>
          <a:noFill/>
        </p:spPr>
        <p:txBody>
          <a:bodyPr wrap="none" rtlCol="0">
            <a:spAutoFit/>
          </a:bodyPr>
          <a:lstStyle/>
          <a:p>
            <a:r>
              <a:rPr lang="en-US" sz="2400" b="1" dirty="0"/>
              <a:t>Decryption code</a:t>
            </a:r>
          </a:p>
        </p:txBody>
      </p:sp>
      <p:sp>
        <p:nvSpPr>
          <p:cNvPr id="30" name="Right Brace 29"/>
          <p:cNvSpPr/>
          <p:nvPr/>
        </p:nvSpPr>
        <p:spPr>
          <a:xfrm rot="5400000">
            <a:off x="5816951" y="2800847"/>
            <a:ext cx="374576" cy="597753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1" name="TextBox 30"/>
          <p:cNvSpPr txBox="1"/>
          <p:nvPr/>
        </p:nvSpPr>
        <p:spPr>
          <a:xfrm>
            <a:off x="4588509" y="6022391"/>
            <a:ext cx="3280065" cy="584775"/>
          </a:xfrm>
          <a:prstGeom prst="rect">
            <a:avLst/>
          </a:prstGeom>
          <a:noFill/>
        </p:spPr>
        <p:txBody>
          <a:bodyPr wrap="none" rtlCol="0">
            <a:spAutoFit/>
          </a:bodyPr>
          <a:lstStyle/>
          <a:p>
            <a:r>
              <a:rPr lang="en-US" sz="3200" b="1" dirty="0"/>
              <a:t>Main virus code</a:t>
            </a:r>
          </a:p>
        </p:txBody>
      </p:sp>
      <p:sp>
        <p:nvSpPr>
          <p:cNvPr id="3" name="Footer Placeholder 2">
            <a:extLst>
              <a:ext uri="{FF2B5EF4-FFF2-40B4-BE49-F238E27FC236}">
                <a16:creationId xmlns:a16="http://schemas.microsoft.com/office/drawing/2014/main" id="{DF94D601-71EE-1C49-BB7F-CA37A4C699EA}"/>
              </a:ext>
            </a:extLst>
          </p:cNvPr>
          <p:cNvSpPr>
            <a:spLocks noGrp="1"/>
          </p:cNvSpPr>
          <p:nvPr>
            <p:ph type="ftr" sz="quarter" idx="11"/>
          </p:nvPr>
        </p:nvSpPr>
        <p:spPr>
          <a:xfrm>
            <a:off x="7009852" y="6582311"/>
            <a:ext cx="5105400" cy="228599"/>
          </a:xfrm>
          <a:prstGeom prst="rect">
            <a:avLst/>
          </a:prstGeom>
        </p:spPr>
        <p:txBody>
          <a:bodyPr spcFirstLastPara="1" vert="horz" wrap="square" lIns="91440" tIns="45720" rIns="91440" bIns="45720" rtlCol="0" anchor="ctr" anchorCtr="0">
            <a:noAutofit/>
          </a:bodyPr>
          <a:lstStyle>
            <a:defPPr>
              <a:defRPr lang="en-US"/>
            </a:defPPr>
            <a:lvl1pPr algn="r" rtl="0" eaLnBrk="0" fontAlgn="base" hangingPunct="0">
              <a:spcBef>
                <a:spcPct val="0"/>
              </a:spcBef>
              <a:spcAft>
                <a:spcPct val="0"/>
              </a:spcAft>
              <a:defRPr sz="1200" kern="1200">
                <a:solidFill>
                  <a:schemeClr val="tx1">
                    <a:tint val="75000"/>
                  </a:schemeClr>
                </a:solidFill>
                <a:latin typeface="Arial" charset="0"/>
                <a:ea typeface="ＭＳ Ｐゴシック" charset="0"/>
                <a:cs typeface="Arial" charset="0"/>
              </a:defRPr>
            </a:lvl1pPr>
            <a:lvl2pPr marL="457159" algn="l" rtl="0" eaLnBrk="0" fontAlgn="base" hangingPunct="0">
              <a:spcBef>
                <a:spcPct val="0"/>
              </a:spcBef>
              <a:spcAft>
                <a:spcPct val="0"/>
              </a:spcAft>
              <a:defRPr kern="1200">
                <a:solidFill>
                  <a:schemeClr val="tx1"/>
                </a:solidFill>
                <a:latin typeface="Arial" charset="0"/>
                <a:ea typeface="ＭＳ Ｐゴシック" charset="0"/>
                <a:cs typeface="Arial" charset="0"/>
              </a:defRPr>
            </a:lvl2pPr>
            <a:lvl3pPr marL="914318" algn="l" rtl="0" eaLnBrk="0" fontAlgn="base" hangingPunct="0">
              <a:spcBef>
                <a:spcPct val="0"/>
              </a:spcBef>
              <a:spcAft>
                <a:spcPct val="0"/>
              </a:spcAft>
              <a:defRPr kern="1200">
                <a:solidFill>
                  <a:schemeClr val="tx1"/>
                </a:solidFill>
                <a:latin typeface="Arial" charset="0"/>
                <a:ea typeface="ＭＳ Ｐゴシック" charset="0"/>
                <a:cs typeface="Arial" charset="0"/>
              </a:defRPr>
            </a:lvl3pPr>
            <a:lvl4pPr marL="1371477" algn="l" rtl="0" eaLnBrk="0" fontAlgn="base" hangingPunct="0">
              <a:spcBef>
                <a:spcPct val="0"/>
              </a:spcBef>
              <a:spcAft>
                <a:spcPct val="0"/>
              </a:spcAft>
              <a:defRPr kern="1200">
                <a:solidFill>
                  <a:schemeClr val="tx1"/>
                </a:solidFill>
                <a:latin typeface="Arial" charset="0"/>
                <a:ea typeface="ＭＳ Ｐゴシック" charset="0"/>
                <a:cs typeface="Arial" charset="0"/>
              </a:defRPr>
            </a:lvl4pPr>
            <a:lvl5pPr marL="1828637" algn="l" rtl="0" eaLnBrk="0" fontAlgn="base" hangingPunct="0">
              <a:spcBef>
                <a:spcPct val="0"/>
              </a:spcBef>
              <a:spcAft>
                <a:spcPct val="0"/>
              </a:spcAft>
              <a:defRPr kern="1200">
                <a:solidFill>
                  <a:schemeClr val="tx1"/>
                </a:solidFill>
                <a:latin typeface="Arial" charset="0"/>
                <a:ea typeface="ＭＳ Ｐゴシック" charset="0"/>
                <a:cs typeface="Arial" charset="0"/>
              </a:defRPr>
            </a:lvl5pPr>
            <a:lvl6pPr marL="2285797" algn="l" defTabSz="457159" rtl="0" eaLnBrk="1" latinLnBrk="0" hangingPunct="1">
              <a:defRPr kern="1200">
                <a:solidFill>
                  <a:schemeClr val="tx1"/>
                </a:solidFill>
                <a:latin typeface="Arial" charset="0"/>
                <a:ea typeface="ＭＳ Ｐゴシック" charset="0"/>
                <a:cs typeface="Arial" charset="0"/>
              </a:defRPr>
            </a:lvl6pPr>
            <a:lvl7pPr marL="2742956" algn="l" defTabSz="457159" rtl="0" eaLnBrk="1" latinLnBrk="0" hangingPunct="1">
              <a:defRPr kern="1200">
                <a:solidFill>
                  <a:schemeClr val="tx1"/>
                </a:solidFill>
                <a:latin typeface="Arial" charset="0"/>
                <a:ea typeface="ＭＳ Ｐゴシック" charset="0"/>
                <a:cs typeface="Arial" charset="0"/>
              </a:defRPr>
            </a:lvl7pPr>
            <a:lvl8pPr marL="3200115" algn="l" defTabSz="457159" rtl="0" eaLnBrk="1" latinLnBrk="0" hangingPunct="1">
              <a:defRPr kern="1200">
                <a:solidFill>
                  <a:schemeClr val="tx1"/>
                </a:solidFill>
                <a:latin typeface="Arial" charset="0"/>
                <a:ea typeface="ＭＳ Ｐゴシック" charset="0"/>
                <a:cs typeface="Arial" charset="0"/>
              </a:defRPr>
            </a:lvl8pPr>
            <a:lvl9pPr marL="3657274" algn="l" defTabSz="457159" rtl="0" eaLnBrk="1" latinLnBrk="0" hangingPunct="1">
              <a:defRPr kern="1200">
                <a:solidFill>
                  <a:schemeClr val="tx1"/>
                </a:solidFill>
                <a:latin typeface="Arial" charset="0"/>
                <a:ea typeface="ＭＳ Ｐゴシック" charset="0"/>
                <a:cs typeface="Arial" charset="0"/>
              </a:defRPr>
            </a:lvl9pPr>
          </a:lstStyle>
          <a:p>
            <a:r>
              <a:rPr lang="en-US" dirty="0"/>
              <a:t>Copyright 2009-2021 by Golden G. Richard III (@nolaforensix)</a:t>
            </a:r>
          </a:p>
        </p:txBody>
      </p:sp>
    </p:spTree>
    <p:extLst>
      <p:ext uri="{BB962C8B-B14F-4D97-AF65-F5344CB8AC3E}">
        <p14:creationId xmlns:p14="http://schemas.microsoft.com/office/powerpoint/2010/main" val="704799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F0654-5CE7-B25A-7AC4-D138796F6B90}"/>
              </a:ext>
            </a:extLst>
          </p:cNvPr>
          <p:cNvSpPr>
            <a:spLocks noGrp="1"/>
          </p:cNvSpPr>
          <p:nvPr>
            <p:ph type="title"/>
          </p:nvPr>
        </p:nvSpPr>
        <p:spPr/>
        <p:txBody>
          <a:bodyPr/>
          <a:lstStyle/>
          <a:p>
            <a:r>
              <a:rPr lang="en-IN" dirty="0"/>
              <a:t>Prevention Techniques against Virus</a:t>
            </a:r>
          </a:p>
        </p:txBody>
      </p:sp>
      <p:sp>
        <p:nvSpPr>
          <p:cNvPr id="3" name="Text Placeholder 2">
            <a:extLst>
              <a:ext uri="{FF2B5EF4-FFF2-40B4-BE49-F238E27FC236}">
                <a16:creationId xmlns:a16="http://schemas.microsoft.com/office/drawing/2014/main" id="{E24D0714-7FD7-8A95-8271-70613F06FFE4}"/>
              </a:ext>
            </a:extLst>
          </p:cNvPr>
          <p:cNvSpPr>
            <a:spLocks noGrp="1"/>
          </p:cNvSpPr>
          <p:nvPr>
            <p:ph type="body" idx="1"/>
          </p:nvPr>
        </p:nvSpPr>
        <p:spPr/>
        <p:txBody>
          <a:bodyPr/>
          <a:lstStyle/>
          <a:p>
            <a:pPr marL="685800" lvl="1" indent="-228600">
              <a:buSzPts val="2400"/>
            </a:pPr>
            <a:r>
              <a:rPr lang="en-US" sz="2800" dirty="0"/>
              <a:t>Be cautious about executing programs or opening documents sent to you.</a:t>
            </a:r>
          </a:p>
          <a:p>
            <a:pPr marL="685800" lvl="1" indent="-228600">
              <a:buSzPts val="2400"/>
            </a:pPr>
            <a:r>
              <a:rPr lang="en-US" sz="2800" dirty="0"/>
              <a:t>Install and run an antivirus program and maintain an up-to-date listing of virus signatures for the software.</a:t>
            </a:r>
          </a:p>
          <a:p>
            <a:pPr marL="685800" lvl="1" indent="-228600">
              <a:buSzPts val="2400"/>
            </a:pPr>
            <a:r>
              <a:rPr lang="en-US" sz="2800" dirty="0"/>
              <a:t>Stay on top of the latest updates for known viruses.</a:t>
            </a:r>
          </a:p>
          <a:p>
            <a:pPr marL="114300" indent="0">
              <a:buNone/>
            </a:pPr>
            <a:endParaRPr lang="en-IN" dirty="0"/>
          </a:p>
        </p:txBody>
      </p:sp>
    </p:spTree>
    <p:extLst>
      <p:ext uri="{BB962C8B-B14F-4D97-AF65-F5344CB8AC3E}">
        <p14:creationId xmlns:p14="http://schemas.microsoft.com/office/powerpoint/2010/main" val="1112150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FB083-BDA4-0577-1D80-F8A802EC7B02}"/>
              </a:ext>
            </a:extLst>
          </p:cNvPr>
          <p:cNvSpPr>
            <a:spLocks noGrp="1"/>
          </p:cNvSpPr>
          <p:nvPr>
            <p:ph type="title"/>
          </p:nvPr>
        </p:nvSpPr>
        <p:spPr/>
        <p:txBody>
          <a:bodyPr/>
          <a:lstStyle/>
          <a:p>
            <a:r>
              <a:rPr lang="en-IN" dirty="0"/>
              <a:t>Hoaxes</a:t>
            </a:r>
          </a:p>
        </p:txBody>
      </p:sp>
      <p:sp>
        <p:nvSpPr>
          <p:cNvPr id="3" name="Text Placeholder 2">
            <a:extLst>
              <a:ext uri="{FF2B5EF4-FFF2-40B4-BE49-F238E27FC236}">
                <a16:creationId xmlns:a16="http://schemas.microsoft.com/office/drawing/2014/main" id="{551C0A62-0FDE-DC1B-DE67-99A6B1B7BA2E}"/>
              </a:ext>
            </a:extLst>
          </p:cNvPr>
          <p:cNvSpPr>
            <a:spLocks noGrp="1"/>
          </p:cNvSpPr>
          <p:nvPr>
            <p:ph type="body" idx="1"/>
          </p:nvPr>
        </p:nvSpPr>
        <p:spPr/>
        <p:txBody>
          <a:bodyPr/>
          <a:lstStyle/>
          <a:p>
            <a:pPr marL="228600" lvl="0" indent="-228600">
              <a:buSzPts val="2800"/>
            </a:pPr>
            <a:r>
              <a:rPr lang="en-US" dirty="0"/>
              <a:t>Users are susceptible to virus hoaxes due to prior virus outbreaks.</a:t>
            </a:r>
          </a:p>
          <a:p>
            <a:pPr marL="228600" lvl="0" indent="-228600">
              <a:buSzPts val="2800"/>
            </a:pPr>
            <a:r>
              <a:rPr lang="en-US" dirty="0"/>
              <a:t>A hoax is when word spreads about a new virus and the danger it poses.</a:t>
            </a:r>
          </a:p>
          <a:p>
            <a:pPr marL="228600" lvl="0" indent="-228600">
              <a:buSzPts val="2800"/>
            </a:pPr>
            <a:r>
              <a:rPr lang="en-US" dirty="0"/>
              <a:t>A hoax may warn users to not read certain files or connect to the Internet.</a:t>
            </a:r>
          </a:p>
          <a:p>
            <a:pPr marL="228600" lvl="0" indent="-228600">
              <a:buSzPts val="2800"/>
            </a:pPr>
            <a:r>
              <a:rPr lang="en-US" dirty="0"/>
              <a:t>Hoaxes can actually be even more destructive than just wasting time and bandwidth.</a:t>
            </a:r>
          </a:p>
          <a:p>
            <a:endParaRPr lang="en-IN" dirty="0"/>
          </a:p>
        </p:txBody>
      </p:sp>
    </p:spTree>
    <p:extLst>
      <p:ext uri="{BB962C8B-B14F-4D97-AF65-F5344CB8AC3E}">
        <p14:creationId xmlns:p14="http://schemas.microsoft.com/office/powerpoint/2010/main" val="1436236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Worms</a:t>
            </a:r>
            <a:endParaRPr dirty="0"/>
          </a:p>
        </p:txBody>
      </p:sp>
      <p:sp>
        <p:nvSpPr>
          <p:cNvPr id="152" name="Google Shape;152;p22"/>
          <p:cNvSpPr txBox="1">
            <a:spLocks noGrp="1"/>
          </p:cNvSpPr>
          <p:nvPr>
            <p:ph type="body" idx="1"/>
          </p:nvPr>
        </p:nvSpPr>
        <p:spPr>
          <a:xfrm>
            <a:off x="1981200" y="1981200"/>
            <a:ext cx="8229600" cy="46482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1" dirty="0"/>
              <a:t>Worms</a:t>
            </a:r>
            <a:r>
              <a:rPr lang="en-US" dirty="0"/>
              <a:t> are pieces of code that attempt to penetrate networks and computer systems.</a:t>
            </a:r>
            <a:endParaRPr dirty="0"/>
          </a:p>
          <a:p>
            <a:pPr marL="685800" lvl="1" indent="-228600" algn="l" rtl="0">
              <a:lnSpc>
                <a:spcPct val="90000"/>
              </a:lnSpc>
              <a:spcBef>
                <a:spcPts val="500"/>
              </a:spcBef>
              <a:spcAft>
                <a:spcPts val="0"/>
              </a:spcAft>
              <a:buClr>
                <a:schemeClr val="dk1"/>
              </a:buClr>
              <a:buSzPts val="2400"/>
              <a:buChar char="•"/>
            </a:pPr>
            <a:r>
              <a:rPr lang="en-US" dirty="0"/>
              <a:t>Once a malware penetration occurs, the worm will create a new copy of itself on the penetrated system.</a:t>
            </a:r>
            <a:endParaRPr dirty="0"/>
          </a:p>
          <a:p>
            <a:pPr marL="685800" lvl="1" indent="-228600" algn="l" rtl="0">
              <a:lnSpc>
                <a:spcPct val="90000"/>
              </a:lnSpc>
              <a:spcBef>
                <a:spcPts val="500"/>
              </a:spcBef>
              <a:spcAft>
                <a:spcPts val="0"/>
              </a:spcAft>
              <a:buClr>
                <a:schemeClr val="dk1"/>
              </a:buClr>
              <a:buSzPts val="2400"/>
              <a:buChar char="•"/>
            </a:pPr>
            <a:r>
              <a:rPr lang="en-US" dirty="0"/>
              <a:t>Reproduction of a worm thus does not rely on the attachment of the virus to another piece of code or to a file, which is the definition of a virus.</a:t>
            </a:r>
            <a:endParaRPr dirty="0"/>
          </a:p>
          <a:p>
            <a:pPr marL="228600" lvl="0" indent="-228600" algn="l" rtl="0">
              <a:lnSpc>
                <a:spcPct val="90000"/>
              </a:lnSpc>
              <a:spcBef>
                <a:spcPts val="1000"/>
              </a:spcBef>
              <a:spcAft>
                <a:spcPts val="0"/>
              </a:spcAft>
              <a:buClr>
                <a:schemeClr val="dk1"/>
              </a:buClr>
              <a:buSzPts val="2800"/>
              <a:buChar char="•"/>
            </a:pPr>
            <a:r>
              <a:rPr lang="en-US" dirty="0"/>
              <a:t>There is an important distinction:</a:t>
            </a:r>
            <a:endParaRPr dirty="0"/>
          </a:p>
          <a:p>
            <a:pPr marL="685800" lvl="1" indent="-228600" algn="l" rtl="0">
              <a:lnSpc>
                <a:spcPct val="90000"/>
              </a:lnSpc>
              <a:spcBef>
                <a:spcPts val="500"/>
              </a:spcBef>
              <a:spcAft>
                <a:spcPts val="0"/>
              </a:spcAft>
              <a:buClr>
                <a:schemeClr val="dk1"/>
              </a:buClr>
              <a:buSzPts val="2400"/>
              <a:buChar char="•"/>
            </a:pPr>
            <a:r>
              <a:rPr lang="en-US" dirty="0"/>
              <a:t>Virus code has to attach itself to something else.</a:t>
            </a:r>
            <a:endParaRPr dirty="0"/>
          </a:p>
          <a:p>
            <a:pPr marL="685800" lvl="1" indent="-228600" algn="l" rtl="0">
              <a:lnSpc>
                <a:spcPct val="90000"/>
              </a:lnSpc>
              <a:spcBef>
                <a:spcPts val="500"/>
              </a:spcBef>
              <a:spcAft>
                <a:spcPts val="0"/>
              </a:spcAft>
              <a:buClr>
                <a:schemeClr val="dk1"/>
              </a:buClr>
              <a:buSzPts val="2400"/>
              <a:buChar char="•"/>
            </a:pPr>
            <a:r>
              <a:rPr lang="en-US" dirty="0"/>
              <a:t>Worm code can “survive” on its own.</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Worms</a:t>
            </a:r>
            <a:endParaRPr dirty="0"/>
          </a:p>
        </p:txBody>
      </p:sp>
      <p:sp>
        <p:nvSpPr>
          <p:cNvPr id="159" name="Google Shape;15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Protection against worms depends on the type of worm.</a:t>
            </a:r>
            <a:endParaRPr/>
          </a:p>
          <a:p>
            <a:pPr marL="228600" lvl="0" indent="-228600" algn="l" rtl="0">
              <a:lnSpc>
                <a:spcPct val="90000"/>
              </a:lnSpc>
              <a:spcBef>
                <a:spcPts val="1000"/>
              </a:spcBef>
              <a:spcAft>
                <a:spcPts val="0"/>
              </a:spcAft>
              <a:buClr>
                <a:schemeClr val="dk1"/>
              </a:buClr>
              <a:buSzPts val="2800"/>
              <a:buChar char="•"/>
            </a:pPr>
            <a:r>
              <a:rPr lang="en-US"/>
              <a:t>Avoid worms attached and propagated by e-mail.</a:t>
            </a:r>
            <a:endParaRPr/>
          </a:p>
          <a:p>
            <a:pPr marL="685800" lvl="1" indent="-228600" algn="l" rtl="0">
              <a:lnSpc>
                <a:spcPct val="90000"/>
              </a:lnSpc>
              <a:spcBef>
                <a:spcPts val="500"/>
              </a:spcBef>
              <a:spcAft>
                <a:spcPts val="0"/>
              </a:spcAft>
              <a:buClr>
                <a:schemeClr val="dk1"/>
              </a:buClr>
              <a:buSzPts val="2400"/>
              <a:buChar char="•"/>
            </a:pPr>
            <a:r>
              <a:rPr lang="en-US"/>
              <a:t>Do not open files or run attachments unless you are absolutely sure of their origin and integrity.</a:t>
            </a:r>
            <a:endParaRPr/>
          </a:p>
          <a:p>
            <a:pPr marL="228600" lvl="0" indent="-228600" algn="l" rtl="0">
              <a:lnSpc>
                <a:spcPct val="90000"/>
              </a:lnSpc>
              <a:spcBef>
                <a:spcPts val="1000"/>
              </a:spcBef>
              <a:spcAft>
                <a:spcPts val="0"/>
              </a:spcAft>
              <a:buClr>
                <a:schemeClr val="dk1"/>
              </a:buClr>
              <a:buSzPts val="2800"/>
              <a:buChar char="•"/>
            </a:pPr>
            <a:r>
              <a:rPr lang="en-US"/>
              <a:t>Secure systems and networks against penetration.</a:t>
            </a:r>
            <a:endParaRPr/>
          </a:p>
          <a:p>
            <a:pPr marL="685800" lvl="1" indent="-228600" algn="l" rtl="0">
              <a:lnSpc>
                <a:spcPct val="90000"/>
              </a:lnSpc>
              <a:spcBef>
                <a:spcPts val="500"/>
              </a:spcBef>
              <a:spcAft>
                <a:spcPts val="0"/>
              </a:spcAft>
              <a:buClr>
                <a:schemeClr val="dk1"/>
              </a:buClr>
              <a:buSzPts val="2400"/>
              <a:buChar char="•"/>
            </a:pPr>
            <a:r>
              <a:rPr lang="en-US"/>
              <a:t>Install patches, eliminate unused and unnecessary services, enforce good password security, and use firewalls and intrusion detection systems.</a:t>
            </a:r>
            <a:endParaRPr/>
          </a:p>
          <a:p>
            <a:pPr marL="228600" lvl="0" indent="-228600" algn="l" rtl="0">
              <a:lnSpc>
                <a:spcPct val="90000"/>
              </a:lnSpc>
              <a:spcBef>
                <a:spcPts val="1000"/>
              </a:spcBef>
              <a:spcAft>
                <a:spcPts val="0"/>
              </a:spcAft>
              <a:buClr>
                <a:schemeClr val="dk1"/>
              </a:buClr>
              <a:buSzPts val="2800"/>
              <a:buChar char="•"/>
            </a:pPr>
            <a:r>
              <a:rPr lang="en-US"/>
              <a:t>Sophisticated attacks are almost impossible to avoid.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Polymorphic Malware</a:t>
            </a:r>
            <a:endParaRPr/>
          </a:p>
        </p:txBody>
      </p:sp>
      <p:sp>
        <p:nvSpPr>
          <p:cNvPr id="166" name="Google Shape;166;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One of the primary means of avoiding detection by sensors is the use of </a:t>
            </a:r>
            <a:r>
              <a:rPr lang="en-US" i="1" dirty="0"/>
              <a:t>polymorphic code</a:t>
            </a:r>
            <a:r>
              <a:rPr lang="en-US" dirty="0"/>
              <a:t>.</a:t>
            </a:r>
            <a:endParaRPr dirty="0"/>
          </a:p>
          <a:p>
            <a:pPr marL="228600" indent="-228600">
              <a:spcBef>
                <a:spcPts val="500"/>
              </a:spcBef>
              <a:buSzPts val="2400"/>
            </a:pPr>
            <a:r>
              <a:rPr lang="en-US" dirty="0"/>
              <a:t>This is code that changes on a regular basis.</a:t>
            </a:r>
            <a:endParaRPr dirty="0"/>
          </a:p>
          <a:p>
            <a:pPr marL="228600" indent="-228600">
              <a:spcBef>
                <a:spcPts val="500"/>
              </a:spcBef>
              <a:buSzPts val="2400"/>
            </a:pPr>
            <a:r>
              <a:rPr lang="en-US" dirty="0"/>
              <a:t>These changes or mutations are designed not to affect the functionality of the code, but rather to mask any signature from detection.</a:t>
            </a:r>
            <a:endParaRPr dirty="0"/>
          </a:p>
          <a:p>
            <a:pPr marL="228600" indent="-228600">
              <a:spcBef>
                <a:spcPts val="500"/>
              </a:spcBef>
              <a:buSzPts val="2400"/>
            </a:pPr>
            <a:r>
              <a:rPr lang="en-US" dirty="0"/>
              <a:t>Polymorphic programs can change their coding after each use, making each replicant different from a detection point of view.</a:t>
            </a:r>
            <a:endParaRPr dirty="0"/>
          </a:p>
          <a:p>
            <a:pPr marL="228600" indent="-228600">
              <a:spcBef>
                <a:spcPts val="500"/>
              </a:spcBef>
              <a:buSzPts val="2400"/>
            </a:pPr>
            <a:r>
              <a:rPr lang="en-US" dirty="0"/>
              <a:t>Polymorphic viruses often encrypt their codes and use different encryption keys every time.</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Trojan Horses</a:t>
            </a:r>
            <a:endParaRPr/>
          </a:p>
        </p:txBody>
      </p:sp>
      <p:sp>
        <p:nvSpPr>
          <p:cNvPr id="173" name="Google Shape;173;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A Trojan horse, or simply </a:t>
            </a:r>
            <a:r>
              <a:rPr lang="en-US" b="1"/>
              <a:t>Trojan</a:t>
            </a:r>
            <a:r>
              <a:rPr lang="en-US"/>
              <a:t>, is a piece of software that appears to do one thing (and may, in fact, actually do that thing) but hides some other functionality.</a:t>
            </a:r>
            <a:endParaRPr/>
          </a:p>
          <a:p>
            <a:pPr marL="685800" lvl="1" indent="-228600" algn="l" rtl="0">
              <a:lnSpc>
                <a:spcPct val="90000"/>
              </a:lnSpc>
              <a:spcBef>
                <a:spcPts val="500"/>
              </a:spcBef>
              <a:spcAft>
                <a:spcPts val="0"/>
              </a:spcAft>
              <a:buClr>
                <a:schemeClr val="dk1"/>
              </a:buClr>
              <a:buSzPts val="2400"/>
              <a:buChar char="•"/>
            </a:pPr>
            <a:r>
              <a:rPr lang="en-US"/>
              <a:t>A Trojan is a standalone program that must be copied</a:t>
            </a:r>
            <a:br>
              <a:rPr lang="en-US"/>
            </a:br>
            <a:r>
              <a:rPr lang="en-US"/>
              <a:t>and installed by the user.</a:t>
            </a:r>
            <a:endParaRPr/>
          </a:p>
          <a:p>
            <a:pPr marL="228600" lvl="0" indent="-228600" algn="l" rtl="0">
              <a:lnSpc>
                <a:spcPct val="90000"/>
              </a:lnSpc>
              <a:spcBef>
                <a:spcPts val="1000"/>
              </a:spcBef>
              <a:spcAft>
                <a:spcPts val="0"/>
              </a:spcAft>
              <a:buClr>
                <a:schemeClr val="dk1"/>
              </a:buClr>
              <a:buSzPts val="2800"/>
              <a:buChar char="•"/>
            </a:pPr>
            <a:r>
              <a:rPr lang="en-US"/>
              <a:t>To prevent the introduction of a Trojan:</a:t>
            </a:r>
            <a:endParaRPr/>
          </a:p>
          <a:p>
            <a:pPr marL="685800" lvl="1" indent="-228600" algn="l" rtl="0">
              <a:lnSpc>
                <a:spcPct val="90000"/>
              </a:lnSpc>
              <a:spcBef>
                <a:spcPts val="500"/>
              </a:spcBef>
              <a:spcAft>
                <a:spcPts val="0"/>
              </a:spcAft>
              <a:buClr>
                <a:schemeClr val="dk1"/>
              </a:buClr>
              <a:buSzPts val="2400"/>
              <a:buChar char="•"/>
            </a:pPr>
            <a:r>
              <a:rPr lang="en-US"/>
              <a:t>Never to run software if you are unsure of its origin, security, and integrity</a:t>
            </a:r>
            <a:endParaRPr/>
          </a:p>
          <a:p>
            <a:pPr marL="685800" lvl="1" indent="-228600" algn="l" rtl="0">
              <a:lnSpc>
                <a:spcPct val="90000"/>
              </a:lnSpc>
              <a:spcBef>
                <a:spcPts val="500"/>
              </a:spcBef>
              <a:spcAft>
                <a:spcPts val="0"/>
              </a:spcAft>
              <a:buClr>
                <a:schemeClr val="dk1"/>
              </a:buClr>
              <a:buSzPts val="2400"/>
              <a:buChar char="•"/>
            </a:pPr>
            <a:r>
              <a:rPr lang="en-US"/>
              <a:t>Keep a virus-checking program running on the system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Remote-Access Trojan</a:t>
            </a:r>
            <a:endParaRPr dirty="0"/>
          </a:p>
        </p:txBody>
      </p:sp>
      <p:sp>
        <p:nvSpPr>
          <p:cNvPr id="180" name="Google Shape;180;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Remote-access Trojans (RATs) are toolkits designed to provide the capability of covert surveillance and/or the ability to gain unauthorized access to a target system.</a:t>
            </a:r>
            <a:endParaRPr/>
          </a:p>
          <a:p>
            <a:pPr marL="228600" lvl="0" indent="-228600" algn="l" rtl="0">
              <a:lnSpc>
                <a:spcPct val="90000"/>
              </a:lnSpc>
              <a:spcBef>
                <a:spcPts val="1000"/>
              </a:spcBef>
              <a:spcAft>
                <a:spcPts val="0"/>
              </a:spcAft>
              <a:buClr>
                <a:schemeClr val="dk1"/>
              </a:buClr>
              <a:buSzPts val="2800"/>
              <a:buChar char="•"/>
            </a:pPr>
            <a:r>
              <a:rPr lang="en-US"/>
              <a:t>Mimic behaviors similar to keyloggers or packet sniffer applications</a:t>
            </a:r>
            <a:endParaRPr/>
          </a:p>
          <a:p>
            <a:pPr marL="228600" lvl="0" indent="-228600" algn="l" rtl="0">
              <a:lnSpc>
                <a:spcPct val="90000"/>
              </a:lnSpc>
              <a:spcBef>
                <a:spcPts val="1000"/>
              </a:spcBef>
              <a:spcAft>
                <a:spcPts val="0"/>
              </a:spcAft>
              <a:buClr>
                <a:schemeClr val="dk1"/>
              </a:buClr>
              <a:buSzPts val="2800"/>
              <a:buChar char="•"/>
            </a:pPr>
            <a:r>
              <a:rPr lang="en-US"/>
              <a:t>Can employ malware to infect a system with code that can be used to facilitate the exploitation of a target.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lvl="0">
              <a:buSzPts val="4400"/>
            </a:pPr>
            <a:r>
              <a:rPr lang="en-US" dirty="0"/>
              <a:t>Remote-Access Trojan</a:t>
            </a:r>
            <a:endParaRPr dirty="0"/>
          </a:p>
        </p:txBody>
      </p:sp>
      <p:sp>
        <p:nvSpPr>
          <p:cNvPr id="187" name="Google Shape;187;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Present information to an attacker in a form to facilitate the ability to gain unauthorized access to the target machine.</a:t>
            </a:r>
            <a:endParaRPr/>
          </a:p>
          <a:p>
            <a:pPr marL="228600" lvl="0" indent="-228600" algn="l" rtl="0">
              <a:lnSpc>
                <a:spcPct val="90000"/>
              </a:lnSpc>
              <a:spcBef>
                <a:spcPts val="1000"/>
              </a:spcBef>
              <a:spcAft>
                <a:spcPts val="0"/>
              </a:spcAft>
              <a:buClr>
                <a:schemeClr val="dk1"/>
              </a:buClr>
              <a:buSzPts val="2800"/>
              <a:buChar char="•"/>
            </a:pPr>
            <a:r>
              <a:rPr lang="en-US" sz="2800"/>
              <a:t>RATs are commonly employed by the more skilled threat actors.</a:t>
            </a:r>
            <a:endParaRPr/>
          </a:p>
          <a:p>
            <a:pPr marL="228600" lvl="0" indent="-228600" algn="l" rtl="0">
              <a:lnSpc>
                <a:spcPct val="90000"/>
              </a:lnSpc>
              <a:spcBef>
                <a:spcPts val="1000"/>
              </a:spcBef>
              <a:spcAft>
                <a:spcPts val="0"/>
              </a:spcAft>
              <a:buClr>
                <a:schemeClr val="dk1"/>
              </a:buClr>
              <a:buSzPts val="2800"/>
              <a:buChar char="•"/>
            </a:pPr>
            <a:r>
              <a:rPr lang="en-US"/>
              <a:t>RATs enable attackers to have a way back into a system.</a:t>
            </a:r>
            <a:endParaRPr/>
          </a:p>
          <a:p>
            <a:pPr marL="228600" lvl="0" indent="-228600" algn="l" rtl="0">
              <a:lnSpc>
                <a:spcPct val="90000"/>
              </a:lnSpc>
              <a:spcBef>
                <a:spcPts val="1000"/>
              </a:spcBef>
              <a:spcAft>
                <a:spcPts val="0"/>
              </a:spcAft>
              <a:buClr>
                <a:schemeClr val="dk1"/>
              </a:buClr>
              <a:buSzPts val="2800"/>
              <a:buChar char="•"/>
            </a:pPr>
            <a:r>
              <a:rPr lang="en-US"/>
              <a:t>Key function of a RAT is to provide a periodic beacon out.</a:t>
            </a:r>
            <a:endParaRPr/>
          </a:p>
          <a:p>
            <a:pPr marL="228600" lvl="0" indent="-228600" algn="l" rtl="0">
              <a:lnSpc>
                <a:spcPct val="90000"/>
              </a:lnSpc>
              <a:spcBef>
                <a:spcPts val="1000"/>
              </a:spcBef>
              <a:spcAft>
                <a:spcPts val="0"/>
              </a:spcAft>
              <a:buClr>
                <a:schemeClr val="dk1"/>
              </a:buClr>
              <a:buSzPts val="2800"/>
              <a:buChar char="•"/>
            </a:pPr>
            <a:r>
              <a:rPr lang="en-US"/>
              <a:t>A beacon is an executable or program that communicates back to a cyberattacker via some communication channel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Rootkits</a:t>
            </a:r>
            <a:endParaRPr dirty="0"/>
          </a:p>
        </p:txBody>
      </p:sp>
      <p:sp>
        <p:nvSpPr>
          <p:cNvPr id="194" name="Google Shape;194;p28"/>
          <p:cNvSpPr txBox="1">
            <a:spLocks noGrp="1"/>
          </p:cNvSpPr>
          <p:nvPr>
            <p:ph type="body" idx="1"/>
          </p:nvPr>
        </p:nvSpPr>
        <p:spPr>
          <a:xfrm>
            <a:off x="1981200" y="1981200"/>
            <a:ext cx="8229600" cy="4267200"/>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ts val="2800"/>
              <a:buChar char="•"/>
            </a:pPr>
            <a:r>
              <a:rPr lang="en-US" dirty="0"/>
              <a:t>A rootkit is a form of malware specifically designed to modify the operation of the operating system in some fashion to facilitate nonstandard functionality.</a:t>
            </a:r>
          </a:p>
          <a:p>
            <a:pPr marL="228600" lvl="0" indent="-228600" algn="l" rtl="0">
              <a:lnSpc>
                <a:spcPct val="90000"/>
              </a:lnSpc>
              <a:spcBef>
                <a:spcPts val="0"/>
              </a:spcBef>
              <a:spcAft>
                <a:spcPts val="0"/>
              </a:spcAft>
              <a:buClr>
                <a:schemeClr val="dk1"/>
              </a:buClr>
              <a:buSzPts val="2800"/>
              <a:buChar char="•"/>
            </a:pPr>
            <a:r>
              <a:rPr lang="en-IN" dirty="0"/>
              <a:t>Can be user level or kernel level. Kernel rootkits c</a:t>
            </a:r>
            <a:r>
              <a:rPr lang="en-US" dirty="0"/>
              <a:t>an do virtually anything that the operating system does</a:t>
            </a:r>
            <a:endParaRPr dirty="0"/>
          </a:p>
          <a:p>
            <a:pPr marL="228600" indent="-228600">
              <a:spcBef>
                <a:spcPts val="500"/>
              </a:spcBef>
              <a:buSzPts val="2400"/>
            </a:pPr>
            <a:r>
              <a:rPr lang="en-US" dirty="0"/>
              <a:t>Designed to avoid the security functions of the operating system to avoid detection using subversion or evasion</a:t>
            </a:r>
            <a:endParaRPr dirty="0"/>
          </a:p>
          <a:p>
            <a:pPr marL="228600" indent="-228600">
              <a:spcBef>
                <a:spcPts val="500"/>
              </a:spcBef>
              <a:buSzPts val="2400"/>
            </a:pPr>
            <a:r>
              <a:rPr lang="en-US" dirty="0"/>
              <a:t>Can load before the operating system loads, acting as a virtualization layer</a:t>
            </a:r>
            <a:endParaRPr dirty="0"/>
          </a:p>
          <a:p>
            <a:pPr marL="228600" indent="-228600">
              <a:spcBef>
                <a:spcPts val="500"/>
              </a:spcBef>
              <a:buSzPts val="2400"/>
            </a:pPr>
            <a:r>
              <a:rPr lang="en-US" dirty="0"/>
              <a:t>Acts as a form of malware and can exist in firmware and as loadable library modules</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Bootkits</a:t>
            </a:r>
          </a:p>
        </p:txBody>
      </p:sp>
      <p:sp>
        <p:nvSpPr>
          <p:cNvPr id="3" name="Content Placeholder 2"/>
          <p:cNvSpPr>
            <a:spLocks noGrp="1"/>
          </p:cNvSpPr>
          <p:nvPr>
            <p:ph idx="1"/>
          </p:nvPr>
        </p:nvSpPr>
        <p:spPr/>
        <p:txBody>
          <a:bodyPr/>
          <a:lstStyle/>
          <a:p>
            <a:r>
              <a:t>Executes before OS boot.</a:t>
            </a:r>
          </a:p>
          <a:p>
            <a:r>
              <a:t>Controls system early.</a:t>
            </a:r>
          </a:p>
          <a:p>
            <a:r>
              <a:t>Difficult to detect/remove.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Logic Bombs</a:t>
            </a:r>
            <a:endParaRPr/>
          </a:p>
        </p:txBody>
      </p:sp>
      <p:sp>
        <p:nvSpPr>
          <p:cNvPr id="201" name="Google Shape;201;p29"/>
          <p:cNvSpPr txBox="1">
            <a:spLocks noGrp="1"/>
          </p:cNvSpPr>
          <p:nvPr>
            <p:ph type="body" idx="1"/>
          </p:nvPr>
        </p:nvSpPr>
        <p:spPr>
          <a:xfrm>
            <a:off x="1981200" y="1981200"/>
            <a:ext cx="8229600" cy="44958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1" dirty="0"/>
              <a:t>Logic bombs</a:t>
            </a:r>
            <a:r>
              <a:rPr lang="en-US" dirty="0"/>
              <a:t> are a type of malicious software that is deliberately installed, generally by an authorized user.</a:t>
            </a:r>
            <a:endParaRPr dirty="0"/>
          </a:p>
          <a:p>
            <a:pPr marL="685800" lvl="1" indent="-228600" algn="l" rtl="0">
              <a:lnSpc>
                <a:spcPct val="90000"/>
              </a:lnSpc>
              <a:spcBef>
                <a:spcPts val="0"/>
              </a:spcBef>
              <a:spcAft>
                <a:spcPts val="0"/>
              </a:spcAft>
              <a:buClr>
                <a:schemeClr val="dk1"/>
              </a:buClr>
              <a:buSzPts val="2400"/>
              <a:buChar char="•"/>
            </a:pPr>
            <a:r>
              <a:rPr lang="en-US" dirty="0"/>
              <a:t>A logic bomb is a piece of code that sits dormant for a period of time until some event invokes its malicious payload.</a:t>
            </a:r>
            <a:endParaRPr dirty="0"/>
          </a:p>
          <a:p>
            <a:pPr marL="685800" lvl="1" indent="-228600" algn="l" rtl="0">
              <a:lnSpc>
                <a:spcPct val="90000"/>
              </a:lnSpc>
              <a:spcBef>
                <a:spcPts val="0"/>
              </a:spcBef>
              <a:spcAft>
                <a:spcPts val="0"/>
              </a:spcAft>
              <a:buClr>
                <a:schemeClr val="dk1"/>
              </a:buClr>
              <a:buSzPts val="2400"/>
              <a:buChar char="•"/>
            </a:pPr>
            <a:r>
              <a:rPr lang="en-US" dirty="0"/>
              <a:t>Logic bombs are difficult to detect.</a:t>
            </a:r>
            <a:endParaRPr dirty="0"/>
          </a:p>
          <a:p>
            <a:pPr marL="685800" lvl="1" indent="-228600" algn="l" rtl="0">
              <a:lnSpc>
                <a:spcPct val="90000"/>
              </a:lnSpc>
              <a:spcBef>
                <a:spcPts val="0"/>
              </a:spcBef>
              <a:spcAft>
                <a:spcPts val="0"/>
              </a:spcAft>
              <a:buClr>
                <a:schemeClr val="dk1"/>
              </a:buClr>
              <a:buSzPts val="2400"/>
              <a:buChar char="•"/>
            </a:pPr>
            <a:r>
              <a:rPr lang="en-US" dirty="0"/>
              <a:t>They demonstrate the need for a separation of duties and a periodic review of all programs and services that are running on a system.</a:t>
            </a:r>
            <a:endParaRPr dirty="0"/>
          </a:p>
          <a:p>
            <a:pPr marL="685800" lvl="1" indent="-228600" algn="l" rtl="0">
              <a:lnSpc>
                <a:spcPct val="90000"/>
              </a:lnSpc>
              <a:spcBef>
                <a:spcPts val="0"/>
              </a:spcBef>
              <a:spcAft>
                <a:spcPts val="0"/>
              </a:spcAft>
              <a:buClr>
                <a:schemeClr val="dk1"/>
              </a:buClr>
              <a:buSzPts val="2400"/>
              <a:buChar char="•"/>
            </a:pPr>
            <a:r>
              <a:rPr lang="en-US" dirty="0"/>
              <a:t>They reinforce need for active backups.</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Spyware</a:t>
            </a:r>
            <a:endParaRPr/>
          </a:p>
        </p:txBody>
      </p:sp>
      <p:sp>
        <p:nvSpPr>
          <p:cNvPr id="208" name="Google Shape;208;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1"/>
              <a:t>Spyware</a:t>
            </a:r>
            <a:r>
              <a:rPr lang="en-US"/>
              <a:t> is software that “spies” on users, recording and reporting on their activities.</a:t>
            </a:r>
            <a:endParaRPr/>
          </a:p>
          <a:p>
            <a:pPr marL="685800" lvl="1" indent="-228600" algn="l" rtl="0">
              <a:lnSpc>
                <a:spcPct val="90000"/>
              </a:lnSpc>
              <a:spcBef>
                <a:spcPts val="500"/>
              </a:spcBef>
              <a:spcAft>
                <a:spcPts val="0"/>
              </a:spcAft>
              <a:buClr>
                <a:schemeClr val="dk1"/>
              </a:buClr>
              <a:buSzPts val="2400"/>
              <a:buChar char="•"/>
            </a:pPr>
            <a:r>
              <a:rPr lang="en-US"/>
              <a:t>Typically installed without user knowledge, spyware can do a wide range of activities.</a:t>
            </a:r>
            <a:endParaRPr/>
          </a:p>
          <a:p>
            <a:pPr marL="685800" lvl="1" indent="-228600" algn="l" rtl="0">
              <a:lnSpc>
                <a:spcPct val="90000"/>
              </a:lnSpc>
              <a:spcBef>
                <a:spcPts val="500"/>
              </a:spcBef>
              <a:spcAft>
                <a:spcPts val="0"/>
              </a:spcAft>
              <a:buClr>
                <a:schemeClr val="dk1"/>
              </a:buClr>
              <a:buSzPts val="2400"/>
              <a:buChar char="•"/>
            </a:pPr>
            <a:r>
              <a:rPr lang="en-US"/>
              <a:t>It can record keystrokes (commonly called keylogging) when the user logs into specific web sites.</a:t>
            </a:r>
            <a:endParaRPr/>
          </a:p>
          <a:p>
            <a:pPr marL="1143000" lvl="2" indent="-228600" algn="l" rtl="0">
              <a:lnSpc>
                <a:spcPct val="90000"/>
              </a:lnSpc>
              <a:spcBef>
                <a:spcPts val="500"/>
              </a:spcBef>
              <a:spcAft>
                <a:spcPts val="0"/>
              </a:spcAft>
              <a:buClr>
                <a:schemeClr val="dk1"/>
              </a:buClr>
              <a:buSzPts val="2000"/>
              <a:buChar char="•"/>
            </a:pPr>
            <a:r>
              <a:rPr lang="en-US"/>
              <a:t>It can monitor how a user uses a specific piece of software (monitor attempts to cheat at games).</a:t>
            </a:r>
            <a:endParaRPr/>
          </a:p>
          <a:p>
            <a:pPr marL="685800" lvl="1" indent="-228600" algn="l" rtl="0">
              <a:lnSpc>
                <a:spcPct val="90000"/>
              </a:lnSpc>
              <a:spcBef>
                <a:spcPts val="500"/>
              </a:spcBef>
              <a:spcAft>
                <a:spcPts val="0"/>
              </a:spcAft>
              <a:buClr>
                <a:schemeClr val="dk1"/>
              </a:buClr>
              <a:buSzPts val="2400"/>
              <a:buChar char="•"/>
            </a:pPr>
            <a:r>
              <a:rPr lang="en-US"/>
              <a:t>Many states have passed legislation banning the unapproved installation of software.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Adware</a:t>
            </a:r>
            <a:endParaRPr/>
          </a:p>
        </p:txBody>
      </p:sp>
      <p:sp>
        <p:nvSpPr>
          <p:cNvPr id="215" name="Google Shape;215;p3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Software that is supported by advertising is called adware.</a:t>
            </a:r>
            <a:endParaRPr dirty="0"/>
          </a:p>
          <a:p>
            <a:pPr marL="228600" lvl="0" indent="-228600" algn="l" rtl="0">
              <a:lnSpc>
                <a:spcPct val="90000"/>
              </a:lnSpc>
              <a:spcBef>
                <a:spcPts val="1000"/>
              </a:spcBef>
              <a:spcAft>
                <a:spcPts val="0"/>
              </a:spcAft>
              <a:buClr>
                <a:schemeClr val="dk1"/>
              </a:buClr>
              <a:buSzPts val="2800"/>
              <a:buChar char="•"/>
            </a:pPr>
            <a:r>
              <a:rPr lang="en-US" dirty="0"/>
              <a:t>Adware comes in many different forms:</a:t>
            </a:r>
            <a:endParaRPr dirty="0"/>
          </a:p>
          <a:p>
            <a:pPr marL="685800" lvl="1" indent="-228600" algn="l" rtl="0">
              <a:lnSpc>
                <a:spcPct val="90000"/>
              </a:lnSpc>
              <a:spcBef>
                <a:spcPts val="500"/>
              </a:spcBef>
              <a:spcAft>
                <a:spcPts val="0"/>
              </a:spcAft>
              <a:buClr>
                <a:schemeClr val="dk1"/>
              </a:buClr>
              <a:buSzPts val="2400"/>
              <a:buChar char="•"/>
            </a:pPr>
            <a:r>
              <a:rPr lang="en-US" sz="2800" dirty="0"/>
              <a:t>Legitimate adware</a:t>
            </a:r>
            <a:endParaRPr sz="2800" dirty="0"/>
          </a:p>
          <a:p>
            <a:pPr marL="1143000" lvl="2" indent="-228600" algn="l" rtl="0">
              <a:lnSpc>
                <a:spcPct val="90000"/>
              </a:lnSpc>
              <a:spcBef>
                <a:spcPts val="500"/>
              </a:spcBef>
              <a:spcAft>
                <a:spcPts val="0"/>
              </a:spcAft>
              <a:buClr>
                <a:schemeClr val="dk1"/>
              </a:buClr>
              <a:buSzPts val="2000"/>
              <a:buChar char="•"/>
            </a:pPr>
            <a:r>
              <a:rPr lang="en-US" sz="2800" dirty="0"/>
              <a:t>The user is aware of the advertising and agrees to the arrangement in return for free use of the software.</a:t>
            </a:r>
            <a:endParaRPr sz="2800" dirty="0"/>
          </a:p>
          <a:p>
            <a:pPr marL="685800" lvl="1" indent="-228600" algn="l" rtl="0">
              <a:lnSpc>
                <a:spcPct val="90000"/>
              </a:lnSpc>
              <a:spcBef>
                <a:spcPts val="500"/>
              </a:spcBef>
              <a:spcAft>
                <a:spcPts val="0"/>
              </a:spcAft>
              <a:buClr>
                <a:schemeClr val="dk1"/>
              </a:buClr>
              <a:buSzPts val="2400"/>
              <a:buChar char="•"/>
            </a:pPr>
            <a:r>
              <a:rPr lang="en-US" sz="2800" dirty="0"/>
              <a:t>Adware in the form of malware</a:t>
            </a:r>
            <a:endParaRPr sz="2800" dirty="0"/>
          </a:p>
          <a:p>
            <a:pPr marL="1143000" lvl="2" indent="-228600" algn="l" rtl="0">
              <a:lnSpc>
                <a:spcPct val="90000"/>
              </a:lnSpc>
              <a:spcBef>
                <a:spcPts val="500"/>
              </a:spcBef>
              <a:spcAft>
                <a:spcPts val="0"/>
              </a:spcAft>
              <a:buClr>
                <a:schemeClr val="dk1"/>
              </a:buClr>
              <a:buSzPts val="2000"/>
              <a:buChar char="•"/>
            </a:pPr>
            <a:r>
              <a:rPr lang="en-US" sz="2800" dirty="0"/>
              <a:t>It is characterized by software that presents unwanted ads.</a:t>
            </a:r>
            <a:endParaRPr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Botnets</a:t>
            </a:r>
            <a:endParaRPr/>
          </a:p>
        </p:txBody>
      </p:sp>
      <p:sp>
        <p:nvSpPr>
          <p:cNvPr id="222" name="Google Shape;222;p32"/>
          <p:cNvSpPr txBox="1">
            <a:spLocks noGrp="1"/>
          </p:cNvSpPr>
          <p:nvPr>
            <p:ph type="body" idx="1"/>
          </p:nvPr>
        </p:nvSpPr>
        <p:spPr>
          <a:xfrm>
            <a:off x="1981200" y="1981200"/>
            <a:ext cx="8229600" cy="46482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One form of malware that is seemingly benign to a user is a botnet </a:t>
            </a:r>
            <a:r>
              <a:rPr lang="en-US" b="1"/>
              <a:t>zombie</a:t>
            </a:r>
            <a:r>
              <a:rPr lang="en-US"/>
              <a:t>.</a:t>
            </a:r>
            <a:endParaRPr/>
          </a:p>
          <a:p>
            <a:pPr marL="685800" lvl="1" indent="-228600" algn="l" rtl="0">
              <a:lnSpc>
                <a:spcPct val="90000"/>
              </a:lnSpc>
              <a:spcBef>
                <a:spcPts val="500"/>
              </a:spcBef>
              <a:spcAft>
                <a:spcPts val="0"/>
              </a:spcAft>
              <a:buClr>
                <a:schemeClr val="dk1"/>
              </a:buClr>
              <a:buSzPts val="2400"/>
              <a:buChar char="•"/>
            </a:pPr>
            <a:r>
              <a:rPr lang="en-US"/>
              <a:t>Hackers create armies of machines by installing malware agents on the machines, which then are called zombies.</a:t>
            </a:r>
            <a:endParaRPr/>
          </a:p>
          <a:p>
            <a:pPr marL="685800" lvl="1" indent="-228600" algn="l" rtl="0">
              <a:lnSpc>
                <a:spcPct val="90000"/>
              </a:lnSpc>
              <a:spcBef>
                <a:spcPts val="500"/>
              </a:spcBef>
              <a:spcAft>
                <a:spcPts val="0"/>
              </a:spcAft>
              <a:buClr>
                <a:schemeClr val="dk1"/>
              </a:buClr>
              <a:buSzPts val="2400"/>
              <a:buChar char="•"/>
            </a:pPr>
            <a:r>
              <a:rPr lang="en-US"/>
              <a:t>These collections of machines are called </a:t>
            </a:r>
            <a:r>
              <a:rPr lang="en-US" b="1"/>
              <a:t>botnets</a:t>
            </a:r>
            <a:r>
              <a:rPr lang="en-US"/>
              <a:t>.</a:t>
            </a:r>
            <a:endParaRPr/>
          </a:p>
          <a:p>
            <a:pPr marL="685800" lvl="1" indent="-228600" algn="l" rtl="0">
              <a:lnSpc>
                <a:spcPct val="90000"/>
              </a:lnSpc>
              <a:spcBef>
                <a:spcPts val="500"/>
              </a:spcBef>
              <a:spcAft>
                <a:spcPts val="0"/>
              </a:spcAft>
              <a:buClr>
                <a:schemeClr val="dk1"/>
              </a:buClr>
              <a:buSzPts val="2400"/>
              <a:buChar char="•"/>
            </a:pPr>
            <a:r>
              <a:rPr lang="en-US"/>
              <a:t>These zombies machines are used to conduct other attacks and to spread spam and other malware.</a:t>
            </a:r>
            <a:endParaRPr/>
          </a:p>
          <a:p>
            <a:pPr marL="685800" lvl="1" indent="-228600" algn="l" rtl="0">
              <a:lnSpc>
                <a:spcPct val="90000"/>
              </a:lnSpc>
              <a:spcBef>
                <a:spcPts val="500"/>
              </a:spcBef>
              <a:spcAft>
                <a:spcPts val="0"/>
              </a:spcAft>
              <a:buClr>
                <a:schemeClr val="dk1"/>
              </a:buClr>
              <a:buSzPts val="2400"/>
              <a:buChar char="•"/>
            </a:pPr>
            <a:r>
              <a:rPr lang="en-US"/>
              <a:t>Botnets have grown into networks of over a million nodes and are responsible for tens of millions of spam messages daily.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Backdoors and Trapdoors</a:t>
            </a:r>
            <a:endParaRPr/>
          </a:p>
        </p:txBody>
      </p:sp>
      <p:sp>
        <p:nvSpPr>
          <p:cNvPr id="229" name="Google Shape;229;p3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1"/>
              <a:t>Backdoors</a:t>
            </a:r>
            <a:r>
              <a:rPr lang="en-US"/>
              <a:t> were originally (and sometimes still are) nothing more than methods used by software developers to ensure that they could gain access to an application even if something were to happen in the future to prevent normal access methods.</a:t>
            </a:r>
            <a:endParaRPr/>
          </a:p>
          <a:p>
            <a:pPr marL="685800" lvl="1" indent="-228600" algn="l" rtl="0">
              <a:lnSpc>
                <a:spcPct val="90000"/>
              </a:lnSpc>
              <a:spcBef>
                <a:spcPts val="500"/>
              </a:spcBef>
              <a:spcAft>
                <a:spcPts val="0"/>
              </a:spcAft>
              <a:buClr>
                <a:schemeClr val="dk1"/>
              </a:buClr>
              <a:buSzPts val="2400"/>
              <a:buChar char="•"/>
            </a:pPr>
            <a:r>
              <a:rPr lang="en-US"/>
              <a:t>The term backdoor</a:t>
            </a:r>
            <a:r>
              <a:rPr lang="en-US" i="1"/>
              <a:t> </a:t>
            </a:r>
            <a:r>
              <a:rPr lang="en-US"/>
              <a:t>is also, and more commonly, used to refer to programs that attackers install after gaining unauthorized access to a system to ensure that they can continue to have unrestricted access to the system, even if their initial access method is discovered and blocked.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Crypto-Malware</a:t>
            </a:r>
            <a:endParaRPr/>
          </a:p>
        </p:txBody>
      </p:sp>
      <p:sp>
        <p:nvSpPr>
          <p:cNvPr id="236" name="Google Shape;236;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Crypto-malware is an early name given to malware that encrypts files on a system and then leaves them unusable, acting as a denial of service. </a:t>
            </a:r>
            <a:endParaRPr/>
          </a:p>
          <a:p>
            <a:pPr marL="685800" lvl="1" indent="-228600" algn="l" rtl="0">
              <a:lnSpc>
                <a:spcPct val="90000"/>
              </a:lnSpc>
              <a:spcBef>
                <a:spcPts val="500"/>
              </a:spcBef>
              <a:spcAft>
                <a:spcPts val="0"/>
              </a:spcAft>
              <a:buClr>
                <a:schemeClr val="dk1"/>
              </a:buClr>
              <a:buSzPts val="2400"/>
              <a:buChar char="•"/>
            </a:pPr>
            <a:r>
              <a:rPr lang="en-US"/>
              <a:t>This type of malware is also behind ransomware.</a:t>
            </a:r>
            <a:endParaRPr/>
          </a:p>
          <a:p>
            <a:pPr marL="228600" lvl="0" indent="-228600" algn="l" rtl="0">
              <a:lnSpc>
                <a:spcPct val="90000"/>
              </a:lnSpc>
              <a:spcBef>
                <a:spcPts val="1000"/>
              </a:spcBef>
              <a:spcAft>
                <a:spcPts val="0"/>
              </a:spcAft>
              <a:buClr>
                <a:schemeClr val="dk1"/>
              </a:buClr>
              <a:buSzPts val="2800"/>
              <a:buChar char="•"/>
            </a:pPr>
            <a:r>
              <a:rPr lang="en-US"/>
              <a:t>Crypto-malware is typically completely automated.</a:t>
            </a:r>
            <a:endParaRPr/>
          </a:p>
          <a:p>
            <a:pPr marL="685800" lvl="1" indent="-228600" algn="l" rtl="0">
              <a:lnSpc>
                <a:spcPct val="90000"/>
              </a:lnSpc>
              <a:spcBef>
                <a:spcPts val="500"/>
              </a:spcBef>
              <a:spcAft>
                <a:spcPts val="0"/>
              </a:spcAft>
              <a:buClr>
                <a:schemeClr val="dk1"/>
              </a:buClr>
              <a:buSzPts val="2400"/>
              <a:buChar char="•"/>
            </a:pPr>
            <a:r>
              <a:rPr lang="en-US"/>
              <a:t>When targeted as a means of denial of service, the only repair mechanism is to rebuild the system.</a:t>
            </a:r>
            <a:endParaRPr/>
          </a:p>
          <a:p>
            <a:pPr marL="685800" lvl="1" indent="-228600" algn="l" rtl="0">
              <a:lnSpc>
                <a:spcPct val="90000"/>
              </a:lnSpc>
              <a:spcBef>
                <a:spcPts val="500"/>
              </a:spcBef>
              <a:spcAft>
                <a:spcPts val="0"/>
              </a:spcAft>
              <a:buClr>
                <a:schemeClr val="dk1"/>
              </a:buClr>
              <a:buSzPts val="2400"/>
              <a:buChar char="•"/>
            </a:pPr>
            <a:r>
              <a:rPr lang="en-US"/>
              <a:t>This can be time consuming and/or impractical in some cases, making this attack mechanism equivalent to the physical destruction of assets.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Ransomware</a:t>
            </a:r>
            <a:endParaRPr/>
          </a:p>
        </p:txBody>
      </p:sp>
      <p:sp>
        <p:nvSpPr>
          <p:cNvPr id="243" name="Google Shape;243;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Ransomware is a form of malware that performs some action and extracts ransom from a user.</a:t>
            </a:r>
            <a:endParaRPr dirty="0"/>
          </a:p>
          <a:p>
            <a:pPr marL="228600" lvl="0" indent="-228600" algn="l" rtl="0">
              <a:lnSpc>
                <a:spcPct val="90000"/>
              </a:lnSpc>
              <a:spcBef>
                <a:spcPts val="1000"/>
              </a:spcBef>
              <a:spcAft>
                <a:spcPts val="0"/>
              </a:spcAft>
              <a:buClr>
                <a:schemeClr val="dk1"/>
              </a:buClr>
              <a:buSzPts val="2800"/>
              <a:buChar char="•"/>
            </a:pPr>
            <a:r>
              <a:rPr lang="en-US" dirty="0"/>
              <a:t>The most common form of ransomware is one that encrypts a key file or set of files, rendering a system unusable, or dataset unavailable.</a:t>
            </a:r>
            <a:endParaRPr dirty="0"/>
          </a:p>
          <a:p>
            <a:pPr marL="228600" lvl="0" indent="-228600" algn="l" rtl="0">
              <a:lnSpc>
                <a:spcPct val="90000"/>
              </a:lnSpc>
              <a:spcBef>
                <a:spcPts val="1000"/>
              </a:spcBef>
              <a:spcAft>
                <a:spcPts val="0"/>
              </a:spcAft>
              <a:buClr>
                <a:schemeClr val="dk1"/>
              </a:buClr>
              <a:buSzPts val="2800"/>
              <a:buChar char="•"/>
            </a:pPr>
            <a:r>
              <a:rPr lang="en-US" dirty="0"/>
              <a:t>The attacker releases the information after being paid, typically in a nontraceable means such as bitcoin.</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Downloader Malware</a:t>
            </a:r>
          </a:p>
        </p:txBody>
      </p:sp>
      <p:sp>
        <p:nvSpPr>
          <p:cNvPr id="3" name="Content Placeholder 2"/>
          <p:cNvSpPr>
            <a:spLocks noGrp="1"/>
          </p:cNvSpPr>
          <p:nvPr>
            <p:ph idx="1"/>
          </p:nvPr>
        </p:nvSpPr>
        <p:spPr/>
        <p:txBody>
          <a:bodyPr/>
          <a:lstStyle/>
          <a:p>
            <a:r>
              <a:t>Lightweight malware that downloads additional payloads.</a:t>
            </a:r>
          </a:p>
          <a:p>
            <a:r>
              <a:t>Often first stage of attack.</a:t>
            </a:r>
          </a:p>
          <a:p>
            <a:r>
              <a:t>Indicators: URLs, IPs, network traffic.</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Dropper Malware</a:t>
            </a:r>
          </a:p>
        </p:txBody>
      </p:sp>
      <p:sp>
        <p:nvSpPr>
          <p:cNvPr id="3" name="Content Placeholder 2"/>
          <p:cNvSpPr>
            <a:spLocks noGrp="1"/>
          </p:cNvSpPr>
          <p:nvPr>
            <p:ph idx="1"/>
          </p:nvPr>
        </p:nvSpPr>
        <p:spPr/>
        <p:txBody>
          <a:bodyPr/>
          <a:lstStyle/>
          <a:p>
            <a:r>
              <a:t>Installs embedded malicious payloads.</a:t>
            </a:r>
          </a:p>
          <a:p>
            <a:r>
              <a:t>May not need network access.</a:t>
            </a:r>
          </a:p>
          <a:p>
            <a:r>
              <a:t>Used to bypass AV detection.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Fileless</a:t>
            </a:r>
            <a:r>
              <a:rPr lang="en-IN" dirty="0"/>
              <a:t>/In-Memory</a:t>
            </a:r>
            <a:r>
              <a:rPr dirty="0"/>
              <a:t> Malware</a:t>
            </a:r>
          </a:p>
        </p:txBody>
      </p:sp>
      <p:sp>
        <p:nvSpPr>
          <p:cNvPr id="3" name="Content Placeholder 2"/>
          <p:cNvSpPr>
            <a:spLocks noGrp="1"/>
          </p:cNvSpPr>
          <p:nvPr>
            <p:ph idx="1"/>
          </p:nvPr>
        </p:nvSpPr>
        <p:spPr/>
        <p:txBody>
          <a:bodyPr/>
          <a:lstStyle/>
          <a:p>
            <a:r>
              <a:rPr dirty="0"/>
              <a:t>Executes entirely in memory.</a:t>
            </a:r>
          </a:p>
          <a:p>
            <a:r>
              <a:rPr dirty="0"/>
              <a:t>Uses PowerShell, WMI</a:t>
            </a:r>
            <a:r>
              <a:rPr lang="en-IN" dirty="0"/>
              <a:t> (Windows Management Instrumentation)</a:t>
            </a:r>
            <a:r>
              <a:rPr dirty="0"/>
              <a:t>, registry.</a:t>
            </a:r>
          </a:p>
          <a:p>
            <a:r>
              <a:rPr dirty="0"/>
              <a:t>Very hard to detect using disk forensics.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Living-off-the-Land Malware</a:t>
            </a:r>
          </a:p>
        </p:txBody>
      </p:sp>
      <p:sp>
        <p:nvSpPr>
          <p:cNvPr id="3" name="Content Placeholder 2"/>
          <p:cNvSpPr>
            <a:spLocks noGrp="1"/>
          </p:cNvSpPr>
          <p:nvPr>
            <p:ph idx="1"/>
          </p:nvPr>
        </p:nvSpPr>
        <p:spPr/>
        <p:txBody>
          <a:bodyPr/>
          <a:lstStyle/>
          <a:p>
            <a:r>
              <a:t>Abuses legitimate system tools.</a:t>
            </a:r>
          </a:p>
          <a:p>
            <a:r>
              <a:t>Uses PowerShell, CMD, Bash.</a:t>
            </a:r>
          </a:p>
          <a:p>
            <a:r>
              <a:t>Blends with normal admin activity.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Keylogger Malware</a:t>
            </a:r>
          </a:p>
        </p:txBody>
      </p:sp>
      <p:sp>
        <p:nvSpPr>
          <p:cNvPr id="3" name="Content Placeholder 2"/>
          <p:cNvSpPr>
            <a:spLocks noGrp="1"/>
          </p:cNvSpPr>
          <p:nvPr>
            <p:ph idx="1"/>
          </p:nvPr>
        </p:nvSpPr>
        <p:spPr/>
        <p:txBody>
          <a:bodyPr/>
          <a:lstStyle/>
          <a:p>
            <a:r>
              <a:t>Records keystrokes.</a:t>
            </a:r>
          </a:p>
          <a:p>
            <a:r>
              <a:t>Steals passwords and sensitive data.</a:t>
            </a:r>
          </a:p>
          <a:p>
            <a:r>
              <a:t>Uses keyboard hooks or kernel drivers.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Screen Scraper Malware</a:t>
            </a:r>
          </a:p>
        </p:txBody>
      </p:sp>
      <p:sp>
        <p:nvSpPr>
          <p:cNvPr id="3" name="Content Placeholder 2"/>
          <p:cNvSpPr>
            <a:spLocks noGrp="1"/>
          </p:cNvSpPr>
          <p:nvPr>
            <p:ph idx="1"/>
          </p:nvPr>
        </p:nvSpPr>
        <p:spPr/>
        <p:txBody>
          <a:bodyPr/>
          <a:lstStyle/>
          <a:p>
            <a:r>
              <a:t>Captures screen contents.</a:t>
            </a:r>
          </a:p>
          <a:p>
            <a:r>
              <a:t>Used in banking fraud.</a:t>
            </a:r>
          </a:p>
          <a:p>
            <a:r>
              <a:t>Detectable via screen capture APIs.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Credential Stealer Malware</a:t>
            </a:r>
          </a:p>
        </p:txBody>
      </p:sp>
      <p:sp>
        <p:nvSpPr>
          <p:cNvPr id="3" name="Content Placeholder 2"/>
          <p:cNvSpPr>
            <a:spLocks noGrp="1"/>
          </p:cNvSpPr>
          <p:nvPr>
            <p:ph idx="1"/>
          </p:nvPr>
        </p:nvSpPr>
        <p:spPr/>
        <p:txBody>
          <a:bodyPr/>
          <a:lstStyle/>
          <a:p>
            <a:r>
              <a:t>Steals stored credentials.</a:t>
            </a:r>
          </a:p>
          <a:p>
            <a:r>
              <a:t>Targets browsers, OS stores.</a:t>
            </a:r>
          </a:p>
          <a:p>
            <a:r>
              <a:t>Used for lateral movement.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Banking Malware</a:t>
            </a:r>
          </a:p>
        </p:txBody>
      </p:sp>
      <p:sp>
        <p:nvSpPr>
          <p:cNvPr id="3" name="Content Placeholder 2"/>
          <p:cNvSpPr>
            <a:spLocks noGrp="1"/>
          </p:cNvSpPr>
          <p:nvPr>
            <p:ph idx="1"/>
          </p:nvPr>
        </p:nvSpPr>
        <p:spPr/>
        <p:txBody>
          <a:bodyPr/>
          <a:lstStyle/>
          <a:p>
            <a:r>
              <a:rPr dirty="0"/>
              <a:t>Targets online banking systems.</a:t>
            </a:r>
          </a:p>
          <a:p>
            <a:r>
              <a:rPr dirty="0"/>
              <a:t>Uses form grabbing and MITB</a:t>
            </a:r>
            <a:r>
              <a:rPr lang="en-IN" dirty="0"/>
              <a:t> (Man-in-the-Browser)</a:t>
            </a:r>
            <a:r>
              <a:rPr dirty="0"/>
              <a:t> attacks.</a:t>
            </a:r>
            <a:endParaRPr lang="en-IN" dirty="0"/>
          </a:p>
          <a:p>
            <a:r>
              <a:rPr lang="en-US" dirty="0"/>
              <a:t>MITB is an attack where malware injects itself into a user’s web browser and modifies or monitors browser behavior in real time</a:t>
            </a:r>
            <a:endParaRPr dirty="0"/>
          </a:p>
          <a:p>
            <a:r>
              <a:rPr dirty="0"/>
              <a:t>Highly stealthy.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Cryptominer Malware</a:t>
            </a:r>
          </a:p>
        </p:txBody>
      </p:sp>
      <p:sp>
        <p:nvSpPr>
          <p:cNvPr id="3" name="Content Placeholder 2"/>
          <p:cNvSpPr>
            <a:spLocks noGrp="1"/>
          </p:cNvSpPr>
          <p:nvPr>
            <p:ph idx="1"/>
          </p:nvPr>
        </p:nvSpPr>
        <p:spPr/>
        <p:txBody>
          <a:bodyPr/>
          <a:lstStyle/>
          <a:p>
            <a:r>
              <a:t>Uses system resources for mining.</a:t>
            </a:r>
          </a:p>
          <a:p>
            <a:r>
              <a:t>Causes CPU/GPU overuse.</a:t>
            </a:r>
          </a:p>
          <a:p>
            <a:r>
              <a:t>Common in cloud attacks.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Mobile Malware</a:t>
            </a:r>
          </a:p>
        </p:txBody>
      </p:sp>
      <p:sp>
        <p:nvSpPr>
          <p:cNvPr id="3" name="Content Placeholder 2"/>
          <p:cNvSpPr>
            <a:spLocks noGrp="1"/>
          </p:cNvSpPr>
          <p:nvPr>
            <p:ph idx="1"/>
          </p:nvPr>
        </p:nvSpPr>
        <p:spPr/>
        <p:txBody>
          <a:bodyPr/>
          <a:lstStyle/>
          <a:p>
            <a:r>
              <a:t>Targets smartphones.</a:t>
            </a:r>
          </a:p>
          <a:p>
            <a:r>
              <a:t>Steals contacts, SMS, location.</a:t>
            </a:r>
          </a:p>
          <a:p>
            <a:r>
              <a:t>Often disguised as apps.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IoT Malware</a:t>
            </a:r>
          </a:p>
        </p:txBody>
      </p:sp>
      <p:sp>
        <p:nvSpPr>
          <p:cNvPr id="3" name="Content Placeholder 2"/>
          <p:cNvSpPr>
            <a:spLocks noGrp="1"/>
          </p:cNvSpPr>
          <p:nvPr>
            <p:ph idx="1"/>
          </p:nvPr>
        </p:nvSpPr>
        <p:spPr/>
        <p:txBody>
          <a:bodyPr/>
          <a:lstStyle/>
          <a:p>
            <a:r>
              <a:t>Targets routers and smart devices.</a:t>
            </a:r>
          </a:p>
          <a:p>
            <a:r>
              <a:t>Uses default credentials.</a:t>
            </a:r>
          </a:p>
          <a:p>
            <a:r>
              <a:t>Often part of botnets.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Wiper Malware</a:t>
            </a:r>
          </a:p>
        </p:txBody>
      </p:sp>
      <p:sp>
        <p:nvSpPr>
          <p:cNvPr id="3" name="Content Placeholder 2"/>
          <p:cNvSpPr>
            <a:spLocks noGrp="1"/>
          </p:cNvSpPr>
          <p:nvPr>
            <p:ph idx="1"/>
          </p:nvPr>
        </p:nvSpPr>
        <p:spPr/>
        <p:txBody>
          <a:bodyPr/>
          <a:lstStyle/>
          <a:p>
            <a:r>
              <a:t>Destroys data permanently.</a:t>
            </a:r>
          </a:p>
          <a:p>
            <a:r>
              <a:t>Used in sabotage attacks.</a:t>
            </a:r>
          </a:p>
          <a:p>
            <a:r>
              <a:t>No recovery possible.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Firmware Malware</a:t>
            </a:r>
          </a:p>
        </p:txBody>
      </p:sp>
      <p:sp>
        <p:nvSpPr>
          <p:cNvPr id="3" name="Content Placeholder 2"/>
          <p:cNvSpPr>
            <a:spLocks noGrp="1"/>
          </p:cNvSpPr>
          <p:nvPr>
            <p:ph idx="1"/>
          </p:nvPr>
        </p:nvSpPr>
        <p:spPr/>
        <p:txBody>
          <a:bodyPr/>
          <a:lstStyle/>
          <a:p>
            <a:r>
              <a:t>Infects BIOS/UEFI.</a:t>
            </a:r>
          </a:p>
          <a:p>
            <a:r>
              <a:t>Survives OS reinstall.</a:t>
            </a:r>
          </a:p>
          <a:p>
            <a:r>
              <a:t>Extremely persistent.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Supply Chain Malware</a:t>
            </a:r>
          </a:p>
        </p:txBody>
      </p:sp>
      <p:sp>
        <p:nvSpPr>
          <p:cNvPr id="3" name="Content Placeholder 2"/>
          <p:cNvSpPr>
            <a:spLocks noGrp="1"/>
          </p:cNvSpPr>
          <p:nvPr>
            <p:ph idx="1"/>
          </p:nvPr>
        </p:nvSpPr>
        <p:spPr/>
        <p:txBody>
          <a:bodyPr/>
          <a:lstStyle/>
          <a:p>
            <a:r>
              <a:rPr lang="en-US" dirty="0"/>
              <a:t>Supply chain malware is malicious code that gets delivered to victims through trusted software, updates, or third-party components instead of attacking them directly.</a:t>
            </a:r>
          </a:p>
          <a:p>
            <a:r>
              <a:rPr dirty="0"/>
              <a:t>Affects many victims.</a:t>
            </a:r>
          </a:p>
          <a:p>
            <a:r>
              <a:rPr dirty="0"/>
              <a:t>Hard to detect early.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Malware Loaders</a:t>
            </a:r>
          </a:p>
        </p:txBody>
      </p:sp>
      <p:sp>
        <p:nvSpPr>
          <p:cNvPr id="3" name="Content Placeholder 2"/>
          <p:cNvSpPr>
            <a:spLocks noGrp="1"/>
          </p:cNvSpPr>
          <p:nvPr>
            <p:ph idx="1"/>
          </p:nvPr>
        </p:nvSpPr>
        <p:spPr/>
        <p:txBody>
          <a:bodyPr/>
          <a:lstStyle/>
          <a:p>
            <a:r>
              <a:t>Prepare system for attacks.</a:t>
            </a:r>
          </a:p>
          <a:p>
            <a:r>
              <a:t>Disable security.</a:t>
            </a:r>
          </a:p>
          <a:p>
            <a:r>
              <a:t>Establish persistence.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Infostealer Malware</a:t>
            </a:r>
          </a:p>
        </p:txBody>
      </p:sp>
      <p:sp>
        <p:nvSpPr>
          <p:cNvPr id="3" name="Content Placeholder 2"/>
          <p:cNvSpPr>
            <a:spLocks noGrp="1"/>
          </p:cNvSpPr>
          <p:nvPr>
            <p:ph idx="1"/>
          </p:nvPr>
        </p:nvSpPr>
        <p:spPr/>
        <p:txBody>
          <a:bodyPr/>
          <a:lstStyle/>
          <a:p>
            <a:r>
              <a:t>Steals sensitive data.</a:t>
            </a:r>
          </a:p>
          <a:p>
            <a:r>
              <a:t>Targets cookies, passwords.</a:t>
            </a:r>
          </a:p>
          <a:p>
            <a:r>
              <a:t>Used for resale.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Malware-as-a-Service</a:t>
            </a:r>
          </a:p>
        </p:txBody>
      </p:sp>
      <p:sp>
        <p:nvSpPr>
          <p:cNvPr id="3" name="Content Placeholder 2"/>
          <p:cNvSpPr>
            <a:spLocks noGrp="1"/>
          </p:cNvSpPr>
          <p:nvPr>
            <p:ph idx="1"/>
          </p:nvPr>
        </p:nvSpPr>
        <p:spPr/>
        <p:txBody>
          <a:bodyPr/>
          <a:lstStyle/>
          <a:p>
            <a:r>
              <a:t>Malware sold as subscription.</a:t>
            </a:r>
          </a:p>
          <a:p>
            <a:r>
              <a:t>Low skill barrier.</a:t>
            </a:r>
          </a:p>
          <a:p>
            <a:r>
              <a:t>Professional cybercrime model.</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Spyware-as-a-Service</a:t>
            </a:r>
          </a:p>
        </p:txBody>
      </p:sp>
      <p:sp>
        <p:nvSpPr>
          <p:cNvPr id="3" name="Content Placeholder 2"/>
          <p:cNvSpPr>
            <a:spLocks noGrp="1"/>
          </p:cNvSpPr>
          <p:nvPr>
            <p:ph idx="1"/>
          </p:nvPr>
        </p:nvSpPr>
        <p:spPr/>
        <p:txBody>
          <a:bodyPr/>
          <a:lstStyle/>
          <a:p>
            <a:r>
              <a:t>Commercial surveillance malware.</a:t>
            </a:r>
          </a:p>
          <a:p>
            <a:r>
              <a:t>Used by governments.</a:t>
            </a:r>
          </a:p>
          <a:p>
            <a:r>
              <a:t>Raises ethical concerns.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rPr dirty="0"/>
              <a:t>Modern malware is stealthy, multi-stage, and memory-based.</a:t>
            </a:r>
          </a:p>
          <a:p>
            <a:r>
              <a:rPr dirty="0"/>
              <a:t>Requires disk </a:t>
            </a:r>
            <a:r>
              <a:rPr lang="en-IN" dirty="0"/>
              <a:t>analysis, </a:t>
            </a:r>
            <a:r>
              <a:rPr dirty="0"/>
              <a:t> memory </a:t>
            </a:r>
            <a:r>
              <a:rPr lang="en-IN" dirty="0"/>
              <a:t>analysis, and</a:t>
            </a:r>
            <a:r>
              <a:rPr dirty="0"/>
              <a:t> network forensics</a:t>
            </a:r>
            <a:r>
              <a:rPr lang="en-IN" dirty="0"/>
              <a:t> to uncover, detect, and </a:t>
            </a:r>
            <a:r>
              <a:rPr lang="en-IN" dirty="0" err="1"/>
              <a:t>analyze</a:t>
            </a:r>
            <a:r>
              <a:rPr lang="en-IN" dirty="0"/>
              <a:t> modern malware.</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ADF5E-6B83-644F-A666-B61CDC564385}"/>
              </a:ext>
            </a:extLst>
          </p:cNvPr>
          <p:cNvSpPr>
            <a:spLocks noGrp="1"/>
          </p:cNvSpPr>
          <p:nvPr>
            <p:ph type="title"/>
          </p:nvPr>
        </p:nvSpPr>
        <p:spPr/>
        <p:txBody>
          <a:bodyPr/>
          <a:lstStyle/>
          <a:p>
            <a:r>
              <a:rPr lang="en-IN" dirty="0"/>
              <a:t>Prevention Techniques</a:t>
            </a:r>
          </a:p>
        </p:txBody>
      </p:sp>
      <p:sp>
        <p:nvSpPr>
          <p:cNvPr id="3" name="Text Placeholder 2">
            <a:extLst>
              <a:ext uri="{FF2B5EF4-FFF2-40B4-BE49-F238E27FC236}">
                <a16:creationId xmlns:a16="http://schemas.microsoft.com/office/drawing/2014/main" id="{C6A6AC04-6B23-EF4E-159D-CE40E41F8EEA}"/>
              </a:ext>
            </a:extLst>
          </p:cNvPr>
          <p:cNvSpPr>
            <a:spLocks noGrp="1"/>
          </p:cNvSpPr>
          <p:nvPr>
            <p:ph type="body" idx="1"/>
          </p:nvPr>
        </p:nvSpPr>
        <p:spPr>
          <a:xfrm>
            <a:off x="776253" y="1434096"/>
            <a:ext cx="10577547" cy="5256154"/>
          </a:xfrm>
        </p:spPr>
        <p:txBody>
          <a:bodyPr/>
          <a:lstStyle/>
          <a:p>
            <a:r>
              <a:rPr lang="en-IN" dirty="0"/>
              <a:t>System and software hardening through maintaining regular updates.</a:t>
            </a:r>
          </a:p>
          <a:p>
            <a:r>
              <a:rPr lang="en-IN" dirty="0"/>
              <a:t>Signature based and Behaviour based antivirus and antimalware solutions.</a:t>
            </a:r>
          </a:p>
          <a:p>
            <a:r>
              <a:rPr lang="en-IN" dirty="0"/>
              <a:t>Enforcement of Least privilege Principle</a:t>
            </a:r>
          </a:p>
          <a:p>
            <a:r>
              <a:rPr lang="en-IN" dirty="0"/>
              <a:t>Network Controls like firewalls, intrusion detection systems, and intrusion prevention systems</a:t>
            </a:r>
          </a:p>
          <a:p>
            <a:r>
              <a:rPr lang="en-IN" dirty="0"/>
              <a:t>Spam Protection, email filtering, not opening malicious links</a:t>
            </a:r>
          </a:p>
          <a:p>
            <a:r>
              <a:rPr lang="en-IN" dirty="0"/>
              <a:t>Application control and whitelisting, blocking unauthorized scripts</a:t>
            </a:r>
          </a:p>
          <a:p>
            <a:r>
              <a:rPr lang="en-IN" dirty="0"/>
              <a:t>User awareness and training</a:t>
            </a:r>
          </a:p>
          <a:p>
            <a:endParaRPr lang="en-IN" dirty="0"/>
          </a:p>
        </p:txBody>
      </p:sp>
    </p:spTree>
    <p:extLst>
      <p:ext uri="{BB962C8B-B14F-4D97-AF65-F5344CB8AC3E}">
        <p14:creationId xmlns:p14="http://schemas.microsoft.com/office/powerpoint/2010/main" val="18548304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44B97-F1FD-982F-C4A9-52421E0E250C}"/>
              </a:ext>
            </a:extLst>
          </p:cNvPr>
          <p:cNvSpPr>
            <a:spLocks noGrp="1"/>
          </p:cNvSpPr>
          <p:nvPr>
            <p:ph type="title"/>
          </p:nvPr>
        </p:nvSpPr>
        <p:spPr>
          <a:xfrm>
            <a:off x="4456329" y="2509689"/>
            <a:ext cx="3378565" cy="1325563"/>
          </a:xfrm>
        </p:spPr>
        <p:txBody>
          <a:bodyPr/>
          <a:lstStyle/>
          <a:p>
            <a:r>
              <a:rPr lang="en-IN" dirty="0"/>
              <a:t>Thank You!</a:t>
            </a:r>
          </a:p>
        </p:txBody>
      </p:sp>
    </p:spTree>
    <p:extLst>
      <p:ext uri="{BB962C8B-B14F-4D97-AF65-F5344CB8AC3E}">
        <p14:creationId xmlns:p14="http://schemas.microsoft.com/office/powerpoint/2010/main" val="300338696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1374</TotalTime>
  <Words>2020</Words>
  <Application>Microsoft Office PowerPoint</Application>
  <PresentationFormat>Widescreen</PresentationFormat>
  <Paragraphs>230</Paragraphs>
  <Slides>44</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Types of Malicious Software</vt:lpstr>
      <vt:lpstr>Malicious Code</vt:lpstr>
      <vt:lpstr>Virus</vt:lpstr>
      <vt:lpstr>Types of Virus</vt:lpstr>
      <vt:lpstr>Viruses </vt:lpstr>
      <vt:lpstr>Polymorphic / Metamorphic Malware</vt:lpstr>
      <vt:lpstr>Prevention Techniques against Virus</vt:lpstr>
      <vt:lpstr>Hoaxes</vt:lpstr>
      <vt:lpstr>Worms</vt:lpstr>
      <vt:lpstr>Worms</vt:lpstr>
      <vt:lpstr>Polymorphic Malware</vt:lpstr>
      <vt:lpstr>Trojan Horses</vt:lpstr>
      <vt:lpstr>Remote-Access Trojan</vt:lpstr>
      <vt:lpstr>Remote-Access Trojan</vt:lpstr>
      <vt:lpstr>Rootkits</vt:lpstr>
      <vt:lpstr>Bootkits</vt:lpstr>
      <vt:lpstr>Logic Bombs</vt:lpstr>
      <vt:lpstr>Spyware</vt:lpstr>
      <vt:lpstr>Adware</vt:lpstr>
      <vt:lpstr>Botnets</vt:lpstr>
      <vt:lpstr>Backdoors and Trapdoors</vt:lpstr>
      <vt:lpstr>Crypto-Malware</vt:lpstr>
      <vt:lpstr>Ransomware</vt:lpstr>
      <vt:lpstr>Downloader Malware</vt:lpstr>
      <vt:lpstr>Dropper Malware</vt:lpstr>
      <vt:lpstr>Fileless/In-Memory Malware</vt:lpstr>
      <vt:lpstr>Living-off-the-Land Malware</vt:lpstr>
      <vt:lpstr>Keylogger Malware</vt:lpstr>
      <vt:lpstr>Screen Scraper Malware</vt:lpstr>
      <vt:lpstr>Credential Stealer Malware</vt:lpstr>
      <vt:lpstr>Banking Malware</vt:lpstr>
      <vt:lpstr>Cryptominer Malware</vt:lpstr>
      <vt:lpstr>Mobile Malware</vt:lpstr>
      <vt:lpstr>IoT Malware</vt:lpstr>
      <vt:lpstr>Wiper Malware</vt:lpstr>
      <vt:lpstr>Firmware Malware</vt:lpstr>
      <vt:lpstr>Supply Chain Malware</vt:lpstr>
      <vt:lpstr>Malware Loaders</vt:lpstr>
      <vt:lpstr>Infostealer Malware</vt:lpstr>
      <vt:lpstr>Malware-as-a-Service</vt:lpstr>
      <vt:lpstr>Spyware-as-a-Service</vt:lpstr>
      <vt:lpstr>Summary</vt:lpstr>
      <vt:lpstr>Prevention Techniques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Modhuparna Manna</dc:creator>
  <cp:lastModifiedBy>Modhuparna Manna</cp:lastModifiedBy>
  <cp:revision>9</cp:revision>
  <dcterms:modified xsi:type="dcterms:W3CDTF">2026-01-28T10:48:48Z</dcterms:modified>
</cp:coreProperties>
</file>