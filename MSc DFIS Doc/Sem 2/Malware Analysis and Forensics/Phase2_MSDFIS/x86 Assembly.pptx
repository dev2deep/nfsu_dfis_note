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8" r:id="rId47"/>
    <p:sldId id="304" r:id="rId48"/>
    <p:sldId id="305" r:id="rId4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660"/>
  </p:normalViewPr>
  <p:slideViewPr>
    <p:cSldViewPr snapToGrid="0">
      <p:cViewPr varScale="1">
        <p:scale>
          <a:sx n="58" d="100"/>
          <a:sy n="58" d="100"/>
        </p:scale>
        <p:origin x="984" y="2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74AB5-1D43-AE31-8D8C-D96F25FE81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C7147F-598C-9FBA-56AF-C90F3F3399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088648-3644-0521-8FCD-834FEBE9E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3E146-D665-4586-B53D-86A3652C947B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AA0C50-E525-65A7-DE87-B1620E97B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BD19F1-2A87-C1C0-47D8-53B44C700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24308-8134-4A4E-AF60-21A22D0C6A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7787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B9A05-2457-F7A8-3BE9-34440E2B6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8BA4D-274A-AB77-B6DE-C257A9A722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B7BB88-7812-FEDD-2E44-AB7D7E7D2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3E146-D665-4586-B53D-86A3652C947B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B6CBDF-68A5-F549-C0C2-ED1F6B5F7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77D0B5-C236-F4DF-5C4C-CD465EEA2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24308-8134-4A4E-AF60-21A22D0C6A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8774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E2D5D-0290-B90E-47F7-DF3544321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DD48DA-CA78-3BC4-DB62-DED557B58D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1C80FF-86FA-CB2C-45E9-03A9F7A39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3E146-D665-4586-B53D-86A3652C947B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C6FFF8-49C9-811F-ABC3-930D80A18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445B1E-A6AC-6945-2033-6D173E225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24308-8134-4A4E-AF60-21A22D0C6A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1699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01105-CED4-2378-542C-F884E50D6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A75828-D024-90BF-E944-BB08DC7A02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3DCFEF-456F-858D-81B5-C0BF14FA6B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294BD3-C51C-940E-347C-923DA1B14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3E146-D665-4586-B53D-86A3652C947B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521D5B-681C-F6B3-FFB1-1E9919B40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EA08F2-97F5-79CE-307C-226EA0747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24308-8134-4A4E-AF60-21A22D0C6A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0288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2FEE4-F831-2975-69D1-B4DE4B205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2E8DA1-F23F-0790-E26E-F20A3BE00B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AD3608-9D52-2A9F-E142-2B9B0951C0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7BC5F6-27B9-1C30-6FC4-849EF86251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B2C37E-EB59-0118-9AE6-FB64BBD5B5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9008D0-9724-0EE2-1510-2099DD624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3E146-D665-4586-B53D-86A3652C947B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DB8880-95DB-CAF4-66D1-5BD68217D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E0BFCA-F985-8486-44BD-D85860CC4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24308-8134-4A4E-AF60-21A22D0C6A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67452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C0D0E-3800-DB71-61B9-FF27C1C25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4BBBBD-CE60-477C-7A20-6863E090D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3E146-D665-4586-B53D-86A3652C947B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A36930-E679-270B-1C33-08270F8F8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BEBC74-29DF-9035-7ABA-4DA8ADCFF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24308-8134-4A4E-AF60-21A22D0C6A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0000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6909DE-9BCB-2CFB-05BB-FEC19F7D8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3E146-D665-4586-B53D-86A3652C947B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811AF2-169F-9332-E174-F545F8D83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B9CB9D-D043-8615-40F4-EB0EC7DC5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24308-8134-4A4E-AF60-21A22D0C6A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61691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A277B-B707-DB72-6F65-BE0CB957E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BF50B6-F51F-531F-77F0-C860794533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E7793C-7D68-EEC1-E4D9-86C77AD914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6CEB5D-495E-8061-D78A-A8A37F8F6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3E146-D665-4586-B53D-86A3652C947B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42FC3D-7EFB-D05F-A0E2-35A576D23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1F0D8A-B17A-79EB-D5B0-E6F05E4F8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24308-8134-4A4E-AF60-21A22D0C6A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26584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CD093-AAC9-3328-658A-4214FFFEA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82D9E3-678B-9366-05A7-10C9FF573E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EBEE79-3287-214C-BBA4-2E4373777B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0D8BBF-55E1-0453-E003-19B28FD4B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3E146-D665-4586-B53D-86A3652C947B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52741C-6CE2-DA88-FBF2-81788BBFB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B07A6F-E329-D1D2-F2C9-F3B557343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24308-8134-4A4E-AF60-21A22D0C6A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5120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A3D84-7025-0A83-3508-56F0B0B29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6EF653-BC4B-DDFD-DE03-2B700981C6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161A19-9046-94C2-7403-F265A59E4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3E146-D665-4586-B53D-86A3652C947B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40FF7F-F54E-84D1-AB1A-17D5EBE34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2EDC97-5724-C139-AE84-8F4AEC777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24308-8134-4A4E-AF60-21A22D0C6A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07557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979884-66DE-2361-6BA7-458533B435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EDC853-507A-D248-1F93-6B3989CD58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68F056-73DA-97E3-4C86-9891C91DD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3E146-D665-4586-B53D-86A3652C947B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27E8DF-85BB-FCC5-62E0-1C3E38129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9B80DC-38B9-CA89-9B7A-580EC7308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24308-8134-4A4E-AF60-21A22D0C6A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0652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AA9B5B-B497-6FC3-3FEA-B9C2AC21E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51C147-5001-C8CF-EB45-25E6046796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9B7804-6A17-7BED-2144-A4D2E66A01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13E146-D665-4586-B53D-86A3652C947B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A6DEE9-792F-3191-DDFA-2DD5CB08F9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3BAF6-DB30-5411-7B48-A67DB5ACC7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A24308-8134-4A4E-AF60-21A22D0C6A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025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B1B37-6D7A-B2D4-C4FC-BC7A81817C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Disassembly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45A6D8-5097-897C-CC48-E56D9329D0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Dr Modhuparna Manna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4A1870BC-44FC-5369-8A7D-4FDB8AA4C273}"/>
              </a:ext>
            </a:extLst>
          </p:cNvPr>
          <p:cNvSpPr txBox="1"/>
          <p:nvPr/>
        </p:nvSpPr>
        <p:spPr>
          <a:xfrm>
            <a:off x="553683" y="6383805"/>
            <a:ext cx="388620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200" dirty="0">
                <a:latin typeface="Trebuchet MS"/>
                <a:cs typeface="Trebuchet MS"/>
              </a:rPr>
              <a:t>Slides adapted from Sam Bowne’s lecture notes</a:t>
            </a:r>
            <a:endParaRPr sz="1200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1914947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362200" y="682940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955800">
              <a:lnSpc>
                <a:spcPct val="100000"/>
              </a:lnSpc>
              <a:spcBef>
                <a:spcPts val="100"/>
              </a:spcBef>
            </a:pPr>
            <a:r>
              <a:rPr dirty="0"/>
              <a:t>Basic</a:t>
            </a:r>
            <a:r>
              <a:rPr spc="-100" dirty="0"/>
              <a:t> </a:t>
            </a:r>
            <a:r>
              <a:rPr spc="-545" dirty="0"/>
              <a:t>T</a:t>
            </a:r>
            <a:r>
              <a:rPr spc="5" dirty="0"/>
              <a:t>e</a:t>
            </a:r>
            <a:r>
              <a:rPr dirty="0"/>
              <a:t>c</a:t>
            </a:r>
            <a:r>
              <a:rPr spc="5" dirty="0"/>
              <a:t>hn</a:t>
            </a:r>
            <a:r>
              <a:rPr dirty="0"/>
              <a:t>iq</a:t>
            </a:r>
            <a:r>
              <a:rPr spc="5" dirty="0"/>
              <a:t>ues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14219" y="1526956"/>
            <a:ext cx="7961630" cy="4063292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360045" indent="-347345">
              <a:spcBef>
                <a:spcPts val="705"/>
              </a:spcBef>
              <a:buFont typeface="Arial"/>
              <a:buChar char="•"/>
              <a:tabLst>
                <a:tab pos="360045" algn="l"/>
              </a:tabLst>
            </a:pPr>
            <a:r>
              <a:rPr sz="3200" dirty="0">
                <a:latin typeface="Trebuchet MS"/>
                <a:cs typeface="Trebuchet MS"/>
              </a:rPr>
              <a:t>Basic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static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analysis</a:t>
            </a:r>
            <a:endParaRPr sz="3200">
              <a:latin typeface="Trebuchet MS"/>
              <a:cs typeface="Trebuchet MS"/>
            </a:endParaRPr>
          </a:p>
          <a:p>
            <a:pPr marL="752475" lvl="1" indent="-283210">
              <a:spcBef>
                <a:spcPts val="530"/>
              </a:spcBef>
              <a:buFont typeface="Arial"/>
              <a:buChar char="–"/>
              <a:tabLst>
                <a:tab pos="752475" algn="l"/>
              </a:tabLst>
            </a:pPr>
            <a:r>
              <a:rPr sz="2800" dirty="0">
                <a:latin typeface="Trebuchet MS"/>
                <a:cs typeface="Trebuchet MS"/>
              </a:rPr>
              <a:t>Looks</a:t>
            </a:r>
            <a:r>
              <a:rPr sz="2800" spc="-5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at</a:t>
            </a:r>
            <a:r>
              <a:rPr sz="2800" spc="-5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malware</a:t>
            </a:r>
            <a:r>
              <a:rPr sz="2800" spc="-5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from</a:t>
            </a:r>
            <a:r>
              <a:rPr sz="2800" spc="-4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the</a:t>
            </a:r>
            <a:r>
              <a:rPr sz="2800" spc="-5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outside</a:t>
            </a:r>
            <a:endParaRPr sz="2800">
              <a:latin typeface="Trebuchet MS"/>
              <a:cs typeface="Trebuchet MS"/>
            </a:endParaRPr>
          </a:p>
          <a:p>
            <a:pPr marL="360045" indent="-347345">
              <a:spcBef>
                <a:spcPts val="640"/>
              </a:spcBef>
              <a:buFont typeface="Arial"/>
              <a:buChar char="•"/>
              <a:tabLst>
                <a:tab pos="360045" algn="l"/>
              </a:tabLst>
            </a:pPr>
            <a:r>
              <a:rPr sz="3200" dirty="0">
                <a:latin typeface="Trebuchet MS"/>
                <a:cs typeface="Trebuchet MS"/>
              </a:rPr>
              <a:t>Basic</a:t>
            </a:r>
            <a:r>
              <a:rPr sz="3200" spc="-12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dynamic</a:t>
            </a:r>
            <a:r>
              <a:rPr sz="3200" spc="-120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analysis</a:t>
            </a:r>
            <a:endParaRPr sz="3200">
              <a:latin typeface="Trebuchet MS"/>
              <a:cs typeface="Trebuchet MS"/>
            </a:endParaRPr>
          </a:p>
          <a:p>
            <a:pPr marL="753110" marR="5080" lvl="1" indent="-283210">
              <a:lnSpc>
                <a:spcPts val="3170"/>
              </a:lnSpc>
              <a:spcBef>
                <a:spcPts val="755"/>
              </a:spcBef>
              <a:buFont typeface="Arial"/>
              <a:buChar char="–"/>
              <a:tabLst>
                <a:tab pos="754380" algn="l"/>
              </a:tabLst>
            </a:pPr>
            <a:r>
              <a:rPr sz="2800" dirty="0">
                <a:latin typeface="Trebuchet MS"/>
                <a:cs typeface="Trebuchet MS"/>
              </a:rPr>
              <a:t>Only</a:t>
            </a:r>
            <a:r>
              <a:rPr sz="2800" spc="-4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shows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you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how</a:t>
            </a:r>
            <a:r>
              <a:rPr sz="2800" spc="-4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the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malware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operates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in 	</a:t>
            </a:r>
            <a:r>
              <a:rPr sz="2800" dirty="0">
                <a:latin typeface="Trebuchet MS"/>
                <a:cs typeface="Trebuchet MS"/>
              </a:rPr>
              <a:t>one</a:t>
            </a:r>
            <a:r>
              <a:rPr sz="2800" spc="-5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case</a:t>
            </a:r>
            <a:endParaRPr sz="2800">
              <a:latin typeface="Trebuchet MS"/>
              <a:cs typeface="Trebuchet MS"/>
            </a:endParaRPr>
          </a:p>
          <a:p>
            <a:pPr marL="360045" indent="-347345">
              <a:spcBef>
                <a:spcPts val="575"/>
              </a:spcBef>
              <a:buFont typeface="Arial"/>
              <a:buChar char="•"/>
              <a:tabLst>
                <a:tab pos="360045" algn="l"/>
              </a:tabLst>
            </a:pPr>
            <a:r>
              <a:rPr sz="3200" spc="-10" dirty="0">
                <a:latin typeface="Trebuchet MS"/>
                <a:cs typeface="Trebuchet MS"/>
              </a:rPr>
              <a:t>Disassembly</a:t>
            </a:r>
            <a:endParaRPr sz="3200">
              <a:latin typeface="Trebuchet MS"/>
              <a:cs typeface="Trebuchet MS"/>
            </a:endParaRPr>
          </a:p>
          <a:p>
            <a:pPr marL="753110" marR="383540" lvl="1" indent="-283210">
              <a:lnSpc>
                <a:spcPts val="3200"/>
              </a:lnSpc>
              <a:spcBef>
                <a:spcPts val="790"/>
              </a:spcBef>
              <a:buFont typeface="Arial"/>
              <a:buChar char="–"/>
              <a:tabLst>
                <a:tab pos="754380" algn="l"/>
              </a:tabLst>
            </a:pPr>
            <a:r>
              <a:rPr sz="2800" dirty="0">
                <a:latin typeface="Trebuchet MS"/>
                <a:cs typeface="Trebuchet MS"/>
              </a:rPr>
              <a:t>View</a:t>
            </a:r>
            <a:r>
              <a:rPr sz="2800" spc="-4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code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of</a:t>
            </a:r>
            <a:r>
              <a:rPr sz="2800" spc="-4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malware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&amp;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figure</a:t>
            </a:r>
            <a:r>
              <a:rPr sz="2800" spc="-4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out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what</a:t>
            </a:r>
            <a:r>
              <a:rPr sz="2800" spc="-45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it 	</a:t>
            </a:r>
            <a:r>
              <a:rPr sz="2800" spc="-20" dirty="0">
                <a:latin typeface="Trebuchet MS"/>
                <a:cs typeface="Trebuchet MS"/>
              </a:rPr>
              <a:t>does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467100" y="2501900"/>
            <a:ext cx="5259070" cy="695960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Levels</a:t>
            </a:r>
            <a:r>
              <a:rPr spc="-25" dirty="0"/>
              <a:t> </a:t>
            </a:r>
            <a:r>
              <a:rPr dirty="0"/>
              <a:t>of</a:t>
            </a:r>
            <a:r>
              <a:rPr spc="-260" dirty="0"/>
              <a:t> </a:t>
            </a:r>
            <a:r>
              <a:rPr spc="-10" dirty="0"/>
              <a:t>Abstraction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98800" y="952500"/>
            <a:ext cx="6172200" cy="4495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362200" y="682940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003300">
              <a:lnSpc>
                <a:spcPct val="100000"/>
              </a:lnSpc>
              <a:spcBef>
                <a:spcPts val="100"/>
              </a:spcBef>
            </a:pPr>
            <a:r>
              <a:rPr dirty="0"/>
              <a:t>Six</a:t>
            </a:r>
            <a:r>
              <a:rPr spc="-40" dirty="0"/>
              <a:t> </a:t>
            </a:r>
            <a:r>
              <a:rPr dirty="0"/>
              <a:t>Levels</a:t>
            </a:r>
            <a:r>
              <a:rPr spc="-40" dirty="0"/>
              <a:t> </a:t>
            </a:r>
            <a:r>
              <a:rPr dirty="0"/>
              <a:t>of</a:t>
            </a:r>
            <a:r>
              <a:rPr spc="-275" dirty="0"/>
              <a:t> </a:t>
            </a:r>
            <a:r>
              <a:rPr spc="-10" dirty="0"/>
              <a:t>Abstraction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14220" y="1523881"/>
            <a:ext cx="4371975" cy="3471463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360045" indent="-347345">
              <a:spcBef>
                <a:spcPts val="730"/>
              </a:spcBef>
              <a:buFont typeface="Arial"/>
              <a:buChar char="•"/>
              <a:tabLst>
                <a:tab pos="360045" algn="l"/>
              </a:tabLst>
            </a:pPr>
            <a:r>
              <a:rPr sz="3200" spc="-10" dirty="0">
                <a:latin typeface="Trebuchet MS"/>
                <a:cs typeface="Trebuchet MS"/>
              </a:rPr>
              <a:t>Hardware</a:t>
            </a:r>
            <a:endParaRPr sz="3200">
              <a:latin typeface="Trebuchet MS"/>
              <a:cs typeface="Trebuchet MS"/>
            </a:endParaRPr>
          </a:p>
          <a:p>
            <a:pPr marL="360045" indent="-347345">
              <a:spcBef>
                <a:spcPts val="630"/>
              </a:spcBef>
              <a:buFont typeface="Arial"/>
              <a:buChar char="•"/>
              <a:tabLst>
                <a:tab pos="360045" algn="l"/>
              </a:tabLst>
            </a:pPr>
            <a:r>
              <a:rPr sz="3200" spc="-10" dirty="0">
                <a:latin typeface="Trebuchet MS"/>
                <a:cs typeface="Trebuchet MS"/>
              </a:rPr>
              <a:t>Microcode</a:t>
            </a:r>
            <a:endParaRPr sz="3200">
              <a:latin typeface="Trebuchet MS"/>
              <a:cs typeface="Trebuchet MS"/>
            </a:endParaRPr>
          </a:p>
          <a:p>
            <a:pPr marL="360045" indent="-347345">
              <a:spcBef>
                <a:spcPts val="660"/>
              </a:spcBef>
              <a:buFont typeface="Arial"/>
              <a:buChar char="•"/>
              <a:tabLst>
                <a:tab pos="360045" algn="l"/>
              </a:tabLst>
            </a:pPr>
            <a:r>
              <a:rPr sz="3200" dirty="0">
                <a:latin typeface="Trebuchet MS"/>
                <a:cs typeface="Trebuchet MS"/>
              </a:rPr>
              <a:t>Machine</a:t>
            </a:r>
            <a:r>
              <a:rPr sz="3200" spc="-120" dirty="0">
                <a:latin typeface="Trebuchet MS"/>
                <a:cs typeface="Trebuchet MS"/>
              </a:rPr>
              <a:t> </a:t>
            </a:r>
            <a:r>
              <a:rPr sz="3200" spc="-20" dirty="0">
                <a:latin typeface="Trebuchet MS"/>
                <a:cs typeface="Trebuchet MS"/>
              </a:rPr>
              <a:t>code</a:t>
            </a:r>
            <a:endParaRPr sz="3200">
              <a:latin typeface="Trebuchet MS"/>
              <a:cs typeface="Trebuchet MS"/>
            </a:endParaRPr>
          </a:p>
          <a:p>
            <a:pPr marL="360045" indent="-347345">
              <a:spcBef>
                <a:spcPts val="660"/>
              </a:spcBef>
              <a:buFont typeface="Arial"/>
              <a:buChar char="•"/>
              <a:tabLst>
                <a:tab pos="360045" algn="l"/>
              </a:tabLst>
            </a:pPr>
            <a:r>
              <a:rPr sz="3200" spc="-20" dirty="0">
                <a:latin typeface="Trebuchet MS"/>
                <a:cs typeface="Trebuchet MS"/>
              </a:rPr>
              <a:t>Low-</a:t>
            </a:r>
            <a:r>
              <a:rPr sz="3200" dirty="0">
                <a:latin typeface="Trebuchet MS"/>
                <a:cs typeface="Trebuchet MS"/>
              </a:rPr>
              <a:t>level</a:t>
            </a:r>
            <a:r>
              <a:rPr sz="3200" spc="-40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languages</a:t>
            </a:r>
            <a:endParaRPr sz="3200">
              <a:latin typeface="Trebuchet MS"/>
              <a:cs typeface="Trebuchet MS"/>
            </a:endParaRPr>
          </a:p>
          <a:p>
            <a:pPr marL="360045" indent="-347345">
              <a:spcBef>
                <a:spcPts val="560"/>
              </a:spcBef>
              <a:buFont typeface="Arial"/>
              <a:buChar char="•"/>
              <a:tabLst>
                <a:tab pos="360045" algn="l"/>
              </a:tabLst>
            </a:pPr>
            <a:r>
              <a:rPr sz="3200" spc="-20" dirty="0">
                <a:latin typeface="Trebuchet MS"/>
                <a:cs typeface="Trebuchet MS"/>
              </a:rPr>
              <a:t>High-</a:t>
            </a:r>
            <a:r>
              <a:rPr sz="3200" dirty="0">
                <a:latin typeface="Trebuchet MS"/>
                <a:cs typeface="Trebuchet MS"/>
              </a:rPr>
              <a:t>level</a:t>
            </a:r>
            <a:r>
              <a:rPr sz="3200" spc="-25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languages</a:t>
            </a:r>
            <a:endParaRPr sz="3200">
              <a:latin typeface="Trebuchet MS"/>
              <a:cs typeface="Trebuchet MS"/>
            </a:endParaRPr>
          </a:p>
          <a:p>
            <a:pPr marL="360045" indent="-347345">
              <a:spcBef>
                <a:spcPts val="660"/>
              </a:spcBef>
              <a:buFont typeface="Arial"/>
              <a:buChar char="•"/>
              <a:tabLst>
                <a:tab pos="360045" algn="l"/>
              </a:tabLst>
            </a:pPr>
            <a:r>
              <a:rPr sz="3200" dirty="0">
                <a:latin typeface="Trebuchet MS"/>
                <a:cs typeface="Trebuchet MS"/>
              </a:rPr>
              <a:t>Interpreted</a:t>
            </a:r>
            <a:r>
              <a:rPr sz="3200" spc="-170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languages</a:t>
            </a:r>
            <a:endParaRPr sz="3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362200" y="682940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28448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Hardware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2362200" y="1825625"/>
            <a:ext cx="10515600" cy="1676100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360045" indent="-347345">
              <a:lnSpc>
                <a:spcPct val="100000"/>
              </a:lnSpc>
              <a:spcBef>
                <a:spcPts val="730"/>
              </a:spcBef>
              <a:buFont typeface="Arial"/>
              <a:buChar char="•"/>
              <a:tabLst>
                <a:tab pos="360045" algn="l"/>
              </a:tabLst>
            </a:pPr>
            <a:r>
              <a:rPr sz="3200" dirty="0"/>
              <a:t>Digital</a:t>
            </a:r>
            <a:r>
              <a:rPr sz="3200" spc="-70" dirty="0"/>
              <a:t> </a:t>
            </a:r>
            <a:r>
              <a:rPr sz="3200" spc="-10" dirty="0"/>
              <a:t>circuits</a:t>
            </a:r>
            <a:endParaRPr sz="3200"/>
          </a:p>
          <a:p>
            <a:pPr marL="360045" indent="-347345">
              <a:lnSpc>
                <a:spcPct val="100000"/>
              </a:lnSpc>
              <a:spcBef>
                <a:spcPts val="630"/>
              </a:spcBef>
              <a:buFont typeface="Arial"/>
              <a:buChar char="•"/>
              <a:tabLst>
                <a:tab pos="360045" algn="l"/>
              </a:tabLst>
            </a:pPr>
            <a:r>
              <a:rPr dirty="0"/>
              <a:t>XOR,</a:t>
            </a:r>
            <a:r>
              <a:rPr spc="-210" dirty="0"/>
              <a:t> </a:t>
            </a:r>
            <a:r>
              <a:rPr dirty="0"/>
              <a:t>AND,</a:t>
            </a:r>
            <a:r>
              <a:rPr spc="-40" dirty="0"/>
              <a:t> </a:t>
            </a:r>
            <a:r>
              <a:rPr dirty="0"/>
              <a:t>OR,</a:t>
            </a:r>
            <a:r>
              <a:rPr spc="-35" dirty="0"/>
              <a:t> </a:t>
            </a:r>
            <a:r>
              <a:rPr dirty="0"/>
              <a:t>NOT</a:t>
            </a:r>
            <a:r>
              <a:rPr spc="-95" dirty="0"/>
              <a:t> </a:t>
            </a:r>
            <a:r>
              <a:rPr spc="-10" dirty="0"/>
              <a:t>gates</a:t>
            </a:r>
          </a:p>
          <a:p>
            <a:pPr marL="360045" indent="-347345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360045" algn="l"/>
              </a:tabLst>
            </a:pPr>
            <a:r>
              <a:rPr sz="3200" dirty="0"/>
              <a:t>Cannot</a:t>
            </a:r>
            <a:r>
              <a:rPr sz="3200" spc="-110" dirty="0"/>
              <a:t> </a:t>
            </a:r>
            <a:r>
              <a:rPr sz="3200" dirty="0"/>
              <a:t>be</a:t>
            </a:r>
            <a:r>
              <a:rPr sz="3200" spc="-110" dirty="0"/>
              <a:t> </a:t>
            </a:r>
            <a:r>
              <a:rPr sz="3200" dirty="0"/>
              <a:t>easily</a:t>
            </a:r>
            <a:r>
              <a:rPr sz="3200" spc="-110" dirty="0"/>
              <a:t> </a:t>
            </a:r>
            <a:r>
              <a:rPr sz="3200" dirty="0"/>
              <a:t>manipulated</a:t>
            </a:r>
            <a:r>
              <a:rPr sz="3200" spc="-110" dirty="0"/>
              <a:t> </a:t>
            </a:r>
            <a:r>
              <a:rPr sz="3200" dirty="0"/>
              <a:t>by</a:t>
            </a:r>
            <a:r>
              <a:rPr sz="3200" spc="-110" dirty="0"/>
              <a:t> </a:t>
            </a:r>
            <a:r>
              <a:rPr sz="3200" spc="-10" dirty="0"/>
              <a:t>software</a:t>
            </a:r>
            <a:endParaRPr sz="3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362200" y="682940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27813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Microcode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2362200" y="1825625"/>
            <a:ext cx="10515600" cy="1753044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360045" indent="-347345">
              <a:lnSpc>
                <a:spcPct val="100000"/>
              </a:lnSpc>
              <a:spcBef>
                <a:spcPts val="730"/>
              </a:spcBef>
              <a:buFont typeface="Arial"/>
              <a:buChar char="•"/>
              <a:tabLst>
                <a:tab pos="360045" algn="l"/>
              </a:tabLst>
            </a:pPr>
            <a:r>
              <a:rPr sz="3200" dirty="0"/>
              <a:t>Also</a:t>
            </a:r>
            <a:r>
              <a:rPr sz="3200" spc="-85" dirty="0"/>
              <a:t> </a:t>
            </a:r>
            <a:r>
              <a:rPr sz="3200" dirty="0"/>
              <a:t>called</a:t>
            </a:r>
            <a:r>
              <a:rPr sz="3200" spc="-85" dirty="0"/>
              <a:t> </a:t>
            </a:r>
            <a:r>
              <a:rPr sz="3200" b="1" spc="-10" dirty="0">
                <a:latin typeface="Trebuchet MS"/>
                <a:cs typeface="Trebuchet MS"/>
              </a:rPr>
              <a:t>firmware</a:t>
            </a:r>
            <a:endParaRPr sz="3200">
              <a:latin typeface="Trebuchet MS"/>
              <a:cs typeface="Trebuchet MS"/>
            </a:endParaRPr>
          </a:p>
          <a:p>
            <a:pPr marL="360680" marR="5080" indent="-347980">
              <a:lnSpc>
                <a:spcPts val="3700"/>
              </a:lnSpc>
              <a:spcBef>
                <a:spcPts val="869"/>
              </a:spcBef>
              <a:buFont typeface="Arial"/>
              <a:buChar char="•"/>
              <a:tabLst>
                <a:tab pos="360680" algn="l"/>
              </a:tabLst>
            </a:pPr>
            <a:r>
              <a:rPr dirty="0"/>
              <a:t>Only</a:t>
            </a:r>
            <a:r>
              <a:rPr spc="-95" dirty="0"/>
              <a:t> </a:t>
            </a:r>
            <a:r>
              <a:rPr dirty="0"/>
              <a:t>operates</a:t>
            </a:r>
            <a:r>
              <a:rPr spc="-90" dirty="0"/>
              <a:t> </a:t>
            </a:r>
            <a:r>
              <a:rPr dirty="0"/>
              <a:t>on</a:t>
            </a:r>
            <a:r>
              <a:rPr spc="-90" dirty="0"/>
              <a:t> </a:t>
            </a:r>
            <a:r>
              <a:rPr dirty="0"/>
              <a:t>specific</a:t>
            </a:r>
            <a:r>
              <a:rPr spc="-90" dirty="0"/>
              <a:t> </a:t>
            </a:r>
            <a:r>
              <a:rPr dirty="0"/>
              <a:t>hardware</a:t>
            </a:r>
            <a:r>
              <a:rPr spc="-90" dirty="0"/>
              <a:t> </a:t>
            </a:r>
            <a:r>
              <a:rPr dirty="0"/>
              <a:t>it</a:t>
            </a:r>
            <a:r>
              <a:rPr spc="-90" dirty="0"/>
              <a:t> </a:t>
            </a:r>
            <a:r>
              <a:rPr spc="-25" dirty="0"/>
              <a:t>was </a:t>
            </a:r>
            <a:r>
              <a:rPr dirty="0"/>
              <a:t>designed</a:t>
            </a:r>
            <a:r>
              <a:rPr spc="-130" dirty="0"/>
              <a:t> </a:t>
            </a:r>
            <a:r>
              <a:rPr spc="-25" dirty="0"/>
              <a:t>for</a:t>
            </a:r>
          </a:p>
          <a:p>
            <a:pPr marL="360680" marR="1353185" indent="-347980">
              <a:lnSpc>
                <a:spcPts val="3700"/>
              </a:lnSpc>
              <a:spcBef>
                <a:spcPts val="800"/>
              </a:spcBef>
              <a:buFont typeface="Arial"/>
              <a:buChar char="•"/>
              <a:tabLst>
                <a:tab pos="360680" algn="l"/>
              </a:tabLst>
            </a:pPr>
            <a:r>
              <a:rPr sz="3200" dirty="0"/>
              <a:t>Not</a:t>
            </a:r>
            <a:r>
              <a:rPr sz="3200" spc="-85" dirty="0"/>
              <a:t> </a:t>
            </a:r>
            <a:r>
              <a:rPr sz="3200" dirty="0"/>
              <a:t>usually</a:t>
            </a:r>
            <a:r>
              <a:rPr sz="3200" spc="-85" dirty="0"/>
              <a:t> </a:t>
            </a:r>
            <a:r>
              <a:rPr sz="3200" dirty="0"/>
              <a:t>important</a:t>
            </a:r>
            <a:r>
              <a:rPr sz="3200" spc="-85" dirty="0"/>
              <a:t> </a:t>
            </a:r>
            <a:r>
              <a:rPr sz="3200" dirty="0"/>
              <a:t>for</a:t>
            </a:r>
            <a:r>
              <a:rPr sz="3200" spc="-85" dirty="0"/>
              <a:t> </a:t>
            </a:r>
            <a:r>
              <a:rPr sz="3200" spc="-10" dirty="0"/>
              <a:t>malware analysis</a:t>
            </a:r>
            <a:endParaRPr sz="3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362200" y="682940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2349500">
              <a:lnSpc>
                <a:spcPct val="100000"/>
              </a:lnSpc>
              <a:spcBef>
                <a:spcPts val="100"/>
              </a:spcBef>
            </a:pPr>
            <a:r>
              <a:rPr dirty="0"/>
              <a:t>Machine </a:t>
            </a:r>
            <a:r>
              <a:rPr spc="-20" dirty="0"/>
              <a:t>code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14220" y="1526956"/>
            <a:ext cx="7597775" cy="198628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360045" indent="-347345">
              <a:spcBef>
                <a:spcPts val="705"/>
              </a:spcBef>
              <a:buFont typeface="Arial"/>
              <a:buChar char="•"/>
              <a:tabLst>
                <a:tab pos="360045" algn="l"/>
              </a:tabLst>
            </a:pPr>
            <a:r>
              <a:rPr sz="3200" b="1" spc="-10" dirty="0">
                <a:latin typeface="Trebuchet MS"/>
                <a:cs typeface="Trebuchet MS"/>
              </a:rPr>
              <a:t>Opcodes</a:t>
            </a:r>
            <a:endParaRPr sz="3200">
              <a:latin typeface="Trebuchet MS"/>
              <a:cs typeface="Trebuchet MS"/>
            </a:endParaRPr>
          </a:p>
          <a:p>
            <a:pPr marL="752475" lvl="1" indent="-283210">
              <a:spcBef>
                <a:spcPts val="530"/>
              </a:spcBef>
              <a:buFont typeface="Arial"/>
              <a:buChar char="–"/>
              <a:tabLst>
                <a:tab pos="752475" algn="l"/>
              </a:tabLst>
            </a:pPr>
            <a:r>
              <a:rPr sz="2800" spc="-55" dirty="0">
                <a:latin typeface="Trebuchet MS"/>
                <a:cs typeface="Trebuchet MS"/>
              </a:rPr>
              <a:t>Tell </a:t>
            </a:r>
            <a:r>
              <a:rPr sz="2800" dirty="0">
                <a:latin typeface="Trebuchet MS"/>
                <a:cs typeface="Trebuchet MS"/>
              </a:rPr>
              <a:t>the</a:t>
            </a:r>
            <a:r>
              <a:rPr sz="2800" spc="-5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processor</a:t>
            </a:r>
            <a:r>
              <a:rPr sz="2800" spc="-5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to</a:t>
            </a:r>
            <a:r>
              <a:rPr sz="2800" spc="-5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do</a:t>
            </a:r>
            <a:r>
              <a:rPr sz="2800" spc="-5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something</a:t>
            </a:r>
            <a:endParaRPr sz="2800">
              <a:latin typeface="Trebuchet MS"/>
              <a:cs typeface="Trebuchet MS"/>
            </a:endParaRPr>
          </a:p>
          <a:p>
            <a:pPr marL="753110" marR="5080" lvl="1" indent="-283210">
              <a:lnSpc>
                <a:spcPts val="3200"/>
              </a:lnSpc>
              <a:spcBef>
                <a:spcPts val="780"/>
              </a:spcBef>
              <a:buFont typeface="Arial"/>
              <a:buChar char="–"/>
              <a:tabLst>
                <a:tab pos="754380" algn="l"/>
              </a:tabLst>
            </a:pPr>
            <a:r>
              <a:rPr sz="2800" dirty="0">
                <a:latin typeface="Trebuchet MS"/>
                <a:cs typeface="Trebuchet MS"/>
              </a:rPr>
              <a:t>Created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when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program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written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in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high-	</a:t>
            </a:r>
            <a:r>
              <a:rPr sz="2800" dirty="0">
                <a:latin typeface="Trebuchet MS"/>
                <a:cs typeface="Trebuchet MS"/>
              </a:rPr>
              <a:t>level</a:t>
            </a:r>
            <a:r>
              <a:rPr sz="2800" spc="-3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language</a:t>
            </a:r>
            <a:r>
              <a:rPr sz="2800" spc="-3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is</a:t>
            </a:r>
            <a:r>
              <a:rPr sz="2800" spc="-3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compiled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568700" y="469900"/>
            <a:ext cx="5064760" cy="695960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597150" algn="l"/>
              </a:tabLst>
            </a:pPr>
            <a:r>
              <a:rPr spc="-25" dirty="0"/>
              <a:t>Low-</a:t>
            </a:r>
            <a:r>
              <a:rPr spc="-20" dirty="0"/>
              <a:t>level</a:t>
            </a:r>
            <a:r>
              <a:rPr lang="en-IN" spc="-20" dirty="0"/>
              <a:t> L</a:t>
            </a:r>
            <a:r>
              <a:rPr spc="-10" dirty="0" err="1"/>
              <a:t>anguages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2014219" y="1603950"/>
            <a:ext cx="8154670" cy="4116704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360680" marR="779780" indent="-347980">
              <a:lnSpc>
                <a:spcPts val="3670"/>
              </a:lnSpc>
              <a:spcBef>
                <a:spcPts val="360"/>
              </a:spcBef>
              <a:buFont typeface="Arial"/>
              <a:buChar char="•"/>
              <a:tabLst>
                <a:tab pos="360680" algn="l"/>
              </a:tabLst>
            </a:pPr>
            <a:r>
              <a:rPr sz="3200" spc="-25" dirty="0">
                <a:latin typeface="Trebuchet MS"/>
                <a:cs typeface="Trebuchet MS"/>
              </a:rPr>
              <a:t>Human-</a:t>
            </a:r>
            <a:r>
              <a:rPr sz="3200" dirty="0">
                <a:latin typeface="Trebuchet MS"/>
                <a:cs typeface="Trebuchet MS"/>
              </a:rPr>
              <a:t>readable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version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of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processor's </a:t>
            </a:r>
            <a:r>
              <a:rPr sz="3200" dirty="0">
                <a:latin typeface="Trebuchet MS"/>
                <a:cs typeface="Trebuchet MS"/>
              </a:rPr>
              <a:t>instruction</a:t>
            </a:r>
            <a:r>
              <a:rPr sz="3200" spc="-170" dirty="0">
                <a:latin typeface="Trebuchet MS"/>
                <a:cs typeface="Trebuchet MS"/>
              </a:rPr>
              <a:t> </a:t>
            </a:r>
            <a:r>
              <a:rPr sz="3200" spc="-25" dirty="0">
                <a:latin typeface="Trebuchet MS"/>
                <a:cs typeface="Trebuchet MS"/>
              </a:rPr>
              <a:t>set</a:t>
            </a:r>
            <a:endParaRPr sz="3200">
              <a:latin typeface="Trebuchet MS"/>
              <a:cs typeface="Trebuchet MS"/>
            </a:endParaRPr>
          </a:p>
          <a:p>
            <a:pPr marL="360045" indent="-347345" algn="just">
              <a:spcBef>
                <a:spcPts val="570"/>
              </a:spcBef>
              <a:buFont typeface="Arial"/>
              <a:buChar char="•"/>
              <a:tabLst>
                <a:tab pos="360045" algn="l"/>
              </a:tabLst>
            </a:pPr>
            <a:r>
              <a:rPr sz="3200" dirty="0">
                <a:latin typeface="Trebuchet MS"/>
                <a:cs typeface="Trebuchet MS"/>
              </a:rPr>
              <a:t>Assembly</a:t>
            </a:r>
            <a:r>
              <a:rPr sz="3200" spc="-114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language</a:t>
            </a:r>
            <a:endParaRPr sz="3200">
              <a:latin typeface="Trebuchet MS"/>
              <a:cs typeface="Trebuchet MS"/>
            </a:endParaRPr>
          </a:p>
          <a:p>
            <a:pPr marL="469265">
              <a:spcBef>
                <a:spcPts val="560"/>
              </a:spcBef>
            </a:pPr>
            <a:r>
              <a:rPr sz="2800" dirty="0">
                <a:latin typeface="Arial"/>
                <a:cs typeface="Arial"/>
              </a:rPr>
              <a:t>–</a:t>
            </a:r>
            <a:r>
              <a:rPr sz="2800" spc="-150" dirty="0">
                <a:latin typeface="Arial"/>
                <a:cs typeface="Arial"/>
              </a:rPr>
              <a:t> </a:t>
            </a:r>
            <a:r>
              <a:rPr sz="2800" dirty="0">
                <a:latin typeface="Trebuchet MS"/>
                <a:cs typeface="Trebuchet MS"/>
              </a:rPr>
              <a:t>PUSH,</a:t>
            </a:r>
            <a:r>
              <a:rPr sz="2800" spc="-60" dirty="0">
                <a:latin typeface="Trebuchet MS"/>
                <a:cs typeface="Trebuchet MS"/>
              </a:rPr>
              <a:t> </a:t>
            </a:r>
            <a:r>
              <a:rPr sz="2800" spc="10" dirty="0">
                <a:latin typeface="Trebuchet MS"/>
                <a:cs typeface="Trebuchet MS"/>
              </a:rPr>
              <a:t>P</a:t>
            </a:r>
            <a:r>
              <a:rPr sz="2800" dirty="0">
                <a:latin typeface="Trebuchet MS"/>
                <a:cs typeface="Trebuchet MS"/>
              </a:rPr>
              <a:t>O</a:t>
            </a:r>
            <a:r>
              <a:rPr sz="2800" spc="-550" dirty="0">
                <a:latin typeface="Trebuchet MS"/>
                <a:cs typeface="Trebuchet MS"/>
              </a:rPr>
              <a:t>P</a:t>
            </a:r>
            <a:r>
              <a:rPr sz="2800" spc="10" dirty="0">
                <a:latin typeface="Trebuchet MS"/>
                <a:cs typeface="Trebuchet MS"/>
              </a:rPr>
              <a:t>,</a:t>
            </a:r>
            <a:r>
              <a:rPr sz="2800" spc="-6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N</a:t>
            </a:r>
            <a:r>
              <a:rPr sz="2800" spc="-10" dirty="0">
                <a:latin typeface="Trebuchet MS"/>
                <a:cs typeface="Trebuchet MS"/>
              </a:rPr>
              <a:t>O</a:t>
            </a:r>
            <a:r>
              <a:rPr sz="2800" spc="-560" dirty="0">
                <a:latin typeface="Trebuchet MS"/>
                <a:cs typeface="Trebuchet MS"/>
              </a:rPr>
              <a:t>P</a:t>
            </a:r>
            <a:r>
              <a:rPr sz="2800" dirty="0">
                <a:latin typeface="Trebuchet MS"/>
                <a:cs typeface="Trebuchet MS"/>
              </a:rPr>
              <a:t>,</a:t>
            </a:r>
            <a:r>
              <a:rPr sz="2800" spc="-60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MOV,</a:t>
            </a:r>
            <a:r>
              <a:rPr sz="2800" spc="-6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JMP</a:t>
            </a:r>
            <a:r>
              <a:rPr sz="2800" spc="-110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...</a:t>
            </a:r>
            <a:endParaRPr sz="2800">
              <a:latin typeface="Trebuchet MS"/>
              <a:cs typeface="Trebuchet MS"/>
            </a:endParaRPr>
          </a:p>
          <a:p>
            <a:pPr marL="360045" indent="-347345" algn="just">
              <a:spcBef>
                <a:spcPts val="640"/>
              </a:spcBef>
              <a:buFont typeface="Arial"/>
              <a:buChar char="•"/>
              <a:tabLst>
                <a:tab pos="360045" algn="l"/>
              </a:tabLst>
            </a:pPr>
            <a:r>
              <a:rPr sz="3200" dirty="0">
                <a:latin typeface="Trebuchet MS"/>
                <a:cs typeface="Trebuchet MS"/>
              </a:rPr>
              <a:t>Disassembler</a:t>
            </a:r>
            <a:r>
              <a:rPr sz="3200" spc="-15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generates</a:t>
            </a:r>
            <a:r>
              <a:rPr sz="3200" spc="-14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assembly</a:t>
            </a:r>
            <a:r>
              <a:rPr sz="3200" spc="-145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language</a:t>
            </a:r>
            <a:endParaRPr sz="3200">
              <a:latin typeface="Trebuchet MS"/>
              <a:cs typeface="Trebuchet MS"/>
            </a:endParaRPr>
          </a:p>
          <a:p>
            <a:pPr marL="360680" marR="96520" indent="-347980" algn="just">
              <a:lnSpc>
                <a:spcPct val="96300"/>
              </a:lnSpc>
              <a:spcBef>
                <a:spcPts val="705"/>
              </a:spcBef>
              <a:buFont typeface="Arial"/>
              <a:buChar char="•"/>
              <a:tabLst>
                <a:tab pos="360680" algn="l"/>
              </a:tabLst>
            </a:pPr>
            <a:r>
              <a:rPr sz="3200" dirty="0">
                <a:latin typeface="Trebuchet MS"/>
                <a:cs typeface="Trebuchet MS"/>
              </a:rPr>
              <a:t>This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is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the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highest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level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language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that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-25" dirty="0">
                <a:latin typeface="Trebuchet MS"/>
                <a:cs typeface="Trebuchet MS"/>
              </a:rPr>
              <a:t>can </a:t>
            </a:r>
            <a:r>
              <a:rPr sz="3200" dirty="0">
                <a:latin typeface="Trebuchet MS"/>
                <a:cs typeface="Trebuchet MS"/>
              </a:rPr>
              <a:t>be</a:t>
            </a:r>
            <a:r>
              <a:rPr sz="3200" spc="-12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reliably</a:t>
            </a:r>
            <a:r>
              <a:rPr sz="3200" spc="-12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recovered</a:t>
            </a:r>
            <a:r>
              <a:rPr sz="3200" spc="-12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from</a:t>
            </a:r>
            <a:r>
              <a:rPr sz="3200" spc="-12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malware</a:t>
            </a:r>
            <a:r>
              <a:rPr sz="3200" spc="-120" dirty="0">
                <a:latin typeface="Trebuchet MS"/>
                <a:cs typeface="Trebuchet MS"/>
              </a:rPr>
              <a:t> </a:t>
            </a:r>
            <a:r>
              <a:rPr sz="3200" spc="-20" dirty="0">
                <a:latin typeface="Trebuchet MS"/>
                <a:cs typeface="Trebuchet MS"/>
              </a:rPr>
              <a:t>when </a:t>
            </a:r>
            <a:r>
              <a:rPr sz="3200" dirty="0">
                <a:latin typeface="Trebuchet MS"/>
                <a:cs typeface="Trebuchet MS"/>
              </a:rPr>
              <a:t>source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code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is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unavailable</a:t>
            </a:r>
            <a:endParaRPr sz="3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505200" y="469900"/>
            <a:ext cx="5176520" cy="695960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709545" algn="l"/>
              </a:tabLst>
            </a:pPr>
            <a:r>
              <a:rPr spc="-10" dirty="0"/>
              <a:t>High-</a:t>
            </a:r>
            <a:r>
              <a:rPr spc="-20" dirty="0"/>
              <a:t>level</a:t>
            </a:r>
            <a:r>
              <a:rPr lang="en-IN" spc="-20" dirty="0"/>
              <a:t> L</a:t>
            </a:r>
            <a:r>
              <a:rPr spc="-10" dirty="0" err="1"/>
              <a:t>anguages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2014219" y="1523880"/>
            <a:ext cx="8070850" cy="1732914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360045" indent="-347345">
              <a:spcBef>
                <a:spcPts val="730"/>
              </a:spcBef>
              <a:buFont typeface="Arial"/>
              <a:buChar char="•"/>
              <a:tabLst>
                <a:tab pos="360045" algn="l"/>
              </a:tabLst>
            </a:pPr>
            <a:r>
              <a:rPr sz="3200" dirty="0">
                <a:latin typeface="Trebuchet MS"/>
                <a:cs typeface="Trebuchet MS"/>
              </a:rPr>
              <a:t>Most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programmers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use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these</a:t>
            </a:r>
            <a:endParaRPr sz="3200">
              <a:latin typeface="Trebuchet MS"/>
              <a:cs typeface="Trebuchet MS"/>
            </a:endParaRPr>
          </a:p>
          <a:p>
            <a:pPr marL="360045" indent="-347345">
              <a:spcBef>
                <a:spcPts val="630"/>
              </a:spcBef>
              <a:buFont typeface="Arial"/>
              <a:buChar char="•"/>
              <a:tabLst>
                <a:tab pos="360045" algn="l"/>
              </a:tabLst>
            </a:pPr>
            <a:r>
              <a:rPr sz="3200" dirty="0">
                <a:latin typeface="Trebuchet MS"/>
                <a:cs typeface="Trebuchet MS"/>
              </a:rPr>
              <a:t>C,</a:t>
            </a:r>
            <a:r>
              <a:rPr sz="3200" spc="-1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C++,</a:t>
            </a:r>
            <a:r>
              <a:rPr sz="3200" spc="-15" dirty="0">
                <a:latin typeface="Trebuchet MS"/>
                <a:cs typeface="Trebuchet MS"/>
              </a:rPr>
              <a:t> </a:t>
            </a:r>
            <a:r>
              <a:rPr sz="3200" spc="-20" dirty="0">
                <a:latin typeface="Trebuchet MS"/>
                <a:cs typeface="Trebuchet MS"/>
              </a:rPr>
              <a:t>etc.</a:t>
            </a:r>
            <a:endParaRPr sz="3200">
              <a:latin typeface="Trebuchet MS"/>
              <a:cs typeface="Trebuchet MS"/>
            </a:endParaRPr>
          </a:p>
          <a:p>
            <a:pPr marL="360045" indent="-347345">
              <a:spcBef>
                <a:spcPts val="660"/>
              </a:spcBef>
              <a:buFont typeface="Arial"/>
              <a:buChar char="•"/>
              <a:tabLst>
                <a:tab pos="360045" algn="l"/>
              </a:tabLst>
            </a:pPr>
            <a:r>
              <a:rPr sz="3200" dirty="0">
                <a:latin typeface="Trebuchet MS"/>
                <a:cs typeface="Trebuchet MS"/>
              </a:rPr>
              <a:t>Converted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to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machine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code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by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a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b="1" spc="-10" dirty="0">
                <a:latin typeface="Trebuchet MS"/>
                <a:cs typeface="Trebuchet MS"/>
              </a:rPr>
              <a:t>compiler</a:t>
            </a:r>
            <a:endParaRPr sz="3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340100" y="469900"/>
            <a:ext cx="5523230" cy="695960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056255" algn="l"/>
              </a:tabLst>
            </a:pPr>
            <a:r>
              <a:rPr spc="-10" dirty="0"/>
              <a:t>Interpreted</a:t>
            </a:r>
            <a:r>
              <a:rPr lang="en-IN" spc="-10" dirty="0"/>
              <a:t> L</a:t>
            </a:r>
            <a:r>
              <a:rPr spc="-10" dirty="0" err="1"/>
              <a:t>anguages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2014219" y="1571184"/>
            <a:ext cx="8117840" cy="4688912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360045" indent="-347345">
              <a:spcBef>
                <a:spcPts val="355"/>
              </a:spcBef>
              <a:buFont typeface="Arial"/>
              <a:buChar char="•"/>
              <a:tabLst>
                <a:tab pos="360045" algn="l"/>
              </a:tabLst>
            </a:pPr>
            <a:r>
              <a:rPr sz="3200" dirty="0">
                <a:latin typeface="Trebuchet MS"/>
                <a:cs typeface="Trebuchet MS"/>
              </a:rPr>
              <a:t>Highest</a:t>
            </a:r>
            <a:r>
              <a:rPr sz="3200" spc="-105" dirty="0">
                <a:latin typeface="Trebuchet MS"/>
                <a:cs typeface="Trebuchet MS"/>
              </a:rPr>
              <a:t> </a:t>
            </a:r>
            <a:r>
              <a:rPr sz="3200" spc="-20" dirty="0">
                <a:latin typeface="Trebuchet MS"/>
                <a:cs typeface="Trebuchet MS"/>
              </a:rPr>
              <a:t>level</a:t>
            </a:r>
            <a:endParaRPr sz="3200">
              <a:latin typeface="Trebuchet MS"/>
              <a:cs typeface="Trebuchet MS"/>
            </a:endParaRPr>
          </a:p>
          <a:p>
            <a:pPr marL="360045" indent="-347345">
              <a:spcBef>
                <a:spcPts val="260"/>
              </a:spcBef>
              <a:buFont typeface="Arial"/>
              <a:buChar char="•"/>
              <a:tabLst>
                <a:tab pos="360045" algn="l"/>
              </a:tabLst>
            </a:pPr>
            <a:r>
              <a:rPr sz="3200" dirty="0">
                <a:latin typeface="Trebuchet MS"/>
                <a:cs typeface="Trebuchet MS"/>
              </a:rPr>
              <a:t>Java,</a:t>
            </a:r>
            <a:r>
              <a:rPr sz="3200" spc="-114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C#,</a:t>
            </a:r>
            <a:r>
              <a:rPr sz="3200" spc="-11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Perl,</a:t>
            </a:r>
            <a:r>
              <a:rPr sz="3200" spc="-110" dirty="0">
                <a:latin typeface="Trebuchet MS"/>
                <a:cs typeface="Trebuchet MS"/>
              </a:rPr>
              <a:t> </a:t>
            </a:r>
            <a:r>
              <a:rPr sz="3200" spc="25" dirty="0">
                <a:latin typeface="Trebuchet MS"/>
                <a:cs typeface="Trebuchet MS"/>
              </a:rPr>
              <a:t>.NE</a:t>
            </a:r>
            <a:r>
              <a:rPr sz="3200" spc="-520" dirty="0">
                <a:latin typeface="Trebuchet MS"/>
                <a:cs typeface="Trebuchet MS"/>
              </a:rPr>
              <a:t>T</a:t>
            </a:r>
            <a:r>
              <a:rPr sz="3200" spc="25" dirty="0">
                <a:latin typeface="Trebuchet MS"/>
                <a:cs typeface="Trebuchet MS"/>
              </a:rPr>
              <a:t>,</a:t>
            </a:r>
            <a:r>
              <a:rPr sz="3200" spc="-110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Python</a:t>
            </a:r>
            <a:endParaRPr sz="3200">
              <a:latin typeface="Trebuchet MS"/>
              <a:cs typeface="Trebuchet MS"/>
            </a:endParaRPr>
          </a:p>
          <a:p>
            <a:pPr marL="360045" indent="-347345">
              <a:spcBef>
                <a:spcPts val="259"/>
              </a:spcBef>
              <a:buFont typeface="Arial"/>
              <a:buChar char="•"/>
              <a:tabLst>
                <a:tab pos="360045" algn="l"/>
              </a:tabLst>
            </a:pPr>
            <a:r>
              <a:rPr sz="3200" dirty="0">
                <a:latin typeface="Trebuchet MS"/>
                <a:cs typeface="Trebuchet MS"/>
              </a:rPr>
              <a:t>Code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is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not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compiled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into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machine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-20" dirty="0">
                <a:latin typeface="Trebuchet MS"/>
                <a:cs typeface="Trebuchet MS"/>
              </a:rPr>
              <a:t>code</a:t>
            </a:r>
            <a:endParaRPr sz="3200">
              <a:latin typeface="Trebuchet MS"/>
              <a:cs typeface="Trebuchet MS"/>
            </a:endParaRPr>
          </a:p>
          <a:p>
            <a:pPr marL="360045" indent="-347980">
              <a:spcBef>
                <a:spcPts val="254"/>
              </a:spcBef>
              <a:buFont typeface="Arial"/>
              <a:buChar char="•"/>
              <a:tabLst>
                <a:tab pos="360045" algn="l"/>
                <a:tab pos="469265" algn="l"/>
              </a:tabLst>
            </a:pPr>
            <a:r>
              <a:rPr sz="3200" dirty="0">
                <a:latin typeface="Trebuchet MS"/>
                <a:cs typeface="Trebuchet MS"/>
              </a:rPr>
              <a:t>It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is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translated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into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b="1" spc="-10" dirty="0">
                <a:latin typeface="Trebuchet MS"/>
                <a:cs typeface="Trebuchet MS"/>
              </a:rPr>
              <a:t>bytecode</a:t>
            </a:r>
            <a:endParaRPr sz="3200">
              <a:latin typeface="Trebuchet MS"/>
              <a:cs typeface="Trebuchet MS"/>
            </a:endParaRPr>
          </a:p>
          <a:p>
            <a:pPr marL="752475" lvl="1" indent="-283210">
              <a:spcBef>
                <a:spcPts val="155"/>
              </a:spcBef>
              <a:buFont typeface="Arial"/>
              <a:buChar char="–"/>
              <a:tabLst>
                <a:tab pos="752475" algn="l"/>
              </a:tabLst>
            </a:pPr>
            <a:r>
              <a:rPr sz="2800" dirty="0">
                <a:latin typeface="Trebuchet MS"/>
                <a:cs typeface="Trebuchet MS"/>
              </a:rPr>
              <a:t>An</a:t>
            </a:r>
            <a:r>
              <a:rPr sz="2800" spc="-5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intermediate</a:t>
            </a:r>
            <a:r>
              <a:rPr sz="2800" spc="-4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representation</a:t>
            </a:r>
            <a:endParaRPr sz="2800">
              <a:latin typeface="Trebuchet MS"/>
              <a:cs typeface="Trebuchet MS"/>
            </a:endParaRPr>
          </a:p>
          <a:p>
            <a:pPr marL="752475" lvl="1" indent="-283210">
              <a:spcBef>
                <a:spcPts val="220"/>
              </a:spcBef>
              <a:buFont typeface="Arial"/>
              <a:buChar char="–"/>
              <a:tabLst>
                <a:tab pos="752475" algn="l"/>
              </a:tabLst>
            </a:pPr>
            <a:r>
              <a:rPr sz="2800" dirty="0">
                <a:latin typeface="Trebuchet MS"/>
                <a:cs typeface="Trebuchet MS"/>
              </a:rPr>
              <a:t>Independent</a:t>
            </a:r>
            <a:r>
              <a:rPr sz="2800" spc="-5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of</a:t>
            </a:r>
            <a:r>
              <a:rPr sz="2800" spc="-5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hardware</a:t>
            </a:r>
            <a:r>
              <a:rPr sz="2800" spc="-5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and</a:t>
            </a:r>
            <a:r>
              <a:rPr sz="2800" spc="-45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OS</a:t>
            </a:r>
            <a:endParaRPr sz="2800">
              <a:latin typeface="Trebuchet MS"/>
              <a:cs typeface="Trebuchet MS"/>
            </a:endParaRPr>
          </a:p>
          <a:p>
            <a:pPr marL="753110" marR="5080" lvl="1" indent="-283210">
              <a:lnSpc>
                <a:spcPct val="86000"/>
              </a:lnSpc>
              <a:spcBef>
                <a:spcPts val="635"/>
              </a:spcBef>
              <a:buFont typeface="Arial"/>
              <a:buChar char="–"/>
              <a:tabLst>
                <a:tab pos="754380" algn="l"/>
              </a:tabLst>
            </a:pPr>
            <a:r>
              <a:rPr sz="2800" dirty="0">
                <a:latin typeface="Trebuchet MS"/>
                <a:cs typeface="Trebuchet MS"/>
              </a:rPr>
              <a:t>Bytecode</a:t>
            </a:r>
            <a:r>
              <a:rPr sz="2800" spc="-6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executes</a:t>
            </a:r>
            <a:r>
              <a:rPr sz="2800" spc="-5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in</a:t>
            </a:r>
            <a:r>
              <a:rPr sz="2800" spc="-6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an</a:t>
            </a:r>
            <a:r>
              <a:rPr sz="2800" spc="-55" dirty="0">
                <a:latin typeface="Trebuchet MS"/>
                <a:cs typeface="Trebuchet MS"/>
              </a:rPr>
              <a:t> </a:t>
            </a:r>
            <a:r>
              <a:rPr sz="2800" b="1" dirty="0">
                <a:latin typeface="Trebuchet MS"/>
                <a:cs typeface="Trebuchet MS"/>
              </a:rPr>
              <a:t>interpreter</a:t>
            </a:r>
            <a:r>
              <a:rPr sz="2800" dirty="0">
                <a:latin typeface="Trebuchet MS"/>
                <a:cs typeface="Trebuchet MS"/>
              </a:rPr>
              <a:t>,</a:t>
            </a:r>
            <a:r>
              <a:rPr sz="2800" spc="-6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which 	</a:t>
            </a:r>
            <a:r>
              <a:rPr sz="2800" dirty="0">
                <a:latin typeface="Trebuchet MS"/>
                <a:cs typeface="Trebuchet MS"/>
              </a:rPr>
              <a:t>translates</a:t>
            </a:r>
            <a:r>
              <a:rPr sz="2800" spc="-5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bytecode</a:t>
            </a:r>
            <a:r>
              <a:rPr sz="2800" spc="-5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into</a:t>
            </a:r>
            <a:r>
              <a:rPr sz="2800" spc="-5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machine</a:t>
            </a:r>
            <a:r>
              <a:rPr sz="2800" spc="-5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language</a:t>
            </a:r>
            <a:r>
              <a:rPr sz="2800" spc="-55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on 	</a:t>
            </a:r>
            <a:r>
              <a:rPr sz="2800" dirty="0">
                <a:latin typeface="Trebuchet MS"/>
                <a:cs typeface="Trebuchet MS"/>
              </a:rPr>
              <a:t>the</a:t>
            </a:r>
            <a:r>
              <a:rPr sz="2800" spc="-2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fly</a:t>
            </a:r>
            <a:r>
              <a:rPr sz="2800" spc="-1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at</a:t>
            </a:r>
            <a:r>
              <a:rPr sz="2800" spc="-1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runtime</a:t>
            </a:r>
            <a:endParaRPr sz="2800">
              <a:latin typeface="Trebuchet MS"/>
              <a:cs typeface="Trebuchet MS"/>
            </a:endParaRPr>
          </a:p>
          <a:p>
            <a:pPr marL="752475" lvl="1" indent="-283210">
              <a:spcBef>
                <a:spcPts val="170"/>
              </a:spcBef>
              <a:buFont typeface="Arial"/>
              <a:buChar char="–"/>
              <a:tabLst>
                <a:tab pos="752475" algn="l"/>
              </a:tabLst>
            </a:pPr>
            <a:r>
              <a:rPr sz="2800" dirty="0">
                <a:latin typeface="Trebuchet MS"/>
                <a:cs typeface="Trebuchet MS"/>
              </a:rPr>
              <a:t>Ex:</a:t>
            </a:r>
            <a:r>
              <a:rPr sz="2800" spc="-6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Java</a:t>
            </a:r>
            <a:r>
              <a:rPr sz="2800" spc="-6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Virtual</a:t>
            </a:r>
            <a:r>
              <a:rPr sz="2800" spc="-6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Machine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568700" y="2501900"/>
            <a:ext cx="5049520" cy="695960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14550" algn="l"/>
              </a:tabLst>
            </a:pPr>
            <a:r>
              <a:rPr spc="-10" dirty="0"/>
              <a:t>Reverse</a:t>
            </a:r>
            <a:r>
              <a:rPr dirty="0"/>
              <a:t>	</a:t>
            </a:r>
            <a:r>
              <a:rPr spc="-10" dirty="0"/>
              <a:t>Engineering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362200" y="682940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255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Disassembly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2362200" y="1825625"/>
            <a:ext cx="8196160" cy="2971386"/>
          </a:xfrm>
          <a:prstGeom prst="rect">
            <a:avLst/>
          </a:prstGeom>
        </p:spPr>
        <p:txBody>
          <a:bodyPr vert="horz" wrap="square" lIns="0" tIns="92769" rIns="0" bIns="0" rtlCol="0">
            <a:spAutoFit/>
          </a:bodyPr>
          <a:lstStyle/>
          <a:p>
            <a:pPr marL="360045" indent="-347345">
              <a:lnSpc>
                <a:spcPts val="3754"/>
              </a:lnSpc>
              <a:spcBef>
                <a:spcPts val="100"/>
              </a:spcBef>
              <a:buFont typeface="Arial"/>
              <a:buChar char="•"/>
              <a:tabLst>
                <a:tab pos="360045" algn="l"/>
              </a:tabLst>
            </a:pPr>
            <a:r>
              <a:rPr sz="3200" dirty="0"/>
              <a:t>Malware</a:t>
            </a:r>
            <a:r>
              <a:rPr sz="3200" spc="-45" dirty="0"/>
              <a:t> </a:t>
            </a:r>
            <a:r>
              <a:rPr sz="3200" dirty="0"/>
              <a:t>on</a:t>
            </a:r>
            <a:r>
              <a:rPr sz="3200" spc="-45" dirty="0"/>
              <a:t> </a:t>
            </a:r>
            <a:r>
              <a:rPr sz="3200" dirty="0"/>
              <a:t>a</a:t>
            </a:r>
            <a:r>
              <a:rPr sz="3200" spc="-45" dirty="0"/>
              <a:t> </a:t>
            </a:r>
            <a:r>
              <a:rPr sz="3200" dirty="0"/>
              <a:t>disk</a:t>
            </a:r>
            <a:r>
              <a:rPr sz="3200" spc="-45" dirty="0"/>
              <a:t> </a:t>
            </a:r>
            <a:r>
              <a:rPr sz="3200" dirty="0"/>
              <a:t>is</a:t>
            </a:r>
            <a:r>
              <a:rPr sz="3200" spc="-50" dirty="0"/>
              <a:t> </a:t>
            </a:r>
            <a:r>
              <a:rPr sz="3200" dirty="0"/>
              <a:t>in</a:t>
            </a:r>
            <a:r>
              <a:rPr sz="3200" spc="-65" dirty="0"/>
              <a:t> </a:t>
            </a:r>
            <a:r>
              <a:rPr sz="3200" b="1" dirty="0">
                <a:latin typeface="Trebuchet MS"/>
                <a:cs typeface="Trebuchet MS"/>
              </a:rPr>
              <a:t>binary</a:t>
            </a:r>
            <a:r>
              <a:rPr sz="3200" b="1" spc="-45" dirty="0">
                <a:latin typeface="Trebuchet MS"/>
                <a:cs typeface="Trebuchet MS"/>
              </a:rPr>
              <a:t> </a:t>
            </a:r>
            <a:r>
              <a:rPr sz="3200" dirty="0"/>
              <a:t>form</a:t>
            </a:r>
            <a:r>
              <a:rPr sz="3200" spc="-45" dirty="0"/>
              <a:t> </a:t>
            </a:r>
            <a:r>
              <a:rPr sz="3200" dirty="0"/>
              <a:t>at</a:t>
            </a:r>
            <a:r>
              <a:rPr sz="3200" spc="-45" dirty="0"/>
              <a:t> </a:t>
            </a:r>
            <a:r>
              <a:rPr sz="3200" spc="-25" dirty="0"/>
              <a:t>the</a:t>
            </a:r>
            <a:endParaRPr sz="3200" dirty="0">
              <a:latin typeface="Trebuchet MS"/>
              <a:cs typeface="Trebuchet MS"/>
            </a:endParaRPr>
          </a:p>
          <a:p>
            <a:pPr marL="360680">
              <a:lnSpc>
                <a:spcPts val="3754"/>
              </a:lnSpc>
            </a:pPr>
            <a:r>
              <a:rPr b="1" dirty="0">
                <a:latin typeface="Trebuchet MS"/>
                <a:cs typeface="Trebuchet MS"/>
              </a:rPr>
              <a:t>machine</a:t>
            </a:r>
            <a:r>
              <a:rPr b="1" spc="-50" dirty="0">
                <a:latin typeface="Trebuchet MS"/>
                <a:cs typeface="Trebuchet MS"/>
              </a:rPr>
              <a:t> </a:t>
            </a:r>
            <a:r>
              <a:rPr b="1" dirty="0">
                <a:latin typeface="Trebuchet MS"/>
                <a:cs typeface="Trebuchet MS"/>
              </a:rPr>
              <a:t>code</a:t>
            </a:r>
            <a:r>
              <a:rPr b="1" spc="-45" dirty="0">
                <a:latin typeface="Trebuchet MS"/>
                <a:cs typeface="Trebuchet MS"/>
              </a:rPr>
              <a:t> </a:t>
            </a:r>
            <a:r>
              <a:rPr spc="-10" dirty="0"/>
              <a:t>level</a:t>
            </a:r>
          </a:p>
          <a:p>
            <a:pPr marL="360045" indent="-347345">
              <a:lnSpc>
                <a:spcPts val="3770"/>
              </a:lnSpc>
              <a:spcBef>
                <a:spcPts val="660"/>
              </a:spcBef>
              <a:buFont typeface="Arial"/>
              <a:buChar char="•"/>
              <a:tabLst>
                <a:tab pos="360045" algn="l"/>
              </a:tabLst>
            </a:pPr>
            <a:r>
              <a:rPr dirty="0"/>
              <a:t>Disassembly</a:t>
            </a:r>
            <a:r>
              <a:rPr spc="-95" dirty="0"/>
              <a:t> </a:t>
            </a:r>
            <a:r>
              <a:rPr dirty="0"/>
              <a:t>converts</a:t>
            </a:r>
            <a:r>
              <a:rPr spc="-95" dirty="0"/>
              <a:t> </a:t>
            </a:r>
            <a:r>
              <a:rPr dirty="0"/>
              <a:t>the</a:t>
            </a:r>
            <a:r>
              <a:rPr spc="-100" dirty="0"/>
              <a:t> </a:t>
            </a:r>
            <a:r>
              <a:rPr dirty="0"/>
              <a:t>binary</a:t>
            </a:r>
            <a:r>
              <a:rPr spc="-90" dirty="0"/>
              <a:t> </a:t>
            </a:r>
            <a:r>
              <a:rPr dirty="0"/>
              <a:t>form</a:t>
            </a:r>
            <a:r>
              <a:rPr spc="-95" dirty="0"/>
              <a:t> </a:t>
            </a:r>
            <a:r>
              <a:rPr spc="-25" dirty="0"/>
              <a:t>to</a:t>
            </a:r>
          </a:p>
          <a:p>
            <a:pPr marL="360680">
              <a:lnSpc>
                <a:spcPts val="3770"/>
              </a:lnSpc>
            </a:pPr>
            <a:r>
              <a:rPr b="1" dirty="0">
                <a:latin typeface="Trebuchet MS"/>
                <a:cs typeface="Trebuchet MS"/>
              </a:rPr>
              <a:t>assembly</a:t>
            </a:r>
            <a:r>
              <a:rPr b="1" spc="-60" dirty="0">
                <a:latin typeface="Trebuchet MS"/>
                <a:cs typeface="Trebuchet MS"/>
              </a:rPr>
              <a:t> </a:t>
            </a:r>
            <a:r>
              <a:rPr b="1" spc="-10" dirty="0">
                <a:latin typeface="Trebuchet MS"/>
                <a:cs typeface="Trebuchet MS"/>
              </a:rPr>
              <a:t>language</a:t>
            </a:r>
          </a:p>
          <a:p>
            <a:pPr marL="360045" indent="-347345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360045" algn="l"/>
              </a:tabLst>
            </a:pPr>
            <a:r>
              <a:rPr lang="en-IN" sz="3200" dirty="0" err="1"/>
              <a:t>Ghidra</a:t>
            </a:r>
            <a:r>
              <a:rPr lang="en-IN" sz="3200" dirty="0"/>
              <a:t>/</a:t>
            </a:r>
            <a:r>
              <a:rPr sz="3200" dirty="0"/>
              <a:t>IDA</a:t>
            </a:r>
            <a:r>
              <a:rPr sz="3200" spc="-245" dirty="0"/>
              <a:t> </a:t>
            </a:r>
            <a:r>
              <a:rPr sz="3200" dirty="0"/>
              <a:t>Pro</a:t>
            </a:r>
            <a:r>
              <a:rPr sz="3200" spc="-75" dirty="0"/>
              <a:t> </a:t>
            </a:r>
            <a:r>
              <a:rPr lang="en-IN" sz="3200" spc="-75" dirty="0"/>
              <a:t>are</a:t>
            </a:r>
            <a:r>
              <a:rPr sz="3200" spc="-80" dirty="0"/>
              <a:t> </a:t>
            </a:r>
            <a:r>
              <a:rPr sz="3200" dirty="0"/>
              <a:t>popular</a:t>
            </a:r>
            <a:r>
              <a:rPr sz="3200" spc="-75" dirty="0"/>
              <a:t> </a:t>
            </a:r>
            <a:r>
              <a:rPr sz="3200" spc="-10" dirty="0"/>
              <a:t>disassembler</a:t>
            </a:r>
            <a:r>
              <a:rPr lang="en-IN" sz="3200" spc="-10" dirty="0"/>
              <a:t>s</a:t>
            </a:r>
            <a:endParaRPr sz="3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362200" y="682940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638300">
              <a:lnSpc>
                <a:spcPct val="100000"/>
              </a:lnSpc>
              <a:spcBef>
                <a:spcPts val="100"/>
              </a:spcBef>
            </a:pPr>
            <a:r>
              <a:rPr dirty="0"/>
              <a:t>Assembly</a:t>
            </a:r>
            <a:r>
              <a:rPr spc="-100" dirty="0"/>
              <a:t> </a:t>
            </a:r>
            <a:r>
              <a:rPr spc="-10" dirty="0"/>
              <a:t>Language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14219" y="1603950"/>
            <a:ext cx="6967220" cy="4462760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360680" marR="310515" indent="-347980">
              <a:lnSpc>
                <a:spcPts val="3670"/>
              </a:lnSpc>
              <a:spcBef>
                <a:spcPts val="360"/>
              </a:spcBef>
              <a:buFont typeface="Arial"/>
              <a:buChar char="•"/>
              <a:tabLst>
                <a:tab pos="360680" algn="l"/>
              </a:tabLst>
            </a:pPr>
            <a:r>
              <a:rPr sz="3200" dirty="0">
                <a:latin typeface="Trebuchet MS"/>
                <a:cs typeface="Trebuchet MS"/>
              </a:rPr>
              <a:t>Different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versions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for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each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type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-25" dirty="0">
                <a:latin typeface="Trebuchet MS"/>
                <a:cs typeface="Trebuchet MS"/>
              </a:rPr>
              <a:t>of </a:t>
            </a:r>
            <a:r>
              <a:rPr sz="3200" spc="-10" dirty="0">
                <a:latin typeface="Trebuchet MS"/>
                <a:cs typeface="Trebuchet MS"/>
              </a:rPr>
              <a:t>processor</a:t>
            </a:r>
            <a:endParaRPr sz="3200">
              <a:latin typeface="Trebuchet MS"/>
              <a:cs typeface="Trebuchet MS"/>
            </a:endParaRPr>
          </a:p>
          <a:p>
            <a:pPr marL="360045" indent="-347345">
              <a:spcBef>
                <a:spcPts val="570"/>
              </a:spcBef>
              <a:buFont typeface="Arial"/>
              <a:buChar char="•"/>
              <a:tabLst>
                <a:tab pos="360045" algn="l"/>
              </a:tabLst>
            </a:pPr>
            <a:r>
              <a:rPr sz="3200" dirty="0">
                <a:latin typeface="Trebuchet MS"/>
                <a:cs typeface="Trebuchet MS"/>
              </a:rPr>
              <a:t>x86</a:t>
            </a:r>
            <a:r>
              <a:rPr sz="3200" spc="-3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–</a:t>
            </a:r>
            <a:r>
              <a:rPr sz="3200" spc="-3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32-bit</a:t>
            </a:r>
            <a:r>
              <a:rPr sz="3200" spc="-3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Intel</a:t>
            </a:r>
            <a:r>
              <a:rPr sz="3200" spc="-3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(most</a:t>
            </a:r>
            <a:r>
              <a:rPr sz="3200" spc="-35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common)</a:t>
            </a:r>
            <a:endParaRPr sz="3200">
              <a:latin typeface="Trebuchet MS"/>
              <a:cs typeface="Trebuchet MS"/>
            </a:endParaRPr>
          </a:p>
          <a:p>
            <a:pPr marL="360045" indent="-347345">
              <a:spcBef>
                <a:spcPts val="660"/>
              </a:spcBef>
              <a:buFont typeface="Arial"/>
              <a:buChar char="•"/>
              <a:tabLst>
                <a:tab pos="360045" algn="l"/>
              </a:tabLst>
            </a:pPr>
            <a:r>
              <a:rPr sz="3200" dirty="0">
                <a:latin typeface="Trebuchet MS"/>
                <a:cs typeface="Trebuchet MS"/>
              </a:rPr>
              <a:t>x64</a:t>
            </a:r>
            <a:r>
              <a:rPr sz="3200" spc="-1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–</a:t>
            </a:r>
            <a:r>
              <a:rPr sz="3200" spc="-1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64-bit</a:t>
            </a:r>
            <a:r>
              <a:rPr sz="3200" spc="-15" dirty="0">
                <a:latin typeface="Trebuchet MS"/>
                <a:cs typeface="Trebuchet MS"/>
              </a:rPr>
              <a:t> </a:t>
            </a:r>
            <a:r>
              <a:rPr sz="3200" spc="-20" dirty="0">
                <a:latin typeface="Trebuchet MS"/>
                <a:cs typeface="Trebuchet MS"/>
              </a:rPr>
              <a:t>Intel</a:t>
            </a:r>
            <a:endParaRPr sz="3200">
              <a:latin typeface="Trebuchet MS"/>
              <a:cs typeface="Trebuchet MS"/>
            </a:endParaRPr>
          </a:p>
          <a:p>
            <a:pPr marL="360045" indent="-347345">
              <a:spcBef>
                <a:spcPts val="660"/>
              </a:spcBef>
              <a:buFont typeface="Arial"/>
              <a:buChar char="•"/>
              <a:tabLst>
                <a:tab pos="360045" algn="l"/>
              </a:tabLst>
            </a:pPr>
            <a:r>
              <a:rPr sz="3200" spc="-35" dirty="0">
                <a:latin typeface="Trebuchet MS"/>
                <a:cs typeface="Trebuchet MS"/>
              </a:rPr>
              <a:t>SPARC,</a:t>
            </a:r>
            <a:r>
              <a:rPr sz="3200" spc="-120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PowerPC,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MIPS,</a:t>
            </a:r>
            <a:r>
              <a:rPr sz="3200" spc="-24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ARM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–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others</a:t>
            </a:r>
            <a:endParaRPr sz="3200">
              <a:latin typeface="Trebuchet MS"/>
              <a:cs typeface="Trebuchet MS"/>
            </a:endParaRPr>
          </a:p>
          <a:p>
            <a:pPr marL="360045" indent="-347345">
              <a:spcBef>
                <a:spcPts val="560"/>
              </a:spcBef>
              <a:buFont typeface="Arial"/>
              <a:buChar char="•"/>
              <a:tabLst>
                <a:tab pos="360045" algn="l"/>
              </a:tabLst>
            </a:pPr>
            <a:r>
              <a:rPr sz="3200" dirty="0">
                <a:latin typeface="Trebuchet MS"/>
                <a:cs typeface="Trebuchet MS"/>
              </a:rPr>
              <a:t>Windows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runs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on</a:t>
            </a:r>
            <a:r>
              <a:rPr sz="3200" spc="-4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x86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or</a:t>
            </a:r>
            <a:r>
              <a:rPr sz="3200" spc="-45" dirty="0">
                <a:latin typeface="Trebuchet MS"/>
                <a:cs typeface="Trebuchet MS"/>
              </a:rPr>
              <a:t> </a:t>
            </a:r>
            <a:r>
              <a:rPr sz="3200" spc="-25" dirty="0">
                <a:latin typeface="Trebuchet MS"/>
                <a:cs typeface="Trebuchet MS"/>
              </a:rPr>
              <a:t>x64</a:t>
            </a:r>
            <a:endParaRPr sz="3200">
              <a:latin typeface="Trebuchet MS"/>
              <a:cs typeface="Trebuchet MS"/>
            </a:endParaRPr>
          </a:p>
          <a:p>
            <a:pPr marL="360045" indent="-347345">
              <a:spcBef>
                <a:spcPts val="660"/>
              </a:spcBef>
              <a:buFont typeface="Arial"/>
              <a:buChar char="•"/>
              <a:tabLst>
                <a:tab pos="360045" algn="l"/>
              </a:tabLst>
            </a:pPr>
            <a:r>
              <a:rPr sz="3200" dirty="0">
                <a:latin typeface="Trebuchet MS"/>
                <a:cs typeface="Trebuchet MS"/>
              </a:rPr>
              <a:t>x64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machines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can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run</a:t>
            </a:r>
            <a:r>
              <a:rPr sz="3200" spc="-4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x86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programs</a:t>
            </a:r>
            <a:endParaRPr sz="3200">
              <a:latin typeface="Trebuchet MS"/>
              <a:cs typeface="Trebuchet MS"/>
            </a:endParaRPr>
          </a:p>
          <a:p>
            <a:pPr marL="360045" indent="-347345">
              <a:spcBef>
                <a:spcPts val="660"/>
              </a:spcBef>
              <a:buFont typeface="Arial"/>
              <a:buChar char="•"/>
              <a:tabLst>
                <a:tab pos="360045" algn="l"/>
              </a:tabLst>
            </a:pPr>
            <a:r>
              <a:rPr sz="3200" dirty="0">
                <a:latin typeface="Trebuchet MS"/>
                <a:cs typeface="Trebuchet MS"/>
              </a:rPr>
              <a:t>Most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malware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is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designed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for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-25" dirty="0">
                <a:latin typeface="Trebuchet MS"/>
                <a:cs typeface="Trebuchet MS"/>
              </a:rPr>
              <a:t>x86</a:t>
            </a:r>
            <a:endParaRPr sz="3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454400" y="2501900"/>
            <a:ext cx="5271770" cy="695960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15060" algn="l"/>
              </a:tabLst>
            </a:pPr>
            <a:r>
              <a:rPr spc="-25" dirty="0"/>
              <a:t>The</a:t>
            </a:r>
            <a:r>
              <a:rPr dirty="0"/>
              <a:t>	x86</a:t>
            </a:r>
            <a:r>
              <a:rPr spc="-325" dirty="0"/>
              <a:t> </a:t>
            </a:r>
            <a:r>
              <a:rPr spc="-10" dirty="0"/>
              <a:t>Architecture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14219" y="811783"/>
            <a:ext cx="2840990" cy="555117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335280" marR="5080" indent="-322580">
              <a:lnSpc>
                <a:spcPts val="3500"/>
              </a:lnSpc>
              <a:spcBef>
                <a:spcPts val="305"/>
              </a:spcBef>
              <a:buFont typeface="Arial"/>
              <a:buChar char="•"/>
              <a:tabLst>
                <a:tab pos="335280" algn="l"/>
              </a:tabLst>
            </a:pPr>
            <a:r>
              <a:rPr sz="3000" b="1" dirty="0">
                <a:latin typeface="Trebuchet MS"/>
                <a:cs typeface="Trebuchet MS"/>
              </a:rPr>
              <a:t>CPU </a:t>
            </a:r>
            <a:r>
              <a:rPr sz="3000" spc="-10" dirty="0">
                <a:latin typeface="Trebuchet MS"/>
                <a:cs typeface="Trebuchet MS"/>
              </a:rPr>
              <a:t>(Central Processing </a:t>
            </a:r>
            <a:r>
              <a:rPr sz="3000" dirty="0">
                <a:latin typeface="Trebuchet MS"/>
                <a:cs typeface="Trebuchet MS"/>
              </a:rPr>
              <a:t>Unit)</a:t>
            </a:r>
            <a:r>
              <a:rPr sz="3000" spc="-5" dirty="0">
                <a:latin typeface="Trebuchet MS"/>
                <a:cs typeface="Trebuchet MS"/>
              </a:rPr>
              <a:t> </a:t>
            </a:r>
            <a:r>
              <a:rPr sz="3000" spc="-10" dirty="0">
                <a:latin typeface="Trebuchet MS"/>
                <a:cs typeface="Trebuchet MS"/>
              </a:rPr>
              <a:t>executes </a:t>
            </a:r>
            <a:r>
              <a:rPr sz="3000" spc="-20" dirty="0">
                <a:latin typeface="Trebuchet MS"/>
                <a:cs typeface="Trebuchet MS"/>
              </a:rPr>
              <a:t>code</a:t>
            </a:r>
            <a:endParaRPr sz="3000">
              <a:latin typeface="Trebuchet MS"/>
              <a:cs typeface="Trebuchet MS"/>
            </a:endParaRPr>
          </a:p>
          <a:p>
            <a:pPr marL="335280" marR="58419" indent="-322580">
              <a:lnSpc>
                <a:spcPts val="3500"/>
              </a:lnSpc>
              <a:spcBef>
                <a:spcPts val="700"/>
              </a:spcBef>
              <a:buFont typeface="Arial"/>
              <a:buChar char="•"/>
              <a:tabLst>
                <a:tab pos="335280" algn="l"/>
              </a:tabLst>
            </a:pPr>
            <a:r>
              <a:rPr sz="3000" b="1" dirty="0">
                <a:latin typeface="Trebuchet MS"/>
                <a:cs typeface="Trebuchet MS"/>
              </a:rPr>
              <a:t>RAM</a:t>
            </a:r>
            <a:r>
              <a:rPr sz="3000" b="1" spc="-10" dirty="0">
                <a:latin typeface="Trebuchet MS"/>
                <a:cs typeface="Trebuchet MS"/>
              </a:rPr>
              <a:t> </a:t>
            </a:r>
            <a:r>
              <a:rPr sz="3000" dirty="0">
                <a:latin typeface="Trebuchet MS"/>
                <a:cs typeface="Trebuchet MS"/>
              </a:rPr>
              <a:t>stores</a:t>
            </a:r>
            <a:r>
              <a:rPr sz="3000" spc="-10" dirty="0">
                <a:latin typeface="Trebuchet MS"/>
                <a:cs typeface="Trebuchet MS"/>
              </a:rPr>
              <a:t> </a:t>
            </a:r>
            <a:r>
              <a:rPr sz="3000" spc="-25" dirty="0">
                <a:latin typeface="Trebuchet MS"/>
                <a:cs typeface="Trebuchet MS"/>
              </a:rPr>
              <a:t>all </a:t>
            </a:r>
            <a:r>
              <a:rPr sz="3000" dirty="0">
                <a:latin typeface="Trebuchet MS"/>
                <a:cs typeface="Trebuchet MS"/>
              </a:rPr>
              <a:t>data</a:t>
            </a:r>
            <a:r>
              <a:rPr sz="3000" spc="-15" dirty="0">
                <a:latin typeface="Trebuchet MS"/>
                <a:cs typeface="Trebuchet MS"/>
              </a:rPr>
              <a:t> </a:t>
            </a:r>
            <a:r>
              <a:rPr sz="3000" dirty="0">
                <a:latin typeface="Trebuchet MS"/>
                <a:cs typeface="Trebuchet MS"/>
              </a:rPr>
              <a:t>and</a:t>
            </a:r>
            <a:r>
              <a:rPr sz="3000" spc="-10" dirty="0">
                <a:latin typeface="Trebuchet MS"/>
                <a:cs typeface="Trebuchet MS"/>
              </a:rPr>
              <a:t> </a:t>
            </a:r>
            <a:r>
              <a:rPr sz="3000" spc="-20" dirty="0">
                <a:latin typeface="Trebuchet MS"/>
                <a:cs typeface="Trebuchet MS"/>
              </a:rPr>
              <a:t>code</a:t>
            </a:r>
            <a:endParaRPr sz="3000">
              <a:latin typeface="Trebuchet MS"/>
              <a:cs typeface="Trebuchet MS"/>
            </a:endParaRPr>
          </a:p>
          <a:p>
            <a:pPr marL="335280" marR="262255" indent="-322580">
              <a:lnSpc>
                <a:spcPts val="3500"/>
              </a:lnSpc>
              <a:spcBef>
                <a:spcPts val="700"/>
              </a:spcBef>
              <a:buFont typeface="Arial"/>
              <a:buChar char="•"/>
              <a:tabLst>
                <a:tab pos="335280" algn="l"/>
              </a:tabLst>
            </a:pPr>
            <a:r>
              <a:rPr sz="3000" b="1" dirty="0">
                <a:latin typeface="Trebuchet MS"/>
                <a:cs typeface="Trebuchet MS"/>
              </a:rPr>
              <a:t>I/O </a:t>
            </a:r>
            <a:r>
              <a:rPr sz="3000" spc="-10" dirty="0">
                <a:latin typeface="Trebuchet MS"/>
                <a:cs typeface="Trebuchet MS"/>
              </a:rPr>
              <a:t>system interfaces </a:t>
            </a:r>
            <a:r>
              <a:rPr sz="3000" dirty="0">
                <a:latin typeface="Trebuchet MS"/>
                <a:cs typeface="Trebuchet MS"/>
              </a:rPr>
              <a:t>with</a:t>
            </a:r>
            <a:r>
              <a:rPr sz="3000" spc="-15" dirty="0">
                <a:latin typeface="Trebuchet MS"/>
                <a:cs typeface="Trebuchet MS"/>
              </a:rPr>
              <a:t> </a:t>
            </a:r>
            <a:r>
              <a:rPr sz="3000" spc="-20" dirty="0">
                <a:latin typeface="Trebuchet MS"/>
                <a:cs typeface="Trebuchet MS"/>
              </a:rPr>
              <a:t>hard </a:t>
            </a:r>
            <a:r>
              <a:rPr sz="3000" spc="-10" dirty="0">
                <a:latin typeface="Trebuchet MS"/>
                <a:cs typeface="Trebuchet MS"/>
              </a:rPr>
              <a:t>disk, keyboard, </a:t>
            </a:r>
            <a:r>
              <a:rPr sz="3000" spc="-35" dirty="0">
                <a:latin typeface="Trebuchet MS"/>
                <a:cs typeface="Trebuchet MS"/>
              </a:rPr>
              <a:t>monitor,</a:t>
            </a:r>
            <a:r>
              <a:rPr sz="3000" spc="-160" dirty="0">
                <a:latin typeface="Trebuchet MS"/>
                <a:cs typeface="Trebuchet MS"/>
              </a:rPr>
              <a:t> </a:t>
            </a:r>
            <a:r>
              <a:rPr sz="3000" spc="-20" dirty="0">
                <a:latin typeface="Trebuchet MS"/>
                <a:cs typeface="Trebuchet MS"/>
              </a:rPr>
              <a:t>etc.</a:t>
            </a:r>
            <a:endParaRPr sz="3000"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73700" y="2057400"/>
            <a:ext cx="4597400" cy="3937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362200" y="682940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930400">
              <a:lnSpc>
                <a:spcPct val="100000"/>
              </a:lnSpc>
              <a:spcBef>
                <a:spcPts val="100"/>
              </a:spcBef>
            </a:pPr>
            <a:r>
              <a:rPr dirty="0"/>
              <a:t>CPU</a:t>
            </a:r>
            <a:r>
              <a:rPr spc="-65" dirty="0"/>
              <a:t> </a:t>
            </a:r>
            <a:r>
              <a:rPr spc="-10" dirty="0"/>
              <a:t>Components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14220" y="1526956"/>
            <a:ext cx="7858759" cy="451358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360045" indent="-347345">
              <a:spcBef>
                <a:spcPts val="705"/>
              </a:spcBef>
              <a:buFont typeface="Arial"/>
              <a:buChar char="•"/>
              <a:tabLst>
                <a:tab pos="360045" algn="l"/>
              </a:tabLst>
            </a:pPr>
            <a:r>
              <a:rPr sz="3200" b="1" dirty="0">
                <a:latin typeface="Trebuchet MS"/>
                <a:cs typeface="Trebuchet MS"/>
              </a:rPr>
              <a:t>Control</a:t>
            </a:r>
            <a:r>
              <a:rPr sz="3200" b="1" spc="-135" dirty="0">
                <a:latin typeface="Trebuchet MS"/>
                <a:cs typeface="Trebuchet MS"/>
              </a:rPr>
              <a:t> </a:t>
            </a:r>
            <a:r>
              <a:rPr sz="3200" b="1" spc="-20" dirty="0">
                <a:latin typeface="Trebuchet MS"/>
                <a:cs typeface="Trebuchet MS"/>
              </a:rPr>
              <a:t>unit</a:t>
            </a:r>
            <a:endParaRPr sz="3200">
              <a:latin typeface="Trebuchet MS"/>
              <a:cs typeface="Trebuchet MS"/>
            </a:endParaRPr>
          </a:p>
          <a:p>
            <a:pPr marL="752475" lvl="1" indent="-283210">
              <a:lnSpc>
                <a:spcPts val="3279"/>
              </a:lnSpc>
              <a:spcBef>
                <a:spcPts val="530"/>
              </a:spcBef>
              <a:buFont typeface="Arial"/>
              <a:buChar char="–"/>
              <a:tabLst>
                <a:tab pos="752475" algn="l"/>
              </a:tabLst>
            </a:pPr>
            <a:r>
              <a:rPr sz="2800" dirty="0">
                <a:latin typeface="Trebuchet MS"/>
                <a:cs typeface="Trebuchet MS"/>
              </a:rPr>
              <a:t>Fetches</a:t>
            </a:r>
            <a:r>
              <a:rPr sz="2800" spc="-4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instructions</a:t>
            </a:r>
            <a:r>
              <a:rPr sz="2800" spc="-4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from</a:t>
            </a:r>
            <a:r>
              <a:rPr sz="2800" spc="-4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RAM</a:t>
            </a:r>
            <a:r>
              <a:rPr sz="2800" spc="-4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using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spc="-50" dirty="0">
                <a:latin typeface="Trebuchet MS"/>
                <a:cs typeface="Trebuchet MS"/>
              </a:rPr>
              <a:t>a</a:t>
            </a:r>
            <a:endParaRPr sz="2800">
              <a:latin typeface="Trebuchet MS"/>
              <a:cs typeface="Trebuchet MS"/>
            </a:endParaRPr>
          </a:p>
          <a:p>
            <a:pPr marL="754380">
              <a:lnSpc>
                <a:spcPts val="3279"/>
              </a:lnSpc>
            </a:pPr>
            <a:r>
              <a:rPr sz="2800" b="1" dirty="0">
                <a:latin typeface="Trebuchet MS"/>
                <a:cs typeface="Trebuchet MS"/>
              </a:rPr>
              <a:t>register</a:t>
            </a:r>
            <a:r>
              <a:rPr sz="2800" b="1" spc="-5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named</a:t>
            </a:r>
            <a:r>
              <a:rPr sz="2800" spc="-5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the</a:t>
            </a:r>
            <a:r>
              <a:rPr sz="2800" spc="-60" dirty="0">
                <a:latin typeface="Trebuchet MS"/>
                <a:cs typeface="Trebuchet MS"/>
              </a:rPr>
              <a:t> </a:t>
            </a:r>
            <a:r>
              <a:rPr sz="2800" b="1" dirty="0">
                <a:latin typeface="Trebuchet MS"/>
                <a:cs typeface="Trebuchet MS"/>
              </a:rPr>
              <a:t>instruction</a:t>
            </a:r>
            <a:r>
              <a:rPr sz="2800" b="1" spc="-55" dirty="0">
                <a:latin typeface="Trebuchet MS"/>
                <a:cs typeface="Trebuchet MS"/>
              </a:rPr>
              <a:t> </a:t>
            </a:r>
            <a:r>
              <a:rPr sz="2800" b="1" spc="-10" dirty="0">
                <a:latin typeface="Trebuchet MS"/>
                <a:cs typeface="Trebuchet MS"/>
              </a:rPr>
              <a:t>pointer</a:t>
            </a:r>
            <a:endParaRPr sz="2800">
              <a:latin typeface="Trebuchet MS"/>
              <a:cs typeface="Trebuchet MS"/>
            </a:endParaRPr>
          </a:p>
          <a:p>
            <a:pPr marL="360045" indent="-347345">
              <a:spcBef>
                <a:spcPts val="640"/>
              </a:spcBef>
              <a:buFont typeface="Arial"/>
              <a:buChar char="•"/>
              <a:tabLst>
                <a:tab pos="360045" algn="l"/>
              </a:tabLst>
            </a:pPr>
            <a:r>
              <a:rPr sz="3200" b="1" spc="-10" dirty="0">
                <a:latin typeface="Trebuchet MS"/>
                <a:cs typeface="Trebuchet MS"/>
              </a:rPr>
              <a:t>Registers</a:t>
            </a:r>
            <a:endParaRPr sz="3200">
              <a:latin typeface="Trebuchet MS"/>
              <a:cs typeface="Trebuchet MS"/>
            </a:endParaRPr>
          </a:p>
          <a:p>
            <a:pPr marL="752475" lvl="1" indent="-283210">
              <a:spcBef>
                <a:spcPts val="495"/>
              </a:spcBef>
              <a:buFont typeface="Arial"/>
              <a:buChar char="–"/>
              <a:tabLst>
                <a:tab pos="752475" algn="l"/>
              </a:tabLst>
            </a:pPr>
            <a:r>
              <a:rPr sz="2800" dirty="0">
                <a:latin typeface="Trebuchet MS"/>
                <a:cs typeface="Trebuchet MS"/>
              </a:rPr>
              <a:t>Data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storage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within</a:t>
            </a:r>
            <a:r>
              <a:rPr sz="2800" spc="-3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the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CPU</a:t>
            </a:r>
            <a:endParaRPr sz="2800">
              <a:latin typeface="Trebuchet MS"/>
              <a:cs typeface="Trebuchet MS"/>
            </a:endParaRPr>
          </a:p>
          <a:p>
            <a:pPr marL="752475" lvl="1" indent="-283210">
              <a:spcBef>
                <a:spcPts val="509"/>
              </a:spcBef>
              <a:buFont typeface="Arial"/>
              <a:buChar char="–"/>
              <a:tabLst>
                <a:tab pos="752475" algn="l"/>
              </a:tabLst>
            </a:pPr>
            <a:r>
              <a:rPr sz="2800" dirty="0">
                <a:latin typeface="Trebuchet MS"/>
                <a:cs typeface="Trebuchet MS"/>
              </a:rPr>
              <a:t>Faster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than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RAM</a:t>
            </a:r>
            <a:endParaRPr sz="2800">
              <a:latin typeface="Trebuchet MS"/>
              <a:cs typeface="Trebuchet MS"/>
            </a:endParaRPr>
          </a:p>
          <a:p>
            <a:pPr marL="360045" indent="-347345">
              <a:spcBef>
                <a:spcPts val="635"/>
              </a:spcBef>
              <a:buFont typeface="Arial"/>
              <a:buChar char="•"/>
              <a:tabLst>
                <a:tab pos="360045" algn="l"/>
              </a:tabLst>
            </a:pPr>
            <a:r>
              <a:rPr sz="3200" b="1" dirty="0">
                <a:latin typeface="Trebuchet MS"/>
                <a:cs typeface="Trebuchet MS"/>
              </a:rPr>
              <a:t>ALU</a:t>
            </a:r>
            <a:r>
              <a:rPr sz="3200" b="1" spc="-65" dirty="0">
                <a:latin typeface="Trebuchet MS"/>
                <a:cs typeface="Trebuchet MS"/>
              </a:rPr>
              <a:t> </a:t>
            </a:r>
            <a:r>
              <a:rPr sz="3200" b="1" dirty="0">
                <a:latin typeface="Trebuchet MS"/>
                <a:cs typeface="Trebuchet MS"/>
              </a:rPr>
              <a:t>(Arithmetic</a:t>
            </a:r>
            <a:r>
              <a:rPr sz="3200" b="1" spc="-60" dirty="0">
                <a:latin typeface="Trebuchet MS"/>
                <a:cs typeface="Trebuchet MS"/>
              </a:rPr>
              <a:t> </a:t>
            </a:r>
            <a:r>
              <a:rPr sz="3200" b="1" dirty="0">
                <a:latin typeface="Trebuchet MS"/>
                <a:cs typeface="Trebuchet MS"/>
              </a:rPr>
              <a:t>Logic</a:t>
            </a:r>
            <a:r>
              <a:rPr sz="3200" b="1" spc="-65" dirty="0">
                <a:latin typeface="Trebuchet MS"/>
                <a:cs typeface="Trebuchet MS"/>
              </a:rPr>
              <a:t> </a:t>
            </a:r>
            <a:r>
              <a:rPr sz="3200" b="1" spc="-10" dirty="0">
                <a:latin typeface="Trebuchet MS"/>
                <a:cs typeface="Trebuchet MS"/>
              </a:rPr>
              <a:t>Unit)</a:t>
            </a:r>
            <a:endParaRPr sz="3200">
              <a:latin typeface="Trebuchet MS"/>
              <a:cs typeface="Trebuchet MS"/>
            </a:endParaRPr>
          </a:p>
          <a:p>
            <a:pPr marL="753110" marR="5080" lvl="1" indent="-283210">
              <a:lnSpc>
                <a:spcPts val="3200"/>
              </a:lnSpc>
              <a:spcBef>
                <a:spcPts val="800"/>
              </a:spcBef>
              <a:buFont typeface="Arial"/>
              <a:buChar char="–"/>
              <a:tabLst>
                <a:tab pos="754380" algn="l"/>
              </a:tabLst>
            </a:pPr>
            <a:r>
              <a:rPr sz="2800" dirty="0">
                <a:latin typeface="Trebuchet MS"/>
                <a:cs typeface="Trebuchet MS"/>
              </a:rPr>
              <a:t>Executes</a:t>
            </a:r>
            <a:r>
              <a:rPr sz="2800" spc="-5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an</a:t>
            </a:r>
            <a:r>
              <a:rPr sz="2800" spc="-4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instruction</a:t>
            </a:r>
            <a:r>
              <a:rPr sz="2800" spc="-4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and</a:t>
            </a:r>
            <a:r>
              <a:rPr sz="2800" spc="-5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places</a:t>
            </a:r>
            <a:r>
              <a:rPr sz="2800" spc="-4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results</a:t>
            </a:r>
            <a:r>
              <a:rPr sz="2800" spc="-45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in 	</a:t>
            </a:r>
            <a:r>
              <a:rPr sz="2800" dirty="0">
                <a:latin typeface="Trebuchet MS"/>
                <a:cs typeface="Trebuchet MS"/>
              </a:rPr>
              <a:t>registers</a:t>
            </a:r>
            <a:r>
              <a:rPr sz="2800" spc="-2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or</a:t>
            </a:r>
            <a:r>
              <a:rPr sz="2800" spc="-20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RAM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362200" y="682940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600200">
              <a:lnSpc>
                <a:spcPct val="100000"/>
              </a:lnSpc>
              <a:spcBef>
                <a:spcPts val="100"/>
              </a:spcBef>
            </a:pPr>
            <a:r>
              <a:rPr dirty="0"/>
              <a:t>Main</a:t>
            </a:r>
            <a:r>
              <a:rPr spc="-90" dirty="0"/>
              <a:t> </a:t>
            </a:r>
            <a:r>
              <a:rPr dirty="0"/>
              <a:t>Memory</a:t>
            </a:r>
            <a:r>
              <a:rPr spc="-90" dirty="0"/>
              <a:t> </a:t>
            </a:r>
            <a:r>
              <a:rPr spc="-10" dirty="0"/>
              <a:t>(RAM)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92500" y="1638300"/>
            <a:ext cx="5092700" cy="4673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362200" y="682940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34798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Data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14219" y="1603950"/>
            <a:ext cx="7912734" cy="3552254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360680" marR="652145" indent="-347980">
              <a:lnSpc>
                <a:spcPts val="3670"/>
              </a:lnSpc>
              <a:spcBef>
                <a:spcPts val="360"/>
              </a:spcBef>
              <a:buFont typeface="Arial"/>
              <a:buChar char="•"/>
              <a:tabLst>
                <a:tab pos="360680" algn="l"/>
              </a:tabLst>
            </a:pPr>
            <a:r>
              <a:rPr sz="3200" spc="-25" dirty="0">
                <a:latin typeface="Trebuchet MS"/>
                <a:cs typeface="Trebuchet MS"/>
              </a:rPr>
              <a:t>Values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placed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in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RAM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when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a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program loads</a:t>
            </a:r>
            <a:endParaRPr sz="3200">
              <a:latin typeface="Trebuchet MS"/>
              <a:cs typeface="Trebuchet MS"/>
            </a:endParaRPr>
          </a:p>
          <a:p>
            <a:pPr marL="360045" indent="-347345">
              <a:spcBef>
                <a:spcPts val="570"/>
              </a:spcBef>
              <a:buFont typeface="Arial"/>
              <a:buChar char="•"/>
              <a:tabLst>
                <a:tab pos="360045" algn="l"/>
              </a:tabLst>
            </a:pPr>
            <a:r>
              <a:rPr sz="3200" dirty="0">
                <a:latin typeface="Trebuchet MS"/>
                <a:cs typeface="Trebuchet MS"/>
              </a:rPr>
              <a:t>Sometimes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these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values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are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called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b="1" spc="-10" dirty="0">
                <a:latin typeface="Trebuchet MS"/>
                <a:cs typeface="Trebuchet MS"/>
              </a:rPr>
              <a:t>static</a:t>
            </a:r>
            <a:endParaRPr sz="3200">
              <a:latin typeface="Trebuchet MS"/>
              <a:cs typeface="Trebuchet MS"/>
            </a:endParaRPr>
          </a:p>
          <a:p>
            <a:pPr marL="753110" marR="363220" lvl="1" indent="-283210">
              <a:lnSpc>
                <a:spcPts val="3200"/>
              </a:lnSpc>
              <a:spcBef>
                <a:spcPts val="800"/>
              </a:spcBef>
              <a:buFont typeface="Arial"/>
              <a:buChar char="–"/>
              <a:tabLst>
                <a:tab pos="754380" algn="l"/>
              </a:tabLst>
            </a:pPr>
            <a:r>
              <a:rPr sz="2800" dirty="0">
                <a:latin typeface="Trebuchet MS"/>
                <a:cs typeface="Trebuchet MS"/>
              </a:rPr>
              <a:t>They</a:t>
            </a:r>
            <a:r>
              <a:rPr sz="2800" spc="-3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may</a:t>
            </a:r>
            <a:r>
              <a:rPr sz="2800" spc="-3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not</a:t>
            </a:r>
            <a:r>
              <a:rPr sz="2800" spc="-3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change</a:t>
            </a:r>
            <a:r>
              <a:rPr sz="2800" spc="-3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while</a:t>
            </a:r>
            <a:r>
              <a:rPr sz="2800" spc="-2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the</a:t>
            </a:r>
            <a:r>
              <a:rPr sz="2800" spc="-3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program</a:t>
            </a:r>
            <a:r>
              <a:rPr sz="2800" spc="-30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is 	</a:t>
            </a:r>
            <a:r>
              <a:rPr sz="2800" spc="-10" dirty="0">
                <a:latin typeface="Trebuchet MS"/>
                <a:cs typeface="Trebuchet MS"/>
              </a:rPr>
              <a:t>running</a:t>
            </a:r>
            <a:endParaRPr sz="2800">
              <a:latin typeface="Trebuchet MS"/>
              <a:cs typeface="Trebuchet MS"/>
            </a:endParaRPr>
          </a:p>
          <a:p>
            <a:pPr marL="360045" indent="-347345">
              <a:spcBef>
                <a:spcPts val="560"/>
              </a:spcBef>
              <a:buFont typeface="Arial"/>
              <a:buChar char="•"/>
              <a:tabLst>
                <a:tab pos="360045" algn="l"/>
              </a:tabLst>
            </a:pPr>
            <a:r>
              <a:rPr sz="3200" dirty="0">
                <a:latin typeface="Trebuchet MS"/>
                <a:cs typeface="Trebuchet MS"/>
              </a:rPr>
              <a:t>Sometimes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these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values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are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called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b="1" spc="-10" dirty="0">
                <a:latin typeface="Trebuchet MS"/>
                <a:cs typeface="Trebuchet MS"/>
              </a:rPr>
              <a:t>global</a:t>
            </a:r>
            <a:endParaRPr sz="3200">
              <a:latin typeface="Trebuchet MS"/>
              <a:cs typeface="Trebuchet MS"/>
            </a:endParaRPr>
          </a:p>
          <a:p>
            <a:pPr marL="752475" lvl="1" indent="-283210">
              <a:spcBef>
                <a:spcPts val="459"/>
              </a:spcBef>
              <a:buFont typeface="Arial"/>
              <a:buChar char="–"/>
              <a:tabLst>
                <a:tab pos="752475" algn="l"/>
              </a:tabLst>
            </a:pPr>
            <a:r>
              <a:rPr sz="2800" spc="-10" dirty="0">
                <a:latin typeface="Trebuchet MS"/>
                <a:cs typeface="Trebuchet MS"/>
              </a:rPr>
              <a:t>Available</a:t>
            </a:r>
            <a:r>
              <a:rPr sz="2800" spc="-4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to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any</a:t>
            </a:r>
            <a:r>
              <a:rPr sz="2800" spc="-4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part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of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the</a:t>
            </a:r>
            <a:r>
              <a:rPr sz="2800" spc="-4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program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362200" y="682940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34290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Code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14220" y="1523881"/>
            <a:ext cx="6218555" cy="1161415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360045" indent="-347345">
              <a:spcBef>
                <a:spcPts val="730"/>
              </a:spcBef>
              <a:buFont typeface="Arial"/>
              <a:buChar char="•"/>
              <a:tabLst>
                <a:tab pos="360045" algn="l"/>
              </a:tabLst>
            </a:pPr>
            <a:r>
              <a:rPr sz="3200" dirty="0">
                <a:latin typeface="Trebuchet MS"/>
                <a:cs typeface="Trebuchet MS"/>
              </a:rPr>
              <a:t>Instructions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for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the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-25" dirty="0">
                <a:latin typeface="Trebuchet MS"/>
                <a:cs typeface="Trebuchet MS"/>
              </a:rPr>
              <a:t>CPU</a:t>
            </a:r>
            <a:endParaRPr sz="3200">
              <a:latin typeface="Trebuchet MS"/>
              <a:cs typeface="Trebuchet MS"/>
            </a:endParaRPr>
          </a:p>
          <a:p>
            <a:pPr marL="360045" indent="-347345">
              <a:spcBef>
                <a:spcPts val="630"/>
              </a:spcBef>
              <a:buFont typeface="Arial"/>
              <a:buChar char="•"/>
              <a:tabLst>
                <a:tab pos="360045" algn="l"/>
              </a:tabLst>
            </a:pPr>
            <a:r>
              <a:rPr sz="3200" dirty="0">
                <a:latin typeface="Trebuchet MS"/>
                <a:cs typeface="Trebuchet MS"/>
              </a:rPr>
              <a:t>Controls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what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the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program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-20" dirty="0">
                <a:latin typeface="Trebuchet MS"/>
                <a:cs typeface="Trebuchet MS"/>
              </a:rPr>
              <a:t>does</a:t>
            </a:r>
            <a:endParaRPr sz="3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362200" y="682940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34163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Heap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14219" y="1523881"/>
            <a:ext cx="7792084" cy="3176511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360045" indent="-347345">
              <a:spcBef>
                <a:spcPts val="730"/>
              </a:spcBef>
              <a:buFont typeface="Arial"/>
              <a:buChar char="•"/>
              <a:tabLst>
                <a:tab pos="360045" algn="l"/>
              </a:tabLst>
            </a:pPr>
            <a:r>
              <a:rPr sz="3200" dirty="0">
                <a:latin typeface="Trebuchet MS"/>
                <a:cs typeface="Trebuchet MS"/>
              </a:rPr>
              <a:t>Dynamic</a:t>
            </a:r>
            <a:r>
              <a:rPr sz="3200" spc="-125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memory</a:t>
            </a:r>
            <a:endParaRPr sz="3200">
              <a:latin typeface="Trebuchet MS"/>
              <a:cs typeface="Trebuchet MS"/>
            </a:endParaRPr>
          </a:p>
          <a:p>
            <a:pPr marL="360680" marR="997585" indent="-347980">
              <a:lnSpc>
                <a:spcPts val="3700"/>
              </a:lnSpc>
              <a:spcBef>
                <a:spcPts val="869"/>
              </a:spcBef>
              <a:buFont typeface="Arial"/>
              <a:buChar char="•"/>
              <a:tabLst>
                <a:tab pos="360680" algn="l"/>
              </a:tabLst>
            </a:pPr>
            <a:r>
              <a:rPr sz="3200" dirty="0">
                <a:latin typeface="Trebuchet MS"/>
                <a:cs typeface="Trebuchet MS"/>
              </a:rPr>
              <a:t>Changes</a:t>
            </a:r>
            <a:r>
              <a:rPr sz="3200" spc="-114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frequently</a:t>
            </a:r>
            <a:r>
              <a:rPr sz="3200" spc="-114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during</a:t>
            </a:r>
            <a:r>
              <a:rPr sz="3200" spc="-114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program execution</a:t>
            </a:r>
            <a:endParaRPr sz="3200">
              <a:latin typeface="Trebuchet MS"/>
              <a:cs typeface="Trebuchet MS"/>
            </a:endParaRPr>
          </a:p>
          <a:p>
            <a:pPr marL="360680" marR="5080" indent="-347980">
              <a:lnSpc>
                <a:spcPts val="3700"/>
              </a:lnSpc>
              <a:spcBef>
                <a:spcPts val="800"/>
              </a:spcBef>
              <a:buFont typeface="Arial"/>
              <a:buChar char="•"/>
              <a:tabLst>
                <a:tab pos="360680" algn="l"/>
              </a:tabLst>
            </a:pPr>
            <a:r>
              <a:rPr sz="3200" spc="-10" dirty="0">
                <a:latin typeface="Trebuchet MS"/>
                <a:cs typeface="Trebuchet MS"/>
              </a:rPr>
              <a:t>Program</a:t>
            </a:r>
            <a:r>
              <a:rPr sz="3200" spc="-12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creates</a:t>
            </a:r>
            <a:r>
              <a:rPr sz="3200" spc="-114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(allocates)</a:t>
            </a:r>
            <a:r>
              <a:rPr sz="3200" spc="-114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new</a:t>
            </a:r>
            <a:r>
              <a:rPr sz="3200" spc="-114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values</a:t>
            </a:r>
            <a:r>
              <a:rPr sz="3200" spc="-114" dirty="0">
                <a:latin typeface="Trebuchet MS"/>
                <a:cs typeface="Trebuchet MS"/>
              </a:rPr>
              <a:t> </a:t>
            </a:r>
            <a:r>
              <a:rPr sz="3200" spc="-50" dirty="0">
                <a:latin typeface="Trebuchet MS"/>
                <a:cs typeface="Trebuchet MS"/>
              </a:rPr>
              <a:t>, </a:t>
            </a:r>
            <a:r>
              <a:rPr sz="3200" dirty="0">
                <a:latin typeface="Trebuchet MS"/>
                <a:cs typeface="Trebuchet MS"/>
              </a:rPr>
              <a:t>and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eliminates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(frees)</a:t>
            </a:r>
            <a:r>
              <a:rPr sz="3200" spc="-114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them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when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-20" dirty="0">
                <a:latin typeface="Trebuchet MS"/>
                <a:cs typeface="Trebuchet MS"/>
              </a:rPr>
              <a:t>they </a:t>
            </a:r>
            <a:r>
              <a:rPr sz="3200" dirty="0">
                <a:latin typeface="Trebuchet MS"/>
                <a:cs typeface="Trebuchet MS"/>
              </a:rPr>
              <a:t>are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no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longer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needed</a:t>
            </a:r>
            <a:endParaRPr sz="3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362200" y="682940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33782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Stack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14219" y="1603951"/>
            <a:ext cx="6720840" cy="1551305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360680" marR="5080" indent="-347980">
              <a:lnSpc>
                <a:spcPts val="3670"/>
              </a:lnSpc>
              <a:spcBef>
                <a:spcPts val="360"/>
              </a:spcBef>
              <a:buFont typeface="Arial"/>
              <a:buChar char="•"/>
              <a:tabLst>
                <a:tab pos="360680" algn="l"/>
              </a:tabLst>
            </a:pPr>
            <a:r>
              <a:rPr sz="3200" dirty="0">
                <a:latin typeface="Trebuchet MS"/>
                <a:cs typeface="Trebuchet MS"/>
              </a:rPr>
              <a:t>Local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variables</a:t>
            </a:r>
            <a:r>
              <a:rPr sz="3200" spc="-10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and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parameters</a:t>
            </a:r>
            <a:r>
              <a:rPr sz="3200" spc="-105" dirty="0">
                <a:latin typeface="Trebuchet MS"/>
                <a:cs typeface="Trebuchet MS"/>
              </a:rPr>
              <a:t> </a:t>
            </a:r>
            <a:r>
              <a:rPr sz="3200" spc="-25" dirty="0">
                <a:latin typeface="Trebuchet MS"/>
                <a:cs typeface="Trebuchet MS"/>
              </a:rPr>
              <a:t>for </a:t>
            </a:r>
            <a:r>
              <a:rPr sz="3200" spc="-10" dirty="0">
                <a:latin typeface="Trebuchet MS"/>
                <a:cs typeface="Trebuchet MS"/>
              </a:rPr>
              <a:t>functions</a:t>
            </a:r>
            <a:endParaRPr sz="3200">
              <a:latin typeface="Trebuchet MS"/>
              <a:cs typeface="Trebuchet MS"/>
            </a:endParaRPr>
          </a:p>
          <a:p>
            <a:pPr marL="360045" indent="-347345">
              <a:spcBef>
                <a:spcPts val="570"/>
              </a:spcBef>
              <a:buFont typeface="Arial"/>
              <a:buChar char="•"/>
              <a:tabLst>
                <a:tab pos="360045" algn="l"/>
              </a:tabLst>
            </a:pPr>
            <a:r>
              <a:rPr sz="3200" dirty="0">
                <a:latin typeface="Trebuchet MS"/>
                <a:cs typeface="Trebuchet MS"/>
              </a:rPr>
              <a:t>Helps</a:t>
            </a:r>
            <a:r>
              <a:rPr sz="3200" spc="-11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programs</a:t>
            </a:r>
            <a:r>
              <a:rPr sz="3200" spc="-105" dirty="0">
                <a:latin typeface="Trebuchet MS"/>
                <a:cs typeface="Trebuchet MS"/>
              </a:rPr>
              <a:t> </a:t>
            </a:r>
            <a:r>
              <a:rPr sz="3200" spc="-20" dirty="0">
                <a:latin typeface="Trebuchet MS"/>
                <a:cs typeface="Trebuchet MS"/>
              </a:rPr>
              <a:t>flow</a:t>
            </a:r>
            <a:endParaRPr sz="3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362200" y="682940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25908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Instructions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14220" y="1523881"/>
            <a:ext cx="7642225" cy="4381969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360045" indent="-347345">
              <a:spcBef>
                <a:spcPts val="730"/>
              </a:spcBef>
              <a:buFont typeface="Arial"/>
              <a:buChar char="•"/>
              <a:tabLst>
                <a:tab pos="360045" algn="l"/>
              </a:tabLst>
            </a:pPr>
            <a:r>
              <a:rPr sz="3200" b="1" dirty="0">
                <a:latin typeface="Trebuchet MS"/>
                <a:cs typeface="Trebuchet MS"/>
              </a:rPr>
              <a:t>Mnemonic</a:t>
            </a:r>
            <a:r>
              <a:rPr sz="3200" b="1" spc="-7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followed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by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b="1" spc="-10" dirty="0">
                <a:latin typeface="Trebuchet MS"/>
                <a:cs typeface="Trebuchet MS"/>
              </a:rPr>
              <a:t>operands</a:t>
            </a:r>
            <a:endParaRPr sz="3200">
              <a:latin typeface="Trebuchet MS"/>
              <a:cs typeface="Trebuchet MS"/>
            </a:endParaRPr>
          </a:p>
          <a:p>
            <a:pPr marL="360045" indent="-347345">
              <a:spcBef>
                <a:spcPts val="630"/>
              </a:spcBef>
              <a:buFont typeface="Arial"/>
              <a:buChar char="•"/>
              <a:tabLst>
                <a:tab pos="360045" algn="l"/>
              </a:tabLst>
            </a:pPr>
            <a:r>
              <a:rPr sz="3200" b="1" dirty="0">
                <a:latin typeface="Trebuchet MS"/>
                <a:cs typeface="Trebuchet MS"/>
              </a:rPr>
              <a:t>mov</a:t>
            </a:r>
            <a:r>
              <a:rPr sz="3200" b="1" spc="-35" dirty="0">
                <a:latin typeface="Trebuchet MS"/>
                <a:cs typeface="Trebuchet MS"/>
              </a:rPr>
              <a:t> </a:t>
            </a:r>
            <a:r>
              <a:rPr sz="3200" b="1" dirty="0">
                <a:latin typeface="Trebuchet MS"/>
                <a:cs typeface="Trebuchet MS"/>
              </a:rPr>
              <a:t>ecx</a:t>
            </a:r>
            <a:r>
              <a:rPr sz="3200" b="1" spc="-30" dirty="0">
                <a:latin typeface="Trebuchet MS"/>
                <a:cs typeface="Trebuchet MS"/>
              </a:rPr>
              <a:t> </a:t>
            </a:r>
            <a:r>
              <a:rPr sz="3200" b="1" spc="-20" dirty="0">
                <a:latin typeface="Trebuchet MS"/>
                <a:cs typeface="Trebuchet MS"/>
              </a:rPr>
              <a:t>0x42</a:t>
            </a:r>
            <a:endParaRPr sz="3200">
              <a:latin typeface="Trebuchet MS"/>
              <a:cs typeface="Trebuchet MS"/>
            </a:endParaRPr>
          </a:p>
          <a:p>
            <a:pPr marL="754380" marR="5080" indent="-284480">
              <a:lnSpc>
                <a:spcPts val="3200"/>
              </a:lnSpc>
              <a:spcBef>
                <a:spcPts val="800"/>
              </a:spcBef>
            </a:pPr>
            <a:r>
              <a:rPr sz="2800" dirty="0">
                <a:latin typeface="Arial"/>
                <a:cs typeface="Arial"/>
              </a:rPr>
              <a:t>–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dirty="0">
                <a:latin typeface="Trebuchet MS"/>
                <a:cs typeface="Trebuchet MS"/>
              </a:rPr>
              <a:t>Move</a:t>
            </a:r>
            <a:r>
              <a:rPr sz="2800" spc="-3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into</a:t>
            </a:r>
            <a:r>
              <a:rPr sz="2800" spc="-3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Extended</a:t>
            </a:r>
            <a:r>
              <a:rPr sz="2800" spc="-3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C</a:t>
            </a:r>
            <a:r>
              <a:rPr sz="2800" spc="-3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register</a:t>
            </a:r>
            <a:r>
              <a:rPr sz="2800" spc="-3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the</a:t>
            </a:r>
            <a:r>
              <a:rPr sz="2800" spc="-3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value</a:t>
            </a:r>
            <a:r>
              <a:rPr sz="2800" spc="-30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42 </a:t>
            </a:r>
            <a:r>
              <a:rPr sz="2800" spc="-10" dirty="0">
                <a:latin typeface="Trebuchet MS"/>
                <a:cs typeface="Trebuchet MS"/>
              </a:rPr>
              <a:t>(hex)</a:t>
            </a:r>
            <a:endParaRPr sz="2800">
              <a:latin typeface="Trebuchet MS"/>
              <a:cs typeface="Trebuchet MS"/>
            </a:endParaRPr>
          </a:p>
          <a:p>
            <a:pPr marL="360045" indent="-347345">
              <a:spcBef>
                <a:spcPts val="560"/>
              </a:spcBef>
              <a:buFont typeface="Arial"/>
              <a:buChar char="•"/>
              <a:tabLst>
                <a:tab pos="360045" algn="l"/>
              </a:tabLst>
            </a:pPr>
            <a:r>
              <a:rPr sz="3200" b="1" dirty="0">
                <a:latin typeface="Trebuchet MS"/>
                <a:cs typeface="Trebuchet MS"/>
              </a:rPr>
              <a:t>mov</a:t>
            </a:r>
            <a:r>
              <a:rPr sz="3200" b="1" spc="-20" dirty="0">
                <a:latin typeface="Trebuchet MS"/>
                <a:cs typeface="Trebuchet MS"/>
              </a:rPr>
              <a:t> </a:t>
            </a:r>
            <a:r>
              <a:rPr sz="3200" b="1" dirty="0">
                <a:latin typeface="Trebuchet MS"/>
                <a:cs typeface="Trebuchet MS"/>
              </a:rPr>
              <a:t>ecx</a:t>
            </a:r>
            <a:r>
              <a:rPr sz="3200" b="1" spc="-2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is</a:t>
            </a:r>
            <a:r>
              <a:rPr sz="3200" spc="-2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0xB9</a:t>
            </a:r>
            <a:r>
              <a:rPr sz="3200" spc="-2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in</a:t>
            </a:r>
            <a:r>
              <a:rPr sz="3200" spc="-20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hexadecimal</a:t>
            </a:r>
            <a:endParaRPr sz="3200">
              <a:latin typeface="Trebuchet MS"/>
              <a:cs typeface="Trebuchet MS"/>
            </a:endParaRPr>
          </a:p>
          <a:p>
            <a:pPr marL="360045" indent="-347345">
              <a:spcBef>
                <a:spcPts val="565"/>
              </a:spcBef>
              <a:buFont typeface="Arial"/>
              <a:buChar char="•"/>
              <a:tabLst>
                <a:tab pos="360045" algn="l"/>
              </a:tabLst>
            </a:pPr>
            <a:r>
              <a:rPr sz="3200" dirty="0">
                <a:latin typeface="Trebuchet MS"/>
                <a:cs typeface="Trebuchet MS"/>
              </a:rPr>
              <a:t>The</a:t>
            </a:r>
            <a:r>
              <a:rPr sz="3200" spc="-3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value</a:t>
            </a:r>
            <a:r>
              <a:rPr sz="3200" spc="-3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42</a:t>
            </a:r>
            <a:r>
              <a:rPr sz="3200" spc="-3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is</a:t>
            </a:r>
            <a:r>
              <a:rPr sz="3200" spc="-35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0x4200000000</a:t>
            </a:r>
            <a:endParaRPr sz="3200">
              <a:latin typeface="Trebuchet MS"/>
              <a:cs typeface="Trebuchet MS"/>
            </a:endParaRPr>
          </a:p>
          <a:p>
            <a:pPr marL="360045" indent="-347345">
              <a:spcBef>
                <a:spcPts val="655"/>
              </a:spcBef>
              <a:buFont typeface="Arial"/>
              <a:buChar char="•"/>
              <a:tabLst>
                <a:tab pos="360045" algn="l"/>
              </a:tabLst>
            </a:pPr>
            <a:r>
              <a:rPr sz="3200" dirty="0">
                <a:latin typeface="Trebuchet MS"/>
                <a:cs typeface="Trebuchet MS"/>
              </a:rPr>
              <a:t>In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binary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this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instruction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-25" dirty="0">
                <a:latin typeface="Trebuchet MS"/>
                <a:cs typeface="Trebuchet MS"/>
              </a:rPr>
              <a:t>is</a:t>
            </a:r>
            <a:endParaRPr sz="3200">
              <a:latin typeface="Trebuchet MS"/>
              <a:cs typeface="Trebuchet MS"/>
            </a:endParaRPr>
          </a:p>
          <a:p>
            <a:pPr marL="360045" indent="-347345">
              <a:spcBef>
                <a:spcPts val="660"/>
              </a:spcBef>
              <a:buFont typeface="Arial"/>
              <a:buChar char="•"/>
              <a:tabLst>
                <a:tab pos="360045" algn="l"/>
              </a:tabLst>
            </a:pPr>
            <a:r>
              <a:rPr sz="3200" spc="-10" dirty="0">
                <a:latin typeface="Trebuchet MS"/>
                <a:cs typeface="Trebuchet MS"/>
              </a:rPr>
              <a:t>0xB942000000</a:t>
            </a:r>
            <a:endParaRPr sz="3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362200" y="682940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01600">
              <a:lnSpc>
                <a:spcPct val="100000"/>
              </a:lnSpc>
              <a:spcBef>
                <a:spcPts val="100"/>
              </a:spcBef>
            </a:pPr>
            <a:r>
              <a:rPr dirty="0"/>
              <a:t>Assembly</a:t>
            </a:r>
            <a:r>
              <a:rPr spc="-105" dirty="0"/>
              <a:t> </a:t>
            </a:r>
            <a:r>
              <a:rPr dirty="0"/>
              <a:t>Language</a:t>
            </a:r>
            <a:r>
              <a:rPr spc="-105" dirty="0"/>
              <a:t> </a:t>
            </a:r>
            <a:r>
              <a:rPr spc="-10" dirty="0"/>
              <a:t>Instructions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14219" y="4343280"/>
            <a:ext cx="7920990" cy="1650452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360045" indent="-347345">
              <a:spcBef>
                <a:spcPts val="730"/>
              </a:spcBef>
              <a:buFont typeface="Arial"/>
              <a:buChar char="•"/>
              <a:tabLst>
                <a:tab pos="360045" algn="l"/>
              </a:tabLst>
            </a:pPr>
            <a:r>
              <a:rPr sz="3200" b="1" dirty="0">
                <a:latin typeface="Trebuchet MS"/>
                <a:cs typeface="Trebuchet MS"/>
              </a:rPr>
              <a:t>We're</a:t>
            </a:r>
            <a:r>
              <a:rPr sz="3200" b="1" spc="-45" dirty="0">
                <a:latin typeface="Trebuchet MS"/>
                <a:cs typeface="Trebuchet MS"/>
              </a:rPr>
              <a:t> </a:t>
            </a:r>
            <a:r>
              <a:rPr sz="3200" b="1" dirty="0">
                <a:latin typeface="Trebuchet MS"/>
                <a:cs typeface="Trebuchet MS"/>
              </a:rPr>
              <a:t>using</a:t>
            </a:r>
            <a:r>
              <a:rPr sz="3200" b="1" spc="-40" dirty="0">
                <a:latin typeface="Trebuchet MS"/>
                <a:cs typeface="Trebuchet MS"/>
              </a:rPr>
              <a:t> </a:t>
            </a:r>
            <a:r>
              <a:rPr sz="3200" b="1" dirty="0">
                <a:latin typeface="Trebuchet MS"/>
                <a:cs typeface="Trebuchet MS"/>
              </a:rPr>
              <a:t>the</a:t>
            </a:r>
            <a:r>
              <a:rPr sz="3200" b="1" spc="-45" dirty="0">
                <a:latin typeface="Trebuchet MS"/>
                <a:cs typeface="Trebuchet MS"/>
              </a:rPr>
              <a:t> </a:t>
            </a:r>
            <a:r>
              <a:rPr sz="3200" b="1" dirty="0">
                <a:latin typeface="Trebuchet MS"/>
                <a:cs typeface="Trebuchet MS"/>
              </a:rPr>
              <a:t>Intel</a:t>
            </a:r>
            <a:r>
              <a:rPr sz="3200" b="1" spc="-40" dirty="0">
                <a:latin typeface="Trebuchet MS"/>
                <a:cs typeface="Trebuchet MS"/>
              </a:rPr>
              <a:t> </a:t>
            </a:r>
            <a:r>
              <a:rPr sz="3200" b="1" spc="-10" dirty="0">
                <a:latin typeface="Trebuchet MS"/>
                <a:cs typeface="Trebuchet MS"/>
              </a:rPr>
              <a:t>format</a:t>
            </a:r>
            <a:endParaRPr sz="3200">
              <a:latin typeface="Trebuchet MS"/>
              <a:cs typeface="Trebuchet MS"/>
            </a:endParaRPr>
          </a:p>
          <a:p>
            <a:pPr marL="817880" marR="5080" lvl="1" indent="-347980">
              <a:lnSpc>
                <a:spcPts val="3700"/>
              </a:lnSpc>
              <a:spcBef>
                <a:spcPts val="869"/>
              </a:spcBef>
              <a:buFont typeface="Arial"/>
              <a:buChar char="•"/>
              <a:tabLst>
                <a:tab pos="817880" algn="l"/>
              </a:tabLst>
            </a:pPr>
            <a:r>
              <a:rPr sz="3200" b="1" spc="-75" dirty="0">
                <a:latin typeface="Trebuchet MS"/>
                <a:cs typeface="Trebuchet MS"/>
              </a:rPr>
              <a:t>AT&amp;T</a:t>
            </a:r>
            <a:r>
              <a:rPr sz="3200" b="1" spc="-110" dirty="0">
                <a:latin typeface="Trebuchet MS"/>
                <a:cs typeface="Trebuchet MS"/>
              </a:rPr>
              <a:t> </a:t>
            </a:r>
            <a:r>
              <a:rPr sz="3200" b="1" dirty="0">
                <a:latin typeface="Trebuchet MS"/>
                <a:cs typeface="Trebuchet MS"/>
              </a:rPr>
              <a:t>format</a:t>
            </a:r>
            <a:r>
              <a:rPr sz="3200" b="1" spc="-50" dirty="0">
                <a:latin typeface="Trebuchet MS"/>
                <a:cs typeface="Trebuchet MS"/>
              </a:rPr>
              <a:t> </a:t>
            </a:r>
            <a:r>
              <a:rPr sz="3200" b="1" dirty="0">
                <a:latin typeface="Trebuchet MS"/>
                <a:cs typeface="Trebuchet MS"/>
              </a:rPr>
              <a:t>reverses</a:t>
            </a:r>
            <a:r>
              <a:rPr sz="3200" b="1" spc="-50" dirty="0">
                <a:latin typeface="Trebuchet MS"/>
                <a:cs typeface="Trebuchet MS"/>
              </a:rPr>
              <a:t> </a:t>
            </a:r>
            <a:r>
              <a:rPr sz="3200" b="1" dirty="0">
                <a:latin typeface="Trebuchet MS"/>
                <a:cs typeface="Trebuchet MS"/>
              </a:rPr>
              <a:t>the</a:t>
            </a:r>
            <a:r>
              <a:rPr sz="3200" b="1" spc="-50" dirty="0">
                <a:latin typeface="Trebuchet MS"/>
                <a:cs typeface="Trebuchet MS"/>
              </a:rPr>
              <a:t> </a:t>
            </a:r>
            <a:r>
              <a:rPr sz="3200" b="1" dirty="0">
                <a:latin typeface="Trebuchet MS"/>
                <a:cs typeface="Trebuchet MS"/>
              </a:rPr>
              <a:t>source</a:t>
            </a:r>
            <a:r>
              <a:rPr sz="3200" b="1" spc="-45" dirty="0">
                <a:latin typeface="Trebuchet MS"/>
                <a:cs typeface="Trebuchet MS"/>
              </a:rPr>
              <a:t> </a:t>
            </a:r>
            <a:r>
              <a:rPr sz="3200" b="1" spc="-25" dirty="0">
                <a:latin typeface="Trebuchet MS"/>
                <a:cs typeface="Trebuchet MS"/>
              </a:rPr>
              <a:t>and </a:t>
            </a:r>
            <a:r>
              <a:rPr sz="3200" b="1" dirty="0">
                <a:latin typeface="Trebuchet MS"/>
                <a:cs typeface="Trebuchet MS"/>
              </a:rPr>
              <a:t>destination</a:t>
            </a:r>
            <a:r>
              <a:rPr sz="3200" b="1" spc="-120" dirty="0">
                <a:latin typeface="Trebuchet MS"/>
                <a:cs typeface="Trebuchet MS"/>
              </a:rPr>
              <a:t> </a:t>
            </a:r>
            <a:r>
              <a:rPr sz="3200" b="1" spc="-10" dirty="0">
                <a:latin typeface="Trebuchet MS"/>
                <a:cs typeface="Trebuchet MS"/>
              </a:rPr>
              <a:t>positions</a:t>
            </a:r>
            <a:endParaRPr sz="32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66900" y="1549400"/>
            <a:ext cx="8394700" cy="22733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362200" y="682940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2679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Endianness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14220" y="1526956"/>
            <a:ext cx="7771765" cy="425958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360045" indent="-347345">
              <a:spcBef>
                <a:spcPts val="705"/>
              </a:spcBef>
              <a:buFont typeface="Arial"/>
              <a:buChar char="•"/>
              <a:tabLst>
                <a:tab pos="360045" algn="l"/>
              </a:tabLst>
            </a:pPr>
            <a:r>
              <a:rPr sz="3200" spc="-20" dirty="0">
                <a:latin typeface="Trebuchet MS"/>
                <a:cs typeface="Trebuchet MS"/>
              </a:rPr>
              <a:t>Big-</a:t>
            </a:r>
            <a:r>
              <a:rPr sz="3200" spc="-10" dirty="0">
                <a:latin typeface="Trebuchet MS"/>
                <a:cs typeface="Trebuchet MS"/>
              </a:rPr>
              <a:t>Endian</a:t>
            </a:r>
            <a:endParaRPr sz="3200">
              <a:latin typeface="Trebuchet MS"/>
              <a:cs typeface="Trebuchet MS"/>
            </a:endParaRPr>
          </a:p>
          <a:p>
            <a:pPr marL="752475" lvl="1" indent="-283210">
              <a:spcBef>
                <a:spcPts val="530"/>
              </a:spcBef>
              <a:buFont typeface="Arial"/>
              <a:buChar char="–"/>
              <a:tabLst>
                <a:tab pos="752475" algn="l"/>
              </a:tabLst>
            </a:pPr>
            <a:r>
              <a:rPr sz="2800" dirty="0">
                <a:latin typeface="Trebuchet MS"/>
                <a:cs typeface="Trebuchet MS"/>
              </a:rPr>
              <a:t>Most</a:t>
            </a:r>
            <a:r>
              <a:rPr sz="2800" spc="-6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significant</a:t>
            </a:r>
            <a:r>
              <a:rPr sz="2800" spc="-6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byte</a:t>
            </a:r>
            <a:r>
              <a:rPr sz="2800" spc="-5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first</a:t>
            </a:r>
            <a:endParaRPr sz="2800">
              <a:latin typeface="Trebuchet MS"/>
              <a:cs typeface="Trebuchet MS"/>
            </a:endParaRPr>
          </a:p>
          <a:p>
            <a:pPr marL="752475" lvl="1" indent="-283210">
              <a:spcBef>
                <a:spcPts val="540"/>
              </a:spcBef>
              <a:buFont typeface="Arial"/>
              <a:buChar char="–"/>
              <a:tabLst>
                <a:tab pos="752475" algn="l"/>
              </a:tabLst>
            </a:pPr>
            <a:r>
              <a:rPr sz="2800" dirty="0">
                <a:latin typeface="Trebuchet MS"/>
                <a:cs typeface="Trebuchet MS"/>
              </a:rPr>
              <a:t>0x42</a:t>
            </a:r>
            <a:r>
              <a:rPr sz="2800" spc="-3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as</a:t>
            </a:r>
            <a:r>
              <a:rPr sz="2800" spc="-3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</a:t>
            </a:r>
            <a:r>
              <a:rPr sz="2800" spc="-2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64-bit</a:t>
            </a:r>
            <a:r>
              <a:rPr sz="2800" spc="-3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value</a:t>
            </a:r>
            <a:r>
              <a:rPr sz="2800" spc="-3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would</a:t>
            </a:r>
            <a:r>
              <a:rPr sz="2800" spc="-2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be</a:t>
            </a:r>
            <a:r>
              <a:rPr sz="2800" spc="-3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0x00000042</a:t>
            </a:r>
            <a:endParaRPr sz="2800">
              <a:latin typeface="Trebuchet MS"/>
              <a:cs typeface="Trebuchet MS"/>
            </a:endParaRPr>
          </a:p>
          <a:p>
            <a:pPr marL="360045" indent="-347345">
              <a:spcBef>
                <a:spcPts val="640"/>
              </a:spcBef>
              <a:buFont typeface="Arial"/>
              <a:buChar char="•"/>
              <a:tabLst>
                <a:tab pos="360045" algn="l"/>
              </a:tabLst>
            </a:pPr>
            <a:r>
              <a:rPr sz="3200" spc="-20" dirty="0">
                <a:latin typeface="Trebuchet MS"/>
                <a:cs typeface="Trebuchet MS"/>
              </a:rPr>
              <a:t>Little-</a:t>
            </a:r>
            <a:r>
              <a:rPr sz="3200" spc="-10" dirty="0">
                <a:latin typeface="Trebuchet MS"/>
                <a:cs typeface="Trebuchet MS"/>
              </a:rPr>
              <a:t>Endian</a:t>
            </a:r>
            <a:endParaRPr sz="3200">
              <a:latin typeface="Trebuchet MS"/>
              <a:cs typeface="Trebuchet MS"/>
            </a:endParaRPr>
          </a:p>
          <a:p>
            <a:pPr marL="752475" lvl="1" indent="-283210">
              <a:spcBef>
                <a:spcPts val="465"/>
              </a:spcBef>
              <a:buFont typeface="Arial"/>
              <a:buChar char="–"/>
              <a:tabLst>
                <a:tab pos="752475" algn="l"/>
              </a:tabLst>
            </a:pPr>
            <a:r>
              <a:rPr sz="2800" dirty="0">
                <a:latin typeface="Trebuchet MS"/>
                <a:cs typeface="Trebuchet MS"/>
              </a:rPr>
              <a:t>Least</a:t>
            </a:r>
            <a:r>
              <a:rPr sz="2800" spc="-6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significant</a:t>
            </a:r>
            <a:r>
              <a:rPr sz="2800" spc="-5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byte</a:t>
            </a:r>
            <a:r>
              <a:rPr sz="2800" spc="-5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first</a:t>
            </a:r>
            <a:endParaRPr sz="2800">
              <a:latin typeface="Trebuchet MS"/>
              <a:cs typeface="Trebuchet MS"/>
            </a:endParaRPr>
          </a:p>
          <a:p>
            <a:pPr marL="752475" lvl="1" indent="-283210">
              <a:spcBef>
                <a:spcPts val="535"/>
              </a:spcBef>
              <a:buFont typeface="Arial"/>
              <a:buChar char="–"/>
              <a:tabLst>
                <a:tab pos="752475" algn="l"/>
              </a:tabLst>
            </a:pPr>
            <a:r>
              <a:rPr sz="2800" dirty="0">
                <a:latin typeface="Trebuchet MS"/>
                <a:cs typeface="Trebuchet MS"/>
              </a:rPr>
              <a:t>0x42</a:t>
            </a:r>
            <a:r>
              <a:rPr sz="2800" spc="-3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as</a:t>
            </a:r>
            <a:r>
              <a:rPr sz="2800" spc="-3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</a:t>
            </a:r>
            <a:r>
              <a:rPr sz="2800" spc="-2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64-bit</a:t>
            </a:r>
            <a:r>
              <a:rPr sz="2800" spc="-3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value</a:t>
            </a:r>
            <a:r>
              <a:rPr sz="2800" spc="-3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would</a:t>
            </a:r>
            <a:r>
              <a:rPr sz="2800" spc="-2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be</a:t>
            </a:r>
            <a:r>
              <a:rPr sz="2800" spc="-3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0x42000000</a:t>
            </a:r>
            <a:endParaRPr sz="2800">
              <a:latin typeface="Trebuchet MS"/>
              <a:cs typeface="Trebuchet MS"/>
            </a:endParaRPr>
          </a:p>
          <a:p>
            <a:pPr marL="360045" indent="-347345">
              <a:spcBef>
                <a:spcPts val="640"/>
              </a:spcBef>
              <a:buFont typeface="Arial"/>
              <a:buChar char="•"/>
              <a:tabLst>
                <a:tab pos="360045" algn="l"/>
              </a:tabLst>
            </a:pPr>
            <a:r>
              <a:rPr sz="3200" dirty="0">
                <a:latin typeface="Trebuchet MS"/>
                <a:cs typeface="Trebuchet MS"/>
              </a:rPr>
              <a:t>Network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data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uses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spc="-20" dirty="0">
                <a:latin typeface="Trebuchet MS"/>
                <a:cs typeface="Trebuchet MS"/>
              </a:rPr>
              <a:t>big-</a:t>
            </a:r>
            <a:r>
              <a:rPr sz="3200" spc="-10" dirty="0">
                <a:latin typeface="Trebuchet MS"/>
                <a:cs typeface="Trebuchet MS"/>
              </a:rPr>
              <a:t>endian</a:t>
            </a:r>
            <a:endParaRPr sz="3200">
              <a:latin typeface="Trebuchet MS"/>
              <a:cs typeface="Trebuchet MS"/>
            </a:endParaRPr>
          </a:p>
          <a:p>
            <a:pPr marL="360045" indent="-347345">
              <a:spcBef>
                <a:spcPts val="580"/>
              </a:spcBef>
              <a:buFont typeface="Arial"/>
              <a:buChar char="•"/>
              <a:tabLst>
                <a:tab pos="360045" algn="l"/>
              </a:tabLst>
            </a:pPr>
            <a:r>
              <a:rPr sz="3200" dirty="0">
                <a:latin typeface="Trebuchet MS"/>
                <a:cs typeface="Trebuchet MS"/>
              </a:rPr>
              <a:t>x86</a:t>
            </a:r>
            <a:r>
              <a:rPr sz="3200" spc="-4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programs</a:t>
            </a:r>
            <a:r>
              <a:rPr sz="3200" spc="-3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use</a:t>
            </a:r>
            <a:r>
              <a:rPr sz="3200" spc="-40" dirty="0">
                <a:latin typeface="Trebuchet MS"/>
                <a:cs typeface="Trebuchet MS"/>
              </a:rPr>
              <a:t> </a:t>
            </a:r>
            <a:r>
              <a:rPr sz="3200" spc="-20" dirty="0">
                <a:latin typeface="Trebuchet MS"/>
                <a:cs typeface="Trebuchet MS"/>
              </a:rPr>
              <a:t>little-</a:t>
            </a:r>
            <a:r>
              <a:rPr sz="3200" spc="-10" dirty="0">
                <a:latin typeface="Trebuchet MS"/>
                <a:cs typeface="Trebuchet MS"/>
              </a:rPr>
              <a:t>endian</a:t>
            </a:r>
            <a:endParaRPr sz="3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362200" y="682940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2527300">
              <a:lnSpc>
                <a:spcPct val="100000"/>
              </a:lnSpc>
              <a:spcBef>
                <a:spcPts val="100"/>
              </a:spcBef>
            </a:pPr>
            <a:r>
              <a:rPr dirty="0"/>
              <a:t>IP</a:t>
            </a:r>
            <a:r>
              <a:rPr spc="-325" dirty="0"/>
              <a:t> </a:t>
            </a:r>
            <a:r>
              <a:rPr spc="-10" dirty="0"/>
              <a:t>Addresses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14219" y="1523880"/>
            <a:ext cx="7175500" cy="1732914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360045" indent="-347345">
              <a:spcBef>
                <a:spcPts val="730"/>
              </a:spcBef>
              <a:buFont typeface="Arial"/>
              <a:buChar char="•"/>
              <a:tabLst>
                <a:tab pos="360045" algn="l"/>
              </a:tabLst>
            </a:pPr>
            <a:r>
              <a:rPr sz="3200" dirty="0">
                <a:latin typeface="Trebuchet MS"/>
                <a:cs typeface="Trebuchet MS"/>
              </a:rPr>
              <a:t>127.0.0.1,</a:t>
            </a:r>
            <a:r>
              <a:rPr sz="3200" spc="-1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or</a:t>
            </a:r>
            <a:r>
              <a:rPr sz="3200" spc="-1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in</a:t>
            </a:r>
            <a:r>
              <a:rPr sz="3200" spc="-1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hex,</a:t>
            </a:r>
            <a:r>
              <a:rPr sz="3200" spc="-1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7F</a:t>
            </a:r>
            <a:r>
              <a:rPr sz="3200" spc="-1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00</a:t>
            </a:r>
            <a:r>
              <a:rPr sz="3200" spc="-1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00</a:t>
            </a:r>
            <a:r>
              <a:rPr sz="3200" spc="-10" dirty="0">
                <a:latin typeface="Trebuchet MS"/>
                <a:cs typeface="Trebuchet MS"/>
              </a:rPr>
              <a:t> </a:t>
            </a:r>
            <a:r>
              <a:rPr sz="3200" spc="-25" dirty="0">
                <a:latin typeface="Trebuchet MS"/>
                <a:cs typeface="Trebuchet MS"/>
              </a:rPr>
              <a:t>01</a:t>
            </a:r>
            <a:endParaRPr sz="3200">
              <a:latin typeface="Trebuchet MS"/>
              <a:cs typeface="Trebuchet MS"/>
            </a:endParaRPr>
          </a:p>
          <a:p>
            <a:pPr marL="360045" indent="-347345">
              <a:spcBef>
                <a:spcPts val="630"/>
              </a:spcBef>
              <a:buFont typeface="Arial"/>
              <a:buChar char="•"/>
              <a:tabLst>
                <a:tab pos="360045" algn="l"/>
              </a:tabLst>
            </a:pPr>
            <a:r>
              <a:rPr sz="3200" dirty="0">
                <a:latin typeface="Trebuchet MS"/>
                <a:cs typeface="Trebuchet MS"/>
              </a:rPr>
              <a:t>Sent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over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the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network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as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0x7F000001</a:t>
            </a:r>
            <a:endParaRPr sz="3200">
              <a:latin typeface="Trebuchet MS"/>
              <a:cs typeface="Trebuchet MS"/>
            </a:endParaRPr>
          </a:p>
          <a:p>
            <a:pPr marL="360045" indent="-347345">
              <a:spcBef>
                <a:spcPts val="660"/>
              </a:spcBef>
              <a:buFont typeface="Arial"/>
              <a:buChar char="•"/>
              <a:tabLst>
                <a:tab pos="360045" algn="l"/>
              </a:tabLst>
            </a:pPr>
            <a:r>
              <a:rPr sz="3200" dirty="0">
                <a:latin typeface="Trebuchet MS"/>
                <a:cs typeface="Trebuchet MS"/>
              </a:rPr>
              <a:t>Stored</a:t>
            </a:r>
            <a:r>
              <a:rPr sz="3200" spc="-4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in</a:t>
            </a:r>
            <a:r>
              <a:rPr sz="3200" spc="-4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RAM</a:t>
            </a:r>
            <a:r>
              <a:rPr sz="3200" spc="-4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as</a:t>
            </a:r>
            <a:r>
              <a:rPr sz="3200" spc="-40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0x0100007F</a:t>
            </a:r>
            <a:endParaRPr sz="3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362200" y="682940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28829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Operands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14219" y="1526956"/>
            <a:ext cx="6115050" cy="320548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360045" indent="-347345">
              <a:spcBef>
                <a:spcPts val="705"/>
              </a:spcBef>
              <a:buFont typeface="Arial"/>
              <a:buChar char="•"/>
              <a:tabLst>
                <a:tab pos="360045" algn="l"/>
              </a:tabLst>
            </a:pPr>
            <a:r>
              <a:rPr sz="3200" b="1" spc="-10" dirty="0">
                <a:latin typeface="Trebuchet MS"/>
                <a:cs typeface="Trebuchet MS"/>
              </a:rPr>
              <a:t>Immediate</a:t>
            </a:r>
            <a:endParaRPr sz="3200">
              <a:latin typeface="Trebuchet MS"/>
              <a:cs typeface="Trebuchet MS"/>
            </a:endParaRPr>
          </a:p>
          <a:p>
            <a:pPr marL="752475" lvl="1" indent="-283210">
              <a:spcBef>
                <a:spcPts val="530"/>
              </a:spcBef>
              <a:buFont typeface="Arial"/>
              <a:buChar char="–"/>
              <a:tabLst>
                <a:tab pos="752475" algn="l"/>
              </a:tabLst>
            </a:pPr>
            <a:r>
              <a:rPr sz="2800" dirty="0">
                <a:latin typeface="Trebuchet MS"/>
                <a:cs typeface="Trebuchet MS"/>
              </a:rPr>
              <a:t>Fixed</a:t>
            </a:r>
            <a:r>
              <a:rPr sz="2800" spc="-4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values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like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0x42</a:t>
            </a:r>
            <a:endParaRPr sz="2800">
              <a:latin typeface="Trebuchet MS"/>
              <a:cs typeface="Trebuchet MS"/>
            </a:endParaRPr>
          </a:p>
          <a:p>
            <a:pPr marL="360045" indent="-347345">
              <a:spcBef>
                <a:spcPts val="640"/>
              </a:spcBef>
              <a:buFont typeface="Arial"/>
              <a:buChar char="•"/>
              <a:tabLst>
                <a:tab pos="360045" algn="l"/>
              </a:tabLst>
            </a:pPr>
            <a:r>
              <a:rPr sz="3200" b="1" spc="-10" dirty="0">
                <a:latin typeface="Trebuchet MS"/>
                <a:cs typeface="Trebuchet MS"/>
              </a:rPr>
              <a:t>Register</a:t>
            </a:r>
            <a:endParaRPr sz="3200">
              <a:latin typeface="Trebuchet MS"/>
              <a:cs typeface="Trebuchet MS"/>
            </a:endParaRPr>
          </a:p>
          <a:p>
            <a:pPr marL="752475" lvl="1" indent="-283210">
              <a:spcBef>
                <a:spcPts val="495"/>
              </a:spcBef>
              <a:buFont typeface="Arial"/>
              <a:buChar char="–"/>
              <a:tabLst>
                <a:tab pos="752475" algn="l"/>
              </a:tabLst>
            </a:pPr>
            <a:r>
              <a:rPr sz="2800" dirty="0">
                <a:latin typeface="Trebuchet MS"/>
                <a:cs typeface="Trebuchet MS"/>
              </a:rPr>
              <a:t>eax,</a:t>
            </a:r>
            <a:r>
              <a:rPr sz="2800" spc="-2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ebx,</a:t>
            </a:r>
            <a:r>
              <a:rPr sz="2800" spc="-2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ecx,</a:t>
            </a:r>
            <a:r>
              <a:rPr sz="2800" spc="-2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and</a:t>
            </a:r>
            <a:r>
              <a:rPr sz="2800" spc="-2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so</a:t>
            </a:r>
            <a:r>
              <a:rPr sz="2800" spc="-25" dirty="0">
                <a:latin typeface="Trebuchet MS"/>
                <a:cs typeface="Trebuchet MS"/>
              </a:rPr>
              <a:t> on</a:t>
            </a:r>
            <a:endParaRPr sz="2800">
              <a:latin typeface="Trebuchet MS"/>
              <a:cs typeface="Trebuchet MS"/>
            </a:endParaRPr>
          </a:p>
          <a:p>
            <a:pPr marL="360045" indent="-347345">
              <a:spcBef>
                <a:spcPts val="615"/>
              </a:spcBef>
              <a:buFont typeface="Arial"/>
              <a:buChar char="•"/>
              <a:tabLst>
                <a:tab pos="360045" algn="l"/>
              </a:tabLst>
            </a:pPr>
            <a:r>
              <a:rPr sz="3200" b="1" dirty="0">
                <a:latin typeface="Trebuchet MS"/>
                <a:cs typeface="Trebuchet MS"/>
              </a:rPr>
              <a:t>Memory</a:t>
            </a:r>
            <a:r>
              <a:rPr sz="3200" b="1" spc="-120" dirty="0">
                <a:latin typeface="Trebuchet MS"/>
                <a:cs typeface="Trebuchet MS"/>
              </a:rPr>
              <a:t> </a:t>
            </a:r>
            <a:r>
              <a:rPr sz="3200" b="1" spc="-10" dirty="0">
                <a:latin typeface="Trebuchet MS"/>
                <a:cs typeface="Trebuchet MS"/>
              </a:rPr>
              <a:t>address</a:t>
            </a:r>
            <a:endParaRPr sz="3200">
              <a:latin typeface="Trebuchet MS"/>
              <a:cs typeface="Trebuchet MS"/>
            </a:endParaRPr>
          </a:p>
          <a:p>
            <a:pPr marL="752475" lvl="1" indent="-283210">
              <a:spcBef>
                <a:spcPts val="550"/>
              </a:spcBef>
              <a:buFont typeface="Arial"/>
              <a:buChar char="–"/>
              <a:tabLst>
                <a:tab pos="752475" algn="l"/>
              </a:tabLst>
            </a:pPr>
            <a:r>
              <a:rPr sz="2800" dirty="0">
                <a:latin typeface="Trebuchet MS"/>
                <a:cs typeface="Trebuchet MS"/>
              </a:rPr>
              <a:t>Denoted</a:t>
            </a:r>
            <a:r>
              <a:rPr sz="2800" spc="-5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with</a:t>
            </a:r>
            <a:r>
              <a:rPr sz="2800" spc="-4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brackets,</a:t>
            </a:r>
            <a:r>
              <a:rPr sz="2800" spc="-5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like</a:t>
            </a:r>
            <a:r>
              <a:rPr sz="2800" spc="-4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[eax]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362200" y="682940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2933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Registers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598738" y="1557338"/>
            <a:ext cx="6981825" cy="4568825"/>
            <a:chOff x="1074737" y="1557337"/>
            <a:chExt cx="6981825" cy="45688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81100" y="1828800"/>
              <a:ext cx="6578600" cy="41783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079500" y="1562099"/>
              <a:ext cx="6972300" cy="4559300"/>
            </a:xfrm>
            <a:custGeom>
              <a:avLst/>
              <a:gdLst/>
              <a:ahLst/>
              <a:cxnLst/>
              <a:rect l="l" t="t" r="r" b="b"/>
              <a:pathLst>
                <a:path w="6972300" h="4559300">
                  <a:moveTo>
                    <a:pt x="0" y="0"/>
                  </a:moveTo>
                  <a:lnTo>
                    <a:pt x="6972299" y="0"/>
                  </a:lnTo>
                  <a:lnTo>
                    <a:pt x="6972299" y="4559300"/>
                  </a:lnTo>
                  <a:lnTo>
                    <a:pt x="0" y="45593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362200" y="682940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2933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Registers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14219" y="1526956"/>
            <a:ext cx="6878320" cy="426085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360045" indent="-347345">
              <a:spcBef>
                <a:spcPts val="705"/>
              </a:spcBef>
              <a:buFont typeface="Arial"/>
              <a:buChar char="•"/>
              <a:tabLst>
                <a:tab pos="360045" algn="l"/>
              </a:tabLst>
            </a:pPr>
            <a:r>
              <a:rPr sz="3200" dirty="0">
                <a:latin typeface="Trebuchet MS"/>
                <a:cs typeface="Trebuchet MS"/>
              </a:rPr>
              <a:t>General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registers</a:t>
            </a:r>
            <a:endParaRPr sz="3200">
              <a:latin typeface="Trebuchet MS"/>
              <a:cs typeface="Trebuchet MS"/>
            </a:endParaRPr>
          </a:p>
          <a:p>
            <a:pPr marL="752475" lvl="1" indent="-283210">
              <a:spcBef>
                <a:spcPts val="530"/>
              </a:spcBef>
              <a:buFont typeface="Arial"/>
              <a:buChar char="–"/>
              <a:tabLst>
                <a:tab pos="752475" algn="l"/>
              </a:tabLst>
            </a:pPr>
            <a:r>
              <a:rPr sz="2800" dirty="0">
                <a:latin typeface="Trebuchet MS"/>
                <a:cs typeface="Trebuchet MS"/>
              </a:rPr>
              <a:t>Used</a:t>
            </a:r>
            <a:r>
              <a:rPr sz="2800" spc="-3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by</a:t>
            </a:r>
            <a:r>
              <a:rPr sz="2800" spc="-2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the</a:t>
            </a:r>
            <a:r>
              <a:rPr sz="2800" spc="-2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CPU</a:t>
            </a:r>
            <a:r>
              <a:rPr sz="2800" spc="-2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during</a:t>
            </a:r>
            <a:r>
              <a:rPr sz="2800" spc="-2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execution</a:t>
            </a:r>
            <a:endParaRPr sz="2800">
              <a:latin typeface="Trebuchet MS"/>
              <a:cs typeface="Trebuchet MS"/>
            </a:endParaRPr>
          </a:p>
          <a:p>
            <a:pPr marL="360045" indent="-347345">
              <a:spcBef>
                <a:spcPts val="640"/>
              </a:spcBef>
              <a:buFont typeface="Arial"/>
              <a:buChar char="•"/>
              <a:tabLst>
                <a:tab pos="360045" algn="l"/>
              </a:tabLst>
            </a:pPr>
            <a:r>
              <a:rPr sz="3200" dirty="0">
                <a:latin typeface="Trebuchet MS"/>
                <a:cs typeface="Trebuchet MS"/>
              </a:rPr>
              <a:t>Segment</a:t>
            </a:r>
            <a:r>
              <a:rPr sz="3200" spc="-135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registers</a:t>
            </a:r>
            <a:endParaRPr sz="3200">
              <a:latin typeface="Trebuchet MS"/>
              <a:cs typeface="Trebuchet MS"/>
            </a:endParaRPr>
          </a:p>
          <a:p>
            <a:pPr marL="752475" lvl="1" indent="-283210">
              <a:spcBef>
                <a:spcPts val="495"/>
              </a:spcBef>
              <a:buFont typeface="Arial"/>
              <a:buChar char="–"/>
              <a:tabLst>
                <a:tab pos="752475" algn="l"/>
              </a:tabLst>
            </a:pPr>
            <a:r>
              <a:rPr sz="2800" dirty="0">
                <a:latin typeface="Trebuchet MS"/>
                <a:cs typeface="Trebuchet MS"/>
              </a:rPr>
              <a:t>Used</a:t>
            </a:r>
            <a:r>
              <a:rPr sz="2800" spc="-5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to</a:t>
            </a:r>
            <a:r>
              <a:rPr sz="2800" spc="-5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track</a:t>
            </a:r>
            <a:r>
              <a:rPr sz="2800" spc="-5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sections</a:t>
            </a:r>
            <a:r>
              <a:rPr sz="2800" spc="-5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of</a:t>
            </a:r>
            <a:r>
              <a:rPr sz="2800" spc="-5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memory</a:t>
            </a:r>
            <a:endParaRPr sz="2800">
              <a:latin typeface="Trebuchet MS"/>
              <a:cs typeface="Trebuchet MS"/>
            </a:endParaRPr>
          </a:p>
          <a:p>
            <a:pPr marL="360045" indent="-347345">
              <a:spcBef>
                <a:spcPts val="615"/>
              </a:spcBef>
              <a:buFont typeface="Arial"/>
              <a:buChar char="•"/>
              <a:tabLst>
                <a:tab pos="360045" algn="l"/>
              </a:tabLst>
            </a:pPr>
            <a:r>
              <a:rPr sz="3200" dirty="0">
                <a:latin typeface="Trebuchet MS"/>
                <a:cs typeface="Trebuchet MS"/>
              </a:rPr>
              <a:t>Status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flags</a:t>
            </a:r>
            <a:endParaRPr sz="3200">
              <a:latin typeface="Trebuchet MS"/>
              <a:cs typeface="Trebuchet MS"/>
            </a:endParaRPr>
          </a:p>
          <a:p>
            <a:pPr marL="752475" lvl="1" indent="-283210">
              <a:spcBef>
                <a:spcPts val="550"/>
              </a:spcBef>
              <a:buFont typeface="Arial"/>
              <a:buChar char="–"/>
              <a:tabLst>
                <a:tab pos="752475" algn="l"/>
              </a:tabLst>
            </a:pPr>
            <a:r>
              <a:rPr sz="2800" dirty="0">
                <a:latin typeface="Trebuchet MS"/>
                <a:cs typeface="Trebuchet MS"/>
              </a:rPr>
              <a:t>Used</a:t>
            </a:r>
            <a:r>
              <a:rPr sz="2800" spc="-4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to</a:t>
            </a:r>
            <a:r>
              <a:rPr sz="2800" spc="-5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make</a:t>
            </a:r>
            <a:r>
              <a:rPr sz="2800" spc="-4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decisions</a:t>
            </a:r>
            <a:endParaRPr sz="2800">
              <a:latin typeface="Trebuchet MS"/>
              <a:cs typeface="Trebuchet MS"/>
            </a:endParaRPr>
          </a:p>
          <a:p>
            <a:pPr marL="360045" indent="-347345">
              <a:spcBef>
                <a:spcPts val="640"/>
              </a:spcBef>
              <a:buFont typeface="Arial"/>
              <a:buChar char="•"/>
              <a:tabLst>
                <a:tab pos="360045" algn="l"/>
              </a:tabLst>
            </a:pPr>
            <a:r>
              <a:rPr sz="3200" dirty="0">
                <a:latin typeface="Trebuchet MS"/>
                <a:cs typeface="Trebuchet MS"/>
              </a:rPr>
              <a:t>Instruction</a:t>
            </a:r>
            <a:r>
              <a:rPr sz="3200" spc="-175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pointer</a:t>
            </a:r>
            <a:endParaRPr sz="3200">
              <a:latin typeface="Trebuchet MS"/>
              <a:cs typeface="Trebuchet MS"/>
            </a:endParaRPr>
          </a:p>
          <a:p>
            <a:pPr marL="752475" lvl="1" indent="-283210">
              <a:spcBef>
                <a:spcPts val="475"/>
              </a:spcBef>
              <a:buFont typeface="Arial"/>
              <a:buChar char="–"/>
              <a:tabLst>
                <a:tab pos="752475" algn="l"/>
              </a:tabLst>
            </a:pPr>
            <a:r>
              <a:rPr sz="2800" dirty="0">
                <a:latin typeface="Trebuchet MS"/>
                <a:cs typeface="Trebuchet MS"/>
              </a:rPr>
              <a:t>Address</a:t>
            </a:r>
            <a:r>
              <a:rPr sz="2800" spc="-3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of</a:t>
            </a:r>
            <a:r>
              <a:rPr sz="2800" spc="-3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next</a:t>
            </a:r>
            <a:r>
              <a:rPr sz="2800" spc="-3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instruction</a:t>
            </a:r>
            <a:r>
              <a:rPr sz="2800" spc="-3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to</a:t>
            </a:r>
            <a:r>
              <a:rPr sz="2800" spc="-3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execute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038600" y="469900"/>
            <a:ext cx="4109720" cy="695960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78560" algn="l"/>
                <a:tab pos="1853564" algn="l"/>
              </a:tabLst>
            </a:pPr>
            <a:r>
              <a:rPr spc="-20" dirty="0"/>
              <a:t>Size</a:t>
            </a:r>
            <a:r>
              <a:rPr dirty="0"/>
              <a:t>	</a:t>
            </a:r>
            <a:r>
              <a:rPr spc="-25" dirty="0"/>
              <a:t>of</a:t>
            </a:r>
            <a:r>
              <a:rPr dirty="0"/>
              <a:t>	</a:t>
            </a:r>
            <a:r>
              <a:rPr spc="-20" dirty="0"/>
              <a:t>Registers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14219" y="1526957"/>
            <a:ext cx="8147050" cy="3510915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360045" indent="-347345">
              <a:spcBef>
                <a:spcPts val="705"/>
              </a:spcBef>
              <a:buFont typeface="Arial"/>
              <a:buChar char="•"/>
              <a:tabLst>
                <a:tab pos="360045" algn="l"/>
              </a:tabLst>
            </a:pPr>
            <a:r>
              <a:rPr sz="3200" dirty="0">
                <a:latin typeface="Trebuchet MS"/>
                <a:cs typeface="Trebuchet MS"/>
              </a:rPr>
              <a:t>General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registers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are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all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32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bits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in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spc="-20" dirty="0">
                <a:latin typeface="Trebuchet MS"/>
                <a:cs typeface="Trebuchet MS"/>
              </a:rPr>
              <a:t>size</a:t>
            </a:r>
            <a:endParaRPr sz="3200">
              <a:latin typeface="Trebuchet MS"/>
              <a:cs typeface="Trebuchet MS"/>
            </a:endParaRPr>
          </a:p>
          <a:p>
            <a:pPr marL="753110" marR="5080" lvl="1" indent="-283210">
              <a:lnSpc>
                <a:spcPts val="3200"/>
              </a:lnSpc>
              <a:spcBef>
                <a:spcPts val="770"/>
              </a:spcBef>
              <a:buFont typeface="Arial"/>
              <a:buChar char="–"/>
              <a:tabLst>
                <a:tab pos="754380" algn="l"/>
              </a:tabLst>
            </a:pPr>
            <a:r>
              <a:rPr sz="2800" dirty="0">
                <a:latin typeface="Trebuchet MS"/>
                <a:cs typeface="Trebuchet MS"/>
              </a:rPr>
              <a:t>Can</a:t>
            </a:r>
            <a:r>
              <a:rPr sz="2800" spc="-3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be</a:t>
            </a:r>
            <a:r>
              <a:rPr sz="2800" spc="-3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referenced</a:t>
            </a:r>
            <a:r>
              <a:rPr sz="2800" spc="-3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as</a:t>
            </a:r>
            <a:r>
              <a:rPr sz="2800" spc="-2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either</a:t>
            </a:r>
            <a:r>
              <a:rPr sz="2800" spc="-3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32bits</a:t>
            </a:r>
            <a:r>
              <a:rPr sz="2800" spc="-3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(edx)</a:t>
            </a:r>
            <a:r>
              <a:rPr sz="2800" spc="-3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or</a:t>
            </a:r>
            <a:r>
              <a:rPr sz="2800" spc="-25" dirty="0">
                <a:latin typeface="Trebuchet MS"/>
                <a:cs typeface="Trebuchet MS"/>
              </a:rPr>
              <a:t> 16 	</a:t>
            </a:r>
            <a:r>
              <a:rPr sz="2800" dirty="0">
                <a:latin typeface="Trebuchet MS"/>
                <a:cs typeface="Trebuchet MS"/>
              </a:rPr>
              <a:t>bits</a:t>
            </a:r>
            <a:r>
              <a:rPr sz="2800" spc="-55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(dx)</a:t>
            </a:r>
            <a:endParaRPr sz="2800">
              <a:latin typeface="Trebuchet MS"/>
              <a:cs typeface="Trebuchet MS"/>
            </a:endParaRPr>
          </a:p>
          <a:p>
            <a:pPr marL="360680" marR="711200" indent="-347980">
              <a:lnSpc>
                <a:spcPts val="3700"/>
              </a:lnSpc>
              <a:spcBef>
                <a:spcPts val="800"/>
              </a:spcBef>
              <a:buFont typeface="Arial"/>
              <a:buChar char="•"/>
              <a:tabLst>
                <a:tab pos="360680" algn="l"/>
              </a:tabLst>
            </a:pPr>
            <a:r>
              <a:rPr sz="3200" dirty="0">
                <a:latin typeface="Trebuchet MS"/>
                <a:cs typeface="Trebuchet MS"/>
              </a:rPr>
              <a:t>Four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registers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(eax,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ebx,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ecx,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edx)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spc="-25" dirty="0">
                <a:latin typeface="Trebuchet MS"/>
                <a:cs typeface="Trebuchet MS"/>
              </a:rPr>
              <a:t>can </a:t>
            </a:r>
            <a:r>
              <a:rPr sz="3200" dirty="0">
                <a:latin typeface="Trebuchet MS"/>
                <a:cs typeface="Trebuchet MS"/>
              </a:rPr>
              <a:t>also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be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referenced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as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-25" dirty="0">
                <a:latin typeface="Trebuchet MS"/>
                <a:cs typeface="Trebuchet MS"/>
              </a:rPr>
              <a:t>8-</a:t>
            </a:r>
            <a:r>
              <a:rPr sz="3200" dirty="0">
                <a:latin typeface="Trebuchet MS"/>
                <a:cs typeface="Trebuchet MS"/>
              </a:rPr>
              <a:t>bit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values</a:t>
            </a:r>
            <a:endParaRPr sz="3200">
              <a:latin typeface="Trebuchet MS"/>
              <a:cs typeface="Trebuchet MS"/>
            </a:endParaRPr>
          </a:p>
          <a:p>
            <a:pPr marL="752475" lvl="1" indent="-283210">
              <a:spcBef>
                <a:spcPts val="395"/>
              </a:spcBef>
              <a:buFont typeface="Arial"/>
              <a:buChar char="–"/>
              <a:tabLst>
                <a:tab pos="752475" algn="l"/>
              </a:tabLst>
            </a:pPr>
            <a:r>
              <a:rPr sz="2800" dirty="0">
                <a:latin typeface="Trebuchet MS"/>
                <a:cs typeface="Trebuchet MS"/>
              </a:rPr>
              <a:t>AL</a:t>
            </a:r>
            <a:r>
              <a:rPr sz="2800" spc="-12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is</a:t>
            </a:r>
            <a:r>
              <a:rPr sz="2800" spc="-1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lowest</a:t>
            </a:r>
            <a:r>
              <a:rPr sz="2800" spc="-1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8</a:t>
            </a:r>
            <a:r>
              <a:rPr sz="2800" spc="-20" dirty="0">
                <a:latin typeface="Trebuchet MS"/>
                <a:cs typeface="Trebuchet MS"/>
              </a:rPr>
              <a:t> bits</a:t>
            </a:r>
            <a:endParaRPr sz="2800">
              <a:latin typeface="Trebuchet MS"/>
              <a:cs typeface="Trebuchet MS"/>
            </a:endParaRPr>
          </a:p>
          <a:p>
            <a:pPr marL="752475" lvl="1" indent="-283210">
              <a:spcBef>
                <a:spcPts val="509"/>
              </a:spcBef>
              <a:buFont typeface="Arial"/>
              <a:buChar char="–"/>
              <a:tabLst>
                <a:tab pos="752475" algn="l"/>
              </a:tabLst>
            </a:pPr>
            <a:r>
              <a:rPr sz="2800" dirty="0">
                <a:latin typeface="Trebuchet MS"/>
                <a:cs typeface="Trebuchet MS"/>
              </a:rPr>
              <a:t>AH</a:t>
            </a:r>
            <a:r>
              <a:rPr sz="2800" spc="-1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is</a:t>
            </a:r>
            <a:r>
              <a:rPr sz="2800" spc="-1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higher</a:t>
            </a:r>
            <a:r>
              <a:rPr sz="2800" spc="-1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8</a:t>
            </a:r>
            <a:r>
              <a:rPr sz="2800" spc="-15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bits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30500" y="990600"/>
            <a:ext cx="6985000" cy="48387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98900" y="469900"/>
            <a:ext cx="4405630" cy="695960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48840" algn="l"/>
              </a:tabLst>
            </a:pPr>
            <a:r>
              <a:rPr spc="-10" dirty="0"/>
              <a:t>General</a:t>
            </a:r>
            <a:r>
              <a:rPr dirty="0"/>
              <a:t>	</a:t>
            </a:r>
            <a:r>
              <a:rPr spc="-20" dirty="0"/>
              <a:t>Registers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14220" y="1539341"/>
            <a:ext cx="8089265" cy="4188326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347345" indent="-334645">
              <a:spcBef>
                <a:spcPts val="680"/>
              </a:spcBef>
              <a:buFont typeface="Arial"/>
              <a:buChar char="•"/>
              <a:tabLst>
                <a:tab pos="347345" algn="l"/>
              </a:tabLst>
            </a:pPr>
            <a:r>
              <a:rPr sz="3100" spc="-25" dirty="0">
                <a:latin typeface="Trebuchet MS"/>
                <a:cs typeface="Trebuchet MS"/>
              </a:rPr>
              <a:t>Typically</a:t>
            </a:r>
            <a:r>
              <a:rPr sz="3100" spc="-45" dirty="0">
                <a:latin typeface="Trebuchet MS"/>
                <a:cs typeface="Trebuchet MS"/>
              </a:rPr>
              <a:t> </a:t>
            </a:r>
            <a:r>
              <a:rPr sz="3100" dirty="0">
                <a:latin typeface="Trebuchet MS"/>
                <a:cs typeface="Trebuchet MS"/>
              </a:rPr>
              <a:t>store</a:t>
            </a:r>
            <a:r>
              <a:rPr sz="3100" spc="-40" dirty="0">
                <a:latin typeface="Trebuchet MS"/>
                <a:cs typeface="Trebuchet MS"/>
              </a:rPr>
              <a:t> </a:t>
            </a:r>
            <a:r>
              <a:rPr sz="3100" dirty="0">
                <a:latin typeface="Trebuchet MS"/>
                <a:cs typeface="Trebuchet MS"/>
              </a:rPr>
              <a:t>data</a:t>
            </a:r>
            <a:r>
              <a:rPr sz="3100" spc="-45" dirty="0">
                <a:latin typeface="Trebuchet MS"/>
                <a:cs typeface="Trebuchet MS"/>
              </a:rPr>
              <a:t> </a:t>
            </a:r>
            <a:r>
              <a:rPr sz="3100" dirty="0">
                <a:latin typeface="Trebuchet MS"/>
                <a:cs typeface="Trebuchet MS"/>
              </a:rPr>
              <a:t>or</a:t>
            </a:r>
            <a:r>
              <a:rPr sz="3100" spc="-40" dirty="0">
                <a:latin typeface="Trebuchet MS"/>
                <a:cs typeface="Trebuchet MS"/>
              </a:rPr>
              <a:t> </a:t>
            </a:r>
            <a:r>
              <a:rPr sz="3100" dirty="0">
                <a:latin typeface="Trebuchet MS"/>
                <a:cs typeface="Trebuchet MS"/>
              </a:rPr>
              <a:t>memory</a:t>
            </a:r>
            <a:r>
              <a:rPr sz="3100" spc="-40" dirty="0">
                <a:latin typeface="Trebuchet MS"/>
                <a:cs typeface="Trebuchet MS"/>
              </a:rPr>
              <a:t> </a:t>
            </a:r>
            <a:r>
              <a:rPr sz="3100" spc="-10" dirty="0">
                <a:latin typeface="Trebuchet MS"/>
                <a:cs typeface="Trebuchet MS"/>
              </a:rPr>
              <a:t>addresses</a:t>
            </a:r>
            <a:endParaRPr sz="3100">
              <a:latin typeface="Trebuchet MS"/>
              <a:cs typeface="Trebuchet MS"/>
            </a:endParaRPr>
          </a:p>
          <a:p>
            <a:pPr marL="347345" indent="-334645">
              <a:spcBef>
                <a:spcPts val="580"/>
              </a:spcBef>
              <a:buFont typeface="Arial"/>
              <a:buChar char="•"/>
              <a:tabLst>
                <a:tab pos="347345" algn="l"/>
              </a:tabLst>
            </a:pPr>
            <a:r>
              <a:rPr sz="3100" dirty="0">
                <a:latin typeface="Trebuchet MS"/>
                <a:cs typeface="Trebuchet MS"/>
              </a:rPr>
              <a:t>Normally</a:t>
            </a:r>
            <a:r>
              <a:rPr sz="3100" spc="-25" dirty="0">
                <a:latin typeface="Trebuchet MS"/>
                <a:cs typeface="Trebuchet MS"/>
              </a:rPr>
              <a:t> </a:t>
            </a:r>
            <a:r>
              <a:rPr sz="3100" spc="-10" dirty="0">
                <a:latin typeface="Trebuchet MS"/>
                <a:cs typeface="Trebuchet MS"/>
              </a:rPr>
              <a:t>interchangeable</a:t>
            </a:r>
            <a:endParaRPr sz="3100">
              <a:latin typeface="Trebuchet MS"/>
              <a:cs typeface="Trebuchet MS"/>
            </a:endParaRPr>
          </a:p>
          <a:p>
            <a:pPr marL="347980" marR="1292225" indent="-335280">
              <a:lnSpc>
                <a:spcPts val="3600"/>
              </a:lnSpc>
              <a:spcBef>
                <a:spcPts val="900"/>
              </a:spcBef>
              <a:buFont typeface="Arial"/>
              <a:buChar char="•"/>
              <a:tabLst>
                <a:tab pos="347980" algn="l"/>
              </a:tabLst>
            </a:pPr>
            <a:r>
              <a:rPr sz="3100" dirty="0">
                <a:latin typeface="Trebuchet MS"/>
                <a:cs typeface="Trebuchet MS"/>
              </a:rPr>
              <a:t>Some</a:t>
            </a:r>
            <a:r>
              <a:rPr sz="3100" spc="-55" dirty="0">
                <a:latin typeface="Trebuchet MS"/>
                <a:cs typeface="Trebuchet MS"/>
              </a:rPr>
              <a:t> </a:t>
            </a:r>
            <a:r>
              <a:rPr sz="3100" dirty="0">
                <a:latin typeface="Trebuchet MS"/>
                <a:cs typeface="Trebuchet MS"/>
              </a:rPr>
              <a:t>instructions</a:t>
            </a:r>
            <a:r>
              <a:rPr sz="3100" spc="-50" dirty="0">
                <a:latin typeface="Trebuchet MS"/>
                <a:cs typeface="Trebuchet MS"/>
              </a:rPr>
              <a:t> </a:t>
            </a:r>
            <a:r>
              <a:rPr sz="3100" dirty="0">
                <a:latin typeface="Trebuchet MS"/>
                <a:cs typeface="Trebuchet MS"/>
              </a:rPr>
              <a:t>reference</a:t>
            </a:r>
            <a:r>
              <a:rPr sz="3100" spc="-50" dirty="0">
                <a:latin typeface="Trebuchet MS"/>
                <a:cs typeface="Trebuchet MS"/>
              </a:rPr>
              <a:t> </a:t>
            </a:r>
            <a:r>
              <a:rPr sz="3100" spc="-10" dirty="0">
                <a:latin typeface="Trebuchet MS"/>
                <a:cs typeface="Trebuchet MS"/>
              </a:rPr>
              <a:t>specific registers</a:t>
            </a:r>
            <a:endParaRPr sz="3100">
              <a:latin typeface="Trebuchet MS"/>
              <a:cs typeface="Trebuchet MS"/>
            </a:endParaRPr>
          </a:p>
          <a:p>
            <a:pPr marL="740410" lvl="1" indent="-271145">
              <a:spcBef>
                <a:spcPts val="480"/>
              </a:spcBef>
              <a:buFont typeface="Arial"/>
              <a:buChar char="–"/>
              <a:tabLst>
                <a:tab pos="740410" algn="l"/>
              </a:tabLst>
            </a:pPr>
            <a:r>
              <a:rPr sz="2700" dirty="0">
                <a:latin typeface="Trebuchet MS"/>
                <a:cs typeface="Trebuchet MS"/>
              </a:rPr>
              <a:t>Multiplication</a:t>
            </a:r>
            <a:r>
              <a:rPr sz="2700" spc="-5" dirty="0">
                <a:latin typeface="Trebuchet MS"/>
                <a:cs typeface="Trebuchet MS"/>
              </a:rPr>
              <a:t> </a:t>
            </a:r>
            <a:r>
              <a:rPr sz="2700" dirty="0">
                <a:latin typeface="Trebuchet MS"/>
                <a:cs typeface="Trebuchet MS"/>
              </a:rPr>
              <a:t>and division</a:t>
            </a:r>
            <a:r>
              <a:rPr sz="2700" spc="-5" dirty="0">
                <a:latin typeface="Trebuchet MS"/>
                <a:cs typeface="Trebuchet MS"/>
              </a:rPr>
              <a:t> </a:t>
            </a:r>
            <a:r>
              <a:rPr sz="2700" dirty="0">
                <a:latin typeface="Trebuchet MS"/>
                <a:cs typeface="Trebuchet MS"/>
              </a:rPr>
              <a:t>use EAX</a:t>
            </a:r>
            <a:r>
              <a:rPr sz="2700" spc="-5" dirty="0">
                <a:latin typeface="Trebuchet MS"/>
                <a:cs typeface="Trebuchet MS"/>
              </a:rPr>
              <a:t> </a:t>
            </a:r>
            <a:r>
              <a:rPr sz="2700" dirty="0">
                <a:latin typeface="Trebuchet MS"/>
                <a:cs typeface="Trebuchet MS"/>
              </a:rPr>
              <a:t>and </a:t>
            </a:r>
            <a:r>
              <a:rPr sz="2700" spc="-25" dirty="0">
                <a:latin typeface="Trebuchet MS"/>
                <a:cs typeface="Trebuchet MS"/>
              </a:rPr>
              <a:t>EDX</a:t>
            </a:r>
            <a:endParaRPr sz="2700">
              <a:latin typeface="Trebuchet MS"/>
              <a:cs typeface="Trebuchet MS"/>
            </a:endParaRPr>
          </a:p>
          <a:p>
            <a:pPr marL="347345" indent="-334645">
              <a:spcBef>
                <a:spcPts val="660"/>
              </a:spcBef>
              <a:buFont typeface="Arial"/>
              <a:buChar char="•"/>
              <a:tabLst>
                <a:tab pos="347345" algn="l"/>
              </a:tabLst>
            </a:pPr>
            <a:r>
              <a:rPr sz="3100" b="1" spc="-10" dirty="0">
                <a:latin typeface="Trebuchet MS"/>
                <a:cs typeface="Trebuchet MS"/>
              </a:rPr>
              <a:t>Conventions</a:t>
            </a:r>
            <a:endParaRPr sz="3100">
              <a:latin typeface="Trebuchet MS"/>
              <a:cs typeface="Trebuchet MS"/>
            </a:endParaRPr>
          </a:p>
          <a:p>
            <a:pPr marL="740410" lvl="1" indent="-271145">
              <a:spcBef>
                <a:spcPts val="580"/>
              </a:spcBef>
              <a:buFont typeface="Arial"/>
              <a:buChar char="–"/>
              <a:tabLst>
                <a:tab pos="740410" algn="l"/>
              </a:tabLst>
            </a:pPr>
            <a:r>
              <a:rPr sz="2700" dirty="0">
                <a:latin typeface="Trebuchet MS"/>
                <a:cs typeface="Trebuchet MS"/>
              </a:rPr>
              <a:t>Compilers use registers</a:t>
            </a:r>
            <a:r>
              <a:rPr sz="2700" spc="5" dirty="0">
                <a:latin typeface="Trebuchet MS"/>
                <a:cs typeface="Trebuchet MS"/>
              </a:rPr>
              <a:t> </a:t>
            </a:r>
            <a:r>
              <a:rPr sz="2700" dirty="0">
                <a:latin typeface="Trebuchet MS"/>
                <a:cs typeface="Trebuchet MS"/>
              </a:rPr>
              <a:t>in consistent</a:t>
            </a:r>
            <a:r>
              <a:rPr sz="2700" spc="5" dirty="0">
                <a:latin typeface="Trebuchet MS"/>
                <a:cs typeface="Trebuchet MS"/>
              </a:rPr>
              <a:t> </a:t>
            </a:r>
            <a:r>
              <a:rPr sz="2700" spc="-20" dirty="0">
                <a:latin typeface="Trebuchet MS"/>
                <a:cs typeface="Trebuchet MS"/>
              </a:rPr>
              <a:t>ways</a:t>
            </a:r>
            <a:endParaRPr sz="2700">
              <a:latin typeface="Trebuchet MS"/>
              <a:cs typeface="Trebuchet MS"/>
            </a:endParaRPr>
          </a:p>
          <a:p>
            <a:pPr marL="740410" lvl="1" indent="-271145">
              <a:spcBef>
                <a:spcPts val="590"/>
              </a:spcBef>
              <a:buFont typeface="Arial"/>
              <a:buChar char="–"/>
              <a:tabLst>
                <a:tab pos="740410" algn="l"/>
              </a:tabLst>
            </a:pPr>
            <a:r>
              <a:rPr sz="4050" baseline="1028" dirty="0">
                <a:latin typeface="Trebuchet MS"/>
                <a:cs typeface="Trebuchet MS"/>
              </a:rPr>
              <a:t>EAX</a:t>
            </a:r>
            <a:r>
              <a:rPr sz="4050" spc="-7" baseline="1028" dirty="0">
                <a:latin typeface="Trebuchet MS"/>
                <a:cs typeface="Trebuchet MS"/>
              </a:rPr>
              <a:t> </a:t>
            </a:r>
            <a:r>
              <a:rPr sz="4050" baseline="1028" dirty="0">
                <a:latin typeface="Trebuchet MS"/>
                <a:cs typeface="Trebuchet MS"/>
              </a:rPr>
              <a:t>contains the return</a:t>
            </a:r>
            <a:r>
              <a:rPr sz="4050" spc="-7" baseline="1028" dirty="0">
                <a:latin typeface="Trebuchet MS"/>
                <a:cs typeface="Trebuchet MS"/>
              </a:rPr>
              <a:t> </a:t>
            </a:r>
            <a:r>
              <a:rPr sz="4050" baseline="1028" dirty="0">
                <a:latin typeface="Trebuchet MS"/>
                <a:cs typeface="Trebuchet MS"/>
              </a:rPr>
              <a:t>value for function</a:t>
            </a:r>
            <a:r>
              <a:rPr sz="4050" spc="-7" baseline="1028" dirty="0">
                <a:latin typeface="Trebuchet MS"/>
                <a:cs typeface="Trebuchet MS"/>
              </a:rPr>
              <a:t> </a:t>
            </a:r>
            <a:r>
              <a:rPr sz="4050" spc="-15" baseline="1028" dirty="0">
                <a:latin typeface="Trebuchet MS"/>
                <a:cs typeface="Trebuchet MS"/>
              </a:rPr>
              <a:t>calls</a:t>
            </a:r>
            <a:endParaRPr sz="4050" baseline="1028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362200" y="682940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34163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Flags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14219" y="1523881"/>
            <a:ext cx="5195570" cy="2304415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360045" indent="-347345">
              <a:spcBef>
                <a:spcPts val="730"/>
              </a:spcBef>
              <a:buFont typeface="Arial"/>
              <a:buChar char="•"/>
              <a:tabLst>
                <a:tab pos="360045" algn="l"/>
              </a:tabLst>
            </a:pPr>
            <a:r>
              <a:rPr sz="3200" dirty="0">
                <a:latin typeface="Trebuchet MS"/>
                <a:cs typeface="Trebuchet MS"/>
              </a:rPr>
              <a:t>EFLAGS</a:t>
            </a:r>
            <a:r>
              <a:rPr sz="3200" spc="-4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is</a:t>
            </a:r>
            <a:r>
              <a:rPr sz="3200" spc="-3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a</a:t>
            </a:r>
            <a:r>
              <a:rPr sz="3200" spc="-4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status</a:t>
            </a:r>
            <a:r>
              <a:rPr sz="3200" spc="-35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register</a:t>
            </a:r>
            <a:endParaRPr sz="3200">
              <a:latin typeface="Trebuchet MS"/>
              <a:cs typeface="Trebuchet MS"/>
            </a:endParaRPr>
          </a:p>
          <a:p>
            <a:pPr marL="360045" indent="-347345">
              <a:spcBef>
                <a:spcPts val="630"/>
              </a:spcBef>
              <a:buFont typeface="Arial"/>
              <a:buChar char="•"/>
              <a:tabLst>
                <a:tab pos="360045" algn="l"/>
              </a:tabLst>
            </a:pPr>
            <a:r>
              <a:rPr sz="3200" dirty="0">
                <a:latin typeface="Trebuchet MS"/>
                <a:cs typeface="Trebuchet MS"/>
              </a:rPr>
              <a:t>32</a:t>
            </a:r>
            <a:r>
              <a:rPr sz="3200" spc="-3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bits</a:t>
            </a:r>
            <a:r>
              <a:rPr sz="3200" spc="-3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in</a:t>
            </a:r>
            <a:r>
              <a:rPr sz="3200" spc="-25" dirty="0">
                <a:latin typeface="Trebuchet MS"/>
                <a:cs typeface="Trebuchet MS"/>
              </a:rPr>
              <a:t> </a:t>
            </a:r>
            <a:r>
              <a:rPr sz="3200" spc="-20" dirty="0">
                <a:latin typeface="Trebuchet MS"/>
                <a:cs typeface="Trebuchet MS"/>
              </a:rPr>
              <a:t>size</a:t>
            </a:r>
            <a:endParaRPr sz="3200">
              <a:latin typeface="Trebuchet MS"/>
              <a:cs typeface="Trebuchet MS"/>
            </a:endParaRPr>
          </a:p>
          <a:p>
            <a:pPr marL="360045" indent="-347345">
              <a:spcBef>
                <a:spcPts val="660"/>
              </a:spcBef>
              <a:buFont typeface="Arial"/>
              <a:buChar char="•"/>
              <a:tabLst>
                <a:tab pos="360045" algn="l"/>
              </a:tabLst>
            </a:pPr>
            <a:r>
              <a:rPr sz="3200" dirty="0">
                <a:latin typeface="Trebuchet MS"/>
                <a:cs typeface="Trebuchet MS"/>
              </a:rPr>
              <a:t>Each</a:t>
            </a:r>
            <a:r>
              <a:rPr sz="3200" spc="-3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bit</a:t>
            </a:r>
            <a:r>
              <a:rPr sz="3200" spc="-3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is</a:t>
            </a:r>
            <a:r>
              <a:rPr sz="3200" spc="-3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a</a:t>
            </a:r>
            <a:r>
              <a:rPr sz="3200" spc="-35" dirty="0">
                <a:latin typeface="Trebuchet MS"/>
                <a:cs typeface="Trebuchet MS"/>
              </a:rPr>
              <a:t> </a:t>
            </a:r>
            <a:r>
              <a:rPr sz="3200" spc="-20" dirty="0">
                <a:latin typeface="Trebuchet MS"/>
                <a:cs typeface="Trebuchet MS"/>
              </a:rPr>
              <a:t>flag</a:t>
            </a:r>
            <a:endParaRPr sz="3200">
              <a:latin typeface="Trebuchet MS"/>
              <a:cs typeface="Trebuchet MS"/>
            </a:endParaRPr>
          </a:p>
          <a:p>
            <a:pPr marL="360045" indent="-347345">
              <a:spcBef>
                <a:spcPts val="660"/>
              </a:spcBef>
              <a:buFont typeface="Arial"/>
              <a:buChar char="•"/>
              <a:tabLst>
                <a:tab pos="360045" algn="l"/>
              </a:tabLst>
            </a:pPr>
            <a:r>
              <a:rPr sz="3200" dirty="0">
                <a:latin typeface="Trebuchet MS"/>
                <a:cs typeface="Trebuchet MS"/>
              </a:rPr>
              <a:t>SET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(1)</a:t>
            </a:r>
            <a:r>
              <a:rPr sz="3200" spc="-4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or</a:t>
            </a:r>
            <a:r>
              <a:rPr sz="3200" spc="-3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Cleared</a:t>
            </a:r>
            <a:r>
              <a:rPr sz="3200" spc="-35" dirty="0">
                <a:latin typeface="Trebuchet MS"/>
                <a:cs typeface="Trebuchet MS"/>
              </a:rPr>
              <a:t> </a:t>
            </a:r>
            <a:r>
              <a:rPr sz="3200" spc="-25" dirty="0">
                <a:latin typeface="Trebuchet MS"/>
                <a:cs typeface="Trebuchet MS"/>
              </a:rPr>
              <a:t>(0)</a:t>
            </a:r>
            <a:endParaRPr sz="3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362200" y="682940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2095500">
              <a:lnSpc>
                <a:spcPct val="100000"/>
              </a:lnSpc>
              <a:spcBef>
                <a:spcPts val="100"/>
              </a:spcBef>
            </a:pPr>
            <a:r>
              <a:rPr dirty="0"/>
              <a:t>Important</a:t>
            </a:r>
            <a:r>
              <a:rPr spc="-130" dirty="0"/>
              <a:t> </a:t>
            </a:r>
            <a:r>
              <a:rPr spc="-10" dirty="0"/>
              <a:t>Flags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14219" y="1567789"/>
            <a:ext cx="8103234" cy="4185920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360045" indent="-347345">
              <a:spcBef>
                <a:spcPts val="355"/>
              </a:spcBef>
              <a:buFont typeface="Arial"/>
              <a:buChar char="•"/>
              <a:tabLst>
                <a:tab pos="360045" algn="l"/>
              </a:tabLst>
            </a:pPr>
            <a:r>
              <a:rPr sz="2900" b="1" dirty="0">
                <a:latin typeface="Trebuchet MS"/>
                <a:cs typeface="Trebuchet MS"/>
              </a:rPr>
              <a:t>ZF</a:t>
            </a:r>
            <a:r>
              <a:rPr sz="2900" b="1" spc="-30" dirty="0">
                <a:latin typeface="Trebuchet MS"/>
                <a:cs typeface="Trebuchet MS"/>
              </a:rPr>
              <a:t> </a:t>
            </a:r>
            <a:r>
              <a:rPr sz="2900" dirty="0">
                <a:latin typeface="Trebuchet MS"/>
                <a:cs typeface="Trebuchet MS"/>
              </a:rPr>
              <a:t>Zero</a:t>
            </a:r>
            <a:r>
              <a:rPr sz="2900" spc="-30" dirty="0">
                <a:latin typeface="Trebuchet MS"/>
                <a:cs typeface="Trebuchet MS"/>
              </a:rPr>
              <a:t> </a:t>
            </a:r>
            <a:r>
              <a:rPr sz="2900" spc="-20" dirty="0">
                <a:latin typeface="Trebuchet MS"/>
                <a:cs typeface="Trebuchet MS"/>
              </a:rPr>
              <a:t>flag</a:t>
            </a:r>
            <a:endParaRPr sz="2900">
              <a:latin typeface="Trebuchet MS"/>
              <a:cs typeface="Trebuchet MS"/>
            </a:endParaRPr>
          </a:p>
          <a:p>
            <a:pPr marL="754380" lvl="1" indent="-285115">
              <a:spcBef>
                <a:spcPts val="220"/>
              </a:spcBef>
              <a:buFont typeface="Arial"/>
              <a:buChar char="–"/>
              <a:tabLst>
                <a:tab pos="754380" algn="l"/>
              </a:tabLst>
            </a:pPr>
            <a:r>
              <a:rPr sz="2500" dirty="0">
                <a:latin typeface="Trebuchet MS"/>
                <a:cs typeface="Trebuchet MS"/>
              </a:rPr>
              <a:t>Set</a:t>
            </a:r>
            <a:r>
              <a:rPr sz="2500" spc="-1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when</a:t>
            </a:r>
            <a:r>
              <a:rPr sz="2500" spc="-1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the</a:t>
            </a:r>
            <a:r>
              <a:rPr sz="2500" spc="-1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result</a:t>
            </a:r>
            <a:r>
              <a:rPr sz="2500" spc="-1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of</a:t>
            </a:r>
            <a:r>
              <a:rPr sz="2500" spc="-1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an</a:t>
            </a:r>
            <a:r>
              <a:rPr sz="2500" spc="-1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operation</a:t>
            </a:r>
            <a:r>
              <a:rPr sz="2500" spc="-1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is</a:t>
            </a:r>
            <a:r>
              <a:rPr sz="2500" spc="-10" dirty="0">
                <a:latin typeface="Trebuchet MS"/>
                <a:cs typeface="Trebuchet MS"/>
              </a:rPr>
              <a:t> </a:t>
            </a:r>
            <a:r>
              <a:rPr sz="2500" spc="-20" dirty="0">
                <a:latin typeface="Trebuchet MS"/>
                <a:cs typeface="Trebuchet MS"/>
              </a:rPr>
              <a:t>zero</a:t>
            </a:r>
            <a:endParaRPr sz="2500">
              <a:latin typeface="Trebuchet MS"/>
              <a:cs typeface="Trebuchet MS"/>
            </a:endParaRPr>
          </a:p>
          <a:p>
            <a:pPr marL="360045" indent="-347345">
              <a:spcBef>
                <a:spcPts val="200"/>
              </a:spcBef>
              <a:buFont typeface="Arial"/>
              <a:buChar char="•"/>
              <a:tabLst>
                <a:tab pos="360045" algn="l"/>
              </a:tabLst>
            </a:pPr>
            <a:r>
              <a:rPr sz="2900" b="1" dirty="0">
                <a:latin typeface="Trebuchet MS"/>
                <a:cs typeface="Trebuchet MS"/>
              </a:rPr>
              <a:t>CF</a:t>
            </a:r>
            <a:r>
              <a:rPr sz="2900" b="1" spc="-30" dirty="0">
                <a:latin typeface="Trebuchet MS"/>
                <a:cs typeface="Trebuchet MS"/>
              </a:rPr>
              <a:t> </a:t>
            </a:r>
            <a:r>
              <a:rPr sz="2900" dirty="0">
                <a:latin typeface="Trebuchet MS"/>
                <a:cs typeface="Trebuchet MS"/>
              </a:rPr>
              <a:t>Carry</a:t>
            </a:r>
            <a:r>
              <a:rPr sz="2900" spc="-30" dirty="0">
                <a:latin typeface="Trebuchet MS"/>
                <a:cs typeface="Trebuchet MS"/>
              </a:rPr>
              <a:t> </a:t>
            </a:r>
            <a:r>
              <a:rPr sz="2900" spc="-20" dirty="0">
                <a:latin typeface="Trebuchet MS"/>
                <a:cs typeface="Trebuchet MS"/>
              </a:rPr>
              <a:t>flag</a:t>
            </a:r>
            <a:endParaRPr sz="2900">
              <a:latin typeface="Trebuchet MS"/>
              <a:cs typeface="Trebuchet MS"/>
            </a:endParaRPr>
          </a:p>
          <a:p>
            <a:pPr marL="754380" lvl="1" indent="-285115">
              <a:spcBef>
                <a:spcPts val="220"/>
              </a:spcBef>
              <a:buFont typeface="Arial"/>
              <a:buChar char="–"/>
              <a:tabLst>
                <a:tab pos="754380" algn="l"/>
              </a:tabLst>
            </a:pPr>
            <a:r>
              <a:rPr sz="2500" dirty="0">
                <a:latin typeface="Trebuchet MS"/>
                <a:cs typeface="Trebuchet MS"/>
              </a:rPr>
              <a:t>Set</a:t>
            </a:r>
            <a:r>
              <a:rPr sz="2500" spc="-2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when</a:t>
            </a:r>
            <a:r>
              <a:rPr sz="2500" spc="-2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result</a:t>
            </a:r>
            <a:r>
              <a:rPr sz="2500" spc="-2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is</a:t>
            </a:r>
            <a:r>
              <a:rPr sz="2500" spc="-2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too</a:t>
            </a:r>
            <a:r>
              <a:rPr sz="2500" spc="-2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large</a:t>
            </a:r>
            <a:r>
              <a:rPr sz="2500" spc="-2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or</a:t>
            </a:r>
            <a:r>
              <a:rPr sz="2500" spc="-2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small</a:t>
            </a:r>
            <a:r>
              <a:rPr sz="2500" spc="-2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for</a:t>
            </a:r>
            <a:r>
              <a:rPr sz="2500" spc="-20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destination</a:t>
            </a:r>
            <a:endParaRPr sz="2500">
              <a:latin typeface="Trebuchet MS"/>
              <a:cs typeface="Trebuchet MS"/>
            </a:endParaRPr>
          </a:p>
          <a:p>
            <a:pPr marL="360045" indent="-347345">
              <a:spcBef>
                <a:spcPts val="200"/>
              </a:spcBef>
              <a:buFont typeface="Arial"/>
              <a:buChar char="•"/>
              <a:tabLst>
                <a:tab pos="360045" algn="l"/>
              </a:tabLst>
            </a:pPr>
            <a:r>
              <a:rPr sz="2900" b="1" dirty="0">
                <a:latin typeface="Trebuchet MS"/>
                <a:cs typeface="Trebuchet MS"/>
              </a:rPr>
              <a:t>SF</a:t>
            </a:r>
            <a:r>
              <a:rPr sz="2900" b="1" spc="-20" dirty="0">
                <a:latin typeface="Trebuchet MS"/>
                <a:cs typeface="Trebuchet MS"/>
              </a:rPr>
              <a:t> </a:t>
            </a:r>
            <a:r>
              <a:rPr sz="2900" dirty="0">
                <a:latin typeface="Trebuchet MS"/>
                <a:cs typeface="Trebuchet MS"/>
              </a:rPr>
              <a:t>Sign</a:t>
            </a:r>
            <a:r>
              <a:rPr sz="2900" spc="-20" dirty="0">
                <a:latin typeface="Trebuchet MS"/>
                <a:cs typeface="Trebuchet MS"/>
              </a:rPr>
              <a:t> Flag</a:t>
            </a:r>
            <a:endParaRPr sz="2900">
              <a:latin typeface="Trebuchet MS"/>
              <a:cs typeface="Trebuchet MS"/>
            </a:endParaRPr>
          </a:p>
          <a:p>
            <a:pPr marL="754380" marR="1352550" lvl="1" indent="-284480">
              <a:lnSpc>
                <a:spcPts val="2590"/>
              </a:lnSpc>
              <a:spcBef>
                <a:spcPts val="560"/>
              </a:spcBef>
              <a:buFont typeface="Arial"/>
              <a:buChar char="–"/>
              <a:tabLst>
                <a:tab pos="754380" algn="l"/>
              </a:tabLst>
            </a:pPr>
            <a:r>
              <a:rPr sz="2500" dirty="0">
                <a:latin typeface="Trebuchet MS"/>
                <a:cs typeface="Trebuchet MS"/>
              </a:rPr>
              <a:t>Set</a:t>
            </a:r>
            <a:r>
              <a:rPr sz="2500" spc="-2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when</a:t>
            </a:r>
            <a:r>
              <a:rPr sz="2500" spc="-2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result</a:t>
            </a:r>
            <a:r>
              <a:rPr sz="2500" spc="-2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is</a:t>
            </a:r>
            <a:r>
              <a:rPr sz="2500" spc="-2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negative,</a:t>
            </a:r>
            <a:r>
              <a:rPr sz="2500" spc="-1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or</a:t>
            </a:r>
            <a:r>
              <a:rPr sz="2500" spc="-2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when</a:t>
            </a:r>
            <a:r>
              <a:rPr sz="2500" spc="-20" dirty="0">
                <a:latin typeface="Trebuchet MS"/>
                <a:cs typeface="Trebuchet MS"/>
              </a:rPr>
              <a:t> most </a:t>
            </a:r>
            <a:r>
              <a:rPr sz="2500" dirty="0">
                <a:latin typeface="Trebuchet MS"/>
                <a:cs typeface="Trebuchet MS"/>
              </a:rPr>
              <a:t>significant</a:t>
            </a:r>
            <a:r>
              <a:rPr sz="2500" spc="-2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bit</a:t>
            </a:r>
            <a:r>
              <a:rPr sz="2500" spc="-1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is</a:t>
            </a:r>
            <a:r>
              <a:rPr sz="2500" spc="-1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set</a:t>
            </a:r>
            <a:r>
              <a:rPr sz="2500" spc="-1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after</a:t>
            </a:r>
            <a:r>
              <a:rPr sz="2500" spc="-15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arithmetic</a:t>
            </a:r>
            <a:endParaRPr sz="2500">
              <a:latin typeface="Trebuchet MS"/>
              <a:cs typeface="Trebuchet MS"/>
            </a:endParaRPr>
          </a:p>
          <a:p>
            <a:pPr marL="360045" indent="-347345">
              <a:spcBef>
                <a:spcPts val="280"/>
              </a:spcBef>
              <a:buFont typeface="Arial"/>
              <a:buChar char="•"/>
              <a:tabLst>
                <a:tab pos="360045" algn="l"/>
              </a:tabLst>
            </a:pPr>
            <a:r>
              <a:rPr sz="2900" b="1" dirty="0">
                <a:latin typeface="Trebuchet MS"/>
                <a:cs typeface="Trebuchet MS"/>
              </a:rPr>
              <a:t>TF</a:t>
            </a:r>
            <a:r>
              <a:rPr sz="2900" b="1" spc="-75" dirty="0">
                <a:latin typeface="Trebuchet MS"/>
                <a:cs typeface="Trebuchet MS"/>
              </a:rPr>
              <a:t> </a:t>
            </a:r>
            <a:r>
              <a:rPr sz="2900" spc="-55" dirty="0">
                <a:latin typeface="Trebuchet MS"/>
                <a:cs typeface="Trebuchet MS"/>
              </a:rPr>
              <a:t>Trap</a:t>
            </a:r>
            <a:r>
              <a:rPr sz="2900" spc="-75" dirty="0">
                <a:latin typeface="Trebuchet MS"/>
                <a:cs typeface="Trebuchet MS"/>
              </a:rPr>
              <a:t> </a:t>
            </a:r>
            <a:r>
              <a:rPr sz="2900" spc="-20" dirty="0">
                <a:latin typeface="Trebuchet MS"/>
                <a:cs typeface="Trebuchet MS"/>
              </a:rPr>
              <a:t>Flag</a:t>
            </a:r>
            <a:endParaRPr sz="2900">
              <a:latin typeface="Trebuchet MS"/>
              <a:cs typeface="Trebuchet MS"/>
            </a:endParaRPr>
          </a:p>
          <a:p>
            <a:pPr marL="754380" marR="33655" lvl="1" indent="-284480">
              <a:lnSpc>
                <a:spcPts val="2600"/>
              </a:lnSpc>
              <a:spcBef>
                <a:spcPts val="540"/>
              </a:spcBef>
              <a:buFont typeface="Arial"/>
              <a:buChar char="–"/>
              <a:tabLst>
                <a:tab pos="754380" algn="l"/>
              </a:tabLst>
            </a:pPr>
            <a:r>
              <a:rPr sz="2500" dirty="0">
                <a:latin typeface="Trebuchet MS"/>
                <a:cs typeface="Trebuchet MS"/>
              </a:rPr>
              <a:t>Used</a:t>
            </a:r>
            <a:r>
              <a:rPr sz="2500" spc="-1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for</a:t>
            </a:r>
            <a:r>
              <a:rPr sz="2500" spc="-10" dirty="0">
                <a:latin typeface="Trebuchet MS"/>
                <a:cs typeface="Trebuchet MS"/>
              </a:rPr>
              <a:t> debugging—</a:t>
            </a:r>
            <a:r>
              <a:rPr sz="2500" dirty="0">
                <a:latin typeface="Trebuchet MS"/>
                <a:cs typeface="Trebuchet MS"/>
              </a:rPr>
              <a:t>if</a:t>
            </a:r>
            <a:r>
              <a:rPr sz="2500" spc="-1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set,</a:t>
            </a:r>
            <a:r>
              <a:rPr sz="2500" spc="-1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processor</a:t>
            </a:r>
            <a:r>
              <a:rPr sz="2500" spc="-1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executes</a:t>
            </a:r>
            <a:r>
              <a:rPr sz="2500" spc="-10" dirty="0">
                <a:latin typeface="Trebuchet MS"/>
                <a:cs typeface="Trebuchet MS"/>
              </a:rPr>
              <a:t> </a:t>
            </a:r>
            <a:r>
              <a:rPr sz="2500" spc="-20" dirty="0">
                <a:latin typeface="Trebuchet MS"/>
                <a:cs typeface="Trebuchet MS"/>
              </a:rPr>
              <a:t>only </a:t>
            </a:r>
            <a:r>
              <a:rPr sz="2500" dirty="0">
                <a:latin typeface="Trebuchet MS"/>
                <a:cs typeface="Trebuchet MS"/>
              </a:rPr>
              <a:t>one</a:t>
            </a:r>
            <a:r>
              <a:rPr sz="2500" spc="-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instruction</a:t>
            </a:r>
            <a:r>
              <a:rPr sz="2500" spc="-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at</a:t>
            </a:r>
            <a:r>
              <a:rPr sz="2500" spc="-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a</a:t>
            </a:r>
            <a:r>
              <a:rPr sz="2500" spc="-5" dirty="0">
                <a:latin typeface="Trebuchet MS"/>
                <a:cs typeface="Trebuchet MS"/>
              </a:rPr>
              <a:t> </a:t>
            </a:r>
            <a:r>
              <a:rPr sz="2500" spc="-20" dirty="0">
                <a:latin typeface="Trebuchet MS"/>
                <a:cs typeface="Trebuchet MS"/>
              </a:rPr>
              <a:t>time</a:t>
            </a:r>
            <a:endParaRPr sz="25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362200" y="700252"/>
            <a:ext cx="10515600" cy="655308"/>
          </a:xfrm>
          <a:prstGeom prst="rect">
            <a:avLst/>
          </a:prstGeom>
        </p:spPr>
        <p:txBody>
          <a:bodyPr vert="horz" wrap="square" lIns="0" tIns="1651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150" dirty="0"/>
              <a:t>EIP</a:t>
            </a:r>
            <a:r>
              <a:rPr sz="4150" spc="-85" dirty="0"/>
              <a:t> </a:t>
            </a:r>
            <a:r>
              <a:rPr sz="4150" dirty="0"/>
              <a:t>(Extended</a:t>
            </a:r>
            <a:r>
              <a:rPr sz="4150" spc="10" dirty="0"/>
              <a:t> </a:t>
            </a:r>
            <a:r>
              <a:rPr sz="4150" dirty="0"/>
              <a:t>Instruction</a:t>
            </a:r>
            <a:r>
              <a:rPr sz="4150" spc="5" dirty="0"/>
              <a:t> </a:t>
            </a:r>
            <a:r>
              <a:rPr sz="4150" spc="-10" dirty="0"/>
              <a:t>Pointer)</a:t>
            </a:r>
            <a:endParaRPr sz="4150"/>
          </a:p>
        </p:txBody>
      </p:sp>
      <p:sp>
        <p:nvSpPr>
          <p:cNvPr id="3" name="object 3"/>
          <p:cNvSpPr txBox="1"/>
          <p:nvPr/>
        </p:nvSpPr>
        <p:spPr>
          <a:xfrm>
            <a:off x="2014220" y="1603951"/>
            <a:ext cx="7902575" cy="3062605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360680" marR="5080" indent="-347980">
              <a:lnSpc>
                <a:spcPts val="3670"/>
              </a:lnSpc>
              <a:spcBef>
                <a:spcPts val="360"/>
              </a:spcBef>
              <a:buFont typeface="Arial"/>
              <a:buChar char="•"/>
              <a:tabLst>
                <a:tab pos="360680" algn="l"/>
              </a:tabLst>
            </a:pPr>
            <a:r>
              <a:rPr sz="3200" dirty="0">
                <a:latin typeface="Trebuchet MS"/>
                <a:cs typeface="Trebuchet MS"/>
              </a:rPr>
              <a:t>Contains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the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memory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address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of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the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-20" dirty="0">
                <a:latin typeface="Trebuchet MS"/>
                <a:cs typeface="Trebuchet MS"/>
              </a:rPr>
              <a:t>next </a:t>
            </a:r>
            <a:r>
              <a:rPr sz="3200" dirty="0">
                <a:latin typeface="Trebuchet MS"/>
                <a:cs typeface="Trebuchet MS"/>
              </a:rPr>
              <a:t>instruction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to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be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executed</a:t>
            </a:r>
            <a:endParaRPr sz="3200">
              <a:latin typeface="Trebuchet MS"/>
              <a:cs typeface="Trebuchet MS"/>
            </a:endParaRPr>
          </a:p>
          <a:p>
            <a:pPr marL="360680" marR="280035" indent="-347980">
              <a:lnSpc>
                <a:spcPts val="3700"/>
              </a:lnSpc>
              <a:spcBef>
                <a:spcPts val="810"/>
              </a:spcBef>
              <a:buFont typeface="Arial"/>
              <a:buChar char="•"/>
              <a:tabLst>
                <a:tab pos="360680" algn="l"/>
              </a:tabLst>
            </a:pPr>
            <a:r>
              <a:rPr sz="3200" dirty="0">
                <a:latin typeface="Trebuchet MS"/>
                <a:cs typeface="Trebuchet MS"/>
              </a:rPr>
              <a:t>If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EIP</a:t>
            </a:r>
            <a:r>
              <a:rPr sz="3200" spc="-11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contains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wrong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data,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the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CPU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spc="-20" dirty="0">
                <a:latin typeface="Trebuchet MS"/>
                <a:cs typeface="Trebuchet MS"/>
              </a:rPr>
              <a:t>will </a:t>
            </a:r>
            <a:r>
              <a:rPr sz="3200" dirty="0">
                <a:latin typeface="Trebuchet MS"/>
                <a:cs typeface="Trebuchet MS"/>
              </a:rPr>
              <a:t>fetch</a:t>
            </a:r>
            <a:r>
              <a:rPr sz="3200" spc="-130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non-</a:t>
            </a:r>
            <a:r>
              <a:rPr sz="3200" dirty="0">
                <a:latin typeface="Trebuchet MS"/>
                <a:cs typeface="Trebuchet MS"/>
              </a:rPr>
              <a:t>legitimate</a:t>
            </a:r>
            <a:r>
              <a:rPr sz="3200" spc="-12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instructions</a:t>
            </a:r>
            <a:r>
              <a:rPr sz="3200" spc="-125" dirty="0">
                <a:latin typeface="Trebuchet MS"/>
                <a:cs typeface="Trebuchet MS"/>
              </a:rPr>
              <a:t> </a:t>
            </a:r>
            <a:r>
              <a:rPr sz="3200" spc="-25" dirty="0">
                <a:latin typeface="Trebuchet MS"/>
                <a:cs typeface="Trebuchet MS"/>
              </a:rPr>
              <a:t>and </a:t>
            </a:r>
            <a:r>
              <a:rPr sz="3200" spc="-10" dirty="0">
                <a:latin typeface="Trebuchet MS"/>
                <a:cs typeface="Trebuchet MS"/>
              </a:rPr>
              <a:t>crash</a:t>
            </a:r>
            <a:endParaRPr sz="3200">
              <a:latin typeface="Trebuchet MS"/>
              <a:cs typeface="Trebuchet MS"/>
            </a:endParaRPr>
          </a:p>
          <a:p>
            <a:pPr marL="360045" indent="-347345">
              <a:spcBef>
                <a:spcPts val="560"/>
              </a:spcBef>
              <a:buFont typeface="Arial"/>
              <a:buChar char="•"/>
              <a:tabLst>
                <a:tab pos="360045" algn="l"/>
              </a:tabLst>
            </a:pPr>
            <a:r>
              <a:rPr sz="3200" dirty="0">
                <a:latin typeface="Trebuchet MS"/>
                <a:cs typeface="Trebuchet MS"/>
              </a:rPr>
              <a:t>Buffer</a:t>
            </a:r>
            <a:r>
              <a:rPr sz="3200" spc="-11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overflows</a:t>
            </a:r>
            <a:r>
              <a:rPr sz="3200" spc="-10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target</a:t>
            </a:r>
            <a:r>
              <a:rPr sz="3200" spc="-105" dirty="0">
                <a:latin typeface="Trebuchet MS"/>
                <a:cs typeface="Trebuchet MS"/>
              </a:rPr>
              <a:t> </a:t>
            </a:r>
            <a:r>
              <a:rPr sz="3200" spc="-25" dirty="0">
                <a:latin typeface="Trebuchet MS"/>
                <a:cs typeface="Trebuchet MS"/>
              </a:rPr>
              <a:t>EIP</a:t>
            </a:r>
            <a:endParaRPr sz="3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708401" y="2501900"/>
            <a:ext cx="4787265" cy="695960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53564" algn="l"/>
              </a:tabLst>
            </a:pPr>
            <a:r>
              <a:rPr spc="-10" dirty="0"/>
              <a:t>Simple</a:t>
            </a:r>
            <a:r>
              <a:rPr dirty="0"/>
              <a:t>	</a:t>
            </a:r>
            <a:r>
              <a:rPr spc="-10" dirty="0"/>
              <a:t>Instructions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708401" y="469900"/>
            <a:ext cx="4787265" cy="695960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53564" algn="l"/>
              </a:tabLst>
            </a:pPr>
            <a:r>
              <a:rPr spc="-10" dirty="0"/>
              <a:t>Simple</a:t>
            </a:r>
            <a:r>
              <a:rPr dirty="0"/>
              <a:t>	</a:t>
            </a:r>
            <a:r>
              <a:rPr spc="-10" dirty="0"/>
              <a:t>Instructions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14219" y="1526957"/>
            <a:ext cx="7971790" cy="3622145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360045" indent="-347345">
              <a:spcBef>
                <a:spcPts val="705"/>
              </a:spcBef>
              <a:buFont typeface="Arial"/>
              <a:buChar char="•"/>
              <a:tabLst>
                <a:tab pos="360045" algn="l"/>
              </a:tabLst>
            </a:pPr>
            <a:r>
              <a:rPr sz="3200" b="1" dirty="0">
                <a:latin typeface="Trebuchet MS"/>
                <a:cs typeface="Trebuchet MS"/>
              </a:rPr>
              <a:t>mov</a:t>
            </a:r>
            <a:r>
              <a:rPr sz="3200" b="1" spc="-70" dirty="0">
                <a:latin typeface="Trebuchet MS"/>
                <a:cs typeface="Trebuchet MS"/>
              </a:rPr>
              <a:t> </a:t>
            </a:r>
            <a:r>
              <a:rPr sz="3200" b="1" dirty="0">
                <a:latin typeface="Trebuchet MS"/>
                <a:cs typeface="Trebuchet MS"/>
              </a:rPr>
              <a:t>destination,</a:t>
            </a:r>
            <a:r>
              <a:rPr sz="3200" b="1" spc="-65" dirty="0">
                <a:latin typeface="Trebuchet MS"/>
                <a:cs typeface="Trebuchet MS"/>
              </a:rPr>
              <a:t> </a:t>
            </a:r>
            <a:r>
              <a:rPr sz="3200" b="1" spc="-10" dirty="0">
                <a:latin typeface="Trebuchet MS"/>
                <a:cs typeface="Trebuchet MS"/>
              </a:rPr>
              <a:t>source</a:t>
            </a:r>
            <a:endParaRPr sz="3200" dirty="0">
              <a:latin typeface="Trebuchet MS"/>
              <a:cs typeface="Trebuchet MS"/>
            </a:endParaRPr>
          </a:p>
          <a:p>
            <a:pPr marL="752475" lvl="1" indent="-283210">
              <a:spcBef>
                <a:spcPts val="530"/>
              </a:spcBef>
              <a:buFont typeface="Arial"/>
              <a:buChar char="–"/>
              <a:tabLst>
                <a:tab pos="752475" algn="l"/>
              </a:tabLst>
            </a:pPr>
            <a:r>
              <a:rPr sz="2800" dirty="0">
                <a:latin typeface="Trebuchet MS"/>
                <a:cs typeface="Trebuchet MS"/>
              </a:rPr>
              <a:t>Moves</a:t>
            </a:r>
            <a:r>
              <a:rPr sz="2800" spc="-4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data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from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one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location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to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another</a:t>
            </a:r>
            <a:endParaRPr sz="2800" dirty="0">
              <a:latin typeface="Trebuchet MS"/>
              <a:cs typeface="Trebuchet MS"/>
            </a:endParaRPr>
          </a:p>
          <a:p>
            <a:pPr marL="360680" marR="5080" indent="-347980">
              <a:lnSpc>
                <a:spcPts val="3700"/>
              </a:lnSpc>
              <a:spcBef>
                <a:spcPts val="880"/>
              </a:spcBef>
              <a:buFont typeface="Arial"/>
              <a:buChar char="•"/>
              <a:tabLst>
                <a:tab pos="360680" algn="l"/>
              </a:tabLst>
            </a:pPr>
            <a:r>
              <a:rPr sz="3200" dirty="0">
                <a:latin typeface="Trebuchet MS"/>
                <a:cs typeface="Trebuchet MS"/>
              </a:rPr>
              <a:t>We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use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Intel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format</a:t>
            </a:r>
            <a:r>
              <a:rPr sz="3200" spc="-10" dirty="0">
                <a:latin typeface="Trebuchet MS"/>
                <a:cs typeface="Trebuchet MS"/>
              </a:rPr>
              <a:t>, </a:t>
            </a:r>
            <a:r>
              <a:rPr sz="3200" dirty="0">
                <a:latin typeface="Trebuchet MS"/>
                <a:cs typeface="Trebuchet MS"/>
              </a:rPr>
              <a:t>with</a:t>
            </a:r>
            <a:r>
              <a:rPr sz="3200" spc="-13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destination</a:t>
            </a:r>
            <a:r>
              <a:rPr sz="3200" spc="-125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first</a:t>
            </a:r>
            <a:endParaRPr sz="3200" dirty="0">
              <a:latin typeface="Trebuchet MS"/>
              <a:cs typeface="Trebuchet MS"/>
            </a:endParaRPr>
          </a:p>
          <a:p>
            <a:pPr marL="360045" indent="-347345">
              <a:spcBef>
                <a:spcPts val="560"/>
              </a:spcBef>
              <a:buFont typeface="Arial"/>
              <a:buChar char="•"/>
              <a:tabLst>
                <a:tab pos="360045" algn="l"/>
              </a:tabLst>
            </a:pPr>
            <a:r>
              <a:rPr sz="3200" spc="-10" dirty="0">
                <a:latin typeface="Trebuchet MS"/>
                <a:cs typeface="Trebuchet MS"/>
              </a:rPr>
              <a:t>Remember</a:t>
            </a:r>
            <a:r>
              <a:rPr sz="3200" spc="-15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indirect</a:t>
            </a:r>
            <a:r>
              <a:rPr sz="3200" spc="-150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addressing</a:t>
            </a:r>
            <a:endParaRPr sz="3200" dirty="0">
              <a:latin typeface="Trebuchet MS"/>
              <a:cs typeface="Trebuchet MS"/>
            </a:endParaRPr>
          </a:p>
          <a:p>
            <a:pPr marL="753110" marR="67310" lvl="1" indent="-283210">
              <a:lnSpc>
                <a:spcPts val="3200"/>
              </a:lnSpc>
              <a:spcBef>
                <a:spcPts val="700"/>
              </a:spcBef>
              <a:buFont typeface="Arial"/>
              <a:buChar char="–"/>
              <a:tabLst>
                <a:tab pos="754380" algn="l"/>
              </a:tabLst>
            </a:pPr>
            <a:r>
              <a:rPr sz="2800" dirty="0">
                <a:latin typeface="Trebuchet MS"/>
                <a:cs typeface="Trebuchet MS"/>
              </a:rPr>
              <a:t>[ebx]</a:t>
            </a:r>
            <a:r>
              <a:rPr sz="2800" spc="-4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means</a:t>
            </a:r>
            <a:r>
              <a:rPr sz="2800" spc="-4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the</a:t>
            </a:r>
            <a:r>
              <a:rPr sz="2800" spc="-4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memory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location</a:t>
            </a:r>
            <a:r>
              <a:rPr sz="2800" spc="-4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pointed</a:t>
            </a:r>
            <a:r>
              <a:rPr sz="2800" spc="-45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to 	</a:t>
            </a:r>
            <a:r>
              <a:rPr sz="2800" dirty="0">
                <a:latin typeface="Trebuchet MS"/>
                <a:cs typeface="Trebuchet MS"/>
              </a:rPr>
              <a:t>by</a:t>
            </a:r>
            <a:r>
              <a:rPr sz="2800" spc="-10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EBX</a:t>
            </a:r>
            <a:endParaRPr sz="28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154238" y="820738"/>
            <a:ext cx="8061325" cy="4670425"/>
            <a:chOff x="630237" y="820737"/>
            <a:chExt cx="8061325" cy="46704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2875" y="1066580"/>
              <a:ext cx="7662629" cy="433945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35000" y="825500"/>
              <a:ext cx="8051800" cy="4660900"/>
            </a:xfrm>
            <a:custGeom>
              <a:avLst/>
              <a:gdLst/>
              <a:ahLst/>
              <a:cxnLst/>
              <a:rect l="l" t="t" r="r" b="b"/>
              <a:pathLst>
                <a:path w="8051800" h="4660900">
                  <a:moveTo>
                    <a:pt x="0" y="0"/>
                  </a:moveTo>
                  <a:lnTo>
                    <a:pt x="8051800" y="0"/>
                  </a:lnTo>
                  <a:lnTo>
                    <a:pt x="8051800" y="4660899"/>
                  </a:lnTo>
                  <a:lnTo>
                    <a:pt x="0" y="46608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362200" y="682940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546100">
              <a:lnSpc>
                <a:spcPct val="100000"/>
              </a:lnSpc>
              <a:spcBef>
                <a:spcPts val="100"/>
              </a:spcBef>
            </a:pPr>
            <a:r>
              <a:rPr dirty="0"/>
              <a:t>lea</a:t>
            </a:r>
            <a:r>
              <a:rPr spc="-50" dirty="0"/>
              <a:t> </a:t>
            </a:r>
            <a:r>
              <a:rPr dirty="0"/>
              <a:t>(Load</a:t>
            </a:r>
            <a:r>
              <a:rPr spc="-55" dirty="0"/>
              <a:t> </a:t>
            </a:r>
            <a:r>
              <a:rPr spc="-10" dirty="0"/>
              <a:t>Effective</a:t>
            </a:r>
            <a:r>
              <a:rPr spc="-285" dirty="0"/>
              <a:t> </a:t>
            </a:r>
            <a:r>
              <a:rPr spc="-10" dirty="0"/>
              <a:t>Address)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14220" y="1523881"/>
            <a:ext cx="7458075" cy="3208655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360045" indent="-347345">
              <a:spcBef>
                <a:spcPts val="730"/>
              </a:spcBef>
              <a:buFont typeface="Arial"/>
              <a:buChar char="•"/>
              <a:tabLst>
                <a:tab pos="360045" algn="l"/>
              </a:tabLst>
            </a:pPr>
            <a:r>
              <a:rPr sz="3200" dirty="0">
                <a:latin typeface="Trebuchet MS"/>
                <a:cs typeface="Trebuchet MS"/>
              </a:rPr>
              <a:t>lea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destination,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source</a:t>
            </a:r>
            <a:endParaRPr sz="3200">
              <a:latin typeface="Trebuchet MS"/>
              <a:cs typeface="Trebuchet MS"/>
            </a:endParaRPr>
          </a:p>
          <a:p>
            <a:pPr marL="360045" indent="-347345">
              <a:spcBef>
                <a:spcPts val="630"/>
              </a:spcBef>
              <a:buFont typeface="Arial"/>
              <a:buChar char="•"/>
              <a:tabLst>
                <a:tab pos="360045" algn="l"/>
              </a:tabLst>
            </a:pPr>
            <a:r>
              <a:rPr sz="3200" dirty="0">
                <a:latin typeface="Trebuchet MS"/>
                <a:cs typeface="Trebuchet MS"/>
              </a:rPr>
              <a:t>lea</a:t>
            </a:r>
            <a:r>
              <a:rPr sz="3200" spc="-4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eax,</a:t>
            </a:r>
            <a:r>
              <a:rPr sz="3200" spc="-45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[ebx+8]</a:t>
            </a:r>
            <a:endParaRPr sz="3200">
              <a:latin typeface="Trebuchet MS"/>
              <a:cs typeface="Trebuchet MS"/>
            </a:endParaRPr>
          </a:p>
          <a:p>
            <a:pPr marL="752475" lvl="1" indent="-283210">
              <a:spcBef>
                <a:spcPts val="560"/>
              </a:spcBef>
              <a:buFont typeface="Arial"/>
              <a:buChar char="–"/>
              <a:tabLst>
                <a:tab pos="752475" algn="l"/>
              </a:tabLst>
            </a:pPr>
            <a:r>
              <a:rPr sz="2800" dirty="0">
                <a:latin typeface="Trebuchet MS"/>
                <a:cs typeface="Trebuchet MS"/>
              </a:rPr>
              <a:t>Puts</a:t>
            </a:r>
            <a:r>
              <a:rPr sz="2800" spc="-2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ebx</a:t>
            </a:r>
            <a:r>
              <a:rPr sz="2800" spc="-1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+</a:t>
            </a:r>
            <a:r>
              <a:rPr sz="2800" spc="-1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8</a:t>
            </a:r>
            <a:r>
              <a:rPr sz="2800" spc="-1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into</a:t>
            </a:r>
            <a:r>
              <a:rPr sz="2800" spc="-15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eax</a:t>
            </a:r>
            <a:endParaRPr sz="2800">
              <a:latin typeface="Trebuchet MS"/>
              <a:cs typeface="Trebuchet MS"/>
            </a:endParaRPr>
          </a:p>
          <a:p>
            <a:pPr marL="360045" indent="-347345">
              <a:spcBef>
                <a:spcPts val="640"/>
              </a:spcBef>
              <a:buFont typeface="Arial"/>
              <a:buChar char="•"/>
              <a:tabLst>
                <a:tab pos="360045" algn="l"/>
              </a:tabLst>
            </a:pPr>
            <a:r>
              <a:rPr sz="3200" spc="-10" dirty="0">
                <a:latin typeface="Trebuchet MS"/>
                <a:cs typeface="Trebuchet MS"/>
              </a:rPr>
              <a:t>Compare</a:t>
            </a:r>
            <a:endParaRPr sz="3200">
              <a:latin typeface="Trebuchet MS"/>
              <a:cs typeface="Trebuchet MS"/>
            </a:endParaRPr>
          </a:p>
          <a:p>
            <a:pPr marL="752475" lvl="1" indent="-283210">
              <a:spcBef>
                <a:spcPts val="459"/>
              </a:spcBef>
              <a:buFont typeface="Arial"/>
              <a:buChar char="–"/>
              <a:tabLst>
                <a:tab pos="752475" algn="l"/>
              </a:tabLst>
            </a:pPr>
            <a:r>
              <a:rPr sz="2800" dirty="0">
                <a:latin typeface="Trebuchet MS"/>
                <a:cs typeface="Trebuchet MS"/>
              </a:rPr>
              <a:t>mov</a:t>
            </a:r>
            <a:r>
              <a:rPr sz="2800" spc="-3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eax,</a:t>
            </a:r>
            <a:r>
              <a:rPr sz="2800" spc="-3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[ebx+8]</a:t>
            </a:r>
            <a:endParaRPr sz="2800">
              <a:latin typeface="Trebuchet MS"/>
              <a:cs typeface="Trebuchet MS"/>
            </a:endParaRPr>
          </a:p>
          <a:p>
            <a:pPr marL="752475" lvl="1" indent="-283210">
              <a:spcBef>
                <a:spcPts val="540"/>
              </a:spcBef>
              <a:buFont typeface="Arial"/>
              <a:buChar char="–"/>
              <a:tabLst>
                <a:tab pos="752475" algn="l"/>
              </a:tabLst>
            </a:pPr>
            <a:r>
              <a:rPr sz="2800" dirty="0">
                <a:latin typeface="Trebuchet MS"/>
                <a:cs typeface="Trebuchet MS"/>
              </a:rPr>
              <a:t>Moves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the</a:t>
            </a:r>
            <a:r>
              <a:rPr sz="2800" spc="-3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data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at</a:t>
            </a:r>
            <a:r>
              <a:rPr sz="2800" spc="-3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location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ebx+8</a:t>
            </a:r>
            <a:r>
              <a:rPr sz="2800" spc="-3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into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eax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7755" y="1581838"/>
            <a:ext cx="7523245" cy="3813497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362200" y="682940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27178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Arithmetic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14219" y="1523881"/>
            <a:ext cx="3333750" cy="3471463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360045" indent="-347345">
              <a:spcBef>
                <a:spcPts val="730"/>
              </a:spcBef>
              <a:buFont typeface="Arial"/>
              <a:buChar char="•"/>
              <a:tabLst>
                <a:tab pos="360045" algn="l"/>
              </a:tabLst>
            </a:pPr>
            <a:r>
              <a:rPr sz="3200" b="1" dirty="0">
                <a:latin typeface="Trebuchet MS"/>
                <a:cs typeface="Trebuchet MS"/>
              </a:rPr>
              <a:t>sub</a:t>
            </a:r>
            <a:r>
              <a:rPr sz="3200" b="1" spc="-5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Subtracts</a:t>
            </a:r>
            <a:endParaRPr sz="3200">
              <a:latin typeface="Trebuchet MS"/>
              <a:cs typeface="Trebuchet MS"/>
            </a:endParaRPr>
          </a:p>
          <a:p>
            <a:pPr marL="360045" indent="-347345">
              <a:spcBef>
                <a:spcPts val="630"/>
              </a:spcBef>
              <a:buFont typeface="Arial"/>
              <a:buChar char="•"/>
              <a:tabLst>
                <a:tab pos="360045" algn="l"/>
              </a:tabLst>
            </a:pPr>
            <a:r>
              <a:rPr sz="3200" b="1" dirty="0">
                <a:latin typeface="Trebuchet MS"/>
                <a:cs typeface="Trebuchet MS"/>
              </a:rPr>
              <a:t>add</a:t>
            </a:r>
            <a:r>
              <a:rPr sz="3200" b="1" spc="-235" dirty="0">
                <a:latin typeface="Trebuchet MS"/>
                <a:cs typeface="Trebuchet MS"/>
              </a:rPr>
              <a:t> </a:t>
            </a:r>
            <a:r>
              <a:rPr sz="3200" spc="-20" dirty="0">
                <a:latin typeface="Trebuchet MS"/>
                <a:cs typeface="Trebuchet MS"/>
              </a:rPr>
              <a:t>Adds</a:t>
            </a:r>
            <a:endParaRPr sz="3200">
              <a:latin typeface="Trebuchet MS"/>
              <a:cs typeface="Trebuchet MS"/>
            </a:endParaRPr>
          </a:p>
          <a:p>
            <a:pPr marL="360045" indent="-347345">
              <a:spcBef>
                <a:spcPts val="660"/>
              </a:spcBef>
              <a:buFont typeface="Arial"/>
              <a:buChar char="•"/>
              <a:tabLst>
                <a:tab pos="360045" algn="l"/>
              </a:tabLst>
            </a:pPr>
            <a:r>
              <a:rPr sz="3200" b="1" dirty="0">
                <a:latin typeface="Trebuchet MS"/>
                <a:cs typeface="Trebuchet MS"/>
              </a:rPr>
              <a:t>inc</a:t>
            </a:r>
            <a:r>
              <a:rPr sz="3200" b="1" spc="-5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Increments</a:t>
            </a:r>
            <a:endParaRPr sz="3200">
              <a:latin typeface="Trebuchet MS"/>
              <a:cs typeface="Trebuchet MS"/>
            </a:endParaRPr>
          </a:p>
          <a:p>
            <a:pPr marL="360045" indent="-347345">
              <a:spcBef>
                <a:spcPts val="660"/>
              </a:spcBef>
              <a:buFont typeface="Arial"/>
              <a:buChar char="•"/>
              <a:tabLst>
                <a:tab pos="360045" algn="l"/>
              </a:tabLst>
            </a:pPr>
            <a:r>
              <a:rPr sz="3200" b="1" dirty="0">
                <a:latin typeface="Trebuchet MS"/>
                <a:cs typeface="Trebuchet MS"/>
              </a:rPr>
              <a:t>dec</a:t>
            </a:r>
            <a:r>
              <a:rPr sz="3200" b="1" spc="-65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Decrements</a:t>
            </a:r>
            <a:endParaRPr sz="3200">
              <a:latin typeface="Trebuchet MS"/>
              <a:cs typeface="Trebuchet MS"/>
            </a:endParaRPr>
          </a:p>
          <a:p>
            <a:pPr marL="360045" indent="-347345">
              <a:spcBef>
                <a:spcPts val="560"/>
              </a:spcBef>
              <a:buFont typeface="Arial"/>
              <a:buChar char="•"/>
              <a:tabLst>
                <a:tab pos="360045" algn="l"/>
              </a:tabLst>
            </a:pPr>
            <a:r>
              <a:rPr sz="3200" b="1" dirty="0">
                <a:latin typeface="Trebuchet MS"/>
                <a:cs typeface="Trebuchet MS"/>
              </a:rPr>
              <a:t>mul</a:t>
            </a:r>
            <a:r>
              <a:rPr sz="3200" b="1" spc="-20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Multiplies</a:t>
            </a:r>
            <a:endParaRPr sz="3200">
              <a:latin typeface="Trebuchet MS"/>
              <a:cs typeface="Trebuchet MS"/>
            </a:endParaRPr>
          </a:p>
          <a:p>
            <a:pPr marL="360045" indent="-347345">
              <a:spcBef>
                <a:spcPts val="660"/>
              </a:spcBef>
              <a:buFont typeface="Arial"/>
              <a:buChar char="•"/>
              <a:tabLst>
                <a:tab pos="360045" algn="l"/>
              </a:tabLst>
            </a:pPr>
            <a:r>
              <a:rPr sz="3200" b="1" dirty="0">
                <a:latin typeface="Trebuchet MS"/>
                <a:cs typeface="Trebuchet MS"/>
              </a:rPr>
              <a:t>div</a:t>
            </a:r>
            <a:r>
              <a:rPr sz="3200" b="1" spc="-5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Divides</a:t>
            </a:r>
            <a:endParaRPr sz="3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362200" y="682940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35306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NOP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14220" y="1523881"/>
            <a:ext cx="7882255" cy="2802049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360045" indent="-347345">
              <a:spcBef>
                <a:spcPts val="730"/>
              </a:spcBef>
              <a:buFont typeface="Arial"/>
              <a:buChar char="•"/>
              <a:tabLst>
                <a:tab pos="360045" algn="l"/>
              </a:tabLst>
            </a:pPr>
            <a:r>
              <a:rPr sz="3200" dirty="0">
                <a:latin typeface="Trebuchet MS"/>
                <a:cs typeface="Trebuchet MS"/>
              </a:rPr>
              <a:t>Does</a:t>
            </a:r>
            <a:r>
              <a:rPr sz="3200" spc="-40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nothing</a:t>
            </a:r>
            <a:endParaRPr sz="3200">
              <a:latin typeface="Trebuchet MS"/>
              <a:cs typeface="Trebuchet MS"/>
            </a:endParaRPr>
          </a:p>
          <a:p>
            <a:pPr marL="360045" indent="-347345">
              <a:spcBef>
                <a:spcPts val="630"/>
              </a:spcBef>
              <a:buFont typeface="Arial"/>
              <a:buChar char="•"/>
              <a:tabLst>
                <a:tab pos="360045" algn="l"/>
              </a:tabLst>
            </a:pPr>
            <a:r>
              <a:rPr sz="3200" spc="-20" dirty="0">
                <a:latin typeface="Trebuchet MS"/>
                <a:cs typeface="Trebuchet MS"/>
              </a:rPr>
              <a:t>0x90</a:t>
            </a:r>
            <a:endParaRPr sz="3200">
              <a:latin typeface="Trebuchet MS"/>
              <a:cs typeface="Trebuchet MS"/>
            </a:endParaRPr>
          </a:p>
          <a:p>
            <a:pPr marL="360045" indent="-347345">
              <a:spcBef>
                <a:spcPts val="660"/>
              </a:spcBef>
              <a:buFont typeface="Arial"/>
              <a:buChar char="•"/>
              <a:tabLst>
                <a:tab pos="360045" algn="l"/>
              </a:tabLst>
            </a:pPr>
            <a:r>
              <a:rPr sz="3200" dirty="0">
                <a:latin typeface="Trebuchet MS"/>
                <a:cs typeface="Trebuchet MS"/>
              </a:rPr>
              <a:t>Commonly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used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as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a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b="1" dirty="0">
                <a:latin typeface="Trebuchet MS"/>
                <a:cs typeface="Trebuchet MS"/>
              </a:rPr>
              <a:t>NOP</a:t>
            </a:r>
            <a:r>
              <a:rPr sz="3200" b="1" spc="-110" dirty="0">
                <a:latin typeface="Trebuchet MS"/>
                <a:cs typeface="Trebuchet MS"/>
              </a:rPr>
              <a:t> </a:t>
            </a:r>
            <a:r>
              <a:rPr sz="3200" b="1" spc="-20" dirty="0">
                <a:latin typeface="Trebuchet MS"/>
                <a:cs typeface="Trebuchet MS"/>
              </a:rPr>
              <a:t>Sled</a:t>
            </a:r>
            <a:endParaRPr sz="3200">
              <a:latin typeface="Trebuchet MS"/>
              <a:cs typeface="Trebuchet MS"/>
            </a:endParaRPr>
          </a:p>
          <a:p>
            <a:pPr marL="360680" marR="5080" indent="-347980">
              <a:lnSpc>
                <a:spcPts val="3700"/>
              </a:lnSpc>
              <a:spcBef>
                <a:spcPts val="900"/>
              </a:spcBef>
              <a:buFont typeface="Arial"/>
              <a:buChar char="•"/>
              <a:tabLst>
                <a:tab pos="360680" algn="l"/>
              </a:tabLst>
            </a:pPr>
            <a:r>
              <a:rPr sz="3200" dirty="0">
                <a:latin typeface="Trebuchet MS"/>
                <a:cs typeface="Trebuchet MS"/>
              </a:rPr>
              <a:t>Allows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attackers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to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run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code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even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if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-20" dirty="0">
                <a:latin typeface="Trebuchet MS"/>
                <a:cs typeface="Trebuchet MS"/>
              </a:rPr>
              <a:t>they </a:t>
            </a:r>
            <a:r>
              <a:rPr sz="3200" dirty="0">
                <a:latin typeface="Trebuchet MS"/>
                <a:cs typeface="Trebuchet MS"/>
              </a:rPr>
              <a:t>are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imprecise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about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jumping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to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-25" dirty="0">
                <a:latin typeface="Trebuchet MS"/>
                <a:cs typeface="Trebuchet MS"/>
              </a:rPr>
              <a:t>it</a:t>
            </a:r>
            <a:endParaRPr sz="3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864101" y="469900"/>
            <a:ext cx="2470785" cy="695960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15060" algn="l"/>
              </a:tabLst>
            </a:pPr>
            <a:r>
              <a:rPr spc="-25" dirty="0"/>
              <a:t>The</a:t>
            </a:r>
            <a:r>
              <a:rPr dirty="0"/>
              <a:t>	</a:t>
            </a:r>
            <a:r>
              <a:rPr spc="-10" dirty="0"/>
              <a:t>Stack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14219" y="1616964"/>
            <a:ext cx="8120380" cy="428053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347980" marR="131445" indent="-335280">
              <a:lnSpc>
                <a:spcPts val="3700"/>
              </a:lnSpc>
              <a:spcBef>
                <a:spcPts val="305"/>
              </a:spcBef>
              <a:buFont typeface="Arial"/>
              <a:buChar char="•"/>
              <a:tabLst>
                <a:tab pos="347980" algn="l"/>
              </a:tabLst>
            </a:pPr>
            <a:r>
              <a:rPr sz="3150" dirty="0">
                <a:latin typeface="Trebuchet MS"/>
                <a:cs typeface="Trebuchet MS"/>
              </a:rPr>
              <a:t>Memory</a:t>
            </a:r>
            <a:r>
              <a:rPr sz="3150" spc="-10" dirty="0">
                <a:latin typeface="Trebuchet MS"/>
                <a:cs typeface="Trebuchet MS"/>
              </a:rPr>
              <a:t> </a:t>
            </a:r>
            <a:r>
              <a:rPr sz="3150" dirty="0">
                <a:latin typeface="Trebuchet MS"/>
                <a:cs typeface="Trebuchet MS"/>
              </a:rPr>
              <a:t>for</a:t>
            </a:r>
            <a:r>
              <a:rPr sz="3150" spc="-5" dirty="0">
                <a:latin typeface="Trebuchet MS"/>
                <a:cs typeface="Trebuchet MS"/>
              </a:rPr>
              <a:t> </a:t>
            </a:r>
            <a:r>
              <a:rPr sz="3150" dirty="0">
                <a:latin typeface="Trebuchet MS"/>
                <a:cs typeface="Trebuchet MS"/>
              </a:rPr>
              <a:t>functions,</a:t>
            </a:r>
            <a:r>
              <a:rPr sz="3150" spc="-5" dirty="0">
                <a:latin typeface="Trebuchet MS"/>
                <a:cs typeface="Trebuchet MS"/>
              </a:rPr>
              <a:t> </a:t>
            </a:r>
            <a:r>
              <a:rPr sz="3150" dirty="0">
                <a:latin typeface="Trebuchet MS"/>
                <a:cs typeface="Trebuchet MS"/>
              </a:rPr>
              <a:t>local</a:t>
            </a:r>
            <a:r>
              <a:rPr sz="3150" spc="-10" dirty="0">
                <a:latin typeface="Trebuchet MS"/>
                <a:cs typeface="Trebuchet MS"/>
              </a:rPr>
              <a:t> </a:t>
            </a:r>
            <a:r>
              <a:rPr sz="3150" dirty="0">
                <a:latin typeface="Trebuchet MS"/>
                <a:cs typeface="Trebuchet MS"/>
              </a:rPr>
              <a:t>variables,</a:t>
            </a:r>
            <a:r>
              <a:rPr sz="3150" spc="-10" dirty="0">
                <a:latin typeface="Trebuchet MS"/>
                <a:cs typeface="Trebuchet MS"/>
              </a:rPr>
              <a:t> </a:t>
            </a:r>
            <a:r>
              <a:rPr sz="3150" spc="-25" dirty="0">
                <a:latin typeface="Trebuchet MS"/>
                <a:cs typeface="Trebuchet MS"/>
              </a:rPr>
              <a:t>and </a:t>
            </a:r>
            <a:r>
              <a:rPr sz="3150" dirty="0">
                <a:latin typeface="Trebuchet MS"/>
                <a:cs typeface="Trebuchet MS"/>
              </a:rPr>
              <a:t>flow</a:t>
            </a:r>
            <a:r>
              <a:rPr sz="3150" spc="-10" dirty="0">
                <a:latin typeface="Trebuchet MS"/>
                <a:cs typeface="Trebuchet MS"/>
              </a:rPr>
              <a:t> control</a:t>
            </a:r>
            <a:endParaRPr sz="3150">
              <a:latin typeface="Trebuchet MS"/>
              <a:cs typeface="Trebuchet MS"/>
            </a:endParaRPr>
          </a:p>
          <a:p>
            <a:pPr marL="347345" indent="-334645">
              <a:spcBef>
                <a:spcPts val="509"/>
              </a:spcBef>
              <a:buFont typeface="Arial"/>
              <a:buChar char="•"/>
              <a:tabLst>
                <a:tab pos="347345" algn="l"/>
              </a:tabLst>
            </a:pPr>
            <a:r>
              <a:rPr sz="3150" dirty="0">
                <a:latin typeface="Trebuchet MS"/>
                <a:cs typeface="Trebuchet MS"/>
              </a:rPr>
              <a:t>Last</a:t>
            </a:r>
            <a:r>
              <a:rPr sz="3150" spc="-5" dirty="0">
                <a:latin typeface="Trebuchet MS"/>
                <a:cs typeface="Trebuchet MS"/>
              </a:rPr>
              <a:t> </a:t>
            </a:r>
            <a:r>
              <a:rPr sz="3150" dirty="0">
                <a:latin typeface="Trebuchet MS"/>
                <a:cs typeface="Trebuchet MS"/>
              </a:rPr>
              <a:t>in, First</a:t>
            </a:r>
            <a:r>
              <a:rPr sz="3150" spc="-5" dirty="0">
                <a:latin typeface="Trebuchet MS"/>
                <a:cs typeface="Trebuchet MS"/>
              </a:rPr>
              <a:t> </a:t>
            </a:r>
            <a:r>
              <a:rPr sz="3150" spc="-25" dirty="0">
                <a:latin typeface="Trebuchet MS"/>
                <a:cs typeface="Trebuchet MS"/>
              </a:rPr>
              <a:t>out</a:t>
            </a:r>
            <a:endParaRPr sz="3150">
              <a:latin typeface="Trebuchet MS"/>
              <a:cs typeface="Trebuchet MS"/>
            </a:endParaRPr>
          </a:p>
          <a:p>
            <a:pPr marL="347345" indent="-334645">
              <a:spcBef>
                <a:spcPts val="720"/>
              </a:spcBef>
              <a:buFont typeface="Arial"/>
              <a:buChar char="•"/>
              <a:tabLst>
                <a:tab pos="347345" algn="l"/>
              </a:tabLst>
            </a:pPr>
            <a:r>
              <a:rPr sz="3150" dirty="0">
                <a:latin typeface="Trebuchet MS"/>
                <a:cs typeface="Trebuchet MS"/>
              </a:rPr>
              <a:t>ESP</a:t>
            </a:r>
            <a:r>
              <a:rPr sz="3150" spc="-95" dirty="0">
                <a:latin typeface="Trebuchet MS"/>
                <a:cs typeface="Trebuchet MS"/>
              </a:rPr>
              <a:t> </a:t>
            </a:r>
            <a:r>
              <a:rPr sz="3150" dirty="0">
                <a:latin typeface="Trebuchet MS"/>
                <a:cs typeface="Trebuchet MS"/>
              </a:rPr>
              <a:t>(Extended</a:t>
            </a:r>
            <a:r>
              <a:rPr sz="3150" spc="-20" dirty="0">
                <a:latin typeface="Trebuchet MS"/>
                <a:cs typeface="Trebuchet MS"/>
              </a:rPr>
              <a:t> </a:t>
            </a:r>
            <a:r>
              <a:rPr sz="3150" dirty="0">
                <a:latin typeface="Trebuchet MS"/>
                <a:cs typeface="Trebuchet MS"/>
              </a:rPr>
              <a:t>Stack</a:t>
            </a:r>
            <a:r>
              <a:rPr sz="3150" spc="-25" dirty="0">
                <a:latin typeface="Trebuchet MS"/>
                <a:cs typeface="Trebuchet MS"/>
              </a:rPr>
              <a:t> </a:t>
            </a:r>
            <a:r>
              <a:rPr sz="3150" dirty="0">
                <a:latin typeface="Trebuchet MS"/>
                <a:cs typeface="Trebuchet MS"/>
              </a:rPr>
              <a:t>Pointer)</a:t>
            </a:r>
            <a:r>
              <a:rPr sz="3150" spc="-25" dirty="0">
                <a:latin typeface="Trebuchet MS"/>
                <a:cs typeface="Trebuchet MS"/>
              </a:rPr>
              <a:t> </a:t>
            </a:r>
            <a:r>
              <a:rPr sz="3150" dirty="0">
                <a:latin typeface="Trebuchet MS"/>
                <a:cs typeface="Trebuchet MS"/>
              </a:rPr>
              <a:t>–</a:t>
            </a:r>
            <a:r>
              <a:rPr sz="3150" spc="-20" dirty="0">
                <a:latin typeface="Trebuchet MS"/>
                <a:cs typeface="Trebuchet MS"/>
              </a:rPr>
              <a:t> </a:t>
            </a:r>
            <a:r>
              <a:rPr sz="3150" dirty="0">
                <a:latin typeface="Trebuchet MS"/>
                <a:cs typeface="Trebuchet MS"/>
              </a:rPr>
              <a:t>top</a:t>
            </a:r>
            <a:r>
              <a:rPr sz="3150" spc="-25" dirty="0">
                <a:latin typeface="Trebuchet MS"/>
                <a:cs typeface="Trebuchet MS"/>
              </a:rPr>
              <a:t> </a:t>
            </a:r>
            <a:r>
              <a:rPr sz="3150" dirty="0">
                <a:latin typeface="Trebuchet MS"/>
                <a:cs typeface="Trebuchet MS"/>
              </a:rPr>
              <a:t>of</a:t>
            </a:r>
            <a:r>
              <a:rPr sz="3150" spc="-20" dirty="0">
                <a:latin typeface="Trebuchet MS"/>
                <a:cs typeface="Trebuchet MS"/>
              </a:rPr>
              <a:t> </a:t>
            </a:r>
            <a:r>
              <a:rPr sz="3150" spc="-10" dirty="0">
                <a:latin typeface="Trebuchet MS"/>
                <a:cs typeface="Trebuchet MS"/>
              </a:rPr>
              <a:t>stack</a:t>
            </a:r>
            <a:endParaRPr sz="3150">
              <a:latin typeface="Trebuchet MS"/>
              <a:cs typeface="Trebuchet MS"/>
            </a:endParaRPr>
          </a:p>
          <a:p>
            <a:pPr marL="347980" marR="463550" indent="-335280">
              <a:lnSpc>
                <a:spcPts val="3679"/>
              </a:lnSpc>
              <a:spcBef>
                <a:spcPts val="844"/>
              </a:spcBef>
              <a:buFont typeface="Arial"/>
              <a:buChar char="•"/>
              <a:tabLst>
                <a:tab pos="347980" algn="l"/>
              </a:tabLst>
            </a:pPr>
            <a:r>
              <a:rPr sz="3150" dirty="0">
                <a:latin typeface="Trebuchet MS"/>
                <a:cs typeface="Trebuchet MS"/>
              </a:rPr>
              <a:t>EBP</a:t>
            </a:r>
            <a:r>
              <a:rPr sz="3150" spc="-90" dirty="0">
                <a:latin typeface="Trebuchet MS"/>
                <a:cs typeface="Trebuchet MS"/>
              </a:rPr>
              <a:t> </a:t>
            </a:r>
            <a:r>
              <a:rPr sz="3150" dirty="0">
                <a:latin typeface="Trebuchet MS"/>
                <a:cs typeface="Trebuchet MS"/>
              </a:rPr>
              <a:t>(Extended</a:t>
            </a:r>
            <a:r>
              <a:rPr sz="3150" spc="-30" dirty="0">
                <a:latin typeface="Trebuchet MS"/>
                <a:cs typeface="Trebuchet MS"/>
              </a:rPr>
              <a:t> </a:t>
            </a:r>
            <a:r>
              <a:rPr sz="3150" dirty="0">
                <a:latin typeface="Trebuchet MS"/>
                <a:cs typeface="Trebuchet MS"/>
              </a:rPr>
              <a:t>Base</a:t>
            </a:r>
            <a:r>
              <a:rPr sz="3150" spc="-25" dirty="0">
                <a:latin typeface="Trebuchet MS"/>
                <a:cs typeface="Trebuchet MS"/>
              </a:rPr>
              <a:t> </a:t>
            </a:r>
            <a:r>
              <a:rPr sz="3150" dirty="0">
                <a:latin typeface="Trebuchet MS"/>
                <a:cs typeface="Trebuchet MS"/>
              </a:rPr>
              <a:t>Pointer)</a:t>
            </a:r>
            <a:r>
              <a:rPr sz="3150" spc="-30" dirty="0">
                <a:latin typeface="Trebuchet MS"/>
                <a:cs typeface="Trebuchet MS"/>
              </a:rPr>
              <a:t> </a:t>
            </a:r>
            <a:r>
              <a:rPr sz="3150" dirty="0">
                <a:latin typeface="Trebuchet MS"/>
                <a:cs typeface="Trebuchet MS"/>
              </a:rPr>
              <a:t>–</a:t>
            </a:r>
            <a:r>
              <a:rPr sz="3150" spc="-30" dirty="0">
                <a:latin typeface="Trebuchet MS"/>
                <a:cs typeface="Trebuchet MS"/>
              </a:rPr>
              <a:t> </a:t>
            </a:r>
            <a:r>
              <a:rPr sz="3150" dirty="0">
                <a:latin typeface="Trebuchet MS"/>
                <a:cs typeface="Trebuchet MS"/>
              </a:rPr>
              <a:t>bottom</a:t>
            </a:r>
            <a:r>
              <a:rPr sz="3150" spc="-25" dirty="0">
                <a:latin typeface="Trebuchet MS"/>
                <a:cs typeface="Trebuchet MS"/>
              </a:rPr>
              <a:t> of </a:t>
            </a:r>
            <a:r>
              <a:rPr sz="3150" spc="-10" dirty="0">
                <a:latin typeface="Trebuchet MS"/>
                <a:cs typeface="Trebuchet MS"/>
              </a:rPr>
              <a:t>stack</a:t>
            </a:r>
            <a:endParaRPr sz="3150">
              <a:latin typeface="Trebuchet MS"/>
              <a:cs typeface="Trebuchet MS"/>
            </a:endParaRPr>
          </a:p>
          <a:p>
            <a:pPr marL="347345" indent="-334645">
              <a:spcBef>
                <a:spcPts val="615"/>
              </a:spcBef>
              <a:buFont typeface="Arial"/>
              <a:buChar char="•"/>
              <a:tabLst>
                <a:tab pos="347345" algn="l"/>
              </a:tabLst>
            </a:pPr>
            <a:r>
              <a:rPr sz="3150" dirty="0">
                <a:latin typeface="Trebuchet MS"/>
                <a:cs typeface="Trebuchet MS"/>
              </a:rPr>
              <a:t>PUSH</a:t>
            </a:r>
            <a:r>
              <a:rPr sz="3150" spc="-15" dirty="0">
                <a:latin typeface="Trebuchet MS"/>
                <a:cs typeface="Trebuchet MS"/>
              </a:rPr>
              <a:t> </a:t>
            </a:r>
            <a:r>
              <a:rPr sz="3150" dirty="0">
                <a:latin typeface="Trebuchet MS"/>
                <a:cs typeface="Trebuchet MS"/>
              </a:rPr>
              <a:t>puts</a:t>
            </a:r>
            <a:r>
              <a:rPr sz="3150" spc="5" dirty="0">
                <a:latin typeface="Trebuchet MS"/>
                <a:cs typeface="Trebuchet MS"/>
              </a:rPr>
              <a:t> </a:t>
            </a:r>
            <a:r>
              <a:rPr sz="3150" dirty="0">
                <a:latin typeface="Trebuchet MS"/>
                <a:cs typeface="Trebuchet MS"/>
              </a:rPr>
              <a:t>data</a:t>
            </a:r>
            <a:r>
              <a:rPr sz="3150" spc="-5" dirty="0">
                <a:latin typeface="Trebuchet MS"/>
                <a:cs typeface="Trebuchet MS"/>
              </a:rPr>
              <a:t> </a:t>
            </a:r>
            <a:r>
              <a:rPr sz="3150" dirty="0">
                <a:latin typeface="Trebuchet MS"/>
                <a:cs typeface="Trebuchet MS"/>
              </a:rPr>
              <a:t>on the </a:t>
            </a:r>
            <a:r>
              <a:rPr sz="3150" spc="-10" dirty="0">
                <a:latin typeface="Trebuchet MS"/>
                <a:cs typeface="Trebuchet MS"/>
              </a:rPr>
              <a:t>stack</a:t>
            </a:r>
            <a:endParaRPr sz="3150">
              <a:latin typeface="Trebuchet MS"/>
              <a:cs typeface="Trebuchet MS"/>
            </a:endParaRPr>
          </a:p>
          <a:p>
            <a:pPr marL="347345" indent="-334645">
              <a:spcBef>
                <a:spcPts val="720"/>
              </a:spcBef>
              <a:buFont typeface="Arial"/>
              <a:buChar char="•"/>
              <a:tabLst>
                <a:tab pos="347345" algn="l"/>
              </a:tabLst>
            </a:pPr>
            <a:r>
              <a:rPr sz="3150" dirty="0">
                <a:latin typeface="Trebuchet MS"/>
                <a:cs typeface="Trebuchet MS"/>
              </a:rPr>
              <a:t>POP</a:t>
            </a:r>
            <a:r>
              <a:rPr sz="3150" spc="-70" dirty="0">
                <a:latin typeface="Trebuchet MS"/>
                <a:cs typeface="Trebuchet MS"/>
              </a:rPr>
              <a:t> </a:t>
            </a:r>
            <a:r>
              <a:rPr sz="3150" dirty="0">
                <a:latin typeface="Trebuchet MS"/>
                <a:cs typeface="Trebuchet MS"/>
              </a:rPr>
              <a:t>takes data</a:t>
            </a:r>
            <a:r>
              <a:rPr sz="3150" spc="5" dirty="0">
                <a:latin typeface="Trebuchet MS"/>
                <a:cs typeface="Trebuchet MS"/>
              </a:rPr>
              <a:t> </a:t>
            </a:r>
            <a:r>
              <a:rPr sz="3150" dirty="0">
                <a:latin typeface="Trebuchet MS"/>
                <a:cs typeface="Trebuchet MS"/>
              </a:rPr>
              <a:t>off</a:t>
            </a:r>
            <a:r>
              <a:rPr sz="3150" spc="-5" dirty="0">
                <a:latin typeface="Trebuchet MS"/>
                <a:cs typeface="Trebuchet MS"/>
              </a:rPr>
              <a:t> </a:t>
            </a:r>
            <a:r>
              <a:rPr sz="3150" dirty="0">
                <a:latin typeface="Trebuchet MS"/>
                <a:cs typeface="Trebuchet MS"/>
              </a:rPr>
              <a:t>the</a:t>
            </a:r>
            <a:r>
              <a:rPr sz="3150" spc="5" dirty="0">
                <a:latin typeface="Trebuchet MS"/>
                <a:cs typeface="Trebuchet MS"/>
              </a:rPr>
              <a:t> </a:t>
            </a:r>
            <a:r>
              <a:rPr sz="3150" spc="-10" dirty="0">
                <a:latin typeface="Trebuchet MS"/>
                <a:cs typeface="Trebuchet MS"/>
              </a:rPr>
              <a:t>stack</a:t>
            </a:r>
            <a:endParaRPr sz="31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362200" y="682940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041400">
              <a:lnSpc>
                <a:spcPct val="100000"/>
              </a:lnSpc>
              <a:spcBef>
                <a:spcPts val="100"/>
              </a:spcBef>
            </a:pPr>
            <a:r>
              <a:rPr dirty="0"/>
              <a:t>Other</a:t>
            </a:r>
            <a:r>
              <a:rPr spc="-80" dirty="0"/>
              <a:t> </a:t>
            </a:r>
            <a:r>
              <a:rPr dirty="0"/>
              <a:t>Stack</a:t>
            </a:r>
            <a:r>
              <a:rPr spc="-80" dirty="0"/>
              <a:t> </a:t>
            </a:r>
            <a:r>
              <a:rPr spc="-10" dirty="0"/>
              <a:t>Instructions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14219" y="1526956"/>
            <a:ext cx="3856354" cy="207518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360045" indent="-347345">
              <a:spcBef>
                <a:spcPts val="705"/>
              </a:spcBef>
              <a:buFont typeface="Arial"/>
              <a:buChar char="•"/>
              <a:tabLst>
                <a:tab pos="360045" algn="l"/>
              </a:tabLst>
            </a:pPr>
            <a:r>
              <a:rPr sz="3200" spc="-165" dirty="0">
                <a:latin typeface="Trebuchet MS"/>
                <a:cs typeface="Trebuchet MS"/>
              </a:rPr>
              <a:t>To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enter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a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function</a:t>
            </a:r>
            <a:endParaRPr sz="3200">
              <a:latin typeface="Trebuchet MS"/>
              <a:cs typeface="Trebuchet MS"/>
            </a:endParaRPr>
          </a:p>
          <a:p>
            <a:pPr marL="469265">
              <a:spcBef>
                <a:spcPts val="530"/>
              </a:spcBef>
            </a:pPr>
            <a:r>
              <a:rPr sz="2800" dirty="0">
                <a:latin typeface="Arial"/>
                <a:cs typeface="Arial"/>
              </a:rPr>
              <a:t>–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dirty="0">
                <a:latin typeface="Trebuchet MS"/>
                <a:cs typeface="Trebuchet MS"/>
              </a:rPr>
              <a:t>Call</a:t>
            </a:r>
            <a:r>
              <a:rPr sz="2800" spc="-3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or</a:t>
            </a:r>
            <a:r>
              <a:rPr sz="2800" spc="-30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Enter</a:t>
            </a:r>
            <a:endParaRPr sz="2800">
              <a:latin typeface="Trebuchet MS"/>
              <a:cs typeface="Trebuchet MS"/>
            </a:endParaRPr>
          </a:p>
          <a:p>
            <a:pPr marL="469265" indent="-457200">
              <a:spcBef>
                <a:spcPts val="540"/>
              </a:spcBef>
            </a:pPr>
            <a:r>
              <a:rPr sz="2800" dirty="0">
                <a:latin typeface="Arial"/>
                <a:cs typeface="Arial"/>
              </a:rPr>
              <a:t>–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150" dirty="0">
                <a:latin typeface="Trebuchet MS"/>
                <a:cs typeface="Trebuchet MS"/>
              </a:rPr>
              <a:t>To</a:t>
            </a:r>
            <a:r>
              <a:rPr sz="2800" spc="-2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exit</a:t>
            </a:r>
            <a:r>
              <a:rPr sz="2800" spc="-2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</a:t>
            </a:r>
            <a:r>
              <a:rPr sz="2800" spc="-2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function</a:t>
            </a:r>
            <a:endParaRPr sz="2800">
              <a:latin typeface="Trebuchet MS"/>
              <a:cs typeface="Trebuchet MS"/>
            </a:endParaRPr>
          </a:p>
          <a:p>
            <a:pPr marL="469265">
              <a:spcBef>
                <a:spcPts val="540"/>
              </a:spcBef>
            </a:pPr>
            <a:r>
              <a:rPr sz="2800" dirty="0">
                <a:latin typeface="Arial"/>
                <a:cs typeface="Arial"/>
              </a:rPr>
              <a:t>–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dirty="0">
                <a:latin typeface="Trebuchet MS"/>
                <a:cs typeface="Trebuchet MS"/>
              </a:rPr>
              <a:t>Leave</a:t>
            </a:r>
            <a:r>
              <a:rPr sz="2800" spc="-1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or</a:t>
            </a:r>
            <a:r>
              <a:rPr sz="2800" spc="-15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Ret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362200" y="682940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2286000">
              <a:lnSpc>
                <a:spcPct val="100000"/>
              </a:lnSpc>
              <a:spcBef>
                <a:spcPts val="100"/>
              </a:spcBef>
            </a:pPr>
            <a:r>
              <a:rPr dirty="0"/>
              <a:t>Function</a:t>
            </a:r>
            <a:r>
              <a:rPr spc="-60" dirty="0"/>
              <a:t> </a:t>
            </a:r>
            <a:r>
              <a:rPr spc="-10" dirty="0"/>
              <a:t>Calls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14219" y="1603951"/>
            <a:ext cx="7962900" cy="4335145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360680" marR="742315" indent="-347980">
              <a:lnSpc>
                <a:spcPts val="3370"/>
              </a:lnSpc>
              <a:spcBef>
                <a:spcPts val="605"/>
              </a:spcBef>
              <a:buFont typeface="Arial"/>
              <a:buChar char="•"/>
              <a:tabLst>
                <a:tab pos="360680" algn="l"/>
              </a:tabLst>
            </a:pPr>
            <a:r>
              <a:rPr sz="3200" dirty="0">
                <a:latin typeface="Trebuchet MS"/>
                <a:cs typeface="Trebuchet MS"/>
              </a:rPr>
              <a:t>Small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programs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that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do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one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thing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-25" dirty="0">
                <a:latin typeface="Trebuchet MS"/>
                <a:cs typeface="Trebuchet MS"/>
              </a:rPr>
              <a:t>and </a:t>
            </a:r>
            <a:r>
              <a:rPr sz="3200" dirty="0">
                <a:latin typeface="Trebuchet MS"/>
                <a:cs typeface="Trebuchet MS"/>
              </a:rPr>
              <a:t>return,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like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printf()</a:t>
            </a:r>
            <a:endParaRPr sz="3200" dirty="0">
              <a:latin typeface="Trebuchet MS"/>
              <a:cs typeface="Trebuchet MS"/>
            </a:endParaRPr>
          </a:p>
          <a:p>
            <a:pPr marL="360045" indent="-347345">
              <a:spcBef>
                <a:spcPts val="225"/>
              </a:spcBef>
              <a:buFont typeface="Arial"/>
              <a:buChar char="•"/>
              <a:tabLst>
                <a:tab pos="360045" algn="l"/>
              </a:tabLst>
            </a:pPr>
            <a:r>
              <a:rPr sz="3200" spc="-10" dirty="0">
                <a:latin typeface="Trebuchet MS"/>
                <a:cs typeface="Trebuchet MS"/>
              </a:rPr>
              <a:t>Prologue</a:t>
            </a:r>
            <a:endParaRPr sz="3200" dirty="0">
              <a:latin typeface="Trebuchet MS"/>
              <a:cs typeface="Trebuchet MS"/>
            </a:endParaRPr>
          </a:p>
          <a:p>
            <a:pPr marL="753110" marR="217170" lvl="1" indent="-283210">
              <a:lnSpc>
                <a:spcPct val="84800"/>
              </a:lnSpc>
              <a:spcBef>
                <a:spcPts val="670"/>
              </a:spcBef>
              <a:buFont typeface="Arial"/>
              <a:buChar char="–"/>
              <a:tabLst>
                <a:tab pos="754380" algn="l"/>
              </a:tabLst>
            </a:pPr>
            <a:r>
              <a:rPr sz="2800" dirty="0">
                <a:latin typeface="Trebuchet MS"/>
                <a:cs typeface="Trebuchet MS"/>
              </a:rPr>
              <a:t>Instructions</a:t>
            </a:r>
            <a:r>
              <a:rPr sz="2800" spc="-3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at</a:t>
            </a:r>
            <a:r>
              <a:rPr sz="2800" spc="-3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the</a:t>
            </a:r>
            <a:r>
              <a:rPr sz="2800" spc="-3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start</a:t>
            </a:r>
            <a:r>
              <a:rPr sz="2800" spc="-3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of</a:t>
            </a:r>
            <a:r>
              <a:rPr sz="2800" spc="-3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</a:t>
            </a:r>
            <a:r>
              <a:rPr sz="2800" spc="-3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function</a:t>
            </a:r>
            <a:r>
              <a:rPr sz="2800" spc="-35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that 	</a:t>
            </a:r>
            <a:r>
              <a:rPr sz="2800" dirty="0">
                <a:latin typeface="Trebuchet MS"/>
                <a:cs typeface="Trebuchet MS"/>
              </a:rPr>
              <a:t>prepare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stack</a:t>
            </a:r>
            <a:r>
              <a:rPr sz="2800" spc="-3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and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registers</a:t>
            </a:r>
            <a:r>
              <a:rPr sz="2800" spc="-3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for</a:t>
            </a:r>
            <a:r>
              <a:rPr sz="2800" spc="-3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the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function 	</a:t>
            </a:r>
            <a:r>
              <a:rPr sz="2800" dirty="0">
                <a:latin typeface="Trebuchet MS"/>
                <a:cs typeface="Trebuchet MS"/>
              </a:rPr>
              <a:t>to </a:t>
            </a:r>
            <a:r>
              <a:rPr sz="2800" spc="-25" dirty="0">
                <a:latin typeface="Trebuchet MS"/>
                <a:cs typeface="Trebuchet MS"/>
              </a:rPr>
              <a:t>use</a:t>
            </a:r>
            <a:endParaRPr sz="2800" dirty="0">
              <a:latin typeface="Trebuchet MS"/>
              <a:cs typeface="Trebuchet MS"/>
            </a:endParaRPr>
          </a:p>
          <a:p>
            <a:pPr marL="360045" indent="-347345">
              <a:spcBef>
                <a:spcPts val="340"/>
              </a:spcBef>
              <a:buFont typeface="Arial"/>
              <a:buChar char="•"/>
              <a:tabLst>
                <a:tab pos="360045" algn="l"/>
              </a:tabLst>
            </a:pPr>
            <a:r>
              <a:rPr sz="3200" spc="-10" dirty="0">
                <a:latin typeface="Trebuchet MS"/>
                <a:cs typeface="Trebuchet MS"/>
              </a:rPr>
              <a:t>Epilogue</a:t>
            </a:r>
            <a:endParaRPr sz="3200" dirty="0">
              <a:latin typeface="Trebuchet MS"/>
              <a:cs typeface="Trebuchet MS"/>
            </a:endParaRPr>
          </a:p>
          <a:p>
            <a:pPr marL="753110" marR="5080" lvl="1" indent="-283210">
              <a:lnSpc>
                <a:spcPct val="84800"/>
              </a:lnSpc>
              <a:spcBef>
                <a:spcPts val="670"/>
              </a:spcBef>
              <a:buFont typeface="Arial"/>
              <a:buChar char="–"/>
              <a:tabLst>
                <a:tab pos="754380" algn="l"/>
              </a:tabLst>
            </a:pPr>
            <a:r>
              <a:rPr sz="2800" dirty="0">
                <a:latin typeface="Trebuchet MS"/>
                <a:cs typeface="Trebuchet MS"/>
              </a:rPr>
              <a:t>Instructions</a:t>
            </a:r>
            <a:r>
              <a:rPr sz="2800" spc="-2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at</a:t>
            </a:r>
            <a:r>
              <a:rPr sz="2800" spc="-2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the</a:t>
            </a:r>
            <a:r>
              <a:rPr sz="2800" spc="-2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end</a:t>
            </a:r>
            <a:r>
              <a:rPr sz="2800" spc="-1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of</a:t>
            </a:r>
            <a:r>
              <a:rPr sz="2800" spc="-2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</a:t>
            </a:r>
            <a:r>
              <a:rPr sz="2800" spc="-2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function 	</a:t>
            </a:r>
            <a:r>
              <a:rPr sz="2800" dirty="0">
                <a:latin typeface="Trebuchet MS"/>
                <a:cs typeface="Trebuchet MS"/>
              </a:rPr>
              <a:t>that</a:t>
            </a:r>
            <a:r>
              <a:rPr sz="2800" spc="-3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restore</a:t>
            </a:r>
            <a:r>
              <a:rPr sz="2800" spc="-3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the</a:t>
            </a:r>
            <a:r>
              <a:rPr sz="2800" spc="-3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stack</a:t>
            </a:r>
            <a:r>
              <a:rPr sz="2800" spc="-3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and</a:t>
            </a:r>
            <a:r>
              <a:rPr sz="2800" spc="-3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registers</a:t>
            </a:r>
            <a:r>
              <a:rPr sz="2800" spc="-3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to</a:t>
            </a:r>
            <a:r>
              <a:rPr sz="2800" spc="-3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their 	</a:t>
            </a:r>
            <a:r>
              <a:rPr sz="2800" dirty="0">
                <a:latin typeface="Trebuchet MS"/>
                <a:cs typeface="Trebuchet MS"/>
              </a:rPr>
              <a:t>state</a:t>
            </a:r>
            <a:r>
              <a:rPr sz="2800" spc="-4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before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the</a:t>
            </a:r>
            <a:r>
              <a:rPr sz="2800" spc="-4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function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was</a:t>
            </a:r>
            <a:r>
              <a:rPr sz="2800" spc="-4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called</a:t>
            </a:r>
            <a:endParaRPr sz="28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C87B86-1638-67DD-FAE3-20D1F6FF97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2672" y="-44283"/>
            <a:ext cx="6354750" cy="6846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42509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362200" y="682940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25146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Conditionals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14219" y="1526957"/>
            <a:ext cx="7853680" cy="3472179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360045" indent="-347345">
              <a:spcBef>
                <a:spcPts val="705"/>
              </a:spcBef>
              <a:buFont typeface="Arial"/>
              <a:buChar char="•"/>
              <a:tabLst>
                <a:tab pos="360045" algn="l"/>
              </a:tabLst>
            </a:pPr>
            <a:r>
              <a:rPr sz="3200" spc="-20" dirty="0">
                <a:latin typeface="Trebuchet MS"/>
                <a:cs typeface="Trebuchet MS"/>
              </a:rPr>
              <a:t>test</a:t>
            </a:r>
            <a:endParaRPr sz="3200">
              <a:latin typeface="Trebuchet MS"/>
              <a:cs typeface="Trebuchet MS"/>
            </a:endParaRPr>
          </a:p>
          <a:p>
            <a:pPr marL="753110" marR="5080" lvl="1" indent="-283210">
              <a:lnSpc>
                <a:spcPts val="3200"/>
              </a:lnSpc>
              <a:spcBef>
                <a:spcPts val="770"/>
              </a:spcBef>
              <a:buFont typeface="Arial"/>
              <a:buChar char="–"/>
              <a:tabLst>
                <a:tab pos="754380" algn="l"/>
              </a:tabLst>
            </a:pPr>
            <a:r>
              <a:rPr sz="2800" dirty="0">
                <a:latin typeface="Trebuchet MS"/>
                <a:cs typeface="Trebuchet MS"/>
              </a:rPr>
              <a:t>Compares</a:t>
            </a:r>
            <a:r>
              <a:rPr sz="2800" spc="-4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two</a:t>
            </a:r>
            <a:r>
              <a:rPr sz="2800" spc="-4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values</a:t>
            </a:r>
            <a:r>
              <a:rPr sz="2800" spc="-4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the</a:t>
            </a:r>
            <a:r>
              <a:rPr sz="2800" spc="-4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way</a:t>
            </a:r>
            <a:r>
              <a:rPr sz="2800" spc="-19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AND</a:t>
            </a:r>
            <a:r>
              <a:rPr sz="2800" spc="-4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does,</a:t>
            </a:r>
            <a:r>
              <a:rPr sz="2800" spc="-50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but 	</a:t>
            </a:r>
            <a:r>
              <a:rPr sz="2800" dirty="0">
                <a:latin typeface="Trebuchet MS"/>
                <a:cs typeface="Trebuchet MS"/>
              </a:rPr>
              <a:t>does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not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alter</a:t>
            </a:r>
            <a:r>
              <a:rPr sz="2800" spc="-35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them</a:t>
            </a:r>
            <a:endParaRPr sz="2800">
              <a:latin typeface="Trebuchet MS"/>
              <a:cs typeface="Trebuchet MS"/>
            </a:endParaRPr>
          </a:p>
          <a:p>
            <a:pPr marL="752475" lvl="1" indent="-283210">
              <a:spcBef>
                <a:spcPts val="459"/>
              </a:spcBef>
              <a:buFont typeface="Arial"/>
              <a:buChar char="–"/>
              <a:tabLst>
                <a:tab pos="752475" algn="l"/>
              </a:tabLst>
            </a:pPr>
            <a:r>
              <a:rPr sz="2800" dirty="0">
                <a:latin typeface="Trebuchet MS"/>
                <a:cs typeface="Trebuchet MS"/>
              </a:rPr>
              <a:t>test</a:t>
            </a:r>
            <a:r>
              <a:rPr sz="2800" spc="-3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eax,</a:t>
            </a:r>
            <a:r>
              <a:rPr sz="2800" spc="-25" dirty="0">
                <a:latin typeface="Trebuchet MS"/>
                <a:cs typeface="Trebuchet MS"/>
              </a:rPr>
              <a:t> eax</a:t>
            </a:r>
            <a:endParaRPr sz="2800">
              <a:latin typeface="Trebuchet MS"/>
              <a:cs typeface="Trebuchet MS"/>
            </a:endParaRPr>
          </a:p>
          <a:p>
            <a:pPr marL="1159510" lvl="2" indent="-232410">
              <a:spcBef>
                <a:spcPts val="470"/>
              </a:spcBef>
              <a:buFont typeface="Arial"/>
              <a:buChar char="•"/>
              <a:tabLst>
                <a:tab pos="1159510" algn="l"/>
              </a:tabLst>
            </a:pPr>
            <a:r>
              <a:rPr sz="3600" baseline="1157" dirty="0">
                <a:latin typeface="Trebuchet MS"/>
                <a:cs typeface="Trebuchet MS"/>
              </a:rPr>
              <a:t>Sets</a:t>
            </a:r>
            <a:r>
              <a:rPr sz="3600" spc="-37" baseline="1157" dirty="0">
                <a:latin typeface="Trebuchet MS"/>
                <a:cs typeface="Trebuchet MS"/>
              </a:rPr>
              <a:t> </a:t>
            </a:r>
            <a:r>
              <a:rPr sz="3600" baseline="1157" dirty="0">
                <a:latin typeface="Trebuchet MS"/>
                <a:cs typeface="Trebuchet MS"/>
              </a:rPr>
              <a:t>Zero</a:t>
            </a:r>
            <a:r>
              <a:rPr sz="3600" spc="-37" baseline="1157" dirty="0">
                <a:latin typeface="Trebuchet MS"/>
                <a:cs typeface="Trebuchet MS"/>
              </a:rPr>
              <a:t> </a:t>
            </a:r>
            <a:r>
              <a:rPr sz="3600" baseline="1157" dirty="0">
                <a:latin typeface="Trebuchet MS"/>
                <a:cs typeface="Trebuchet MS"/>
              </a:rPr>
              <a:t>Flag</a:t>
            </a:r>
            <a:r>
              <a:rPr sz="3600" spc="-37" baseline="1157" dirty="0">
                <a:latin typeface="Trebuchet MS"/>
                <a:cs typeface="Trebuchet MS"/>
              </a:rPr>
              <a:t> </a:t>
            </a:r>
            <a:r>
              <a:rPr sz="3600" baseline="1157" dirty="0">
                <a:latin typeface="Trebuchet MS"/>
                <a:cs typeface="Trebuchet MS"/>
              </a:rPr>
              <a:t>if</a:t>
            </a:r>
            <a:r>
              <a:rPr sz="3600" spc="-37" baseline="1157" dirty="0">
                <a:latin typeface="Trebuchet MS"/>
                <a:cs typeface="Trebuchet MS"/>
              </a:rPr>
              <a:t> </a:t>
            </a:r>
            <a:r>
              <a:rPr sz="3600" baseline="1157" dirty="0">
                <a:latin typeface="Trebuchet MS"/>
                <a:cs typeface="Trebuchet MS"/>
              </a:rPr>
              <a:t>eax</a:t>
            </a:r>
            <a:r>
              <a:rPr sz="3600" spc="-37" baseline="1157" dirty="0">
                <a:latin typeface="Trebuchet MS"/>
                <a:cs typeface="Trebuchet MS"/>
              </a:rPr>
              <a:t> </a:t>
            </a:r>
            <a:r>
              <a:rPr sz="3600" baseline="1157" dirty="0">
                <a:latin typeface="Trebuchet MS"/>
                <a:cs typeface="Trebuchet MS"/>
              </a:rPr>
              <a:t>is</a:t>
            </a:r>
            <a:r>
              <a:rPr sz="3600" spc="-37" baseline="1157" dirty="0">
                <a:latin typeface="Trebuchet MS"/>
                <a:cs typeface="Trebuchet MS"/>
              </a:rPr>
              <a:t> </a:t>
            </a:r>
            <a:r>
              <a:rPr sz="3600" spc="-30" baseline="1157" dirty="0">
                <a:latin typeface="Trebuchet MS"/>
                <a:cs typeface="Trebuchet MS"/>
              </a:rPr>
              <a:t>zero</a:t>
            </a:r>
            <a:endParaRPr sz="3600" baseline="1157">
              <a:latin typeface="Trebuchet MS"/>
              <a:cs typeface="Trebuchet MS"/>
            </a:endParaRPr>
          </a:p>
          <a:p>
            <a:pPr marL="360045" indent="-347345">
              <a:spcBef>
                <a:spcPts val="610"/>
              </a:spcBef>
              <a:buFont typeface="Arial"/>
              <a:buChar char="•"/>
              <a:tabLst>
                <a:tab pos="360045" algn="l"/>
              </a:tabLst>
            </a:pPr>
            <a:r>
              <a:rPr sz="3200" dirty="0">
                <a:latin typeface="Trebuchet MS"/>
                <a:cs typeface="Trebuchet MS"/>
              </a:rPr>
              <a:t>cmp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eax,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spc="-25" dirty="0">
                <a:latin typeface="Trebuchet MS"/>
                <a:cs typeface="Trebuchet MS"/>
              </a:rPr>
              <a:t>ebx</a:t>
            </a:r>
            <a:endParaRPr sz="3200">
              <a:latin typeface="Trebuchet MS"/>
              <a:cs typeface="Trebuchet MS"/>
            </a:endParaRPr>
          </a:p>
          <a:p>
            <a:pPr marL="752475" lvl="1" indent="-283210">
              <a:spcBef>
                <a:spcPts val="540"/>
              </a:spcBef>
              <a:buFont typeface="Arial"/>
              <a:buChar char="–"/>
              <a:tabLst>
                <a:tab pos="752475" algn="l"/>
              </a:tabLst>
            </a:pPr>
            <a:r>
              <a:rPr sz="2800" dirty="0">
                <a:latin typeface="Trebuchet MS"/>
                <a:cs typeface="Trebuchet MS"/>
              </a:rPr>
              <a:t>Sets</a:t>
            </a:r>
            <a:r>
              <a:rPr sz="2800" spc="-3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Zero</a:t>
            </a:r>
            <a:r>
              <a:rPr sz="2800" spc="-3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Flag</a:t>
            </a:r>
            <a:r>
              <a:rPr sz="2800" spc="-3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if</a:t>
            </a:r>
            <a:r>
              <a:rPr sz="2800" spc="-2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the</a:t>
            </a:r>
            <a:r>
              <a:rPr sz="2800" spc="-3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arguments</a:t>
            </a:r>
            <a:r>
              <a:rPr sz="2800" spc="-3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are</a:t>
            </a:r>
            <a:r>
              <a:rPr sz="2800" spc="-3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equal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362200" y="682940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28194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Branching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14220" y="1526956"/>
            <a:ext cx="6859905" cy="214249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360045" indent="-347345">
              <a:spcBef>
                <a:spcPts val="705"/>
              </a:spcBef>
              <a:buFont typeface="Arial"/>
              <a:buChar char="•"/>
              <a:tabLst>
                <a:tab pos="360045" algn="l"/>
              </a:tabLst>
            </a:pPr>
            <a:r>
              <a:rPr sz="3200" dirty="0">
                <a:latin typeface="Trebuchet MS"/>
                <a:cs typeface="Trebuchet MS"/>
              </a:rPr>
              <a:t>jz</a:t>
            </a:r>
            <a:r>
              <a:rPr sz="3200" spc="-30" dirty="0">
                <a:latin typeface="Trebuchet MS"/>
                <a:cs typeface="Trebuchet MS"/>
              </a:rPr>
              <a:t> </a:t>
            </a:r>
            <a:r>
              <a:rPr sz="3200" spc="-25" dirty="0">
                <a:latin typeface="Trebuchet MS"/>
                <a:cs typeface="Trebuchet MS"/>
              </a:rPr>
              <a:t>loc</a:t>
            </a:r>
            <a:endParaRPr sz="3200">
              <a:latin typeface="Trebuchet MS"/>
              <a:cs typeface="Trebuchet MS"/>
            </a:endParaRPr>
          </a:p>
          <a:p>
            <a:pPr marL="752475" lvl="1" indent="-283210">
              <a:spcBef>
                <a:spcPts val="530"/>
              </a:spcBef>
              <a:buFont typeface="Arial"/>
              <a:buChar char="–"/>
              <a:tabLst>
                <a:tab pos="752475" algn="l"/>
              </a:tabLst>
            </a:pPr>
            <a:r>
              <a:rPr sz="2800" dirty="0">
                <a:latin typeface="Trebuchet MS"/>
                <a:cs typeface="Trebuchet MS"/>
              </a:rPr>
              <a:t>Jump</a:t>
            </a:r>
            <a:r>
              <a:rPr sz="2800" spc="-2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to</a:t>
            </a:r>
            <a:r>
              <a:rPr sz="2800" spc="-2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loc</a:t>
            </a:r>
            <a:r>
              <a:rPr sz="2800" spc="-2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if</a:t>
            </a:r>
            <a:r>
              <a:rPr sz="2800" spc="-2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the</a:t>
            </a:r>
            <a:r>
              <a:rPr sz="2800" spc="-2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Zero</a:t>
            </a:r>
            <a:r>
              <a:rPr sz="2800" spc="-2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Flag</a:t>
            </a:r>
            <a:r>
              <a:rPr sz="2800" spc="-2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is</a:t>
            </a:r>
            <a:r>
              <a:rPr sz="2800" spc="-25" dirty="0">
                <a:latin typeface="Trebuchet MS"/>
                <a:cs typeface="Trebuchet MS"/>
              </a:rPr>
              <a:t> set</a:t>
            </a:r>
            <a:endParaRPr sz="2800">
              <a:latin typeface="Trebuchet MS"/>
              <a:cs typeface="Trebuchet MS"/>
            </a:endParaRPr>
          </a:p>
          <a:p>
            <a:pPr marL="360045" indent="-347345">
              <a:spcBef>
                <a:spcPts val="640"/>
              </a:spcBef>
              <a:buFont typeface="Arial"/>
              <a:buChar char="•"/>
              <a:tabLst>
                <a:tab pos="360045" algn="l"/>
              </a:tabLst>
            </a:pPr>
            <a:r>
              <a:rPr sz="3200" dirty="0">
                <a:latin typeface="Trebuchet MS"/>
                <a:cs typeface="Trebuchet MS"/>
              </a:rPr>
              <a:t>jnz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spc="-25" dirty="0">
                <a:latin typeface="Trebuchet MS"/>
                <a:cs typeface="Trebuchet MS"/>
              </a:rPr>
              <a:t>loc</a:t>
            </a:r>
            <a:endParaRPr sz="3200">
              <a:latin typeface="Trebuchet MS"/>
              <a:cs typeface="Trebuchet MS"/>
            </a:endParaRPr>
          </a:p>
          <a:p>
            <a:pPr marL="752475" lvl="1" indent="-283210">
              <a:spcBef>
                <a:spcPts val="495"/>
              </a:spcBef>
              <a:buFont typeface="Arial"/>
              <a:buChar char="–"/>
              <a:tabLst>
                <a:tab pos="752475" algn="l"/>
              </a:tabLst>
            </a:pPr>
            <a:r>
              <a:rPr sz="2800" dirty="0">
                <a:latin typeface="Trebuchet MS"/>
                <a:cs typeface="Trebuchet MS"/>
              </a:rPr>
              <a:t>Jump</a:t>
            </a:r>
            <a:r>
              <a:rPr sz="2800" spc="-2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to</a:t>
            </a:r>
            <a:r>
              <a:rPr sz="2800" spc="-2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loc</a:t>
            </a:r>
            <a:r>
              <a:rPr sz="2800" spc="-2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if</a:t>
            </a:r>
            <a:r>
              <a:rPr sz="2800" spc="-2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the</a:t>
            </a:r>
            <a:r>
              <a:rPr sz="2800" spc="-2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Zero</a:t>
            </a:r>
            <a:r>
              <a:rPr sz="2800" spc="-2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Flag</a:t>
            </a:r>
            <a:r>
              <a:rPr sz="2800" spc="-2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is</a:t>
            </a:r>
            <a:r>
              <a:rPr sz="2800" spc="-2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cleared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1190</Words>
  <Application>Microsoft Office PowerPoint</Application>
  <PresentationFormat>Widescreen</PresentationFormat>
  <Paragraphs>223</Paragraphs>
  <Slides>48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3" baseType="lpstr">
      <vt:lpstr>Aptos</vt:lpstr>
      <vt:lpstr>Aptos Display</vt:lpstr>
      <vt:lpstr>Arial</vt:lpstr>
      <vt:lpstr>Trebuchet MS</vt:lpstr>
      <vt:lpstr>Office Theme</vt:lpstr>
      <vt:lpstr>Disassembly</vt:lpstr>
      <vt:lpstr>Basic Techniques</vt:lpstr>
      <vt:lpstr>Levels of Abstraction</vt:lpstr>
      <vt:lpstr>PowerPoint Presentation</vt:lpstr>
      <vt:lpstr>Six Levels of Abstraction</vt:lpstr>
      <vt:lpstr>Hardware</vt:lpstr>
      <vt:lpstr>Microcode</vt:lpstr>
      <vt:lpstr>Machine code</vt:lpstr>
      <vt:lpstr>Low-level Languages</vt:lpstr>
      <vt:lpstr>High-level Languages</vt:lpstr>
      <vt:lpstr>Interpreted Languages</vt:lpstr>
      <vt:lpstr>Reverse Engineering</vt:lpstr>
      <vt:lpstr>Disassembly</vt:lpstr>
      <vt:lpstr>Assembly Language</vt:lpstr>
      <vt:lpstr>The x86 Architecture</vt:lpstr>
      <vt:lpstr>PowerPoint Presentation</vt:lpstr>
      <vt:lpstr>CPU Components</vt:lpstr>
      <vt:lpstr>Main Memory (RAM)</vt:lpstr>
      <vt:lpstr>Data</vt:lpstr>
      <vt:lpstr>Code</vt:lpstr>
      <vt:lpstr>Heap</vt:lpstr>
      <vt:lpstr>Stack</vt:lpstr>
      <vt:lpstr>Instructions</vt:lpstr>
      <vt:lpstr>Assembly Language Instructions</vt:lpstr>
      <vt:lpstr>Endianness</vt:lpstr>
      <vt:lpstr>IP Addresses</vt:lpstr>
      <vt:lpstr>Operands</vt:lpstr>
      <vt:lpstr>Registers</vt:lpstr>
      <vt:lpstr>Registers</vt:lpstr>
      <vt:lpstr>Size of Registers</vt:lpstr>
      <vt:lpstr>PowerPoint Presentation</vt:lpstr>
      <vt:lpstr>General Registers</vt:lpstr>
      <vt:lpstr>Flags</vt:lpstr>
      <vt:lpstr>Important Flags</vt:lpstr>
      <vt:lpstr>EIP (Extended Instruction Pointer)</vt:lpstr>
      <vt:lpstr>Simple Instructions</vt:lpstr>
      <vt:lpstr>Simple Instructions</vt:lpstr>
      <vt:lpstr>PowerPoint Presentation</vt:lpstr>
      <vt:lpstr>lea (Load Effective Address)</vt:lpstr>
      <vt:lpstr>PowerPoint Presentation</vt:lpstr>
      <vt:lpstr>Arithmetic</vt:lpstr>
      <vt:lpstr>NOP</vt:lpstr>
      <vt:lpstr>The Stack</vt:lpstr>
      <vt:lpstr>Other Stack Instructions</vt:lpstr>
      <vt:lpstr>Function Calls</vt:lpstr>
      <vt:lpstr>PowerPoint Presentation</vt:lpstr>
      <vt:lpstr>Conditionals</vt:lpstr>
      <vt:lpstr>Branching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Modhuparna Manna</dc:creator>
  <cp:lastModifiedBy>Modhuparna Manna</cp:lastModifiedBy>
  <cp:revision>3</cp:revision>
  <dcterms:created xsi:type="dcterms:W3CDTF">2026-03-08T11:23:05Z</dcterms:created>
  <dcterms:modified xsi:type="dcterms:W3CDTF">2026-03-08T11:59:34Z</dcterms:modified>
</cp:coreProperties>
</file>