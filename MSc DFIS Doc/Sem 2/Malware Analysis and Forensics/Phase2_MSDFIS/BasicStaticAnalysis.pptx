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331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0" autoAdjust="0"/>
    <p:restoredTop sz="94660"/>
  </p:normalViewPr>
  <p:slideViewPr>
    <p:cSldViewPr>
      <p:cViewPr varScale="1">
        <p:scale>
          <a:sx n="58" d="100"/>
          <a:sy n="58" d="100"/>
        </p:scale>
        <p:origin x="1354" y="2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66F04-600A-4EC2-AC0E-FF92FAEB101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61123-97CF-47DA-9CD2-9775CD9C0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2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87115" y="2501900"/>
            <a:ext cx="19697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300" y="50800"/>
            <a:ext cx="8144509" cy="1115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219" y="1526956"/>
            <a:ext cx="8021320" cy="4516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2700" y="2501900"/>
            <a:ext cx="65881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Practical</a:t>
            </a:r>
            <a:r>
              <a:rPr spc="-280" dirty="0"/>
              <a:t> </a:t>
            </a:r>
            <a:r>
              <a:rPr spc="-20" dirty="0"/>
              <a:t>Malware</a:t>
            </a:r>
            <a:r>
              <a:rPr spc="-31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6324600"/>
            <a:ext cx="3886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latin typeface="Trebuchet MS"/>
                <a:cs typeface="Trebuchet MS"/>
              </a:rPr>
              <a:t>Slides adapted from Sam Bowne’s lecture notes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E24FD-2DB2-3F72-0092-8944339415EE}"/>
              </a:ext>
            </a:extLst>
          </p:cNvPr>
          <p:cNvSpPr txBox="1"/>
          <p:nvPr/>
        </p:nvSpPr>
        <p:spPr>
          <a:xfrm>
            <a:off x="3429000" y="3352800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Dr. Modhuparna Manna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l" rtl="0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/>
              <a:t>Malicious Code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628650" y="222646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171450" indent="-171450" algn="l" rtl="0">
              <a:lnSpc>
                <a:spcPct val="90000"/>
              </a:lnSpc>
              <a:buClr>
                <a:schemeClr val="dk1"/>
              </a:buClr>
              <a:buSzPts val="2800"/>
              <a:buChar char="•"/>
            </a:pPr>
            <a:r>
              <a:rPr lang="en-US" dirty="0"/>
              <a:t>Malicious code, or </a:t>
            </a:r>
            <a:r>
              <a:rPr lang="en-US" b="1" dirty="0"/>
              <a:t>malware</a:t>
            </a:r>
            <a:r>
              <a:rPr lang="en-US" dirty="0"/>
              <a:t>, refers to software that has been designed for some nefarious purpose.</a:t>
            </a:r>
            <a:endParaRPr dirty="0"/>
          </a:p>
          <a:p>
            <a:pPr marL="171450" indent="-171450"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800"/>
              <a:buChar char="•"/>
            </a:pPr>
            <a:r>
              <a:rPr lang="en-US" dirty="0"/>
              <a:t>Patching of vulnerabilities through regular system and software updates is important as it closes the point of entry for most malware.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9685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Malware</a:t>
            </a:r>
            <a:r>
              <a:rPr spc="-2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6956"/>
            <a:ext cx="6702425" cy="206787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Dissecting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understand</a:t>
            </a:r>
            <a:endParaRPr sz="32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How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works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How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identify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How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defeat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eliminate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Goals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Malware</a:t>
            </a:r>
            <a:r>
              <a:rPr spc="-27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7822565" cy="336502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75057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lang="en-US" sz="3200" dirty="0">
                <a:latin typeface="Trebuchet MS"/>
                <a:cs typeface="Trebuchet MS"/>
              </a:rPr>
              <a:t>In an event of a malware attack:</a:t>
            </a:r>
          </a:p>
          <a:p>
            <a:pPr marL="752475" lvl="1" indent="-283210">
              <a:lnSpc>
                <a:spcPct val="100000"/>
              </a:lnSpc>
              <a:spcBef>
                <a:spcPts val="470"/>
              </a:spcBef>
              <a:buFont typeface="Arial"/>
              <a:buChar char="–"/>
              <a:tabLst>
                <a:tab pos="752475" algn="l"/>
              </a:tabLst>
            </a:pPr>
            <a:r>
              <a:rPr lang="en-IN" sz="2800" dirty="0">
                <a:latin typeface="Trebuchet MS"/>
                <a:cs typeface="Trebuchet MS"/>
              </a:rPr>
              <a:t>Gather information about “e</a:t>
            </a:r>
            <a:r>
              <a:rPr sz="2800" dirty="0" err="1">
                <a:latin typeface="Trebuchet MS"/>
                <a:cs typeface="Trebuchet MS"/>
              </a:rPr>
              <a:t>xactly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happened</a:t>
            </a:r>
            <a:r>
              <a:rPr lang="en-IN" sz="2800" spc="-10" dirty="0">
                <a:latin typeface="Trebuchet MS"/>
                <a:cs typeface="Trebuchet MS"/>
              </a:rPr>
              <a:t>"</a:t>
            </a:r>
            <a:endParaRPr sz="2800" dirty="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780"/>
              </a:spcBef>
              <a:buFont typeface="Arial"/>
              <a:buChar char="–"/>
              <a:tabLst>
                <a:tab pos="754380" algn="l"/>
              </a:tabLst>
            </a:pPr>
            <a:r>
              <a:rPr lang="en-IN" sz="2800" dirty="0">
                <a:latin typeface="Trebuchet MS"/>
                <a:cs typeface="Trebuchet MS"/>
              </a:rPr>
              <a:t>L</a:t>
            </a:r>
            <a:r>
              <a:rPr sz="2800" dirty="0" err="1">
                <a:latin typeface="Trebuchet MS"/>
                <a:cs typeface="Trebuchet MS"/>
              </a:rPr>
              <a:t>ocate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infected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machines 	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files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5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How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measure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contain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damage</a:t>
            </a:r>
            <a:endParaRPr sz="2800" dirty="0">
              <a:latin typeface="Trebuchet MS"/>
              <a:cs typeface="Trebuchet MS"/>
            </a:endParaRPr>
          </a:p>
          <a:p>
            <a:pPr marL="753110" marR="944244" lvl="1" indent="-283210">
              <a:lnSpc>
                <a:spcPts val="3190"/>
              </a:lnSpc>
              <a:spcBef>
                <a:spcPts val="695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Find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signatures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intrusion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detection 	systems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781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Signatures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95400"/>
            <a:ext cx="7672069" cy="3742691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34645" indent="-32194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34645" algn="l"/>
              </a:tabLst>
            </a:pPr>
            <a:r>
              <a:rPr sz="2950" dirty="0">
                <a:latin typeface="Trebuchet MS"/>
                <a:cs typeface="Trebuchet MS"/>
              </a:rPr>
              <a:t>Host-based</a:t>
            </a:r>
            <a:r>
              <a:rPr sz="2950" spc="45" dirty="0">
                <a:latin typeface="Trebuchet MS"/>
                <a:cs typeface="Trebuchet MS"/>
              </a:rPr>
              <a:t> </a:t>
            </a:r>
            <a:r>
              <a:rPr sz="2950" spc="-10" dirty="0">
                <a:latin typeface="Trebuchet MS"/>
                <a:cs typeface="Trebuchet MS"/>
              </a:rPr>
              <a:t>signatures</a:t>
            </a:r>
            <a:r>
              <a:rPr lang="en-IN" sz="2950" spc="-10" dirty="0">
                <a:latin typeface="Trebuchet MS"/>
                <a:cs typeface="Trebuchet MS"/>
              </a:rPr>
              <a:t>: predefined patterns or rules</a:t>
            </a:r>
            <a:endParaRPr sz="2950" dirty="0">
              <a:latin typeface="Trebuchet MS"/>
              <a:cs typeface="Trebuchet MS"/>
            </a:endParaRPr>
          </a:p>
          <a:p>
            <a:pPr marL="741680" marR="887094" lvl="1" indent="-271780">
              <a:lnSpc>
                <a:spcPts val="2960"/>
              </a:lnSpc>
              <a:spcBef>
                <a:spcPts val="780"/>
              </a:spcBef>
              <a:buFont typeface="Arial"/>
              <a:buChar char="–"/>
              <a:tabLst>
                <a:tab pos="741680" algn="l"/>
              </a:tabLst>
            </a:pPr>
            <a:r>
              <a:rPr sz="3900" baseline="1068" dirty="0">
                <a:latin typeface="Trebuchet MS"/>
                <a:cs typeface="Trebuchet MS"/>
              </a:rPr>
              <a:t>Identify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files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or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registry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keys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on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a</a:t>
            </a:r>
            <a:r>
              <a:rPr sz="3900" spc="-37" baseline="1068" dirty="0">
                <a:latin typeface="Trebuchet MS"/>
                <a:cs typeface="Trebuchet MS"/>
              </a:rPr>
              <a:t> </a:t>
            </a:r>
            <a:r>
              <a:rPr sz="3900" spc="-15" baseline="1068" dirty="0">
                <a:latin typeface="Trebuchet MS"/>
                <a:cs typeface="Trebuchet MS"/>
              </a:rPr>
              <a:t>victim </a:t>
            </a:r>
            <a:r>
              <a:rPr sz="2600" dirty="0">
                <a:latin typeface="Trebuchet MS"/>
                <a:cs typeface="Trebuchet MS"/>
              </a:rPr>
              <a:t>computer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that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indicate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infection</a:t>
            </a:r>
            <a:endParaRPr sz="2600" dirty="0">
              <a:latin typeface="Trebuchet MS"/>
              <a:cs typeface="Trebuchet MS"/>
            </a:endParaRPr>
          </a:p>
          <a:p>
            <a:pPr marL="334645" indent="-32194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34645" algn="l"/>
              </a:tabLst>
            </a:pPr>
            <a:r>
              <a:rPr sz="2950" dirty="0">
                <a:latin typeface="Trebuchet MS"/>
                <a:cs typeface="Trebuchet MS"/>
              </a:rPr>
              <a:t>Network</a:t>
            </a:r>
            <a:r>
              <a:rPr sz="2950" spc="-5" dirty="0">
                <a:latin typeface="Trebuchet MS"/>
                <a:cs typeface="Trebuchet MS"/>
              </a:rPr>
              <a:t> </a:t>
            </a:r>
            <a:r>
              <a:rPr sz="2950" spc="-10" dirty="0">
                <a:latin typeface="Trebuchet MS"/>
                <a:cs typeface="Trebuchet MS"/>
              </a:rPr>
              <a:t>signatures</a:t>
            </a:r>
            <a:endParaRPr sz="2950" dirty="0">
              <a:latin typeface="Trebuchet MS"/>
              <a:cs typeface="Trebuchet MS"/>
            </a:endParaRPr>
          </a:p>
          <a:p>
            <a:pPr marL="740410" lvl="1" indent="-271145">
              <a:lnSpc>
                <a:spcPct val="100000"/>
              </a:lnSpc>
              <a:spcBef>
                <a:spcPts val="550"/>
              </a:spcBef>
              <a:buFont typeface="Arial"/>
              <a:buChar char="–"/>
              <a:tabLst>
                <a:tab pos="740410" algn="l"/>
              </a:tabLst>
            </a:pPr>
            <a:r>
              <a:rPr sz="3900" baseline="1068" dirty="0">
                <a:latin typeface="Trebuchet MS"/>
                <a:cs typeface="Trebuchet MS"/>
              </a:rPr>
              <a:t>Detect</a:t>
            </a:r>
            <a:r>
              <a:rPr sz="3900" spc="-60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malware</a:t>
            </a:r>
            <a:r>
              <a:rPr sz="3900" spc="-52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by</a:t>
            </a:r>
            <a:r>
              <a:rPr sz="3900" spc="-52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analyzing</a:t>
            </a:r>
            <a:r>
              <a:rPr sz="3900" spc="-60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network</a:t>
            </a:r>
            <a:r>
              <a:rPr sz="3900" spc="-52" baseline="1068" dirty="0">
                <a:latin typeface="Trebuchet MS"/>
                <a:cs typeface="Trebuchet MS"/>
              </a:rPr>
              <a:t> </a:t>
            </a:r>
            <a:r>
              <a:rPr sz="3900" spc="-15" baseline="1068" dirty="0">
                <a:latin typeface="Trebuchet MS"/>
                <a:cs typeface="Trebuchet MS"/>
              </a:rPr>
              <a:t>traffic</a:t>
            </a:r>
            <a:endParaRPr sz="3900" baseline="1068" dirty="0">
              <a:latin typeface="Trebuchet MS"/>
              <a:cs typeface="Trebuchet MS"/>
            </a:endParaRPr>
          </a:p>
          <a:p>
            <a:pPr marL="741680" marR="702310" lvl="1" indent="-271780">
              <a:lnSpc>
                <a:spcPts val="2930"/>
              </a:lnSpc>
              <a:spcBef>
                <a:spcPts val="760"/>
              </a:spcBef>
              <a:buFont typeface="Arial"/>
              <a:buChar char="–"/>
              <a:tabLst>
                <a:tab pos="741680" algn="l"/>
              </a:tabLst>
            </a:pPr>
            <a:r>
              <a:rPr sz="3900" baseline="1068" dirty="0">
                <a:latin typeface="Trebuchet MS"/>
                <a:cs typeface="Trebuchet MS"/>
              </a:rPr>
              <a:t>More</a:t>
            </a:r>
            <a:r>
              <a:rPr sz="3900" spc="-52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effective</a:t>
            </a:r>
            <a:r>
              <a:rPr sz="3900" spc="-44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when</a:t>
            </a:r>
            <a:r>
              <a:rPr sz="3900" spc="-44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made</a:t>
            </a:r>
            <a:r>
              <a:rPr sz="3900" spc="-44" baseline="1068" dirty="0">
                <a:latin typeface="Trebuchet MS"/>
                <a:cs typeface="Trebuchet MS"/>
              </a:rPr>
              <a:t> </a:t>
            </a:r>
            <a:r>
              <a:rPr sz="3900" baseline="1068" dirty="0">
                <a:latin typeface="Trebuchet MS"/>
                <a:cs typeface="Trebuchet MS"/>
              </a:rPr>
              <a:t>using</a:t>
            </a:r>
            <a:r>
              <a:rPr sz="3900" spc="-44" baseline="1068" dirty="0">
                <a:latin typeface="Trebuchet MS"/>
                <a:cs typeface="Trebuchet MS"/>
              </a:rPr>
              <a:t> </a:t>
            </a:r>
            <a:r>
              <a:rPr sz="3900" spc="-15" baseline="1068" dirty="0">
                <a:latin typeface="Trebuchet MS"/>
                <a:cs typeface="Trebuchet MS"/>
              </a:rPr>
              <a:t>malware </a:t>
            </a:r>
            <a:r>
              <a:rPr sz="2600" spc="-10" dirty="0">
                <a:latin typeface="Trebuchet MS"/>
                <a:cs typeface="Trebuchet MS"/>
              </a:rPr>
              <a:t>analysis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3300" y="2501900"/>
            <a:ext cx="7148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Malware</a:t>
            </a:r>
            <a:r>
              <a:rPr spc="-295" dirty="0"/>
              <a:t> </a:t>
            </a:r>
            <a:r>
              <a:rPr dirty="0"/>
              <a:t>Analysis</a:t>
            </a:r>
            <a:r>
              <a:rPr spc="-120" dirty="0"/>
              <a:t> </a:t>
            </a:r>
            <a:r>
              <a:rPr spc="-520" dirty="0"/>
              <a:t>T</a:t>
            </a:r>
            <a:r>
              <a:rPr spc="30" dirty="0"/>
              <a:t>echniques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46200" y="469900"/>
            <a:ext cx="64427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1790" algn="l"/>
              </a:tabLst>
            </a:pPr>
            <a:r>
              <a:rPr spc="-10" dirty="0"/>
              <a:t>Static</a:t>
            </a:r>
            <a:r>
              <a:rPr dirty="0"/>
              <a:t>	</a:t>
            </a:r>
            <a:r>
              <a:rPr spc="-595" dirty="0"/>
              <a:t>v</a:t>
            </a:r>
            <a:r>
              <a:rPr dirty="0"/>
              <a:t>.</a:t>
            </a:r>
            <a:r>
              <a:rPr spc="-35" dirty="0"/>
              <a:t> </a:t>
            </a:r>
            <a:r>
              <a:rPr dirty="0"/>
              <a:t>Dynamic</a:t>
            </a:r>
            <a:r>
              <a:rPr spc="-28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593"/>
            <a:ext cx="7705090" cy="404726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60045" algn="l"/>
              </a:tabLst>
            </a:pPr>
            <a:r>
              <a:rPr sz="2900" spc="-10" dirty="0">
                <a:latin typeface="Trebuchet MS"/>
                <a:cs typeface="Trebuchet MS"/>
              </a:rPr>
              <a:t>Static</a:t>
            </a:r>
            <a:r>
              <a:rPr sz="2900" spc="-175" dirty="0">
                <a:latin typeface="Trebuchet MS"/>
                <a:cs typeface="Trebuchet MS"/>
              </a:rPr>
              <a:t> </a:t>
            </a:r>
            <a:r>
              <a:rPr sz="2900" spc="-10" dirty="0">
                <a:latin typeface="Trebuchet MS"/>
                <a:cs typeface="Trebuchet MS"/>
              </a:rPr>
              <a:t>Analysis</a:t>
            </a:r>
            <a:endParaRPr sz="2900" dirty="0">
              <a:latin typeface="Trebuchet MS"/>
              <a:cs typeface="Trebuchet MS"/>
            </a:endParaRPr>
          </a:p>
          <a:p>
            <a:pPr marL="754380" lvl="1" indent="-285115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Examines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malware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without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running</a:t>
            </a:r>
            <a:r>
              <a:rPr sz="2500" spc="-25" dirty="0">
                <a:latin typeface="Trebuchet MS"/>
                <a:cs typeface="Trebuchet MS"/>
              </a:rPr>
              <a:t> it</a:t>
            </a:r>
            <a:endParaRPr sz="2500" dirty="0">
              <a:latin typeface="Trebuchet MS"/>
              <a:cs typeface="Trebuchet MS"/>
            </a:endParaRPr>
          </a:p>
          <a:p>
            <a:pPr marL="754380" marR="5080" lvl="1" indent="-284480">
              <a:lnSpc>
                <a:spcPts val="2900"/>
              </a:lnSpc>
              <a:spcBef>
                <a:spcPts val="680"/>
              </a:spcBef>
              <a:buFont typeface="Arial"/>
              <a:buChar char="–"/>
              <a:tabLst>
                <a:tab pos="754380" algn="l"/>
              </a:tabLst>
            </a:pPr>
            <a:r>
              <a:rPr sz="2500" spc="-35" dirty="0">
                <a:latin typeface="Trebuchet MS"/>
                <a:cs typeface="Trebuchet MS"/>
              </a:rPr>
              <a:t>Tools: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VirusTotal,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strings,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disassembler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like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IDA Pro</a:t>
            </a:r>
            <a:endParaRPr sz="2500" dirty="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360045" algn="l"/>
              </a:tabLst>
            </a:pPr>
            <a:r>
              <a:rPr sz="2900" dirty="0">
                <a:latin typeface="Trebuchet MS"/>
                <a:cs typeface="Trebuchet MS"/>
              </a:rPr>
              <a:t>Dynamic</a:t>
            </a:r>
            <a:r>
              <a:rPr sz="2900" spc="-160" dirty="0">
                <a:latin typeface="Trebuchet MS"/>
                <a:cs typeface="Trebuchet MS"/>
              </a:rPr>
              <a:t> </a:t>
            </a:r>
            <a:r>
              <a:rPr sz="2900" spc="-10" dirty="0">
                <a:latin typeface="Trebuchet MS"/>
                <a:cs typeface="Trebuchet MS"/>
              </a:rPr>
              <a:t>Analysis</a:t>
            </a:r>
            <a:endParaRPr sz="2900" dirty="0">
              <a:latin typeface="Trebuchet MS"/>
              <a:cs typeface="Trebuchet MS"/>
            </a:endParaRPr>
          </a:p>
          <a:p>
            <a:pPr marL="754380" lvl="1" indent="-285115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Run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malware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monitor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its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effect</a:t>
            </a:r>
            <a:endParaRPr sz="2500" dirty="0">
              <a:latin typeface="Trebuchet MS"/>
              <a:cs typeface="Trebuchet MS"/>
            </a:endParaRPr>
          </a:p>
          <a:p>
            <a:pPr marL="754380" lvl="1" indent="-285115">
              <a:lnSpc>
                <a:spcPct val="100000"/>
              </a:lnSpc>
              <a:spcBef>
                <a:spcPts val="50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Use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virtual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machine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take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snapshots</a:t>
            </a:r>
            <a:endParaRPr sz="2500" dirty="0">
              <a:latin typeface="Trebuchet MS"/>
              <a:cs typeface="Trebuchet MS"/>
            </a:endParaRPr>
          </a:p>
          <a:p>
            <a:pPr marL="754380" lvl="1" indent="-285115">
              <a:lnSpc>
                <a:spcPts val="2950"/>
              </a:lnSpc>
              <a:spcBef>
                <a:spcPts val="500"/>
              </a:spcBef>
              <a:buFont typeface="Arial"/>
              <a:buChar char="–"/>
              <a:tabLst>
                <a:tab pos="754380" algn="l"/>
              </a:tabLst>
            </a:pPr>
            <a:r>
              <a:rPr sz="2500" spc="-35" dirty="0">
                <a:latin typeface="Trebuchet MS"/>
                <a:cs typeface="Trebuchet MS"/>
              </a:rPr>
              <a:t>Tools: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RegShot,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Process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Monitor,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Process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Hacker,</a:t>
            </a:r>
            <a:endParaRPr sz="2500" dirty="0">
              <a:latin typeface="Trebuchet MS"/>
              <a:cs typeface="Trebuchet MS"/>
            </a:endParaRPr>
          </a:p>
          <a:p>
            <a:pPr marL="754380">
              <a:lnSpc>
                <a:spcPts val="2950"/>
              </a:lnSpc>
            </a:pPr>
            <a:r>
              <a:rPr sz="2500" spc="-10" dirty="0" err="1">
                <a:latin typeface="Trebuchet MS"/>
                <a:cs typeface="Trebuchet MS"/>
              </a:rPr>
              <a:t>CaptureBAT</a:t>
            </a:r>
            <a:endParaRPr sz="2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26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6956"/>
            <a:ext cx="7992109" cy="403097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Basic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static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View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without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looking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instructions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35" dirty="0">
                <a:latin typeface="Trebuchet MS"/>
                <a:cs typeface="Trebuchet MS"/>
              </a:rPr>
              <a:t>Tools: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VirusTotal,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strings</a:t>
            </a:r>
            <a:endParaRPr sz="2800">
              <a:latin typeface="Trebuchet MS"/>
              <a:cs typeface="Trebuchet MS"/>
            </a:endParaRPr>
          </a:p>
          <a:p>
            <a:pPr marL="753110" marR="538480" lvl="1" indent="-283210">
              <a:lnSpc>
                <a:spcPts val="3200"/>
              </a:lnSpc>
              <a:spcBef>
                <a:spcPts val="78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Quick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easy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fails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advanced 	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miss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important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behavior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Basic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dynamic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Easy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requires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safe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test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environment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Not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effective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malware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8161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spc="-27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6956"/>
            <a:ext cx="8155305" cy="394207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Advanced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static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25" dirty="0">
                <a:latin typeface="Trebuchet MS"/>
                <a:cs typeface="Trebuchet MS"/>
              </a:rPr>
              <a:t>Reverse-</a:t>
            </a:r>
            <a:r>
              <a:rPr sz="2800" dirty="0">
                <a:latin typeface="Trebuchet MS"/>
                <a:cs typeface="Trebuchet MS"/>
              </a:rPr>
              <a:t>engineering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with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disassembler</a:t>
            </a:r>
            <a:endParaRPr sz="2800">
              <a:latin typeface="Trebuchet MS"/>
              <a:cs typeface="Trebuchet MS"/>
            </a:endParaRPr>
          </a:p>
          <a:p>
            <a:pPr marL="753110" marR="135890" lvl="1" indent="-283210">
              <a:lnSpc>
                <a:spcPts val="3200"/>
              </a:lnSpc>
              <a:spcBef>
                <a:spcPts val="78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Complex,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requires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understanding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assembly 	</a:t>
            </a:r>
            <a:r>
              <a:rPr sz="2800" spc="-20" dirty="0">
                <a:latin typeface="Trebuchet MS"/>
                <a:cs typeface="Trebuchet MS"/>
              </a:rPr>
              <a:t>code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Advanced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Dynamic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6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Run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code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debugger</a:t>
            </a:r>
            <a:endParaRPr sz="28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775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Examines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internal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state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running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malicious 	executable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97000" y="469900"/>
            <a:ext cx="63417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41800" algn="l"/>
              </a:tabLst>
            </a:pPr>
            <a:r>
              <a:rPr dirty="0"/>
              <a:t>Mass</a:t>
            </a:r>
            <a:r>
              <a:rPr spc="-55" dirty="0"/>
              <a:t> </a:t>
            </a:r>
            <a:r>
              <a:rPr spc="-595" dirty="0"/>
              <a:t>v</a:t>
            </a:r>
            <a:r>
              <a:rPr dirty="0"/>
              <a:t>.</a:t>
            </a:r>
            <a:r>
              <a:rPr spc="-80" dirty="0"/>
              <a:t> </a:t>
            </a:r>
            <a:r>
              <a:rPr spc="-490" dirty="0"/>
              <a:t>T</a:t>
            </a:r>
            <a:r>
              <a:rPr spc="60" dirty="0"/>
              <a:t>ar</a:t>
            </a:r>
            <a:r>
              <a:rPr spc="50" dirty="0"/>
              <a:t>g</a:t>
            </a:r>
            <a:r>
              <a:rPr spc="60" dirty="0"/>
              <a:t>eted</a:t>
            </a:r>
            <a:r>
              <a:rPr dirty="0"/>
              <a:t>	</a:t>
            </a:r>
            <a:r>
              <a:rPr spc="-10" dirty="0"/>
              <a:t>Malware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90219" y="1526956"/>
            <a:ext cx="8021320" cy="405559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/>
              <a:t>Mass</a:t>
            </a:r>
            <a:r>
              <a:rPr sz="3200" spc="-80" dirty="0"/>
              <a:t> </a:t>
            </a:r>
            <a:r>
              <a:rPr sz="3200" spc="-10" dirty="0"/>
              <a:t>malware</a:t>
            </a:r>
            <a:endParaRPr sz="3200" dirty="0"/>
          </a:p>
          <a:p>
            <a:pPr marL="753110" marR="931544" lvl="1" indent="-283210">
              <a:lnSpc>
                <a:spcPts val="3200"/>
              </a:lnSpc>
              <a:spcBef>
                <a:spcPts val="77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Intended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infect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many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machines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as 	</a:t>
            </a:r>
            <a:r>
              <a:rPr sz="2800" spc="-10" dirty="0">
                <a:latin typeface="Trebuchet MS"/>
                <a:cs typeface="Trebuchet MS"/>
              </a:rPr>
              <a:t>possible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5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common</a:t>
            </a:r>
            <a:r>
              <a:rPr sz="2800" spc="-20" dirty="0">
                <a:latin typeface="Trebuchet MS"/>
                <a:cs typeface="Trebuchet MS"/>
              </a:rPr>
              <a:t> type</a:t>
            </a:r>
            <a:endParaRPr sz="2800" dirty="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45" dirty="0"/>
              <a:t>Targeted</a:t>
            </a:r>
            <a:r>
              <a:rPr sz="3200" spc="-175" dirty="0"/>
              <a:t> </a:t>
            </a:r>
            <a:r>
              <a:rPr sz="3200" spc="-10" dirty="0"/>
              <a:t>malware</a:t>
            </a:r>
            <a:endParaRPr sz="3200" dirty="0"/>
          </a:p>
          <a:p>
            <a:pPr marL="752475" lvl="1" indent="-283210">
              <a:lnSpc>
                <a:spcPct val="100000"/>
              </a:lnSpc>
              <a:spcBef>
                <a:spcPts val="465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30" dirty="0">
                <a:latin typeface="Trebuchet MS"/>
                <a:cs typeface="Trebuchet MS"/>
              </a:rPr>
              <a:t>Tailored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specific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target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5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10" dirty="0">
                <a:latin typeface="Trebuchet MS"/>
                <a:cs typeface="Trebuchet MS"/>
              </a:rPr>
              <a:t>Very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difficult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detect,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prevent,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remove</a:t>
            </a:r>
            <a:endParaRPr sz="2800" dirty="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Requires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advanced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analysis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946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4100" dirty="0"/>
              <a:t>General</a:t>
            </a:r>
            <a:r>
              <a:rPr sz="4100" spc="-145" dirty="0"/>
              <a:t> </a:t>
            </a:r>
            <a:r>
              <a:rPr sz="4100" dirty="0"/>
              <a:t>Rules</a:t>
            </a:r>
            <a:r>
              <a:rPr sz="4100" spc="-114" dirty="0"/>
              <a:t> </a:t>
            </a:r>
            <a:r>
              <a:rPr sz="4100" dirty="0"/>
              <a:t>for</a:t>
            </a:r>
            <a:r>
              <a:rPr sz="4100" spc="-114" dirty="0"/>
              <a:t> </a:t>
            </a:r>
            <a:r>
              <a:rPr sz="4100" spc="-20" dirty="0"/>
              <a:t>Malware</a:t>
            </a:r>
            <a:r>
              <a:rPr sz="4100" spc="-290" dirty="0"/>
              <a:t> </a:t>
            </a:r>
            <a:r>
              <a:rPr sz="4100" spc="-10" dirty="0"/>
              <a:t>Analysis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90219" y="1531576"/>
            <a:ext cx="8157845" cy="40982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47345" algn="l"/>
              </a:tabLst>
            </a:pPr>
            <a:r>
              <a:rPr sz="3100" dirty="0">
                <a:latin typeface="Trebuchet MS"/>
                <a:cs typeface="Trebuchet MS"/>
              </a:rPr>
              <a:t>Don’t</a:t>
            </a:r>
            <a:r>
              <a:rPr sz="3100" spc="4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Get</a:t>
            </a:r>
            <a:r>
              <a:rPr sz="3100" spc="5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Caught</a:t>
            </a:r>
            <a:r>
              <a:rPr sz="3100" spc="4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in</a:t>
            </a:r>
            <a:r>
              <a:rPr sz="3100" spc="5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Details</a:t>
            </a:r>
            <a:endParaRPr sz="31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750" spc="-75" dirty="0">
                <a:latin typeface="Trebuchet MS"/>
                <a:cs typeface="Trebuchet MS"/>
              </a:rPr>
              <a:t>You</a:t>
            </a:r>
            <a:r>
              <a:rPr sz="2750" spc="-6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don’t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need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understand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100%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of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the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code</a:t>
            </a:r>
            <a:endParaRPr sz="275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2475" algn="l"/>
              </a:tabLst>
            </a:pPr>
            <a:r>
              <a:rPr sz="2750" dirty="0">
                <a:latin typeface="Trebuchet MS"/>
                <a:cs typeface="Trebuchet MS"/>
              </a:rPr>
              <a:t>Focus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on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key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features</a:t>
            </a:r>
            <a:endParaRPr sz="2750">
              <a:latin typeface="Trebuchet MS"/>
              <a:cs typeface="Trebuchet MS"/>
            </a:endParaRPr>
          </a:p>
          <a:p>
            <a:pPr marL="347345" indent="-334645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347345" algn="l"/>
              </a:tabLst>
            </a:pPr>
            <a:r>
              <a:rPr sz="3100" spc="-35" dirty="0">
                <a:latin typeface="Trebuchet MS"/>
                <a:cs typeface="Trebuchet MS"/>
              </a:rPr>
              <a:t>Try</a:t>
            </a:r>
            <a:r>
              <a:rPr sz="3100" spc="-4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Several</a:t>
            </a:r>
            <a:r>
              <a:rPr sz="3100" spc="-10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Tools</a:t>
            </a:r>
            <a:endParaRPr sz="31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615"/>
              </a:spcBef>
              <a:buFont typeface="Arial"/>
              <a:buChar char="–"/>
              <a:tabLst>
                <a:tab pos="752475" algn="l"/>
              </a:tabLst>
            </a:pPr>
            <a:r>
              <a:rPr sz="2750" dirty="0">
                <a:latin typeface="Trebuchet MS"/>
                <a:cs typeface="Trebuchet MS"/>
              </a:rPr>
              <a:t>If</a:t>
            </a:r>
            <a:r>
              <a:rPr sz="2750" spc="-5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one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tool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fails,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try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another</a:t>
            </a:r>
            <a:endParaRPr sz="275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2475" algn="l"/>
              </a:tabLst>
            </a:pPr>
            <a:r>
              <a:rPr sz="2750" dirty="0">
                <a:latin typeface="Trebuchet MS"/>
                <a:cs typeface="Trebuchet MS"/>
              </a:rPr>
              <a:t>Don’t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get</a:t>
            </a:r>
            <a:r>
              <a:rPr sz="2750" spc="-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stuck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on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hard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issue,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move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along</a:t>
            </a:r>
            <a:endParaRPr sz="2750">
              <a:latin typeface="Trebuchet MS"/>
              <a:cs typeface="Trebuchet MS"/>
            </a:endParaRPr>
          </a:p>
          <a:p>
            <a:pPr marL="347980" marR="191770" indent="-335280">
              <a:lnSpc>
                <a:spcPts val="3600"/>
              </a:lnSpc>
              <a:spcBef>
                <a:spcPts val="850"/>
              </a:spcBef>
              <a:buFont typeface="Arial"/>
              <a:buChar char="•"/>
              <a:tabLst>
                <a:tab pos="347980" algn="l"/>
              </a:tabLst>
            </a:pPr>
            <a:r>
              <a:rPr sz="3100" dirty="0">
                <a:latin typeface="Trebuchet MS"/>
                <a:cs typeface="Trebuchet MS"/>
              </a:rPr>
              <a:t>Malware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authors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are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constantly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raising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the bar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2438400"/>
            <a:ext cx="6906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927350" algn="l"/>
              </a:tabLst>
            </a:pPr>
            <a:r>
              <a:rPr lang="en-IN" spc="-20" dirty="0"/>
              <a:t>         </a:t>
            </a:r>
            <a:r>
              <a:rPr spc="-20" dirty="0"/>
              <a:t>Basic</a:t>
            </a:r>
            <a:r>
              <a:rPr dirty="0"/>
              <a:t>	Static</a:t>
            </a:r>
            <a:r>
              <a:rPr spc="-330" dirty="0"/>
              <a:t> </a:t>
            </a:r>
            <a:r>
              <a:rPr spc="-10" dirty="0"/>
              <a:t>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705100">
              <a:lnSpc>
                <a:spcPct val="100000"/>
              </a:lnSpc>
              <a:spcBef>
                <a:spcPts val="100"/>
              </a:spcBef>
            </a:pPr>
            <a:r>
              <a:rPr spc="-550" dirty="0"/>
              <a:t>T</a:t>
            </a:r>
            <a:r>
              <a:rPr dirty="0"/>
              <a:t>echniqu</a:t>
            </a:r>
            <a:r>
              <a:rPr spc="-5" dirty="0"/>
              <a:t>e</a:t>
            </a:r>
            <a:r>
              <a:rPr spc="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352030" cy="173291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Antivirus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scanning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Hashes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file’s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strings,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functions,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headers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73300" y="2501900"/>
            <a:ext cx="4586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Antivirus</a:t>
            </a:r>
            <a:r>
              <a:rPr spc="-75" dirty="0"/>
              <a:t> </a:t>
            </a:r>
            <a:r>
              <a:rPr spc="-10" dirty="0"/>
              <a:t>Scanning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0"/>
              </a:spcBef>
            </a:pPr>
            <a:r>
              <a:rPr dirty="0"/>
              <a:t>Only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spc="-20" dirty="0"/>
              <a:t>Step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7898765" cy="205421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319405" indent="-347980" algn="just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easily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change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signature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fool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antivirus</a:t>
            </a:r>
            <a:endParaRPr sz="3200" dirty="0">
              <a:latin typeface="Trebuchet MS"/>
              <a:cs typeface="Trebuchet MS"/>
            </a:endParaRPr>
          </a:p>
          <a:p>
            <a:pPr marL="360680" marR="5080" indent="-347980" algn="just">
              <a:lnSpc>
                <a:spcPct val="105500"/>
              </a:lnSpc>
              <a:spcBef>
                <a:spcPts val="359"/>
              </a:spcBef>
              <a:buFont typeface="Arial"/>
              <a:buChar char="•"/>
              <a:tabLst>
                <a:tab pos="360680" algn="l"/>
              </a:tabLst>
            </a:pPr>
            <a:r>
              <a:rPr sz="3200" spc="-40" dirty="0">
                <a:latin typeface="Trebuchet MS"/>
                <a:cs typeface="Trebuchet MS"/>
              </a:rPr>
              <a:t>VirusTotal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convenient,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using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may </a:t>
            </a:r>
            <a:r>
              <a:rPr sz="3200" dirty="0">
                <a:latin typeface="Trebuchet MS"/>
                <a:cs typeface="Trebuchet MS"/>
              </a:rPr>
              <a:t>alert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attackers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they’ve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caught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8736" y="4414837"/>
            <a:ext cx="6143625" cy="2333625"/>
            <a:chOff x="1328736" y="4414837"/>
            <a:chExt cx="6143625" cy="2333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3699" y="4648199"/>
              <a:ext cx="5283200" cy="1955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3499" y="4419599"/>
              <a:ext cx="6134100" cy="2324100"/>
            </a:xfrm>
            <a:custGeom>
              <a:avLst/>
              <a:gdLst/>
              <a:ahLst/>
              <a:cxnLst/>
              <a:rect l="l" t="t" r="r" b="b"/>
              <a:pathLst>
                <a:path w="6134100" h="2324100">
                  <a:moveTo>
                    <a:pt x="0" y="0"/>
                  </a:moveTo>
                  <a:lnTo>
                    <a:pt x="6134100" y="0"/>
                  </a:lnTo>
                  <a:lnTo>
                    <a:pt x="61341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7900" y="3886200"/>
            <a:ext cx="46577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fingerprint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213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Hashes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840980" cy="399605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MD5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SHA-</a:t>
            </a:r>
            <a:r>
              <a:rPr sz="3200" spc="-50" dirty="0"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  <a:p>
            <a:pPr marL="360680" marR="507365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Condenses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any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size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down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a </a:t>
            </a:r>
            <a:r>
              <a:rPr sz="3200" spc="-20" dirty="0">
                <a:latin typeface="Trebuchet MS"/>
                <a:cs typeface="Trebuchet MS"/>
              </a:rPr>
              <a:t>fixed-</a:t>
            </a:r>
            <a:r>
              <a:rPr sz="3200" dirty="0">
                <a:latin typeface="Trebuchet MS"/>
                <a:cs typeface="Trebuchet MS"/>
              </a:rPr>
              <a:t>length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fingerprint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Uniquely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identifies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well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practice</a:t>
            </a:r>
            <a:endParaRPr sz="3200">
              <a:latin typeface="Trebuchet MS"/>
              <a:cs typeface="Trebuchet MS"/>
            </a:endParaRPr>
          </a:p>
          <a:p>
            <a:pPr marL="753110" marR="490220" lvl="1" indent="-283210">
              <a:lnSpc>
                <a:spcPts val="3170"/>
              </a:lnSpc>
              <a:spcBef>
                <a:spcPts val="75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There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MD5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collisions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they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25" dirty="0">
                <a:latin typeface="Trebuchet MS"/>
                <a:cs typeface="Trebuchet MS"/>
              </a:rPr>
              <a:t> not 	</a:t>
            </a:r>
            <a:r>
              <a:rPr sz="2800" spc="-10" dirty="0">
                <a:latin typeface="Trebuchet MS"/>
                <a:cs typeface="Trebuchet MS"/>
              </a:rPr>
              <a:t>common</a:t>
            </a:r>
            <a:endParaRPr sz="2800">
              <a:latin typeface="Trebuchet MS"/>
              <a:cs typeface="Trebuchet MS"/>
            </a:endParaRPr>
          </a:p>
          <a:p>
            <a:pPr marL="753110" marR="214629" lvl="1" indent="-283210">
              <a:lnSpc>
                <a:spcPts val="3200"/>
              </a:lnSpc>
              <a:spcBef>
                <a:spcPts val="71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Collision: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two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different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files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with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same 	hash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946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HashCalc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1600200"/>
            <a:ext cx="76581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832100">
              <a:lnSpc>
                <a:spcPct val="100000"/>
              </a:lnSpc>
              <a:spcBef>
                <a:spcPts val="100"/>
              </a:spcBef>
            </a:pPr>
            <a:r>
              <a:rPr dirty="0"/>
              <a:t>Hash</a:t>
            </a:r>
            <a:r>
              <a:rPr spc="-10" dirty="0"/>
              <a:t> </a:t>
            </a:r>
            <a:r>
              <a:rPr spc="-20" dirty="0"/>
              <a:t>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845425" cy="26727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Label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file</a:t>
            </a:r>
            <a:endParaRPr sz="3200">
              <a:latin typeface="Trebuchet MS"/>
              <a:cs typeface="Trebuchet MS"/>
            </a:endParaRPr>
          </a:p>
          <a:p>
            <a:pPr marL="360680" marR="683260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Share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hash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with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other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analysts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identify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Search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hash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online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if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someone </a:t>
            </a:r>
            <a:r>
              <a:rPr sz="3200" dirty="0">
                <a:latin typeface="Trebuchet MS"/>
                <a:cs typeface="Trebuchet MS"/>
              </a:rPr>
              <a:t>else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already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identified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file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30500" y="2501900"/>
            <a:ext cx="3687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</a:t>
            </a:r>
            <a:r>
              <a:rPr spc="-55" dirty="0"/>
              <a:t> </a:t>
            </a:r>
            <a:r>
              <a:rPr spc="-10" dirty="0"/>
              <a:t>Strings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238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7914005" cy="367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345">
              <a:lnSpc>
                <a:spcPts val="3754"/>
              </a:lnSpc>
              <a:spcBef>
                <a:spcPts val="10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Any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sequence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printable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characters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360680">
              <a:lnSpc>
                <a:spcPts val="3754"/>
              </a:lnSpc>
            </a:pPr>
            <a:r>
              <a:rPr sz="3200" b="1" spc="-10" dirty="0">
                <a:latin typeface="Trebuchet MS"/>
                <a:cs typeface="Trebuchet MS"/>
              </a:rPr>
              <a:t>string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Strings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terminated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null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(0x00)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ASCII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characters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8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bits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long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Now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called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ANSI</a:t>
            </a:r>
            <a:endParaRPr sz="2800">
              <a:latin typeface="Trebuchet MS"/>
              <a:cs typeface="Trebuchet MS"/>
            </a:endParaRPr>
          </a:p>
          <a:p>
            <a:pPr marL="360045" indent="-34798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0045" algn="l"/>
                <a:tab pos="469265" algn="l"/>
              </a:tabLst>
            </a:pPr>
            <a:r>
              <a:rPr sz="3200" dirty="0">
                <a:latin typeface="Trebuchet MS"/>
                <a:cs typeface="Trebuchet MS"/>
              </a:rPr>
              <a:t>Unicode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characters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16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bits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long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Microsoft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calls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them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"wide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characters"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5637" y="947737"/>
            <a:ext cx="5102225" cy="2155825"/>
            <a:chOff x="1925637" y="947737"/>
            <a:chExt cx="5102225" cy="2155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0600" y="1206499"/>
              <a:ext cx="4495800" cy="1803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30400" y="952499"/>
              <a:ext cx="5092700" cy="2146300"/>
            </a:xfrm>
            <a:custGeom>
              <a:avLst/>
              <a:gdLst/>
              <a:ahLst/>
              <a:cxnLst/>
              <a:rect l="l" t="t" r="r" b="b"/>
              <a:pathLst>
                <a:path w="5092700" h="2146300">
                  <a:moveTo>
                    <a:pt x="0" y="0"/>
                  </a:moveTo>
                  <a:lnTo>
                    <a:pt x="5092699" y="0"/>
                  </a:lnTo>
                  <a:lnTo>
                    <a:pt x="5092699" y="2146300"/>
                  </a:lnTo>
                  <a:lnTo>
                    <a:pt x="0" y="21463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00137" y="3690937"/>
            <a:ext cx="7045325" cy="2016125"/>
            <a:chOff x="1100137" y="3690937"/>
            <a:chExt cx="7045325" cy="2016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3797299"/>
              <a:ext cx="6578600" cy="177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04900" y="3695700"/>
              <a:ext cx="7035800" cy="2006600"/>
            </a:xfrm>
            <a:custGeom>
              <a:avLst/>
              <a:gdLst/>
              <a:ahLst/>
              <a:cxnLst/>
              <a:rect l="l" t="t" r="r" b="b"/>
              <a:pathLst>
                <a:path w="7035800" h="2006600">
                  <a:moveTo>
                    <a:pt x="0" y="0"/>
                  </a:moveTo>
                  <a:lnTo>
                    <a:pt x="7035799" y="0"/>
                  </a:lnTo>
                  <a:lnTo>
                    <a:pt x="7035799" y="2006599"/>
                  </a:lnTo>
                  <a:lnTo>
                    <a:pt x="0" y="20065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6900" y="469900"/>
            <a:ext cx="5405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spc="-25" dirty="0"/>
              <a:t>The</a:t>
            </a:r>
            <a:r>
              <a:rPr dirty="0"/>
              <a:t>	strings</a:t>
            </a:r>
            <a:r>
              <a:rPr spc="-35" dirty="0"/>
              <a:t> </a:t>
            </a:r>
            <a:r>
              <a:rPr spc="-10" dirty="0"/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6622415" cy="204671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12827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Native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Linux,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also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available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for </a:t>
            </a:r>
            <a:r>
              <a:rPr sz="3200" spc="-10" dirty="0">
                <a:latin typeface="Trebuchet MS"/>
                <a:cs typeface="Trebuchet MS"/>
              </a:rPr>
              <a:t>Windows</a:t>
            </a:r>
            <a:endParaRPr sz="3200" dirty="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1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Finds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all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strings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lang="en-IN" sz="3200" spc="-35" dirty="0">
                <a:latin typeface="Trebuchet MS"/>
                <a:cs typeface="Trebuchet MS"/>
              </a:rPr>
              <a:t>which are </a:t>
            </a:r>
            <a:r>
              <a:rPr sz="3200" dirty="0">
                <a:latin typeface="Trebuchet MS"/>
                <a:cs typeface="Trebuchet MS"/>
              </a:rPr>
              <a:t>3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more </a:t>
            </a:r>
            <a:r>
              <a:rPr sz="3200" dirty="0">
                <a:latin typeface="Trebuchet MS"/>
                <a:cs typeface="Trebuchet MS"/>
              </a:rPr>
              <a:t>characters</a:t>
            </a:r>
            <a:r>
              <a:rPr sz="3200" spc="-15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long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6900" y="469900"/>
            <a:ext cx="5405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spc="-25" dirty="0"/>
              <a:t>The</a:t>
            </a:r>
            <a:r>
              <a:rPr dirty="0"/>
              <a:t>	strings</a:t>
            </a:r>
            <a:r>
              <a:rPr spc="-35" dirty="0"/>
              <a:t> </a:t>
            </a:r>
            <a:r>
              <a:rPr spc="-10" dirty="0"/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386320" cy="4082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Bold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items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ignored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GetLayout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SetLayout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Windows functions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ts val="3770"/>
              </a:lnSpc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GDI32.DLL</a:t>
            </a:r>
            <a:endParaRPr sz="3200">
              <a:latin typeface="Trebuchet MS"/>
              <a:cs typeface="Trebuchet MS"/>
            </a:endParaRPr>
          </a:p>
          <a:p>
            <a:pPr marL="360680" marR="5477510">
              <a:lnSpc>
                <a:spcPts val="3700"/>
              </a:lnSpc>
              <a:spcBef>
                <a:spcPts val="170"/>
              </a:spcBef>
            </a:pP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a </a:t>
            </a:r>
            <a:r>
              <a:rPr sz="3200" spc="-10" dirty="0">
                <a:latin typeface="Trebuchet MS"/>
                <a:cs typeface="Trebuchet MS"/>
              </a:rPr>
              <a:t>Dynamic </a:t>
            </a:r>
            <a:r>
              <a:rPr sz="3200" spc="-20" dirty="0">
                <a:latin typeface="Trebuchet MS"/>
                <a:cs typeface="Trebuchet MS"/>
              </a:rPr>
              <a:t>Link </a:t>
            </a:r>
            <a:r>
              <a:rPr sz="3200" spc="-10" dirty="0">
                <a:latin typeface="Trebuchet MS"/>
                <a:cs typeface="Trebuchet MS"/>
              </a:rPr>
              <a:t>Library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40037" y="2827336"/>
            <a:ext cx="5254625" cy="3298825"/>
            <a:chOff x="2840037" y="2827336"/>
            <a:chExt cx="5254625" cy="3298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7199" y="2959100"/>
              <a:ext cx="4775200" cy="30861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4800" y="2832099"/>
              <a:ext cx="5245100" cy="3289300"/>
            </a:xfrm>
            <a:custGeom>
              <a:avLst/>
              <a:gdLst/>
              <a:ahLst/>
              <a:cxnLst/>
              <a:rect l="l" t="t" r="r" b="b"/>
              <a:pathLst>
                <a:path w="5245100" h="3289300">
                  <a:moveTo>
                    <a:pt x="0" y="0"/>
                  </a:moveTo>
                  <a:lnTo>
                    <a:pt x="5245099" y="0"/>
                  </a:lnTo>
                  <a:lnTo>
                    <a:pt x="5245099" y="3289300"/>
                  </a:lnTo>
                  <a:lnTo>
                    <a:pt x="0" y="32893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0">
              <a:lnSpc>
                <a:spcPct val="100000"/>
              </a:lnSpc>
              <a:spcBef>
                <a:spcPts val="100"/>
              </a:spcBef>
            </a:pPr>
            <a:r>
              <a:rPr dirty="0"/>
              <a:t>B</a:t>
            </a:r>
            <a:r>
              <a:rPr spc="5" dirty="0"/>
              <a:t>in</a:t>
            </a:r>
            <a:r>
              <a:rPr spc="-545" dirty="0"/>
              <a:t>T</a:t>
            </a:r>
            <a:r>
              <a:rPr spc="5" dirty="0"/>
              <a:t>e</a:t>
            </a:r>
            <a:r>
              <a:rPr spc="-5" dirty="0"/>
              <a:t>xt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117600"/>
            <a:ext cx="7099300" cy="4483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38300" y="2171700"/>
            <a:ext cx="5860415" cy="13436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92300" marR="5080" indent="-1879600">
              <a:lnSpc>
                <a:spcPts val="5100"/>
              </a:lnSpc>
              <a:spcBef>
                <a:spcPts val="380"/>
              </a:spcBef>
              <a:tabLst>
                <a:tab pos="1934210" algn="l"/>
                <a:tab pos="3013075" algn="l"/>
              </a:tabLst>
            </a:pPr>
            <a:r>
              <a:rPr spc="-10" dirty="0"/>
              <a:t>Packed</a:t>
            </a:r>
            <a:r>
              <a:rPr dirty="0"/>
              <a:t>	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Obfuscated Malware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8800" y="101600"/>
            <a:ext cx="2934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Packing</a:t>
            </a:r>
            <a:r>
              <a:rPr sz="4000" spc="-240" dirty="0"/>
              <a:t> </a:t>
            </a:r>
            <a:r>
              <a:rPr sz="4000" spc="-20" dirty="0"/>
              <a:t>Files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0219" y="965413"/>
            <a:ext cx="7658734" cy="23190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0045" algn="l"/>
                <a:tab pos="5185410" algn="l"/>
              </a:tabLst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code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compressed,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like</a:t>
            </a:r>
            <a:r>
              <a:rPr sz="2800" dirty="0">
                <a:latin typeface="Trebuchet MS"/>
                <a:cs typeface="Trebuchet MS"/>
              </a:rPr>
              <a:t>	Zip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file</a:t>
            </a:r>
            <a:endParaRPr sz="2800">
              <a:latin typeface="Trebuchet MS"/>
              <a:cs typeface="Trebuchet MS"/>
            </a:endParaRPr>
          </a:p>
          <a:p>
            <a:pPr marL="360680" marR="1098550" indent="-347980">
              <a:lnSpc>
                <a:spcPts val="3200"/>
              </a:lnSpc>
              <a:spcBef>
                <a:spcPts val="755"/>
              </a:spcBef>
              <a:buFont typeface="Arial"/>
              <a:buChar char="•"/>
              <a:tabLst>
                <a:tab pos="360680" algn="l"/>
              </a:tabLst>
            </a:pPr>
            <a:r>
              <a:rPr sz="2800" dirty="0">
                <a:latin typeface="Trebuchet MS"/>
                <a:cs typeface="Trebuchet MS"/>
              </a:rPr>
              <a:t>This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makes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strings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instructions unreadable</a:t>
            </a:r>
            <a:endParaRPr sz="28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200"/>
              </a:lnSpc>
              <a:spcBef>
                <a:spcPts val="700"/>
              </a:spcBef>
              <a:buFont typeface="Arial"/>
              <a:buChar char="•"/>
              <a:tabLst>
                <a:tab pos="360680" algn="l"/>
              </a:tabLst>
            </a:pP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you'll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wrapper</a:t>
            </a:r>
            <a:r>
              <a:rPr sz="2800" b="1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–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small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code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 </a:t>
            </a:r>
            <a:r>
              <a:rPr sz="2800" dirty="0">
                <a:latin typeface="Trebuchet MS"/>
                <a:cs typeface="Trebuchet MS"/>
              </a:rPr>
              <a:t>unpacks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file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when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run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44637" y="3627437"/>
            <a:ext cx="5915025" cy="2778125"/>
            <a:chOff x="1544637" y="3627437"/>
            <a:chExt cx="5915025" cy="2778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3700" y="3708400"/>
              <a:ext cx="5435600" cy="2514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49400" y="3632199"/>
              <a:ext cx="5905500" cy="2768600"/>
            </a:xfrm>
            <a:custGeom>
              <a:avLst/>
              <a:gdLst/>
              <a:ahLst/>
              <a:cxnLst/>
              <a:rect l="l" t="t" r="r" b="b"/>
              <a:pathLst>
                <a:path w="5905500" h="2768600">
                  <a:moveTo>
                    <a:pt x="0" y="0"/>
                  </a:moveTo>
                  <a:lnTo>
                    <a:pt x="5905499" y="0"/>
                  </a:lnTo>
                  <a:lnTo>
                    <a:pt x="5905499" y="2768600"/>
                  </a:lnTo>
                  <a:lnTo>
                    <a:pt x="0" y="276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dirty="0"/>
              <a:t>Detecting</a:t>
            </a:r>
            <a:r>
              <a:rPr spc="-165" dirty="0"/>
              <a:t> </a:t>
            </a:r>
            <a:r>
              <a:rPr dirty="0"/>
              <a:t>Packers</a:t>
            </a:r>
            <a:r>
              <a:rPr spc="-165" dirty="0"/>
              <a:t> </a:t>
            </a:r>
            <a:r>
              <a:rPr dirty="0"/>
              <a:t>with</a:t>
            </a:r>
            <a:r>
              <a:rPr spc="-165" dirty="0"/>
              <a:t> </a:t>
            </a:r>
            <a:r>
              <a:rPr spc="-20" dirty="0"/>
              <a:t>PEiD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08" y="1942826"/>
            <a:ext cx="6325283" cy="37576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692400">
              <a:lnSpc>
                <a:spcPct val="100000"/>
              </a:lnSpc>
              <a:spcBef>
                <a:spcPts val="100"/>
              </a:spcBef>
            </a:pPr>
            <a:r>
              <a:rPr dirty="0"/>
              <a:t>Demo:</a:t>
            </a:r>
            <a:r>
              <a:rPr spc="-120" dirty="0"/>
              <a:t> </a:t>
            </a:r>
            <a:r>
              <a:rPr spc="-25" dirty="0"/>
              <a:t>UPX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100" y="1549400"/>
            <a:ext cx="6032500" cy="4965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0"/>
              </a:spcBef>
            </a:pPr>
            <a:r>
              <a:rPr dirty="0"/>
              <a:t>Packing</a:t>
            </a:r>
            <a:r>
              <a:rPr spc="-185" dirty="0"/>
              <a:t> </a:t>
            </a:r>
            <a:r>
              <a:rPr dirty="0"/>
              <a:t>Obfuscates</a:t>
            </a:r>
            <a:r>
              <a:rPr spc="-185" dirty="0"/>
              <a:t> </a:t>
            </a:r>
            <a:r>
              <a:rPr spc="-10" dirty="0"/>
              <a:t>Strings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6600" y="1917700"/>
            <a:ext cx="53340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253" y="1174141"/>
            <a:ext cx="6496776" cy="40363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8600" y="2171700"/>
            <a:ext cx="6144895" cy="13436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184400" marR="5080" indent="-2171700">
              <a:lnSpc>
                <a:spcPts val="5100"/>
              </a:lnSpc>
              <a:spcBef>
                <a:spcPts val="380"/>
              </a:spcBef>
              <a:tabLst>
                <a:tab pos="2279015" algn="l"/>
                <a:tab pos="5209540" algn="l"/>
              </a:tabLst>
            </a:pPr>
            <a:r>
              <a:rPr spc="-10" dirty="0"/>
              <a:t>Portable</a:t>
            </a:r>
            <a:r>
              <a:rPr dirty="0"/>
              <a:t>		</a:t>
            </a:r>
            <a:r>
              <a:rPr spc="-10" dirty="0"/>
              <a:t>Executable</a:t>
            </a:r>
            <a:r>
              <a:rPr dirty="0"/>
              <a:t>	</a:t>
            </a:r>
            <a:r>
              <a:rPr spc="-20" dirty="0"/>
              <a:t>File </a:t>
            </a:r>
            <a:r>
              <a:rPr spc="-10" dirty="0"/>
              <a:t>Format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111500">
              <a:lnSpc>
                <a:spcPct val="100000"/>
              </a:lnSpc>
              <a:spcBef>
                <a:spcPts val="100"/>
              </a:spcBef>
            </a:pPr>
            <a:r>
              <a:rPr dirty="0"/>
              <a:t>PE</a:t>
            </a:r>
            <a:r>
              <a:rPr spc="-55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8161020" cy="353250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175895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Used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Windows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executable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files,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object </a:t>
            </a:r>
            <a:r>
              <a:rPr sz="3200" dirty="0">
                <a:latin typeface="Trebuchet MS"/>
                <a:cs typeface="Trebuchet MS"/>
              </a:rPr>
              <a:t>code,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DLLs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1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structure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contains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information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necessary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Windows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load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file</a:t>
            </a:r>
            <a:endParaRPr sz="3200">
              <a:latin typeface="Trebuchet MS"/>
              <a:cs typeface="Trebuchet MS"/>
            </a:endParaRPr>
          </a:p>
          <a:p>
            <a:pPr marL="360680" marR="219075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Almost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every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file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executed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Windows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is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format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794000">
              <a:lnSpc>
                <a:spcPct val="100000"/>
              </a:lnSpc>
              <a:spcBef>
                <a:spcPts val="100"/>
              </a:spcBef>
            </a:pPr>
            <a:r>
              <a:rPr dirty="0"/>
              <a:t>PE</a:t>
            </a:r>
            <a:r>
              <a:rPr spc="-55" dirty="0"/>
              <a:t> </a:t>
            </a:r>
            <a:r>
              <a:rPr spc="-10" dirty="0"/>
              <a:t>Header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5385435" cy="2304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Information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about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70" dirty="0">
                <a:latin typeface="Trebuchet MS"/>
                <a:cs typeface="Trebuchet MS"/>
              </a:rPr>
              <a:t>Type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application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Required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library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Space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requirements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425700">
              <a:lnSpc>
                <a:spcPct val="100000"/>
              </a:lnSpc>
              <a:spcBef>
                <a:spcPts val="100"/>
              </a:spcBef>
            </a:pPr>
            <a:r>
              <a:rPr dirty="0"/>
              <a:t>LordPE</a:t>
            </a:r>
            <a:r>
              <a:rPr spc="-65" dirty="0"/>
              <a:t> </a:t>
            </a:r>
            <a:r>
              <a:rPr spc="-20" dirty="0"/>
              <a:t>Demo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00" y="1600200"/>
            <a:ext cx="6070600" cy="4622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55" dirty="0"/>
              <a:t> </a:t>
            </a:r>
            <a:r>
              <a:rPr spc="-10" dirty="0"/>
              <a:t>Sections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1638393"/>
            <a:ext cx="6616700" cy="50925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300" y="482600"/>
            <a:ext cx="2332355" cy="17881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7620" algn="ctr">
              <a:lnSpc>
                <a:spcPts val="4600"/>
              </a:lnSpc>
              <a:spcBef>
                <a:spcPts val="280"/>
              </a:spcBef>
            </a:pPr>
            <a:r>
              <a:rPr sz="3900" dirty="0"/>
              <a:t>There</a:t>
            </a:r>
            <a:r>
              <a:rPr sz="3900" spc="-10" dirty="0"/>
              <a:t> </a:t>
            </a:r>
            <a:r>
              <a:rPr sz="3900" spc="-25" dirty="0"/>
              <a:t>are </a:t>
            </a:r>
            <a:r>
              <a:rPr sz="3900" dirty="0"/>
              <a:t>a</a:t>
            </a:r>
            <a:r>
              <a:rPr sz="3900" spc="-25" dirty="0"/>
              <a:t> </a:t>
            </a:r>
            <a:r>
              <a:rPr sz="3900" dirty="0"/>
              <a:t>lot</a:t>
            </a:r>
            <a:r>
              <a:rPr sz="3900" spc="-25" dirty="0"/>
              <a:t> </a:t>
            </a:r>
            <a:r>
              <a:rPr sz="3900" spc="-20" dirty="0"/>
              <a:t>more </a:t>
            </a:r>
            <a:r>
              <a:rPr sz="3900" spc="-10" dirty="0"/>
              <a:t>sections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490219" y="3073400"/>
            <a:ext cx="2332355" cy="241604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0680" marR="5080" indent="-347980">
              <a:lnSpc>
                <a:spcPts val="3700"/>
              </a:lnSpc>
              <a:spcBef>
                <a:spcPts val="34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main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ones </a:t>
            </a:r>
            <a:r>
              <a:rPr sz="3200" spc="-25" dirty="0">
                <a:latin typeface="Trebuchet MS"/>
                <a:cs typeface="Trebuchet MS"/>
              </a:rPr>
              <a:t>are </a:t>
            </a:r>
            <a:r>
              <a:rPr sz="3200" dirty="0">
                <a:latin typeface="Trebuchet MS"/>
                <a:cs typeface="Trebuchet MS"/>
              </a:rPr>
              <a:t>enough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for now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21037" y="782637"/>
            <a:ext cx="5470525" cy="5813425"/>
            <a:chOff x="3221037" y="782637"/>
            <a:chExt cx="5470525" cy="5813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0900" y="1028700"/>
              <a:ext cx="4940300" cy="5397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25800" y="787399"/>
              <a:ext cx="5461000" cy="5803900"/>
            </a:xfrm>
            <a:custGeom>
              <a:avLst/>
              <a:gdLst/>
              <a:ahLst/>
              <a:cxnLst/>
              <a:rect l="l" t="t" r="r" b="b"/>
              <a:pathLst>
                <a:path w="5461000" h="5803900">
                  <a:moveTo>
                    <a:pt x="0" y="0"/>
                  </a:moveTo>
                  <a:lnTo>
                    <a:pt x="5461000" y="0"/>
                  </a:lnTo>
                  <a:lnTo>
                    <a:pt x="5461000" y="5803900"/>
                  </a:lnTo>
                  <a:lnTo>
                    <a:pt x="0" y="58039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9300" y="2501900"/>
            <a:ext cx="7656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Linked</a:t>
            </a:r>
            <a:r>
              <a:rPr spc="-20" dirty="0"/>
              <a:t> </a:t>
            </a:r>
            <a:r>
              <a:rPr dirty="0"/>
              <a:t>Libraries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Functions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124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7380605" cy="406844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60680" marR="95885" indent="-347980" algn="just">
              <a:lnSpc>
                <a:spcPct val="96000"/>
              </a:lnSpc>
              <a:spcBef>
                <a:spcPts val="25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Functions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are </a:t>
            </a:r>
            <a:r>
              <a:rPr sz="3200" dirty="0">
                <a:latin typeface="Trebuchet MS"/>
                <a:cs typeface="Trebuchet MS"/>
              </a:rPr>
              <a:t>stored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different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such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as </a:t>
            </a:r>
            <a:r>
              <a:rPr sz="3200" spc="-10" dirty="0">
                <a:latin typeface="Trebuchet MS"/>
                <a:cs typeface="Trebuchet MS"/>
              </a:rPr>
              <a:t>library</a:t>
            </a:r>
            <a:endParaRPr sz="3200">
              <a:latin typeface="Trebuchet MS"/>
              <a:cs typeface="Trebuchet MS"/>
            </a:endParaRPr>
          </a:p>
          <a:p>
            <a:pPr marL="360045" indent="-347345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Connected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main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Linking</a:t>
            </a:r>
            <a:endParaRPr sz="3200">
              <a:latin typeface="Trebuchet MS"/>
              <a:cs typeface="Trebuchet MS"/>
            </a:endParaRPr>
          </a:p>
          <a:p>
            <a:pPr marL="360045" indent="-347345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linked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three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ways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90"/>
              </a:spcBef>
              <a:buFont typeface="Arial"/>
              <a:buChar char="–"/>
              <a:tabLst>
                <a:tab pos="752475" algn="l"/>
              </a:tabLst>
            </a:pPr>
            <a:r>
              <a:rPr sz="2800" b="1" spc="-10" dirty="0">
                <a:latin typeface="Trebuchet MS"/>
                <a:cs typeface="Trebuchet MS"/>
              </a:rPr>
              <a:t>Statically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1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Runtime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35"/>
              </a:spcBef>
              <a:buFont typeface="Arial"/>
              <a:buChar char="–"/>
              <a:tabLst>
                <a:tab pos="752475" algn="l"/>
              </a:tabLst>
            </a:pPr>
            <a:r>
              <a:rPr sz="2800" b="1" spc="-10" dirty="0">
                <a:latin typeface="Trebuchet MS"/>
                <a:cs typeface="Trebuchet MS"/>
              </a:rPr>
              <a:t>Dynamically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0200" y="469900"/>
            <a:ext cx="3409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1790" algn="l"/>
              </a:tabLst>
            </a:pPr>
            <a:r>
              <a:rPr spc="-10" dirty="0"/>
              <a:t>Static</a:t>
            </a:r>
            <a:r>
              <a:rPr dirty="0"/>
              <a:t>	</a:t>
            </a:r>
            <a:r>
              <a:rPr spc="-10" dirty="0"/>
              <a:t>Linking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444105" cy="27743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Rarely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Windows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executables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Common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Unix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Linux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9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All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from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library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copied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into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executable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Makes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executable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large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size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dirty="0"/>
              <a:t>Runtime</a:t>
            </a:r>
            <a:r>
              <a:rPr spc="-204" dirty="0"/>
              <a:t> </a:t>
            </a:r>
            <a:r>
              <a:rPr spc="-10" dirty="0"/>
              <a:t>Linking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8089265" cy="4228081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Unpopular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lang="en-IN" sz="3200" spc="-85" dirty="0">
                <a:latin typeface="Trebuchet MS"/>
                <a:cs typeface="Trebuchet MS"/>
              </a:rPr>
              <a:t>normal </a:t>
            </a:r>
            <a:r>
              <a:rPr sz="3200" spc="-10" dirty="0">
                <a:latin typeface="Trebuchet MS"/>
                <a:cs typeface="Trebuchet MS"/>
              </a:rPr>
              <a:t>programs</a:t>
            </a:r>
            <a:endParaRPr sz="3200" dirty="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Common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malware,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especially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packed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or </a:t>
            </a:r>
            <a:r>
              <a:rPr sz="3200" dirty="0">
                <a:latin typeface="Trebuchet MS"/>
                <a:cs typeface="Trebuchet MS"/>
              </a:rPr>
              <a:t>obfuscated</a:t>
            </a:r>
            <a:r>
              <a:rPr sz="3200" spc="-1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malware</a:t>
            </a:r>
            <a:endParaRPr sz="3200" dirty="0">
              <a:latin typeface="Trebuchet MS"/>
              <a:cs typeface="Trebuchet MS"/>
            </a:endParaRPr>
          </a:p>
          <a:p>
            <a:pPr marL="360680" marR="52959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Connect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libraries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only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needed, </a:t>
            </a:r>
            <a:r>
              <a:rPr sz="3200" dirty="0">
                <a:latin typeface="Trebuchet MS"/>
                <a:cs typeface="Trebuchet MS"/>
              </a:rPr>
              <a:t>not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starts</a:t>
            </a:r>
            <a:endParaRPr sz="3200" dirty="0">
              <a:latin typeface="Trebuchet MS"/>
              <a:cs typeface="Trebuchet MS"/>
            </a:endParaRPr>
          </a:p>
          <a:p>
            <a:pPr marL="360680" marR="155194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commonly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done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with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b="1" spc="-10" dirty="0">
                <a:latin typeface="Trebuchet MS"/>
                <a:cs typeface="Trebuchet MS"/>
              </a:rPr>
              <a:t>LoadLibrary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GetProcAddress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44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 </a:t>
            </a:r>
            <a:r>
              <a:rPr spc="-10" dirty="0"/>
              <a:t>Linking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619365" cy="163131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common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method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Host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searches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necessary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libraries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loaded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3784600"/>
            <a:ext cx="63500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100"/>
              </a:spcBef>
            </a:pPr>
            <a:r>
              <a:rPr dirty="0"/>
              <a:t>Clues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8010525" cy="30626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939165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header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lists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every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library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 </a:t>
            </a:r>
            <a:r>
              <a:rPr sz="3200" dirty="0">
                <a:latin typeface="Trebuchet MS"/>
                <a:cs typeface="Trebuchet MS"/>
              </a:rPr>
              <a:t>function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will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loaded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1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Their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names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reveal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what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program </a:t>
            </a:r>
            <a:r>
              <a:rPr sz="3200" spc="-20" dirty="0">
                <a:latin typeface="Trebuchet MS"/>
                <a:cs typeface="Trebuchet MS"/>
              </a:rPr>
              <a:t>does</a:t>
            </a:r>
            <a:endParaRPr sz="3200">
              <a:latin typeface="Trebuchet MS"/>
              <a:cs typeface="Trebuchet MS"/>
            </a:endParaRPr>
          </a:p>
          <a:p>
            <a:pPr marL="360680" marR="53086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b="1" spc="-35" dirty="0">
                <a:latin typeface="Trebuchet MS"/>
                <a:cs typeface="Trebuchet MS"/>
              </a:rPr>
              <a:t>URLDownloadToFile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indicates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downloads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something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5500" y="2501900"/>
            <a:ext cx="49466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Dependency </a:t>
            </a:r>
            <a:r>
              <a:rPr spc="-35" dirty="0"/>
              <a:t>Walker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520700"/>
            <a:ext cx="80695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5345" algn="l"/>
              </a:tabLst>
            </a:pPr>
            <a:r>
              <a:rPr sz="3900" dirty="0"/>
              <a:t>Shows</a:t>
            </a:r>
            <a:r>
              <a:rPr sz="3900" spc="-80" dirty="0"/>
              <a:t> </a:t>
            </a:r>
            <a:r>
              <a:rPr sz="3900" dirty="0"/>
              <a:t>Dynamically</a:t>
            </a:r>
            <a:r>
              <a:rPr sz="3900" spc="-75" dirty="0"/>
              <a:t> </a:t>
            </a:r>
            <a:r>
              <a:rPr sz="3900" spc="-10" dirty="0"/>
              <a:t>Linked</a:t>
            </a:r>
            <a:r>
              <a:rPr sz="3900" dirty="0"/>
              <a:t>	</a:t>
            </a:r>
            <a:r>
              <a:rPr sz="3900" spc="-10" dirty="0"/>
              <a:t>Functions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6856730" cy="1161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Normal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have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lot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DLLs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often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very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few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DLLs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Services.exe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1900" y="279400"/>
            <a:ext cx="52324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300" y="469900"/>
            <a:ext cx="58718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4379" algn="l"/>
              </a:tabLst>
            </a:pPr>
            <a:r>
              <a:rPr spc="-10" dirty="0"/>
              <a:t>Services.ex_</a:t>
            </a:r>
            <a:r>
              <a:rPr dirty="0"/>
              <a:t>	</a:t>
            </a:r>
            <a:r>
              <a:rPr spc="-10" dirty="0"/>
              <a:t>(malware)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6002" y="1788491"/>
            <a:ext cx="3652798" cy="414240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06500" y="1841500"/>
            <a:ext cx="1706880" cy="23723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4600"/>
              </a:lnSpc>
              <a:spcBef>
                <a:spcPts val="280"/>
              </a:spcBef>
            </a:pPr>
            <a:r>
              <a:rPr sz="3900" spc="-10" dirty="0"/>
              <a:t>Imports </a:t>
            </a:r>
            <a:r>
              <a:rPr sz="3900" spc="-50" dirty="0"/>
              <a:t>&amp; </a:t>
            </a:r>
            <a:r>
              <a:rPr sz="3900" spc="-10" dirty="0"/>
              <a:t>Exports </a:t>
            </a:r>
            <a:r>
              <a:rPr sz="3900" spc="-25" dirty="0"/>
              <a:t>in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698500" y="4178300"/>
            <a:ext cx="2723515" cy="12039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96900" marR="5080" indent="-584200">
              <a:lnSpc>
                <a:spcPts val="4600"/>
              </a:lnSpc>
              <a:spcBef>
                <a:spcPts val="280"/>
              </a:spcBef>
            </a:pPr>
            <a:r>
              <a:rPr sz="3900" spc="-10" dirty="0">
                <a:latin typeface="Trebuchet MS"/>
                <a:cs typeface="Trebuchet MS"/>
              </a:rPr>
              <a:t>Dependency Walker</a:t>
            </a:r>
            <a:endParaRPr sz="39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5400" y="203200"/>
            <a:ext cx="51943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3837" y="1077509"/>
            <a:ext cx="8924925" cy="4324350"/>
            <a:chOff x="223837" y="1077509"/>
            <a:chExt cx="8924925" cy="432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" y="1422400"/>
              <a:ext cx="8509000" cy="3975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8600" y="1082272"/>
              <a:ext cx="8915400" cy="4314825"/>
            </a:xfrm>
            <a:custGeom>
              <a:avLst/>
              <a:gdLst/>
              <a:ahLst/>
              <a:cxnLst/>
              <a:rect l="l" t="t" r="r" b="b"/>
              <a:pathLst>
                <a:path w="8915400" h="4314825">
                  <a:moveTo>
                    <a:pt x="0" y="0"/>
                  </a:moveTo>
                  <a:lnTo>
                    <a:pt x="0" y="4314825"/>
                  </a:lnTo>
                  <a:lnTo>
                    <a:pt x="8915400" y="4314825"/>
                  </a:lnTo>
                  <a:lnTo>
                    <a:pt x="89154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2437" y="592137"/>
            <a:ext cx="8328025" cy="5381625"/>
            <a:chOff x="452437" y="592137"/>
            <a:chExt cx="8328025" cy="5381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000" y="596899"/>
              <a:ext cx="8166100" cy="5283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596899"/>
              <a:ext cx="8318500" cy="5372100"/>
            </a:xfrm>
            <a:custGeom>
              <a:avLst/>
              <a:gdLst/>
              <a:ahLst/>
              <a:cxnLst/>
              <a:rect l="l" t="t" r="r" b="b"/>
              <a:pathLst>
                <a:path w="8318500" h="5372100">
                  <a:moveTo>
                    <a:pt x="0" y="0"/>
                  </a:moveTo>
                  <a:lnTo>
                    <a:pt x="8318500" y="0"/>
                  </a:lnTo>
                  <a:lnTo>
                    <a:pt x="8318500" y="5372100"/>
                  </a:lnTo>
                  <a:lnTo>
                    <a:pt x="0" y="5372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31496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8004175" cy="22028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DLLs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export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EXEs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import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9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Both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exports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imports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listed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PE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header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476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Notepad.exe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9802" y="1593230"/>
            <a:ext cx="7404734" cy="5049520"/>
            <a:chOff x="869802" y="1593230"/>
            <a:chExt cx="7404734" cy="5049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1600200"/>
              <a:ext cx="7391400" cy="5041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4565" y="1597992"/>
              <a:ext cx="7395209" cy="5039995"/>
            </a:xfrm>
            <a:custGeom>
              <a:avLst/>
              <a:gdLst/>
              <a:ahLst/>
              <a:cxnLst/>
              <a:rect l="l" t="t" r="r" b="b"/>
              <a:pathLst>
                <a:path w="7395209" h="5039995">
                  <a:moveTo>
                    <a:pt x="0" y="0"/>
                  </a:moveTo>
                  <a:lnTo>
                    <a:pt x="0" y="5039916"/>
                  </a:lnTo>
                  <a:lnTo>
                    <a:pt x="7394971" y="5039916"/>
                  </a:lnTo>
                  <a:lnTo>
                    <a:pt x="7394971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527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Advapi32.dll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5494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44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570" dirty="0"/>
              <a:t>T</a:t>
            </a:r>
            <a:r>
              <a:rPr dirty="0"/>
              <a:t>unes</a:t>
            </a:r>
            <a:r>
              <a:rPr spc="-5" dirty="0"/>
              <a:t>S</a:t>
            </a:r>
            <a:r>
              <a:rPr dirty="0"/>
              <a:t>etu</a:t>
            </a:r>
            <a:r>
              <a:rPr spc="-5" dirty="0"/>
              <a:t>p</a:t>
            </a:r>
            <a:r>
              <a:rPr dirty="0"/>
              <a:t>.e</a:t>
            </a:r>
            <a:r>
              <a:rPr spc="-5" dirty="0"/>
              <a:t>xe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1600200"/>
            <a:ext cx="8636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6129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85" dirty="0"/>
              <a:t> </a:t>
            </a:r>
            <a:r>
              <a:rPr spc="-10" dirty="0"/>
              <a:t>Keylogger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8092440" cy="409130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60680" marR="328295" indent="-347980">
              <a:lnSpc>
                <a:spcPct val="86900"/>
              </a:lnSpc>
              <a:spcBef>
                <a:spcPts val="6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Imports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User32.dll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function </a:t>
            </a:r>
            <a:r>
              <a:rPr sz="3200" b="1" dirty="0">
                <a:latin typeface="Trebuchet MS"/>
                <a:cs typeface="Trebuchet MS"/>
              </a:rPr>
              <a:t>SetWindowsHookEx</a:t>
            </a:r>
            <a:r>
              <a:rPr sz="3200" b="1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which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popular </a:t>
            </a:r>
            <a:r>
              <a:rPr sz="3200" dirty="0">
                <a:latin typeface="Trebuchet MS"/>
                <a:cs typeface="Trebuchet MS"/>
              </a:rPr>
              <a:t>way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keyloggers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receive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keyboard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inputs</a:t>
            </a:r>
            <a:endParaRPr sz="3200">
              <a:latin typeface="Trebuchet MS"/>
              <a:cs typeface="Trebuchet MS"/>
            </a:endParaRPr>
          </a:p>
          <a:p>
            <a:pPr marL="360680" marR="623570" indent="-347980">
              <a:lnSpc>
                <a:spcPct val="87200"/>
              </a:lnSpc>
              <a:spcBef>
                <a:spcPts val="755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exports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LowLevelKeyboardProc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 </a:t>
            </a:r>
            <a:r>
              <a:rPr sz="3200" b="1" dirty="0">
                <a:latin typeface="Trebuchet MS"/>
                <a:cs typeface="Trebuchet MS"/>
              </a:rPr>
              <a:t>LowLevelMouseProc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send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data </a:t>
            </a:r>
            <a:r>
              <a:rPr sz="3200" spc="-10" dirty="0">
                <a:latin typeface="Trebuchet MS"/>
                <a:cs typeface="Trebuchet MS"/>
              </a:rPr>
              <a:t>elsewhere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300"/>
              </a:lnSpc>
              <a:spcBef>
                <a:spcPts val="82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RegisterHotKey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define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special </a:t>
            </a:r>
            <a:r>
              <a:rPr sz="3200" dirty="0">
                <a:latin typeface="Trebuchet MS"/>
                <a:cs typeface="Trebuchet MS"/>
              </a:rPr>
              <a:t>keystroke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like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Ctrl+Shift+P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harvest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dirty="0">
                <a:latin typeface="Trebuchet MS"/>
                <a:cs typeface="Trebuchet MS"/>
              </a:rPr>
              <a:t>collected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data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9600" y="469900"/>
            <a:ext cx="5394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2954" algn="l"/>
              </a:tabLst>
            </a:pPr>
            <a:r>
              <a:rPr dirty="0"/>
              <a:t>Ex:</a:t>
            </a:r>
            <a:r>
              <a:rPr spc="-275" dirty="0"/>
              <a:t> </a:t>
            </a:r>
            <a:r>
              <a:rPr dirty="0"/>
              <a:t>A</a:t>
            </a:r>
            <a:r>
              <a:rPr spc="-275" dirty="0"/>
              <a:t> </a:t>
            </a:r>
            <a:r>
              <a:rPr spc="-10" dirty="0"/>
              <a:t>Packed</a:t>
            </a:r>
            <a:r>
              <a:rPr dirty="0"/>
              <a:t>	</a:t>
            </a:r>
            <a:r>
              <a:rPr spc="-3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603950"/>
            <a:ext cx="2112645" cy="24911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6604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Very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few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1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All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you </a:t>
            </a:r>
            <a:r>
              <a:rPr sz="3200" dirty="0">
                <a:latin typeface="Trebuchet MS"/>
                <a:cs typeface="Trebuchet MS"/>
              </a:rPr>
              <a:t>see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the </a:t>
            </a:r>
            <a:r>
              <a:rPr sz="3200" spc="-10" dirty="0">
                <a:latin typeface="Trebuchet MS"/>
                <a:cs typeface="Trebuchet MS"/>
              </a:rPr>
              <a:t>unpacker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8937" y="1595437"/>
            <a:ext cx="5953125" cy="4556125"/>
            <a:chOff x="2928937" y="1595437"/>
            <a:chExt cx="5953125" cy="4556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600" y="1866900"/>
              <a:ext cx="5537200" cy="4152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33700" y="1600200"/>
              <a:ext cx="5943600" cy="4546600"/>
            </a:xfrm>
            <a:custGeom>
              <a:avLst/>
              <a:gdLst/>
              <a:ahLst/>
              <a:cxnLst/>
              <a:rect l="l" t="t" r="r" b="b"/>
              <a:pathLst>
                <a:path w="5943600" h="4546600">
                  <a:moveTo>
                    <a:pt x="0" y="0"/>
                  </a:moveTo>
                  <a:lnTo>
                    <a:pt x="5943600" y="0"/>
                  </a:lnTo>
                  <a:lnTo>
                    <a:pt x="5943600" y="4546600"/>
                  </a:lnTo>
                  <a:lnTo>
                    <a:pt x="0" y="4546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24000" y="2171700"/>
            <a:ext cx="6101080" cy="13436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019300" marR="5080" indent="-2006600">
              <a:lnSpc>
                <a:spcPts val="5100"/>
              </a:lnSpc>
              <a:spcBef>
                <a:spcPts val="380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PE</a:t>
            </a:r>
            <a:r>
              <a:rPr spc="-50" dirty="0"/>
              <a:t> </a:t>
            </a:r>
            <a:r>
              <a:rPr dirty="0"/>
              <a:t>File</a:t>
            </a:r>
            <a:r>
              <a:rPr spc="-50" dirty="0"/>
              <a:t> </a:t>
            </a:r>
            <a:r>
              <a:rPr dirty="0"/>
              <a:t>Headers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spc="-10" dirty="0"/>
              <a:t>Sections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3400" y="469900"/>
            <a:ext cx="5525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9954" algn="l"/>
              </a:tabLst>
            </a:pPr>
            <a:r>
              <a:rPr dirty="0"/>
              <a:t>Important</a:t>
            </a:r>
            <a:r>
              <a:rPr spc="-130" dirty="0"/>
              <a:t> </a:t>
            </a:r>
            <a:r>
              <a:rPr spc="-35" dirty="0"/>
              <a:t>PE</a:t>
            </a:r>
            <a:r>
              <a:rPr dirty="0"/>
              <a:t>	</a:t>
            </a:r>
            <a:r>
              <a:rPr spc="-10" dirty="0"/>
              <a:t>Sections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220" y="1523880"/>
            <a:ext cx="8281670" cy="2304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.text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--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instructions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CPU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execute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.rdata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--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imports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&amp;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exports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.data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global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data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  <a:tab pos="3218180" algn="l"/>
              </a:tabLst>
            </a:pPr>
            <a:r>
              <a:rPr sz="3200" b="1" dirty="0">
                <a:latin typeface="Trebuchet MS"/>
                <a:cs typeface="Trebuchet MS"/>
              </a:rPr>
              <a:t>.rsrc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 </a:t>
            </a:r>
            <a:r>
              <a:rPr sz="3200" spc="-10" dirty="0">
                <a:latin typeface="Trebuchet MS"/>
                <a:cs typeface="Trebuchet MS"/>
              </a:rPr>
              <a:t>strings,</a:t>
            </a:r>
            <a:r>
              <a:rPr sz="3200" dirty="0">
                <a:latin typeface="Trebuchet MS"/>
                <a:cs typeface="Trebuchet MS"/>
              </a:rPr>
              <a:t>	icons,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images,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menus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5748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       </a:t>
            </a:r>
            <a:r>
              <a:rPr dirty="0" err="1"/>
              <a:t>PEView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1600200"/>
            <a:ext cx="8674100" cy="4775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3000" y="469900"/>
            <a:ext cx="43129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9700" algn="l"/>
                <a:tab pos="2740660" algn="l"/>
              </a:tabLst>
            </a:pPr>
            <a:r>
              <a:rPr spc="-20" dirty="0"/>
              <a:t>Time</a:t>
            </a:r>
            <a:r>
              <a:rPr dirty="0"/>
              <a:t>	</a:t>
            </a:r>
            <a:r>
              <a:rPr spc="-20" dirty="0"/>
              <a:t>Date</a:t>
            </a:r>
            <a:r>
              <a:rPr dirty="0"/>
              <a:t>	</a:t>
            </a:r>
            <a:r>
              <a:rPr spc="-10" dirty="0"/>
              <a:t>Stamp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8079740" cy="31832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Shows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this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executable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compiled</a:t>
            </a:r>
            <a:endParaRPr sz="3200">
              <a:latin typeface="Trebuchet MS"/>
              <a:cs typeface="Trebuchet MS"/>
            </a:endParaRPr>
          </a:p>
          <a:p>
            <a:pPr marL="360680" marR="959485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Older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more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likely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be </a:t>
            </a:r>
            <a:r>
              <a:rPr sz="3200" dirty="0">
                <a:latin typeface="Trebuchet MS"/>
                <a:cs typeface="Trebuchet MS"/>
              </a:rPr>
              <a:t>known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antivirus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software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But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sometimes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wrong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48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Delphi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programs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show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June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19,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1992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Date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faked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IMAGE_SECTION_HEADER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7170420" cy="37141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Virtual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Size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RAM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Size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Raw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Data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DISK</a:t>
            </a:r>
            <a:endParaRPr sz="3200">
              <a:latin typeface="Trebuchet MS"/>
              <a:cs typeface="Trebuchet MS"/>
            </a:endParaRPr>
          </a:p>
          <a:p>
            <a:pPr marL="360680" marR="99695" indent="-347980">
              <a:lnSpc>
                <a:spcPts val="3700"/>
              </a:lnSpc>
              <a:spcBef>
                <a:spcPts val="9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.text</a:t>
            </a:r>
            <a:r>
              <a:rPr sz="3200" b="1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section,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normally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equal,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or </a:t>
            </a:r>
            <a:r>
              <a:rPr sz="3200" dirty="0">
                <a:latin typeface="Trebuchet MS"/>
                <a:cs typeface="Trebuchet MS"/>
              </a:rPr>
              <a:t>nearly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equal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spc="-10" dirty="0">
                <a:latin typeface="Trebuchet MS"/>
                <a:cs typeface="Trebuchet MS"/>
              </a:rPr>
              <a:t>Packed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executables</a:t>
            </a:r>
            <a:r>
              <a:rPr sz="3200" spc="-1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show</a:t>
            </a:r>
            <a:r>
              <a:rPr sz="3200" spc="-1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Virtual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Size </a:t>
            </a:r>
            <a:r>
              <a:rPr sz="3200" dirty="0">
                <a:latin typeface="Trebuchet MS"/>
                <a:cs typeface="Trebuchet MS"/>
              </a:rPr>
              <a:t>much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larger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than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Size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Raw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Data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.text</a:t>
            </a:r>
            <a:r>
              <a:rPr sz="3200" b="1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section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2300" y="469900"/>
            <a:ext cx="28257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Not</a:t>
            </a:r>
            <a:r>
              <a:rPr spc="-80" dirty="0"/>
              <a:t> </a:t>
            </a:r>
            <a:r>
              <a:rPr spc="-20" dirty="0"/>
              <a:t>Packed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422400"/>
            <a:ext cx="8204200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0737" y="681037"/>
            <a:ext cx="4708525" cy="5445125"/>
            <a:chOff x="2090737" y="681037"/>
            <a:chExt cx="4708525" cy="544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3000" y="914400"/>
              <a:ext cx="4089400" cy="5105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95500" y="685799"/>
              <a:ext cx="4699000" cy="5435600"/>
            </a:xfrm>
            <a:custGeom>
              <a:avLst/>
              <a:gdLst/>
              <a:ahLst/>
              <a:cxnLst/>
              <a:rect l="l" t="t" r="r" b="b"/>
              <a:pathLst>
                <a:path w="4699000" h="5435600">
                  <a:moveTo>
                    <a:pt x="0" y="0"/>
                  </a:moveTo>
                  <a:lnTo>
                    <a:pt x="4699000" y="0"/>
                  </a:lnTo>
                  <a:lnTo>
                    <a:pt x="4699000" y="5435600"/>
                  </a:lnTo>
                  <a:lnTo>
                    <a:pt x="0" y="5435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0"/>
              </a:spcBef>
            </a:pPr>
            <a:r>
              <a:rPr dirty="0"/>
              <a:t>Resource</a:t>
            </a:r>
            <a:r>
              <a:rPr spc="-325" dirty="0"/>
              <a:t> </a:t>
            </a:r>
            <a:r>
              <a:rPr spc="-10" dirty="0"/>
              <a:t>Hacker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1523880"/>
            <a:ext cx="6458585" cy="11554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Lets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you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browse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.rsrc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section</a:t>
            </a:r>
            <a:endParaRPr sz="3200" dirty="0">
              <a:latin typeface="Trebuchet MS"/>
              <a:cs typeface="Trebuchet MS"/>
            </a:endParaRPr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Strings,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icons,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menus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0"/>
              </a:spcBef>
            </a:pPr>
            <a:r>
              <a:rPr dirty="0"/>
              <a:t>Resource</a:t>
            </a:r>
            <a:r>
              <a:rPr spc="-325" dirty="0"/>
              <a:t> </a:t>
            </a:r>
            <a:r>
              <a:rPr spc="-10" dirty="0"/>
              <a:t>Hacker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600200"/>
            <a:ext cx="86487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1630</TotalTime>
  <Words>1142</Words>
  <Application>Microsoft Office PowerPoint</Application>
  <PresentationFormat>On-screen Show (4:3)</PresentationFormat>
  <Paragraphs>197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Aptos</vt:lpstr>
      <vt:lpstr>Arial</vt:lpstr>
      <vt:lpstr>Trebuchet MS</vt:lpstr>
      <vt:lpstr>Office Theme</vt:lpstr>
      <vt:lpstr>Practical Malware Analysis</vt:lpstr>
      <vt:lpstr>Malicious Code</vt:lpstr>
      <vt:lpstr>Malware Analysis</vt:lpstr>
      <vt:lpstr>The Goals of Malware Analysis</vt:lpstr>
      <vt:lpstr>Signatures</vt:lpstr>
      <vt:lpstr>Malware Analysis Techniques</vt:lpstr>
      <vt:lpstr>Static v. Dynamic Analysis</vt:lpstr>
      <vt:lpstr>Basic Analysis</vt:lpstr>
      <vt:lpstr>Advanced Analysis</vt:lpstr>
      <vt:lpstr>Mass v. Targeted Malware</vt:lpstr>
      <vt:lpstr>General Rules for Malware Analysis</vt:lpstr>
      <vt:lpstr>         Basic Static Analysis</vt:lpstr>
      <vt:lpstr>Techniques</vt:lpstr>
      <vt:lpstr>Antivirus Scanning</vt:lpstr>
      <vt:lpstr>Only a First Step</vt:lpstr>
      <vt:lpstr>Hashing</vt:lpstr>
      <vt:lpstr>Hashes</vt:lpstr>
      <vt:lpstr>HashCalc</vt:lpstr>
      <vt:lpstr>Hash Uses</vt:lpstr>
      <vt:lpstr>Finding Strings</vt:lpstr>
      <vt:lpstr>Strings</vt:lpstr>
      <vt:lpstr>PowerPoint Presentation</vt:lpstr>
      <vt:lpstr>The strings Command</vt:lpstr>
      <vt:lpstr>The strings Command</vt:lpstr>
      <vt:lpstr>BinText</vt:lpstr>
      <vt:lpstr>Packed  and Obfuscated Malware</vt:lpstr>
      <vt:lpstr>Packing Files</vt:lpstr>
      <vt:lpstr>Detecting Packers with PEiD</vt:lpstr>
      <vt:lpstr>Demo: UPX</vt:lpstr>
      <vt:lpstr>Packing Obfuscates Strings</vt:lpstr>
      <vt:lpstr>PowerPoint Presentation</vt:lpstr>
      <vt:lpstr>Portable  Executable File Format</vt:lpstr>
      <vt:lpstr>PE Files</vt:lpstr>
      <vt:lpstr>PE Header</vt:lpstr>
      <vt:lpstr>LordPE Demo</vt:lpstr>
      <vt:lpstr>Main Sections</vt:lpstr>
      <vt:lpstr>There are a lot more sections</vt:lpstr>
      <vt:lpstr>Linked Libraries and Functions</vt:lpstr>
      <vt:lpstr>Imports</vt:lpstr>
      <vt:lpstr>Static Linking</vt:lpstr>
      <vt:lpstr>Runtime Linking</vt:lpstr>
      <vt:lpstr>Dynamic Linking</vt:lpstr>
      <vt:lpstr>Clues in Libraries</vt:lpstr>
      <vt:lpstr>Dependency Walker</vt:lpstr>
      <vt:lpstr>Shows Dynamically Linked Functions</vt:lpstr>
      <vt:lpstr>Services.exe</vt:lpstr>
      <vt:lpstr>Services.ex_ (malware)</vt:lpstr>
      <vt:lpstr>Imports &amp; Exports in</vt:lpstr>
      <vt:lpstr>PowerPoint Presentation</vt:lpstr>
      <vt:lpstr>PowerPoint Presentation</vt:lpstr>
      <vt:lpstr>Exports</vt:lpstr>
      <vt:lpstr>Notepad.exe</vt:lpstr>
      <vt:lpstr>Advapi32.dll</vt:lpstr>
      <vt:lpstr>iTunesSetup.exe</vt:lpstr>
      <vt:lpstr>Example: Keylogger</vt:lpstr>
      <vt:lpstr>Ex: A Packed Program</vt:lpstr>
      <vt:lpstr>The PE File Headers and Sections</vt:lpstr>
      <vt:lpstr>Important PE Sections</vt:lpstr>
      <vt:lpstr>       PEView</vt:lpstr>
      <vt:lpstr>Time Date Stamp</vt:lpstr>
      <vt:lpstr>IMAGE_SECTION_HEADER</vt:lpstr>
      <vt:lpstr>Not Packed</vt:lpstr>
      <vt:lpstr>PowerPoint Presentation</vt:lpstr>
      <vt:lpstr>Resource Hacker</vt:lpstr>
      <vt:lpstr>Resource Hacker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Modhuparna Manna</cp:lastModifiedBy>
  <cp:revision>3</cp:revision>
  <dcterms:created xsi:type="dcterms:W3CDTF">2026-01-11T15:38:26Z</dcterms:created>
  <dcterms:modified xsi:type="dcterms:W3CDTF">2026-01-28T11:13:33Z</dcterms:modified>
</cp:coreProperties>
</file>