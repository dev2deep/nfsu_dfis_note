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83"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x="9144000" cy="6858000"/>
  <p:notesSz cx="6858000" cy="9144000"/>
  <p:embeddedFontLst>
    <p:embeddedFont>
      <p:font typeface="Libre Baskerville" panose="02000000000000000000"/>
      <p:regular r:id="rId35"/>
    </p:embeddedFont>
    <p:embeddedFont>
      <p:font typeface="Libre Franklin"/>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B8DA40-DD20-48F2-8754-F21A28584608}"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2155"/>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4" name="Google Shape;4;n"/>
          <p:cNvSpPr txBox="1"/>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5" name="Google Shape;5;n"/>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6" name="Google Shape;6;n"/>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spcBef>
                <a:spcPts val="360"/>
              </a:spcBef>
              <a:spcAft>
                <a:spcPts val="0"/>
              </a:spcAft>
              <a:buSzPts val="1400"/>
              <a:buNone/>
              <a:defRPr sz="12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8" name="Google Shape;8;n"/>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b="0" i="0" u="none" strike="noStrike" cap="none">
                <a:solidFill>
                  <a:schemeClr val="dk1"/>
                </a:solidFill>
                <a:latin typeface="Arial" panose="020B0604020202020204"/>
                <a:ea typeface="Arial" panose="020B0604020202020204"/>
                <a:cs typeface="Arial" panose="020B0604020202020204"/>
                <a:sym typeface="Arial" panose="020B0604020202020204"/>
              </a:rPr>
            </a:fld>
            <a:endParaRPr sz="12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1: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a:latin typeface="Arial" panose="020B0604020202020204"/>
                <a:ea typeface="Arial" panose="020B0604020202020204"/>
                <a:cs typeface="Arial" panose="020B0604020202020204"/>
                <a:sym typeface="Arial" panose="020B0604020202020204"/>
              </a:rPr>
            </a:fld>
            <a:endParaRPr sz="1200">
              <a:latin typeface="Arial" panose="020B0604020202020204"/>
              <a:ea typeface="Arial" panose="020B0604020202020204"/>
              <a:cs typeface="Arial" panose="020B0604020202020204"/>
              <a:sym typeface="Arial" panose="020B0604020202020204"/>
            </a:endParaRPr>
          </a:p>
        </p:txBody>
      </p:sp>
      <p:sp>
        <p:nvSpPr>
          <p:cNvPr id="108" name="Google Shape;108;p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1: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3" name="Shape 113"/>
        <p:cNvGrpSpPr/>
        <p:nvPr/>
      </p:nvGrpSpPr>
      <p:grpSpPr>
        <a:xfrm>
          <a:off x="0" y="0"/>
          <a:ext cx="0" cy="0"/>
          <a:chOff x="0" y="0"/>
          <a:chExt cx="0" cy="0"/>
        </a:xfrm>
      </p:grpSpPr>
      <p:sp>
        <p:nvSpPr>
          <p:cNvPr id="114" name="Google Shape;114;p2: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a:latin typeface="Arial" panose="020B0604020202020204"/>
                <a:ea typeface="Arial" panose="020B0604020202020204"/>
                <a:cs typeface="Arial" panose="020B0604020202020204"/>
                <a:sym typeface="Arial" panose="020B0604020202020204"/>
              </a:rPr>
            </a:fld>
            <a:endParaRPr sz="1200">
              <a:latin typeface="Arial" panose="020B0604020202020204"/>
              <a:ea typeface="Arial" panose="020B0604020202020204"/>
              <a:cs typeface="Arial" panose="020B0604020202020204"/>
              <a:sym typeface="Arial" panose="020B0604020202020204"/>
            </a:endParaRPr>
          </a:p>
        </p:txBody>
      </p:sp>
      <p:sp>
        <p:nvSpPr>
          <p:cNvPr id="115" name="Google Shape;115;p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6" name="Google Shape;116;p2: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3: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a:latin typeface="Arial" panose="020B0604020202020204"/>
                <a:ea typeface="Arial" panose="020B0604020202020204"/>
                <a:cs typeface="Arial" panose="020B0604020202020204"/>
                <a:sym typeface="Arial" panose="020B0604020202020204"/>
              </a:rPr>
            </a:fld>
            <a:endParaRPr sz="1200">
              <a:latin typeface="Arial" panose="020B0604020202020204"/>
              <a:ea typeface="Arial" panose="020B0604020202020204"/>
              <a:cs typeface="Arial" panose="020B0604020202020204"/>
              <a:sym typeface="Arial" panose="020B0604020202020204"/>
            </a:endParaRPr>
          </a:p>
        </p:txBody>
      </p:sp>
      <p:sp>
        <p:nvSpPr>
          <p:cNvPr id="122" name="Google Shape;122;p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3: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30" name="Google Shape;130;p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5: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a:latin typeface="Arial" panose="020B0604020202020204"/>
                <a:ea typeface="Arial" panose="020B0604020202020204"/>
                <a:cs typeface="Arial" panose="020B0604020202020204"/>
                <a:sym typeface="Arial" panose="020B0604020202020204"/>
              </a:rPr>
            </a:fld>
            <a:endParaRPr sz="1200">
              <a:latin typeface="Arial" panose="020B0604020202020204"/>
              <a:ea typeface="Arial" panose="020B0604020202020204"/>
              <a:cs typeface="Arial" panose="020B0604020202020204"/>
              <a:sym typeface="Arial" panose="020B0604020202020204"/>
            </a:endParaRPr>
          </a:p>
        </p:txBody>
      </p:sp>
      <p:sp>
        <p:nvSpPr>
          <p:cNvPr id="136" name="Google Shape;136;p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5: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41"/>
        <p:cNvGrpSpPr/>
        <p:nvPr/>
      </p:nvGrpSpPr>
      <p:grpSpPr>
        <a:xfrm>
          <a:off x="0" y="0"/>
          <a:ext cx="0" cy="0"/>
          <a:chOff x="0" y="0"/>
          <a:chExt cx="0" cy="0"/>
        </a:xfrm>
      </p:grpSpPr>
      <p:sp>
        <p:nvSpPr>
          <p:cNvPr id="142" name="Google Shape;142;p6:notes"/>
          <p:cNvSpPr txBox="1"/>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Arial" panose="020B0604020202020204"/>
              <a:buNone/>
            </a:pPr>
            <a:fld id="{00000000-1234-1234-1234-123412341234}" type="slidenum">
              <a:rPr lang="en-US" sz="1200">
                <a:latin typeface="Arial" panose="020B0604020202020204"/>
                <a:ea typeface="Arial" panose="020B0604020202020204"/>
                <a:cs typeface="Arial" panose="020B0604020202020204"/>
                <a:sym typeface="Arial" panose="020B0604020202020204"/>
              </a:rPr>
            </a:fld>
            <a:endParaRPr sz="1200">
              <a:latin typeface="Arial" panose="020B0604020202020204"/>
              <a:ea typeface="Arial" panose="020B0604020202020204"/>
              <a:cs typeface="Arial" panose="020B0604020202020204"/>
              <a:sym typeface="Arial" panose="020B0604020202020204"/>
            </a:endParaRPr>
          </a:p>
        </p:txBody>
      </p:sp>
      <p:sp>
        <p:nvSpPr>
          <p:cNvPr id="143" name="Google Shape;143;p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 name="Google Shape;144;p6:notes"/>
          <p:cNvSpPr txBox="1"/>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6" name="Shape 176"/>
        <p:cNvGrpSpPr/>
        <p:nvPr/>
      </p:nvGrpSpPr>
      <p:grpSpPr>
        <a:xfrm>
          <a:off x="0" y="0"/>
          <a:ext cx="0" cy="0"/>
          <a:chOff x="0" y="0"/>
          <a:chExt cx="0" cy="0"/>
        </a:xfrm>
      </p:grpSpPr>
      <p:sp>
        <p:nvSpPr>
          <p:cNvPr id="177" name="Google Shape;177;p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78" name="Google Shape;178;p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2" name="Shape 182"/>
        <p:cNvGrpSpPr/>
        <p:nvPr/>
      </p:nvGrpSpPr>
      <p:grpSpPr>
        <a:xfrm>
          <a:off x="0" y="0"/>
          <a:ext cx="0" cy="0"/>
          <a:chOff x="0" y="0"/>
          <a:chExt cx="0" cy="0"/>
        </a:xfrm>
      </p:grpSpPr>
      <p:sp>
        <p:nvSpPr>
          <p:cNvPr id="183" name="Google Shape;183;p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84" name="Google Shape;184;p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188"/>
        <p:cNvGrpSpPr/>
        <p:nvPr/>
      </p:nvGrpSpPr>
      <p:grpSpPr>
        <a:xfrm>
          <a:off x="0" y="0"/>
          <a:ext cx="0" cy="0"/>
          <a:chOff x="0" y="0"/>
          <a:chExt cx="0" cy="0"/>
        </a:xfrm>
      </p:grpSpPr>
      <p:sp>
        <p:nvSpPr>
          <p:cNvPr id="189" name="Google Shape;189;p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90" name="Google Shape;190;p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1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196" name="Google Shape;196;p1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200"/>
        <p:cNvGrpSpPr/>
        <p:nvPr/>
      </p:nvGrpSpPr>
      <p:grpSpPr>
        <a:xfrm>
          <a:off x="0" y="0"/>
          <a:ext cx="0" cy="0"/>
          <a:chOff x="0" y="0"/>
          <a:chExt cx="0" cy="0"/>
        </a:xfrm>
      </p:grpSpPr>
      <p:sp>
        <p:nvSpPr>
          <p:cNvPr id="201" name="Google Shape;201;p1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02" name="Google Shape;202;p1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7" name="Shape 207"/>
        <p:cNvGrpSpPr/>
        <p:nvPr/>
      </p:nvGrpSpPr>
      <p:grpSpPr>
        <a:xfrm>
          <a:off x="0" y="0"/>
          <a:ext cx="0" cy="0"/>
          <a:chOff x="0" y="0"/>
          <a:chExt cx="0" cy="0"/>
        </a:xfrm>
      </p:grpSpPr>
      <p:sp>
        <p:nvSpPr>
          <p:cNvPr id="208" name="Google Shape;208;p1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09" name="Google Shape;209;p1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3" name="Shape 213"/>
        <p:cNvGrpSpPr/>
        <p:nvPr/>
      </p:nvGrpSpPr>
      <p:grpSpPr>
        <a:xfrm>
          <a:off x="0" y="0"/>
          <a:ext cx="0" cy="0"/>
          <a:chOff x="0" y="0"/>
          <a:chExt cx="0" cy="0"/>
        </a:xfrm>
      </p:grpSpPr>
      <p:sp>
        <p:nvSpPr>
          <p:cNvPr id="214" name="Google Shape;214;p1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15" name="Google Shape;215;p1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9" name="Shape 219"/>
        <p:cNvGrpSpPr/>
        <p:nvPr/>
      </p:nvGrpSpPr>
      <p:grpSpPr>
        <a:xfrm>
          <a:off x="0" y="0"/>
          <a:ext cx="0" cy="0"/>
          <a:chOff x="0" y="0"/>
          <a:chExt cx="0" cy="0"/>
        </a:xfrm>
      </p:grpSpPr>
      <p:sp>
        <p:nvSpPr>
          <p:cNvPr id="220" name="Google Shape;220;p1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21" name="Google Shape;221;p1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4" name="Shape 224"/>
        <p:cNvGrpSpPr/>
        <p:nvPr/>
      </p:nvGrpSpPr>
      <p:grpSpPr>
        <a:xfrm>
          <a:off x="0" y="0"/>
          <a:ext cx="0" cy="0"/>
          <a:chOff x="0" y="0"/>
          <a:chExt cx="0" cy="0"/>
        </a:xfrm>
      </p:grpSpPr>
      <p:sp>
        <p:nvSpPr>
          <p:cNvPr id="225" name="Google Shape;225;p1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26" name="Google Shape;226;p1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0" name="Shape 230"/>
        <p:cNvGrpSpPr/>
        <p:nvPr/>
      </p:nvGrpSpPr>
      <p:grpSpPr>
        <a:xfrm>
          <a:off x="0" y="0"/>
          <a:ext cx="0" cy="0"/>
          <a:chOff x="0" y="0"/>
          <a:chExt cx="0" cy="0"/>
        </a:xfrm>
      </p:grpSpPr>
      <p:sp>
        <p:nvSpPr>
          <p:cNvPr id="231" name="Google Shape;231;p1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32" name="Google Shape;232;p1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7" name="Shape 237"/>
        <p:cNvGrpSpPr/>
        <p:nvPr/>
      </p:nvGrpSpPr>
      <p:grpSpPr>
        <a:xfrm>
          <a:off x="0" y="0"/>
          <a:ext cx="0" cy="0"/>
          <a:chOff x="0" y="0"/>
          <a:chExt cx="0" cy="0"/>
        </a:xfrm>
      </p:grpSpPr>
      <p:sp>
        <p:nvSpPr>
          <p:cNvPr id="238" name="Google Shape;238;p1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39" name="Google Shape;239;p1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18: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45" name="Google Shape;245;p18: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9" name="Shape 249"/>
        <p:cNvGrpSpPr/>
        <p:nvPr/>
      </p:nvGrpSpPr>
      <p:grpSpPr>
        <a:xfrm>
          <a:off x="0" y="0"/>
          <a:ext cx="0" cy="0"/>
          <a:chOff x="0" y="0"/>
          <a:chExt cx="0" cy="0"/>
        </a:xfrm>
      </p:grpSpPr>
      <p:sp>
        <p:nvSpPr>
          <p:cNvPr id="250" name="Google Shape;250;p19: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1" name="Google Shape;251;p19: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5" name="Shape 255"/>
        <p:cNvGrpSpPr/>
        <p:nvPr/>
      </p:nvGrpSpPr>
      <p:grpSpPr>
        <a:xfrm>
          <a:off x="0" y="0"/>
          <a:ext cx="0" cy="0"/>
          <a:chOff x="0" y="0"/>
          <a:chExt cx="0" cy="0"/>
        </a:xfrm>
      </p:grpSpPr>
      <p:sp>
        <p:nvSpPr>
          <p:cNvPr id="256" name="Google Shape;256;p20: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57" name="Google Shape;257;p20: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1" name="Shape 261"/>
        <p:cNvGrpSpPr/>
        <p:nvPr/>
      </p:nvGrpSpPr>
      <p:grpSpPr>
        <a:xfrm>
          <a:off x="0" y="0"/>
          <a:ext cx="0" cy="0"/>
          <a:chOff x="0" y="0"/>
          <a:chExt cx="0" cy="0"/>
        </a:xfrm>
      </p:grpSpPr>
      <p:sp>
        <p:nvSpPr>
          <p:cNvPr id="262" name="Google Shape;262;p21: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63" name="Google Shape;263;p21: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9" name="Shape 269"/>
        <p:cNvGrpSpPr/>
        <p:nvPr/>
      </p:nvGrpSpPr>
      <p:grpSpPr>
        <a:xfrm>
          <a:off x="0" y="0"/>
          <a:ext cx="0" cy="0"/>
          <a:chOff x="0" y="0"/>
          <a:chExt cx="0" cy="0"/>
        </a:xfrm>
      </p:grpSpPr>
      <p:sp>
        <p:nvSpPr>
          <p:cNvPr id="270" name="Google Shape;270;p22: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71" name="Google Shape;271;p22: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5" name="Shape 275"/>
        <p:cNvGrpSpPr/>
        <p:nvPr/>
      </p:nvGrpSpPr>
      <p:grpSpPr>
        <a:xfrm>
          <a:off x="0" y="0"/>
          <a:ext cx="0" cy="0"/>
          <a:chOff x="0" y="0"/>
          <a:chExt cx="0" cy="0"/>
        </a:xfrm>
      </p:grpSpPr>
      <p:sp>
        <p:nvSpPr>
          <p:cNvPr id="276" name="Google Shape;276;p23: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77" name="Google Shape;277;p23: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283"/>
        <p:cNvGrpSpPr/>
        <p:nvPr/>
      </p:nvGrpSpPr>
      <p:grpSpPr>
        <a:xfrm>
          <a:off x="0" y="0"/>
          <a:ext cx="0" cy="0"/>
          <a:chOff x="0" y="0"/>
          <a:chExt cx="0" cy="0"/>
        </a:xfrm>
      </p:grpSpPr>
      <p:sp>
        <p:nvSpPr>
          <p:cNvPr id="284" name="Google Shape;284;p24: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85" name="Google Shape;285;p24: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289"/>
        <p:cNvGrpSpPr/>
        <p:nvPr/>
      </p:nvGrpSpPr>
      <p:grpSpPr>
        <a:xfrm>
          <a:off x="0" y="0"/>
          <a:ext cx="0" cy="0"/>
          <a:chOff x="0" y="0"/>
          <a:chExt cx="0" cy="0"/>
        </a:xfrm>
      </p:grpSpPr>
      <p:sp>
        <p:nvSpPr>
          <p:cNvPr id="290" name="Google Shape;290;p25: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91" name="Google Shape;291;p25: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6" name="Shape 296"/>
        <p:cNvGrpSpPr/>
        <p:nvPr/>
      </p:nvGrpSpPr>
      <p:grpSpPr>
        <a:xfrm>
          <a:off x="0" y="0"/>
          <a:ext cx="0" cy="0"/>
          <a:chOff x="0" y="0"/>
          <a:chExt cx="0" cy="0"/>
        </a:xfrm>
      </p:grpSpPr>
      <p:sp>
        <p:nvSpPr>
          <p:cNvPr id="297" name="Google Shape;297;p26: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298" name="Google Shape;298;p26: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303"/>
        <p:cNvGrpSpPr/>
        <p:nvPr/>
      </p:nvGrpSpPr>
      <p:grpSpPr>
        <a:xfrm>
          <a:off x="0" y="0"/>
          <a:ext cx="0" cy="0"/>
          <a:chOff x="0" y="0"/>
          <a:chExt cx="0" cy="0"/>
        </a:xfrm>
      </p:grpSpPr>
      <p:sp>
        <p:nvSpPr>
          <p:cNvPr id="304" name="Google Shape;304;p27:notes"/>
          <p:cNvSpPr txBox="1"/>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p>
        </p:txBody>
      </p:sp>
      <p:sp>
        <p:nvSpPr>
          <p:cNvPr id="305" name="Google Shape;305;p27:notes"/>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bg>
      <p:bgPr>
        <a:blipFill rotWithShape="1">
          <a:blip r:embed="rId2"/>
          <a:tile tx="0" ty="0" sx="55000" sy="55000" flip="none" algn="tl"/>
        </a:blipFill>
        <a:effectLst/>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9" name="Google Shape;19;p2"/>
          <p:cNvSpPr/>
          <p:nvPr/>
        </p:nvSpPr>
        <p:spPr>
          <a:xfrm>
            <a:off x="65088" y="69850"/>
            <a:ext cx="9013825" cy="6691313"/>
          </a:xfrm>
          <a:prstGeom prst="roundRect">
            <a:avLst>
              <a:gd name="adj" fmla="val 4929"/>
            </a:avLst>
          </a:prstGeom>
          <a:blipFill rotWithShape="1">
            <a:blip r:embed="rId2"/>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0" name="Google Shape;20;p2"/>
          <p:cNvSpPr/>
          <p:nvPr/>
        </p:nvSpPr>
        <p:spPr>
          <a:xfrm>
            <a:off x="63500" y="1449388"/>
            <a:ext cx="9020175" cy="15271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1" name="Google Shape;21;p2"/>
          <p:cNvSpPr/>
          <p:nvPr/>
        </p:nvSpPr>
        <p:spPr>
          <a:xfrm>
            <a:off x="63500" y="1397000"/>
            <a:ext cx="9020175" cy="12065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2" name="Google Shape;22;p2"/>
          <p:cNvSpPr/>
          <p:nvPr/>
        </p:nvSpPr>
        <p:spPr>
          <a:xfrm>
            <a:off x="63500" y="2976563"/>
            <a:ext cx="9020175" cy="111125"/>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3" name="Google Shape;23;p2"/>
          <p:cNvSpPr txBox="1"/>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4" name="Google Shape;24;p2"/>
          <p:cNvSpPr txBox="1"/>
          <p:nvPr>
            <p:ph type="ctrTitle"/>
          </p:nvPr>
        </p:nvSpPr>
        <p:spPr>
          <a:xfrm>
            <a:off x="457200" y="1505930"/>
            <a:ext cx="8229600" cy="1470025"/>
          </a:xfrm>
          <a:prstGeom prst="rect">
            <a:avLst/>
          </a:prstGeom>
          <a:noFill/>
          <a:ln>
            <a:noFill/>
          </a:ln>
        </p:spPr>
        <p:txBody>
          <a:bodyPr spcFirstLastPara="1" wrap="square" lIns="91425" tIns="45700" rIns="91425" bIns="91425" anchor="ctr" anchorCtr="0">
            <a:no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6" name="Google Shape;26;p2"/>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27" name="Google Shape;27;p2"/>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31" name="Google Shape;31;p3"/>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2" name="Google Shape;32;p3"/>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3" name="Google Shape;33;p3"/>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4" name="Shape 34"/>
        <p:cNvGrpSpPr/>
        <p:nvPr/>
      </p:nvGrpSpPr>
      <p:grpSpPr>
        <a:xfrm>
          <a:off x="0" y="0"/>
          <a:ext cx="0" cy="0"/>
          <a:chOff x="0" y="0"/>
          <a:chExt cx="0" cy="0"/>
        </a:xfrm>
      </p:grpSpPr>
      <p:sp>
        <p:nvSpPr>
          <p:cNvPr id="35" name="Google Shape;35;p4"/>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37" name="Google Shape;37;p4"/>
          <p:cNvSpPr txBox="1"/>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38" name="Google Shape;38;p4"/>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39" name="Google Shape;39;p4"/>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0" name="Google Shape;40;p4"/>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bl" matchingName="標題及表格">
  <p:cSld name="TABLE">
    <p:spTree>
      <p:nvGrpSpPr>
        <p:cNvPr id="41" name="Shape 41"/>
        <p:cNvGrpSpPr/>
        <p:nvPr/>
      </p:nvGrpSpPr>
      <p:grpSpPr>
        <a:xfrm>
          <a:off x="0" y="0"/>
          <a:ext cx="0" cy="0"/>
          <a:chOff x="0" y="0"/>
          <a:chExt cx="0" cy="0"/>
        </a:xfrm>
      </p:grpSpPr>
      <p:sp>
        <p:nvSpPr>
          <p:cNvPr id="42" name="Google Shape;42;p5"/>
          <p:cNvSpPr txBox="1"/>
          <p:nvPr>
            <p:ph type="title"/>
          </p:nvPr>
        </p:nvSpPr>
        <p:spPr>
          <a:xfrm>
            <a:off x="457200" y="76200"/>
            <a:ext cx="82296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5"/>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4" name="Google Shape;44;p5"/>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45" name="Google Shape;45;p5"/>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vl1pPr>
            <a:lvl2pPr marL="0" lvl="1" indent="0" algn="ctr">
              <a:lnSpc>
                <a:spcPct val="100000"/>
              </a:lnSpc>
              <a:spcBef>
                <a:spcPts val="0"/>
              </a:spcBef>
              <a:spcAft>
                <a:spcPts val="0"/>
              </a:spcAft>
              <a:buClr>
                <a:srgbClr val="FFFFFF"/>
              </a:buClr>
              <a:buSzPts val="1400"/>
              <a:buFont typeface="Libre Franklin"/>
              <a:buNone/>
              <a:defRPr/>
            </a:lvl2pPr>
            <a:lvl3pPr marL="0" lvl="2" indent="0" algn="ctr">
              <a:lnSpc>
                <a:spcPct val="100000"/>
              </a:lnSpc>
              <a:spcBef>
                <a:spcPts val="0"/>
              </a:spcBef>
              <a:spcAft>
                <a:spcPts val="0"/>
              </a:spcAft>
              <a:buClr>
                <a:srgbClr val="FFFFFF"/>
              </a:buClr>
              <a:buSzPts val="1400"/>
              <a:buFont typeface="Libre Franklin"/>
              <a:buNone/>
              <a:defRPr/>
            </a:lvl3pPr>
            <a:lvl4pPr marL="0" lvl="3" indent="0" algn="ctr">
              <a:lnSpc>
                <a:spcPct val="100000"/>
              </a:lnSpc>
              <a:spcBef>
                <a:spcPts val="0"/>
              </a:spcBef>
              <a:spcAft>
                <a:spcPts val="0"/>
              </a:spcAft>
              <a:buClr>
                <a:srgbClr val="FFFFFF"/>
              </a:buClr>
              <a:buSzPts val="1400"/>
              <a:buFont typeface="Libre Franklin"/>
              <a:buNone/>
              <a:defRPr/>
            </a:lvl4pPr>
            <a:lvl5pPr marL="0" lvl="4" indent="0" algn="ctr">
              <a:lnSpc>
                <a:spcPct val="100000"/>
              </a:lnSpc>
              <a:spcBef>
                <a:spcPts val="0"/>
              </a:spcBef>
              <a:spcAft>
                <a:spcPts val="0"/>
              </a:spcAft>
              <a:buClr>
                <a:srgbClr val="FFFFFF"/>
              </a:buClr>
              <a:buSzPts val="1400"/>
              <a:buFont typeface="Libre Franklin"/>
              <a:buNone/>
              <a:defRPr/>
            </a:lvl5pPr>
            <a:lvl6pPr marL="0" lvl="5" indent="0" algn="ctr">
              <a:lnSpc>
                <a:spcPct val="100000"/>
              </a:lnSpc>
              <a:spcBef>
                <a:spcPts val="0"/>
              </a:spcBef>
              <a:spcAft>
                <a:spcPts val="0"/>
              </a:spcAft>
              <a:buClr>
                <a:srgbClr val="FFFFFF"/>
              </a:buClr>
              <a:buSzPts val="1400"/>
              <a:buFont typeface="Libre Franklin"/>
              <a:buNone/>
              <a:defRPr/>
            </a:lvl6pPr>
            <a:lvl7pPr marL="0" lvl="6" indent="0" algn="ctr">
              <a:lnSpc>
                <a:spcPct val="100000"/>
              </a:lnSpc>
              <a:spcBef>
                <a:spcPts val="0"/>
              </a:spcBef>
              <a:spcAft>
                <a:spcPts val="0"/>
              </a:spcAft>
              <a:buClr>
                <a:srgbClr val="FFFFFF"/>
              </a:buClr>
              <a:buSzPts val="1400"/>
              <a:buFont typeface="Libre Franklin"/>
              <a:buNone/>
              <a:defRPr/>
            </a:lvl7pPr>
            <a:lvl8pPr marL="0" lvl="7" indent="0" algn="ctr">
              <a:lnSpc>
                <a:spcPct val="100000"/>
              </a:lnSpc>
              <a:spcBef>
                <a:spcPts val="0"/>
              </a:spcBef>
              <a:spcAft>
                <a:spcPts val="0"/>
              </a:spcAft>
              <a:buClr>
                <a:srgbClr val="FFFFFF"/>
              </a:buClr>
              <a:buSzPts val="1400"/>
              <a:buFont typeface="Libre Franklin"/>
              <a:buNone/>
              <a:defRPr/>
            </a:lvl8pPr>
            <a:lvl9pPr marL="0" lvl="8" indent="0" algn="ctr">
              <a:lnSpc>
                <a:spcPct val="100000"/>
              </a:lnSpc>
              <a:spcBef>
                <a:spcPts val="0"/>
              </a:spcBef>
              <a:spcAft>
                <a:spcPts val="0"/>
              </a:spcAft>
              <a:buClr>
                <a:srgbClr val="FFFFFF"/>
              </a:buClr>
              <a:buSzPts val="1400"/>
              <a:buFont typeface="Libre Franklin"/>
              <a:buNone/>
              <a:defRPr/>
            </a:lvl9pPr>
          </a:lstStyle>
          <a:p>
            <a:pPr marL="0" lvl="0" indent="0" algn="ctr" rtl="0">
              <a:spcBef>
                <a:spcPts val="0"/>
              </a:spcBef>
              <a:spcAft>
                <a:spcPts val="0"/>
              </a:spcAft>
              <a:buNone/>
            </a:pPr>
            <a:fld id="{00000000-1234-1234-1234-123412341234}" type="slidenum">
              <a:rPr lang="en-US"/>
            </a:fld>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showMasterSp="0" matchingName="Section Header">
  <p:cSld name="SECTION_HEADER">
    <p:bg>
      <p:bgPr>
        <a:blipFill rotWithShape="1">
          <a:blip r:embed="rId2"/>
          <a:tile tx="0" ty="0" sx="55000" sy="55000" flip="none" algn="tl"/>
        </a:blipFill>
        <a:effectLst/>
      </p:bgPr>
    </p:bg>
    <p:spTree>
      <p:nvGrpSpPr>
        <p:cNvPr id="46" name="Shape 46"/>
        <p:cNvGrpSpPr/>
        <p:nvPr/>
      </p:nvGrpSpPr>
      <p:grpSpPr>
        <a:xfrm>
          <a:off x="0" y="0"/>
          <a:ext cx="0" cy="0"/>
          <a:chOff x="0" y="0"/>
          <a:chExt cx="0" cy="0"/>
        </a:xfrm>
      </p:grpSpPr>
      <p:sp>
        <p:nvSpPr>
          <p:cNvPr id="47" name="Google Shape;47;p6"/>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48" name="Google Shape;48;p6"/>
          <p:cNvSpPr/>
          <p:nvPr/>
        </p:nvSpPr>
        <p:spPr>
          <a:xfrm>
            <a:off x="65313" y="69755"/>
            <a:ext cx="9013372" cy="6692201"/>
          </a:xfrm>
          <a:prstGeom prst="roundRect">
            <a:avLst>
              <a:gd name="adj" fmla="val 4929"/>
            </a:avLst>
          </a:prstGeom>
          <a:blipFill rotWithShape="1">
            <a:blip r:embed="rId2"/>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49" name="Google Shape;49;p6"/>
          <p:cNvSpPr/>
          <p:nvPr/>
        </p:nvSpPr>
        <p:spPr>
          <a:xfrm rot="10800000" flipH="1">
            <a:off x="69850" y="2376488"/>
            <a:ext cx="901382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50" name="Google Shape;50;p6"/>
          <p:cNvSpPr/>
          <p:nvPr/>
        </p:nvSpPr>
        <p:spPr>
          <a:xfrm>
            <a:off x="69850" y="2341563"/>
            <a:ext cx="9013825" cy="46038"/>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51" name="Google Shape;51;p6"/>
          <p:cNvSpPr/>
          <p:nvPr/>
        </p:nvSpPr>
        <p:spPr>
          <a:xfrm>
            <a:off x="68263" y="2468563"/>
            <a:ext cx="9015413" cy="46038"/>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52" name="Google Shape;52;p6"/>
          <p:cNvSpPr txBox="1"/>
          <p:nvPr>
            <p:ph type="title"/>
          </p:nvPr>
        </p:nvSpPr>
        <p:spPr>
          <a:xfrm>
            <a:off x="722313" y="952500"/>
            <a:ext cx="7772400" cy="1362075"/>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4000"/>
              <a:buFont typeface="Libre Franklin"/>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
          <p:cNvSpPr txBox="1"/>
          <p:nvPr>
            <p:ph type="body" idx="1"/>
          </p:nvPr>
        </p:nvSpPr>
        <p:spPr>
          <a:xfrm>
            <a:off x="722313" y="2547938"/>
            <a:ext cx="7772400" cy="1338262"/>
          </a:xfrm>
          <a:prstGeom prst="rect">
            <a:avLst/>
          </a:prstGeom>
          <a:noFill/>
          <a:ln>
            <a:noFill/>
          </a:ln>
        </p:spPr>
        <p:txBody>
          <a:bodyPr spcFirstLastPara="1" wrap="square" lIns="91425" tIns="45700" rIns="91425" bIns="45700" anchor="t" anchorCtr="0">
            <a:no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Libre Baskerville" panose="02000000000000000000"/>
              <a:buNone/>
              <a:defRPr sz="1400">
                <a:solidFill>
                  <a:srgbClr val="888888"/>
                </a:solidFill>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54" name="Google Shape;54;p6"/>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5" name="Google Shape;55;p6"/>
          <p:cNvSpPr txBox="1"/>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56" name="Google Shape;56;p6"/>
          <p:cNvSpPr/>
          <p:nvPr>
            <p:ph type="sldNum" idx="12"/>
          </p:nvPr>
        </p:nvSpPr>
        <p:spPr>
          <a:xfrm>
            <a:off x="146050" y="6208713"/>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57" name="Shape 57"/>
        <p:cNvGrpSpPr/>
        <p:nvPr/>
      </p:nvGrpSpPr>
      <p:grpSpPr>
        <a:xfrm>
          <a:off x="0" y="0"/>
          <a:ext cx="0" cy="0"/>
          <a:chOff x="0" y="0"/>
          <a:chExt cx="0" cy="0"/>
        </a:xfrm>
      </p:grpSpPr>
      <p:sp>
        <p:nvSpPr>
          <p:cNvPr id="58" name="Google Shape;58;p7"/>
          <p:cNvSpPr txBox="1"/>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7"/>
          <p:cNvSpPr txBox="1"/>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panose="02000000000000000000"/>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60" name="Google Shape;60;p7"/>
          <p:cNvSpPr txBox="1"/>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panose="02000000000000000000"/>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61" name="Google Shape;61;p7"/>
          <p:cNvSpPr txBox="1"/>
          <p:nvPr>
            <p:ph type="body" idx="3"/>
          </p:nvPr>
        </p:nvSpPr>
        <p:spPr>
          <a:xfrm>
            <a:off x="9144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62" name="Google Shape;62;p7"/>
          <p:cNvSpPr txBox="1"/>
          <p:nvPr>
            <p:ph type="body" idx="4"/>
          </p:nvPr>
        </p:nvSpPr>
        <p:spPr>
          <a:xfrm>
            <a:off x="4953000" y="2247900"/>
            <a:ext cx="3733800" cy="38862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63" name="Google Shape;63;p7"/>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4" name="Google Shape;64;p7"/>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5" name="Google Shape;65;p7"/>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66" name="Shape 66"/>
        <p:cNvGrpSpPr/>
        <p:nvPr/>
      </p:nvGrpSpPr>
      <p:grpSpPr>
        <a:xfrm>
          <a:off x="0" y="0"/>
          <a:ext cx="0" cy="0"/>
          <a:chOff x="0" y="0"/>
          <a:chExt cx="0" cy="0"/>
        </a:xfrm>
      </p:grpSpPr>
      <p:sp>
        <p:nvSpPr>
          <p:cNvPr id="67" name="Google Shape;67;p8"/>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8"/>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69" name="Google Shape;69;p8"/>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0" name="Google Shape;70;p8"/>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71" name="Shape 71"/>
        <p:cNvGrpSpPr/>
        <p:nvPr/>
      </p:nvGrpSpPr>
      <p:grpSpPr>
        <a:xfrm>
          <a:off x="0" y="0"/>
          <a:ext cx="0" cy="0"/>
          <a:chOff x="0" y="0"/>
          <a:chExt cx="0" cy="0"/>
        </a:xfrm>
      </p:grpSpPr>
      <p:sp>
        <p:nvSpPr>
          <p:cNvPr id="72" name="Google Shape;72;p9"/>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3" name="Google Shape;73;p9"/>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74" name="Google Shape;74;p9"/>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75" name="Shape 75"/>
        <p:cNvGrpSpPr/>
        <p:nvPr/>
      </p:nvGrpSpPr>
      <p:grpSpPr>
        <a:xfrm>
          <a:off x="0" y="0"/>
          <a:ext cx="0" cy="0"/>
          <a:chOff x="0" y="0"/>
          <a:chExt cx="0" cy="0"/>
        </a:xfrm>
      </p:grpSpPr>
      <p:sp>
        <p:nvSpPr>
          <p:cNvPr id="76" name="Google Shape;76;p10"/>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7" name="Google Shape;77;p10"/>
          <p:cNvSpPr/>
          <p:nvPr/>
        </p:nvSpPr>
        <p:spPr>
          <a:xfrm>
            <a:off x="63500" y="69850"/>
            <a:ext cx="9013825" cy="6692900"/>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8" name="Google Shape;78;p10"/>
          <p:cNvSpPr txBox="1"/>
          <p:nvPr>
            <p:ph type="title"/>
          </p:nvPr>
        </p:nvSpPr>
        <p:spPr>
          <a:xfrm>
            <a:off x="914400" y="273050"/>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4000"/>
              <a:buFont typeface="Libre Franklin"/>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0"/>
          <p:cNvSpPr txBox="1"/>
          <p:nvPr>
            <p:ph type="body" idx="1"/>
          </p:nvPr>
        </p:nvSpPr>
        <p:spPr>
          <a:xfrm>
            <a:off x="914400" y="1600200"/>
            <a:ext cx="1905000" cy="4495800"/>
          </a:xfrm>
          <a:prstGeom prst="rect">
            <a:avLst/>
          </a:prstGeom>
          <a:noFill/>
          <a:ln>
            <a:noFill/>
          </a:ln>
        </p:spPr>
        <p:txBody>
          <a:bodyPr spcFirstLastPara="1" wrap="square" lIns="91425" tIns="45700" rIns="91425" bIns="45700" anchor="t" anchorCtr="0">
            <a:noAutofit/>
          </a:bodyPr>
          <a:lstStyle>
            <a:lvl1pPr marL="457200" lvl="0" indent="-228600" algn="l">
              <a:spcBef>
                <a:spcPts val="580"/>
              </a:spcBef>
              <a:spcAft>
                <a:spcPts val="0"/>
              </a:spcAft>
              <a:buSzPts val="1530"/>
              <a:buNone/>
              <a:defRPr sz="1800"/>
            </a:lvl1pPr>
            <a:lvl2pPr marL="914400" lvl="1" indent="-228600" algn="l">
              <a:spcBef>
                <a:spcPts val="370"/>
              </a:spcBef>
              <a:spcAft>
                <a:spcPts val="0"/>
              </a:spcAft>
              <a:buSzPts val="1020"/>
              <a:buNone/>
              <a:defRPr sz="1200"/>
            </a:lvl2pPr>
            <a:lvl3pPr marL="1371600" lvl="2" indent="-228600" algn="l">
              <a:spcBef>
                <a:spcPts val="370"/>
              </a:spcBef>
              <a:spcAft>
                <a:spcPts val="0"/>
              </a:spcAft>
              <a:buSzPts val="850"/>
              <a:buNone/>
              <a:defRPr sz="1000"/>
            </a:lvl3pPr>
            <a:lvl4pPr marL="1828800" lvl="3" indent="-228600" algn="l">
              <a:spcBef>
                <a:spcPts val="370"/>
              </a:spcBef>
              <a:spcAft>
                <a:spcPts val="0"/>
              </a:spcAft>
              <a:buSzPts val="720"/>
              <a:buNone/>
              <a:defRPr sz="900"/>
            </a:lvl4pPr>
            <a:lvl5pPr marL="2286000" lvl="4" indent="-228600" algn="l">
              <a:spcBef>
                <a:spcPts val="370"/>
              </a:spcBef>
              <a:spcAft>
                <a:spcPts val="0"/>
              </a:spcAft>
              <a:buSzPts val="900"/>
              <a:buFont typeface="Libre Baskerville" panose="02000000000000000000"/>
              <a:buNone/>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80" name="Google Shape;80;p10"/>
          <p:cNvSpPr txBox="1"/>
          <p:nvPr>
            <p:ph type="body" idx="2"/>
          </p:nvPr>
        </p:nvSpPr>
        <p:spPr>
          <a:xfrm>
            <a:off x="2971800" y="1600200"/>
            <a:ext cx="5715000" cy="44958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81" name="Google Shape;81;p10"/>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2" name="Google Shape;82;p10"/>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83" name="Google Shape;83;p10"/>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84" name="Shape 84"/>
        <p:cNvGrpSpPr/>
        <p:nvPr/>
      </p:nvGrpSpPr>
      <p:grpSpPr>
        <a:xfrm>
          <a:off x="0" y="0"/>
          <a:ext cx="0" cy="0"/>
          <a:chOff x="0" y="0"/>
          <a:chExt cx="0" cy="0"/>
        </a:xfrm>
      </p:grpSpPr>
      <p:sp>
        <p:nvSpPr>
          <p:cNvPr id="85" name="Google Shape;85;p11"/>
          <p:cNvSpPr/>
          <p:nvPr/>
        </p:nvSpPr>
        <p:spPr>
          <a:xfrm rot="10800000" flipH="1">
            <a:off x="68263" y="4683125"/>
            <a:ext cx="9007475" cy="920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86" name="Google Shape;86;p11"/>
          <p:cNvSpPr/>
          <p:nvPr/>
        </p:nvSpPr>
        <p:spPr>
          <a:xfrm>
            <a:off x="68263" y="4649788"/>
            <a:ext cx="9007475" cy="46038"/>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87" name="Google Shape;87;p11"/>
          <p:cNvSpPr/>
          <p:nvPr/>
        </p:nvSpPr>
        <p:spPr>
          <a:xfrm>
            <a:off x="68263" y="4773613"/>
            <a:ext cx="9007475" cy="47625"/>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88" name="Google Shape;88;p11"/>
          <p:cNvSpPr txBox="1"/>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spcBef>
                <a:spcPts val="0"/>
              </a:spcBef>
              <a:spcAft>
                <a:spcPts val="0"/>
              </a:spcAft>
              <a:buClr>
                <a:schemeClr val="dk2"/>
              </a:buClr>
              <a:buSzPts val="2800"/>
              <a:buFont typeface="Libre Franklin"/>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11"/>
          <p:cNvSpPr txBox="1"/>
          <p:nvPr>
            <p:ph type="body" idx="1"/>
          </p:nvPr>
        </p:nvSpPr>
        <p:spPr>
          <a:xfrm>
            <a:off x="914400" y="5445825"/>
            <a:ext cx="7315200" cy="685800"/>
          </a:xfrm>
          <a:prstGeom prst="rect">
            <a:avLst/>
          </a:prstGeom>
          <a:noFill/>
          <a:ln>
            <a:noFill/>
          </a:ln>
        </p:spPr>
        <p:txBody>
          <a:bodyPr spcFirstLastPara="1" wrap="square" lIns="91425" tIns="45700" rIns="91425" bIns="45700" anchor="t" anchorCtr="0">
            <a:noAutofit/>
          </a:bodyPr>
          <a:lstStyle>
            <a:lvl1pPr marL="457200" lvl="0" indent="-228600" algn="l">
              <a:spcBef>
                <a:spcPts val="580"/>
              </a:spcBef>
              <a:spcAft>
                <a:spcPts val="0"/>
              </a:spcAft>
              <a:buSzPts val="1360"/>
              <a:buFont typeface="Libre Baskerville" panose="02000000000000000000"/>
              <a:buNone/>
              <a:defRPr sz="1600"/>
            </a:lvl1pPr>
            <a:lvl2pPr marL="914400" lvl="1" indent="-293370" algn="l">
              <a:spcBef>
                <a:spcPts val="370"/>
              </a:spcBef>
              <a:spcAft>
                <a:spcPts val="0"/>
              </a:spcAft>
              <a:buSzPts val="1020"/>
              <a:buChar char="⚫"/>
              <a:defRPr sz="1200"/>
            </a:lvl2pPr>
            <a:lvl3pPr marL="1371600" lvl="2" indent="-282575" algn="l">
              <a:spcBef>
                <a:spcPts val="370"/>
              </a:spcBef>
              <a:spcAft>
                <a:spcPts val="0"/>
              </a:spcAft>
              <a:buSzPts val="850"/>
              <a:buChar char="⚫"/>
              <a:defRPr sz="1000"/>
            </a:lvl3pPr>
            <a:lvl4pPr marL="1828800" lvl="3" indent="-274320" algn="l">
              <a:spcBef>
                <a:spcPts val="370"/>
              </a:spcBef>
              <a:spcAft>
                <a:spcPts val="0"/>
              </a:spcAft>
              <a:buSzPts val="720"/>
              <a:buChar char="⚫"/>
              <a:defRPr sz="900"/>
            </a:lvl4pPr>
            <a:lvl5pPr marL="2286000" lvl="4" indent="-285750" algn="l">
              <a:spcBef>
                <a:spcPts val="370"/>
              </a:spcBef>
              <a:spcAft>
                <a:spcPts val="0"/>
              </a:spcAft>
              <a:buSzPts val="900"/>
              <a:buFont typeface="Libre Baskerville" panose="02000000000000000000"/>
              <a:buChar char="o"/>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90" name="Google Shape;90;p1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lvl1pPr marR="0" lvl="0" algn="l" rtl="0">
              <a:spcBef>
                <a:spcPts val="580"/>
              </a:spcBef>
              <a:spcAft>
                <a:spcPts val="0"/>
              </a:spcAft>
              <a:buClr>
                <a:schemeClr val="accent1"/>
              </a:buClr>
              <a:buSzPts val="2720"/>
              <a:buFont typeface="Noto Sans Symbols"/>
              <a:buNone/>
              <a:defRPr sz="32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R="0" lvl="1"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R="0" lvl="2" algn="l" rtl="0">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R="0" lvl="3"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R="0" lvl="4" algn="l" rtl="0">
              <a:spcBef>
                <a:spcPts val="370"/>
              </a:spcBef>
              <a:spcAft>
                <a:spcPts val="0"/>
              </a:spcAft>
              <a:buClr>
                <a:schemeClr val="accent3"/>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R="0" lvl="5" algn="l" rtl="0">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R="0" lvl="6" algn="l" rtl="0">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R="0" lvl="7" algn="l" rtl="0">
              <a:spcBef>
                <a:spcPts val="370"/>
              </a:spcBef>
              <a:spcAft>
                <a:spcPts val="0"/>
              </a:spcAft>
              <a:buClr>
                <a:srgbClr val="E6AFA9"/>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R="0" lvl="8" algn="l" rtl="0">
              <a:spcBef>
                <a:spcPts val="370"/>
              </a:spcBef>
              <a:spcAft>
                <a:spcPts val="0"/>
              </a:spcAft>
              <a:buClr>
                <a:srgbClr val="CAABA9"/>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p:txBody>
      </p:sp>
      <p:sp>
        <p:nvSpPr>
          <p:cNvPr id="91" name="Google Shape;91;p11"/>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2" name="Google Shape;92;p11"/>
          <p:cNvSpPr txBox="1"/>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3" name="Google Shape;93;p11"/>
          <p:cNvSpPr/>
          <p:nvPr>
            <p:ph type="sldNum" idx="12"/>
          </p:nvPr>
        </p:nvSpPr>
        <p:spPr>
          <a:xfrm>
            <a:off x="146050" y="6208713"/>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94" name="Shape 94"/>
        <p:cNvGrpSpPr/>
        <p:nvPr/>
      </p:nvGrpSpPr>
      <p:grpSpPr>
        <a:xfrm>
          <a:off x="0" y="0"/>
          <a:ext cx="0" cy="0"/>
          <a:chOff x="0" y="0"/>
          <a:chExt cx="0" cy="0"/>
        </a:xfrm>
      </p:grpSpPr>
      <p:sp>
        <p:nvSpPr>
          <p:cNvPr id="95" name="Google Shape;95;p12"/>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12"/>
          <p:cNvSpPr txBox="1"/>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97" name="Google Shape;97;p12"/>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8" name="Google Shape;98;p12"/>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99" name="Google Shape;99;p12"/>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00" name="Shape 100"/>
        <p:cNvGrpSpPr/>
        <p:nvPr/>
      </p:nvGrpSpPr>
      <p:grpSpPr>
        <a:xfrm>
          <a:off x="0" y="0"/>
          <a:ext cx="0" cy="0"/>
          <a:chOff x="0" y="0"/>
          <a:chExt cx="0" cy="0"/>
        </a:xfrm>
      </p:grpSpPr>
      <p:sp>
        <p:nvSpPr>
          <p:cNvPr id="101" name="Google Shape;101;p13"/>
          <p:cNvSpPr txBox="1"/>
          <p:nvPr>
            <p:ph type="title"/>
          </p:nvPr>
        </p:nvSpPr>
        <p:spPr>
          <a:xfrm rot="5400000">
            <a:off x="4709477" y="2194564"/>
            <a:ext cx="5851525" cy="2011680"/>
          </a:xfrm>
          <a:prstGeom prst="rect">
            <a:avLst/>
          </a:prstGeom>
          <a:noFill/>
          <a:ln>
            <a:noFill/>
          </a:ln>
        </p:spPr>
        <p:txBody>
          <a:bodyPr spcFirstLastPara="1" wrap="square" lIns="91425" tIns="45700" rIns="91425" bIns="91425" anchor="b" anchorCtr="0">
            <a:no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3"/>
          <p:cNvSpPr txBox="1"/>
          <p:nvPr>
            <p:ph type="body" idx="1"/>
          </p:nvPr>
        </p:nvSpPr>
        <p:spPr>
          <a:xfrm rot="5400000">
            <a:off x="769937" y="419103"/>
            <a:ext cx="5851525" cy="5562600"/>
          </a:xfrm>
          <a:prstGeom prst="rect">
            <a:avLst/>
          </a:prstGeom>
          <a:noFill/>
          <a:ln>
            <a:noFill/>
          </a:ln>
        </p:spPr>
        <p:txBody>
          <a:bodyPr spcFirstLastPara="1" wrap="square" lIns="91425" tIns="45700" rIns="91425" bIns="45700" anchor="t" anchorCtr="0">
            <a:no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40"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p:txBody>
      </p:sp>
      <p:sp>
        <p:nvSpPr>
          <p:cNvPr id="103" name="Google Shape;103;p13"/>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104" name="Google Shape;104;p13"/>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2"/>
              </a:buClr>
              <a:buSzPts val="1800"/>
              <a:buNone/>
              <a:defRPr/>
            </a:lvl1pPr>
            <a:lvl2pPr lvl="1" algn="ctr">
              <a:lnSpc>
                <a:spcPct val="100000"/>
              </a:lnSpc>
              <a:spcBef>
                <a:spcPts val="0"/>
              </a:spcBef>
              <a:spcAft>
                <a:spcPts val="0"/>
              </a:spcAft>
              <a:buClr>
                <a:schemeClr val="dk1"/>
              </a:buClr>
              <a:buSzPts val="1800"/>
              <a:buNone/>
              <a:defRPr/>
            </a:lvl2pPr>
            <a:lvl3pPr lvl="2" algn="ctr">
              <a:lnSpc>
                <a:spcPct val="100000"/>
              </a:lnSpc>
              <a:spcBef>
                <a:spcPts val="0"/>
              </a:spcBef>
              <a:spcAft>
                <a:spcPts val="0"/>
              </a:spcAft>
              <a:buClr>
                <a:schemeClr val="dk1"/>
              </a:buClr>
              <a:buSzPts val="1800"/>
              <a:buNone/>
              <a:defRPr/>
            </a:lvl3pPr>
            <a:lvl4pPr lvl="3" algn="ctr">
              <a:lnSpc>
                <a:spcPct val="100000"/>
              </a:lnSpc>
              <a:spcBef>
                <a:spcPts val="0"/>
              </a:spcBef>
              <a:spcAft>
                <a:spcPts val="0"/>
              </a:spcAft>
              <a:buClr>
                <a:schemeClr val="dk1"/>
              </a:buClr>
              <a:buSzPts val="1800"/>
              <a:buNone/>
              <a:defRPr/>
            </a:lvl4pPr>
            <a:lvl5pPr lvl="4" algn="ctr">
              <a:lnSpc>
                <a:spcPct val="100000"/>
              </a:lnSpc>
              <a:spcBef>
                <a:spcPts val="0"/>
              </a:spcBef>
              <a:spcAft>
                <a:spcPts val="0"/>
              </a:spcAft>
              <a:buClr>
                <a:schemeClr val="dk1"/>
              </a:buClr>
              <a:buSzPts val="1800"/>
              <a:buNone/>
              <a:defRPr/>
            </a:lvl5pPr>
            <a:lvl6pPr lvl="5" algn="ctr">
              <a:lnSpc>
                <a:spcPct val="100000"/>
              </a:lnSpc>
              <a:spcBef>
                <a:spcPts val="0"/>
              </a:spcBef>
              <a:spcAft>
                <a:spcPts val="0"/>
              </a:spcAft>
              <a:buClr>
                <a:schemeClr val="dk1"/>
              </a:buClr>
              <a:buSzPts val="1800"/>
              <a:buNone/>
              <a:defRPr/>
            </a:lvl6pPr>
            <a:lvl7pPr lvl="6" algn="ctr">
              <a:lnSpc>
                <a:spcPct val="100000"/>
              </a:lnSpc>
              <a:spcBef>
                <a:spcPts val="0"/>
              </a:spcBef>
              <a:spcAft>
                <a:spcPts val="0"/>
              </a:spcAft>
              <a:buClr>
                <a:schemeClr val="dk1"/>
              </a:buClr>
              <a:buSzPts val="1800"/>
              <a:buNone/>
              <a:defRPr/>
            </a:lvl7pPr>
            <a:lvl8pPr lvl="7" algn="ctr">
              <a:lnSpc>
                <a:spcPct val="100000"/>
              </a:lnSpc>
              <a:spcBef>
                <a:spcPts val="0"/>
              </a:spcBef>
              <a:spcAft>
                <a:spcPts val="0"/>
              </a:spcAft>
              <a:buClr>
                <a:schemeClr val="dk1"/>
              </a:buClr>
              <a:buSzPts val="1800"/>
              <a:buNone/>
              <a:defRPr/>
            </a:lvl8pPr>
            <a:lvl9pPr lvl="8" algn="ctr">
              <a:lnSpc>
                <a:spcPct val="100000"/>
              </a:lnSpc>
              <a:spcBef>
                <a:spcPts val="0"/>
              </a:spcBef>
              <a:spcAft>
                <a:spcPts val="0"/>
              </a:spcAft>
              <a:buClr>
                <a:schemeClr val="dk1"/>
              </a:buClr>
              <a:buSzPts val="1800"/>
              <a:buNone/>
              <a:defRPr/>
            </a:lvl9pPr>
          </a:lstStyle>
          <a:p/>
        </p:txBody>
      </p:sp>
      <p:sp>
        <p:nvSpPr>
          <p:cNvPr id="105" name="Google Shape;105;p13"/>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1pPr>
            <a:lvl2pPr marL="0" lvl="1"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2pPr>
            <a:lvl3pPr marL="0" lvl="2"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3pPr>
            <a:lvl4pPr marL="0" lvl="3"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4pPr>
            <a:lvl5pPr marL="0" lvl="4"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5pPr>
            <a:lvl6pPr marL="0" lvl="5"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6pPr>
            <a:lvl7pPr marL="0" lvl="6"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7pPr>
            <a:lvl8pPr marL="0" lvl="7"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8pPr>
            <a:lvl9pPr marL="0" lvl="8" indent="0" algn="ctr">
              <a:lnSpc>
                <a:spcPct val="100000"/>
              </a:lnSpc>
              <a:spcBef>
                <a:spcPts val="0"/>
              </a:spcBef>
              <a:spcAft>
                <a:spcPts val="0"/>
              </a:spcAft>
              <a:buClr>
                <a:srgbClr val="FFFFFF"/>
              </a:buClr>
              <a:buSzPts val="1400"/>
              <a:buFont typeface="Libre Franklin"/>
              <a:buNone/>
              <a:defRPr>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 name="Google Shape;11;p1"/>
          <p:cNvSpPr/>
          <p:nvPr/>
        </p:nvSpPr>
        <p:spPr>
          <a:xfrm>
            <a:off x="63500" y="69850"/>
            <a:ext cx="9013825" cy="6692900"/>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600"/>
              <a:buFont typeface="Times New Roman" panose="02020603050405020304"/>
              <a:buNone/>
            </a:pPr>
            <a:endParaRPr sz="16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2" name="Google Shape;12;p1"/>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lvl1pPr marR="0" lvl="0" algn="l" rtl="0">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2pPr>
            <a:lvl3pPr marL="1371600" marR="0" lvl="2" indent="-336550" algn="l" rtl="0">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4pPr>
            <a:lvl5pPr marL="2286000" marR="0" lvl="4" indent="-355600" algn="l" rtl="0">
              <a:spcBef>
                <a:spcPts val="370"/>
              </a:spcBef>
              <a:spcAft>
                <a:spcPts val="0"/>
              </a:spcAft>
              <a:buClr>
                <a:schemeClr val="accent3"/>
              </a:buClr>
              <a:buSzPts val="2000"/>
              <a:buFont typeface="Libre Baskerville" panose="02000000000000000000"/>
              <a:buChar char="o"/>
              <a:defRPr sz="20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5pPr>
            <a:lvl6pPr marL="2743200" marR="0" lvl="5" indent="-342900" algn="l" rtl="0">
              <a:spcBef>
                <a:spcPts val="370"/>
              </a:spcBef>
              <a:spcAft>
                <a:spcPts val="0"/>
              </a:spcAft>
              <a:buClr>
                <a:schemeClr val="accent3"/>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6pPr>
            <a:lvl7pPr marL="3200400" marR="0" lvl="6" indent="-342900" algn="l" rtl="0">
              <a:spcBef>
                <a:spcPts val="370"/>
              </a:spcBef>
              <a:spcAft>
                <a:spcPts val="0"/>
              </a:spcAft>
              <a:buClr>
                <a:schemeClr val="accent2"/>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7pPr>
            <a:lvl8pPr marL="3657600" marR="0" lvl="7" indent="-342900" algn="l" rtl="0">
              <a:spcBef>
                <a:spcPts val="370"/>
              </a:spcBef>
              <a:spcAft>
                <a:spcPts val="0"/>
              </a:spcAft>
              <a:buClr>
                <a:srgbClr val="E6AFA9"/>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8pPr>
            <a:lvl9pPr marL="4114800" marR="0" lvl="8" indent="-342900" algn="l" rtl="0">
              <a:spcBef>
                <a:spcPts val="370"/>
              </a:spcBef>
              <a:spcAft>
                <a:spcPts val="0"/>
              </a:spcAft>
              <a:buClr>
                <a:srgbClr val="CAABA9"/>
              </a:buClr>
              <a:buSzPts val="1800"/>
              <a:buFont typeface="Libre Baskerville" panose="02000000000000000000"/>
              <a:buChar char="•"/>
              <a:defRPr sz="1800" b="0" i="0" u="none" strike="noStrike" cap="none">
                <a:solidFill>
                  <a:schemeClr val="dk1"/>
                </a:solidFill>
                <a:latin typeface="Libre Baskerville" panose="02000000000000000000"/>
                <a:ea typeface="Libre Baskerville" panose="02000000000000000000"/>
                <a:cs typeface="Libre Baskerville" panose="02000000000000000000"/>
                <a:sym typeface="Libre Baskerville" panose="02000000000000000000"/>
              </a:defRPr>
            </a:lvl9pPr>
          </a:lstStyle>
          <a:p/>
        </p:txBody>
      </p:sp>
      <p:sp>
        <p:nvSpPr>
          <p:cNvPr id="14" name="Google Shape;14;p1"/>
          <p:cNvSpPr txBox="1"/>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chemeClr val="dk2"/>
              </a:buClr>
              <a:buSzPts val="1400"/>
              <a:buFont typeface="Times New Roman" panose="02020603050405020304"/>
              <a:buNone/>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5" name="Google Shape;15;p1"/>
          <p:cNvSpPr txBox="1"/>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chemeClr val="dk2"/>
              </a:buClr>
              <a:buSzPts val="1400"/>
              <a:buFont typeface="Times New Roman" panose="02020603050405020304"/>
              <a:buNone/>
              <a:defRPr sz="1400" b="0" i="0" u="none" strike="noStrike" cap="none">
                <a:solidFill>
                  <a:schemeClr val="dk2"/>
                </a:solidFill>
                <a:latin typeface="Times New Roman" panose="02020603050405020304"/>
                <a:ea typeface="Times New Roman" panose="02020603050405020304"/>
                <a:cs typeface="Times New Roman" panose="02020603050405020304"/>
                <a:sym typeface="Times New Roman" panose="02020603050405020304"/>
              </a:defRPr>
            </a:lvl1pPr>
            <a:lvl2pPr marR="0" lvl="1"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R="0" lvl="2"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R="0" lvl="3"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R="0" lvl="4"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R="0" lvl="5"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6pPr>
            <a:lvl7pPr marR="0" lvl="6"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7pPr>
            <a:lvl8pPr marR="0" lvl="7"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8pPr>
            <a:lvl9pPr marR="0" lvl="8" algn="ctr" rtl="0">
              <a:lnSpc>
                <a:spcPct val="100000"/>
              </a:lnSpc>
              <a:spcBef>
                <a:spcPts val="0"/>
              </a:spcBef>
              <a:spcAft>
                <a:spcPts val="0"/>
              </a:spcAft>
              <a:buClr>
                <a:schemeClr val="dk1"/>
              </a:buClr>
              <a:buSzPts val="1600"/>
              <a:buFont typeface="Times New Roman" panose="02020603050405020304"/>
              <a:buNone/>
              <a:defRPr sz="16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9pPr>
          </a:lstStyle>
          <a:p/>
        </p:txBody>
      </p:sp>
      <p:sp>
        <p:nvSpPr>
          <p:cNvPr id="16" name="Google Shape;16;p1"/>
          <p:cNvSpPr/>
          <p:nvPr>
            <p:ph type="sldNum" idx="12"/>
          </p:nvPr>
        </p:nvSpPr>
        <p:spPr>
          <a:xfrm>
            <a:off x="146050"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1pPr>
            <a:lvl2pPr marL="0" marR="0" lvl="1"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2pPr>
            <a:lvl3pPr marL="0" marR="0" lvl="2"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3pPr>
            <a:lvl4pPr marL="0" marR="0" lvl="3"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4pPr>
            <a:lvl5pPr marL="0" marR="0" lvl="4"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5pPr>
            <a:lvl6pPr marL="0" marR="0" lvl="5"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6pPr>
            <a:lvl7pPr marL="0" marR="0" lvl="6"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7pPr>
            <a:lvl8pPr marL="0" marR="0" lvl="7"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8pPr>
            <a:lvl9pPr marL="0" marR="0" lvl="8" indent="0" algn="ctr" rtl="0">
              <a:lnSpc>
                <a:spcPct val="100000"/>
              </a:lnSpc>
              <a:spcBef>
                <a:spcPts val="0"/>
              </a:spcBef>
              <a:spcAft>
                <a:spcPts val="0"/>
              </a:spcAft>
              <a:buClr>
                <a:srgbClr val="FFFFFF"/>
              </a:buClr>
              <a:buSzPts val="1400"/>
              <a:buFont typeface="Libre Franklin"/>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US"/>
            </a:fld>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3.xml"/><Relationship Id="rId2" Type="http://schemas.openxmlformats.org/officeDocument/2006/relationships/image" Target="../media/image11.png"/><Relationship Id="rId1" Type="http://schemas.openxmlformats.org/officeDocument/2006/relationships/image" Target="../media/image10.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2.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3.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sp>
        <p:nvSpPr>
          <p:cNvPr id="111" name="Google Shape;111;p14"/>
          <p:cNvSpPr txBox="1"/>
          <p:nvPr>
            <p:ph type="subTitle" idx="1"/>
          </p:nvPr>
        </p:nvSpPr>
        <p:spPr>
          <a:xfrm>
            <a:off x="2555875" y="4508500"/>
            <a:ext cx="6400800" cy="16002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2210"/>
              <a:buFont typeface="Noto Sans Symbols"/>
              <a:buNone/>
            </a:pPr>
            <a:r>
              <a:rPr lang="en-US">
                <a:latin typeface="Libre Baskerville" panose="02000000000000000000"/>
                <a:ea typeface="Libre Baskerville" panose="02000000000000000000"/>
                <a:cs typeface="Libre Baskerville" panose="02000000000000000000"/>
                <a:sym typeface="Libre Baskerville" panose="02000000000000000000"/>
              </a:rPr>
              <a:t>                                           </a:t>
            </a:r>
            <a:r>
              <a:rPr lang="en-US" sz="2000">
                <a:latin typeface="Libre Baskerville" panose="02000000000000000000"/>
                <a:ea typeface="Libre Baskerville" panose="02000000000000000000"/>
                <a:cs typeface="Libre Baskerville" panose="02000000000000000000"/>
                <a:sym typeface="Libre Baskerville" panose="02000000000000000000"/>
              </a:rPr>
              <a:t>By –</a:t>
            </a:r>
            <a:r>
              <a:rPr lang="en-US" sz="2000"/>
              <a:t>Prakash Khasor,</a:t>
            </a:r>
            <a:br>
              <a:rPr lang="en-US" sz="2000"/>
            </a:br>
            <a:r>
              <a:rPr lang="en-US" sz="2000"/>
              <a:t>                                                  Assistant Professor(Cyber Security),</a:t>
            </a:r>
            <a:endParaRPr lang="en-US" sz="2000"/>
          </a:p>
          <a:p>
            <a:pPr marL="0" lvl="0" indent="0" algn="ctr" rtl="0">
              <a:spcBef>
                <a:spcPts val="580"/>
              </a:spcBef>
              <a:spcAft>
                <a:spcPts val="0"/>
              </a:spcAft>
              <a:buSzPts val="1700"/>
              <a:buFont typeface="Noto Sans Symbols"/>
              <a:buNone/>
            </a:pPr>
            <a:br>
              <a:rPr lang="en-US" sz="2000"/>
            </a:br>
            <a:r>
              <a:rPr lang="en-US" sz="2000"/>
              <a:t>                                                      </a:t>
            </a:r>
            <a:endParaRPr sz="2000">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2" name="Google Shape;112;p14"/>
          <p:cNvSpPr txBox="1"/>
          <p:nvPr>
            <p:ph type="ctrTitle"/>
          </p:nvPr>
        </p:nvSpPr>
        <p:spPr>
          <a:xfrm>
            <a:off x="457200" y="1506538"/>
            <a:ext cx="8229600" cy="1470025"/>
          </a:xfrm>
          <a:prstGeom prst="rect">
            <a:avLst/>
          </a:prstGeom>
          <a:noFill/>
          <a:ln>
            <a:noFill/>
          </a:ln>
        </p:spPr>
        <p:txBody>
          <a:bodyPr spcFirstLastPara="1" wrap="square" lIns="91425" tIns="45700" rIns="91425" bIns="91425" anchor="ctr" anchorCtr="0">
            <a:noAutofit/>
          </a:bodyPr>
          <a:lstStyle/>
          <a:p>
            <a:pPr marL="0" lvl="0" indent="0" algn="ctr" rtl="0">
              <a:spcBef>
                <a:spcPts val="0"/>
              </a:spcBef>
              <a:spcAft>
                <a:spcPts val="0"/>
              </a:spcAft>
              <a:buClr>
                <a:srgbClr val="FFFFFF"/>
              </a:buClr>
              <a:buSzPts val="4000"/>
              <a:buFont typeface="Libre Franklin"/>
              <a:buNone/>
            </a:pPr>
            <a:r>
              <a:rPr lang="en-US">
                <a:solidFill>
                  <a:srgbClr val="FFFFFF"/>
                </a:solidFill>
                <a:latin typeface="Libre Franklin"/>
                <a:ea typeface="Libre Franklin"/>
                <a:cs typeface="Libre Franklin"/>
                <a:sym typeface="Libre Franklin"/>
              </a:rPr>
              <a:t>Network Scanning  with Nmap</a:t>
            </a:r>
            <a:endParaRPr>
              <a:solidFill>
                <a:srgbClr val="FFFFFF"/>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17" name="Shape 117"/>
        <p:cNvGrpSpPr/>
        <p:nvPr/>
      </p:nvGrpSpPr>
      <p:grpSpPr>
        <a:xfrm>
          <a:off x="0" y="0"/>
          <a:ext cx="0" cy="0"/>
          <a:chOff x="0" y="0"/>
          <a:chExt cx="0" cy="0"/>
        </a:xfrm>
      </p:grpSpPr>
      <p:sp>
        <p:nvSpPr>
          <p:cNvPr id="118" name="Google Shape;118;p15"/>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rgbClr val="FF3300"/>
              </a:buClr>
              <a:buSzPts val="4000"/>
              <a:buFont typeface="Times New Roman" panose="02020603050405020304"/>
              <a:buNone/>
            </a:pPr>
            <a:r>
              <a:rPr lang="en-US" u="sng">
                <a:solidFill>
                  <a:srgbClr val="FF3300"/>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u="sng">
              <a:solidFill>
                <a:srgbClr val="FF33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15"/>
          <p:cNvSpPr txBox="1"/>
          <p:nvPr>
            <p:ph type="body" idx="1"/>
          </p:nvPr>
        </p:nvSpPr>
        <p:spPr>
          <a:xfrm>
            <a:off x="348680" y="1286272"/>
            <a:ext cx="8338120" cy="4285456"/>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Clr>
                <a:schemeClr val="accent1"/>
              </a:buClr>
              <a:buSzPts val="2210"/>
              <a:buFont typeface="Noto Sans Symbols"/>
              <a:buNone/>
            </a:pPr>
          </a:p>
          <a:p>
            <a:pPr marL="274320" lvl="0" indent="-274320" algn="l" rtl="0">
              <a:spcBef>
                <a:spcPts val="580"/>
              </a:spcBef>
              <a:spcAft>
                <a:spcPts val="0"/>
              </a:spcAft>
              <a:buClr>
                <a:schemeClr val="accent1"/>
              </a:buClr>
              <a:buSzPts val="2040"/>
              <a:buFont typeface="Noto Sans Symbols"/>
              <a:buChar char="⚫"/>
            </a:pPr>
            <a:r>
              <a:rPr lang="en-US" sz="2400" b="1"/>
              <a:t>The first step is Information Gathering in Penetration Testing</a:t>
            </a:r>
            <a:endParaRPr lang="en-US" sz="2400" b="1"/>
          </a:p>
          <a:p>
            <a:pPr marL="0" lvl="0" indent="0" algn="l" rtl="0">
              <a:spcBef>
                <a:spcPts val="580"/>
              </a:spcBef>
              <a:spcAft>
                <a:spcPts val="0"/>
              </a:spcAft>
              <a:buClr>
                <a:schemeClr val="accent1"/>
              </a:buClr>
              <a:buSzPts val="2210"/>
              <a:buNone/>
            </a:pPr>
          </a:p>
          <a:p>
            <a:pPr marL="274320" lvl="0" indent="-274320" algn="l" rtl="0">
              <a:spcBef>
                <a:spcPts val="580"/>
              </a:spcBef>
              <a:spcAft>
                <a:spcPts val="0"/>
              </a:spcAft>
              <a:buSzPts val="2040"/>
              <a:buChar char="⚫"/>
            </a:pPr>
            <a:r>
              <a:rPr lang="en-US" sz="2400"/>
              <a:t>Discover the services which are open or closed</a:t>
            </a:r>
            <a:endParaRPr lang="en-US" sz="2400"/>
          </a:p>
          <a:p>
            <a:pPr marL="274320" lvl="0" indent="-274320" algn="l" rtl="0">
              <a:spcBef>
                <a:spcPts val="580"/>
              </a:spcBef>
              <a:spcAft>
                <a:spcPts val="0"/>
              </a:spcAft>
              <a:buSzPts val="2040"/>
              <a:buChar char="⚫"/>
            </a:pPr>
            <a:r>
              <a:rPr lang="en-US" sz="2400"/>
              <a:t>Version label</a:t>
            </a:r>
            <a:endParaRPr lang="en-US" sz="2400"/>
          </a:p>
          <a:p>
            <a:pPr marL="274320" lvl="0" indent="-274320" algn="l" rtl="0">
              <a:spcBef>
                <a:spcPts val="580"/>
              </a:spcBef>
              <a:spcAft>
                <a:spcPts val="0"/>
              </a:spcAft>
              <a:buSzPts val="2040"/>
              <a:buChar char="⚫"/>
            </a:pPr>
            <a:r>
              <a:rPr lang="en-US" sz="2400"/>
              <a:t>Operation System and its types</a:t>
            </a:r>
            <a:endParaRPr 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24" name="Shape 124"/>
        <p:cNvGrpSpPr/>
        <p:nvPr/>
      </p:nvGrpSpPr>
      <p:grpSpPr>
        <a:xfrm>
          <a:off x="0" y="0"/>
          <a:ext cx="0" cy="0"/>
          <a:chOff x="0" y="0"/>
          <a:chExt cx="0" cy="0"/>
        </a:xfrm>
      </p:grpSpPr>
      <p:sp>
        <p:nvSpPr>
          <p:cNvPr id="125" name="Google Shape;125;p16"/>
          <p:cNvSpPr txBox="1"/>
          <p:nvPr>
            <p:ph type="title"/>
          </p:nvPr>
        </p:nvSpPr>
        <p:spPr>
          <a:xfrm>
            <a:off x="914400" y="188640"/>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Pre Study</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26" name="Google Shape;126;p16"/>
          <p:cNvSpPr txBox="1"/>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Clr>
                <a:schemeClr val="accent1"/>
              </a:buClr>
              <a:buSzPts val="2210"/>
              <a:buFont typeface="Noto Sans Symbols"/>
              <a:buChar char="⚫"/>
            </a:pPr>
            <a:r>
              <a:rPr lang="en-US" b="1">
                <a:solidFill>
                  <a:schemeClr val="dk2"/>
                </a:solidFill>
              </a:rPr>
              <a:t>TCP Packet Header</a:t>
            </a:r>
            <a:endParaRPr lang="en-US" b="1">
              <a:solidFill>
                <a:schemeClr val="dk2"/>
              </a:solidFill>
            </a:endParaRPr>
          </a:p>
        </p:txBody>
      </p:sp>
      <p:pic>
        <p:nvPicPr>
          <p:cNvPr id="127" name="Google Shape;127;p16"/>
          <p:cNvPicPr preferRelativeResize="0"/>
          <p:nvPr>
            <p:ph type="body" idx="2"/>
          </p:nvPr>
        </p:nvPicPr>
        <p:blipFill rotWithShape="1">
          <a:blip r:embed="rId1"/>
          <a:srcRect/>
          <a:stretch>
            <a:fillRect/>
          </a:stretch>
        </p:blipFill>
        <p:spPr>
          <a:xfrm>
            <a:off x="1191260" y="2530475"/>
            <a:ext cx="7495540" cy="318643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p:nvPr>
            <p:ph type="title"/>
          </p:nvPr>
        </p:nvSpPr>
        <p:spPr/>
        <p:txBody>
          <a:bodyPr/>
          <a:p>
            <a:endParaRPr lang="en-US"/>
          </a:p>
        </p:txBody>
      </p:sp>
      <p:pic>
        <p:nvPicPr>
          <p:cNvPr id="100" name="Picture Placeholder 99"/>
          <p:cNvPicPr/>
          <p:nvPr>
            <p:ph type="pic" idx="2"/>
          </p:nvPr>
        </p:nvPicPr>
        <p:blipFill>
          <a:blip r:embed="rId1"/>
          <a:stretch>
            <a:fillRect/>
          </a:stretch>
        </p:blipFill>
        <p:spPr>
          <a:xfrm>
            <a:off x="212090" y="864235"/>
            <a:ext cx="8756015" cy="45815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17"/>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r>
              <a:rPr lang="en-US"/>
              <a:t>Cont..</a:t>
            </a:r>
            <a:endParaRPr lang="en-US"/>
          </a:p>
        </p:txBody>
      </p:sp>
      <p:sp>
        <p:nvSpPr>
          <p:cNvPr id="133" name="Google Shape;133;p17"/>
          <p:cNvSpPr txBox="1"/>
          <p:nvPr>
            <p:ph type="body" idx="2"/>
          </p:nvPr>
        </p:nvSpPr>
        <p:spPr>
          <a:xfrm>
            <a:off x="914400" y="1447800"/>
            <a:ext cx="7768590"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Source and Destination Ports</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Sequence Number and Acknowledgment Number </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Data Offset ,Reserve , Control flag, Window</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Checksum, Urgent Pointer </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Options, Padding </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b="1">
                <a:latin typeface="Times New Roman" panose="02020603050405020304"/>
                <a:ea typeface="Times New Roman" panose="02020603050405020304"/>
                <a:cs typeface="Times New Roman" panose="02020603050405020304"/>
                <a:sym typeface="Times New Roman" panose="02020603050405020304"/>
              </a:rPr>
              <a:t>Data</a:t>
            </a:r>
            <a:endParaRPr lang="en-US" sz="2400" b="1">
              <a:latin typeface="Times New Roman" panose="02020603050405020304"/>
              <a:ea typeface="Times New Roman" panose="02020603050405020304"/>
              <a:cs typeface="Times New Roman" panose="02020603050405020304"/>
              <a:sym typeface="Times New Roman" panose="02020603050405020304"/>
            </a:endParaRPr>
          </a:p>
          <a:p>
            <a:pPr marL="274320" lvl="0" indent="-144780" algn="l" rtl="0">
              <a:spcBef>
                <a:spcPts val="580"/>
              </a:spcBef>
              <a:spcAft>
                <a:spcPts val="0"/>
              </a:spcAft>
              <a:buSzPts val="2040"/>
              <a:buNone/>
            </a:pPr>
            <a:endParaRPr sz="2400" b="1">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38" name="Shape 138"/>
        <p:cNvGrpSpPr/>
        <p:nvPr/>
      </p:nvGrpSpPr>
      <p:grpSpPr>
        <a:xfrm>
          <a:off x="0" y="0"/>
          <a:ext cx="0" cy="0"/>
          <a:chOff x="0" y="0"/>
          <a:chExt cx="0" cy="0"/>
        </a:xfrm>
      </p:grpSpPr>
      <p:sp>
        <p:nvSpPr>
          <p:cNvPr id="139" name="Google Shape;139;p18"/>
          <p:cNvSpPr txBox="1"/>
          <p:nvPr>
            <p:ph type="title"/>
          </p:nvPr>
        </p:nvSpPr>
        <p:spPr>
          <a:xfrm>
            <a:off x="457200" y="76200"/>
            <a:ext cx="82296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TCP Flag Definitions</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140" name="Google Shape;140;p18"/>
          <p:cNvGraphicFramePr/>
          <p:nvPr/>
        </p:nvGraphicFramePr>
        <p:xfrm>
          <a:off x="468313" y="1700808"/>
          <a:ext cx="8218500" cy="4297400"/>
        </p:xfrm>
        <a:graphic>
          <a:graphicData uri="http://schemas.openxmlformats.org/drawingml/2006/table">
            <a:tbl>
              <a:tblPr>
                <a:noFill/>
                <a:tableStyleId>{8FB8DA40-DD20-48F2-8754-F21A28584608}</a:tableStyleId>
              </a:tblPr>
              <a:tblGrid>
                <a:gridCol w="2016125"/>
                <a:gridCol w="6202375"/>
              </a:tblGrid>
              <a:tr h="692550">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latin typeface="Times New Roman" panose="02020603050405020304"/>
                          <a:ea typeface="Times New Roman" panose="02020603050405020304"/>
                          <a:cs typeface="Times New Roman" panose="02020603050405020304"/>
                          <a:sym typeface="Times New Roman" panose="02020603050405020304"/>
                        </a:rPr>
                        <a:t>Flag</a:t>
                      </a:r>
                      <a:endParaRPr lang="en-US" sz="28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accent1"/>
                        </a:buClr>
                        <a:buSzPts val="2800"/>
                        <a:buFont typeface="Noto Sans Symbols"/>
                        <a:buNone/>
                      </a:pPr>
                      <a:endParaRPr sz="2800" u="none" strike="noStrike" cap="none">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r>
              <a:tr h="780800">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rPr>
                        <a:t>SYN</a:t>
                      </a:r>
                      <a:endPar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rPr>
                        <a:t>The beginning of a connection</a:t>
                      </a:r>
                      <a:endPar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1264575">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CC33"/>
                          </a:solidFill>
                          <a:latin typeface="Times New Roman" panose="02020603050405020304"/>
                          <a:ea typeface="Times New Roman" panose="02020603050405020304"/>
                          <a:cs typeface="Times New Roman" panose="02020603050405020304"/>
                          <a:sym typeface="Times New Roman" panose="02020603050405020304"/>
                        </a:rPr>
                        <a:t>ACK</a:t>
                      </a:r>
                      <a:endParaRPr lang="en-US" sz="2800" u="none" strike="noStrike" cap="none">
                        <a:solidFill>
                          <a:srgbClr val="33CC33"/>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CC33"/>
                          </a:solidFill>
                          <a:latin typeface="Times New Roman" panose="02020603050405020304"/>
                          <a:ea typeface="Times New Roman" panose="02020603050405020304"/>
                          <a:cs typeface="Times New Roman" panose="02020603050405020304"/>
                          <a:sym typeface="Times New Roman" panose="02020603050405020304"/>
                        </a:rPr>
                        <a:t>Acknowledge receipt of a previous packet or transmission</a:t>
                      </a:r>
                      <a:endParaRPr lang="en-US" sz="2800" u="none" strike="noStrike" cap="none">
                        <a:solidFill>
                          <a:srgbClr val="33CC33"/>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80800">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FF0066"/>
                          </a:solidFill>
                          <a:latin typeface="Times New Roman" panose="02020603050405020304"/>
                          <a:ea typeface="Times New Roman" panose="02020603050405020304"/>
                          <a:cs typeface="Times New Roman" panose="02020603050405020304"/>
                          <a:sym typeface="Times New Roman" panose="02020603050405020304"/>
                        </a:rPr>
                        <a:t>FIN</a:t>
                      </a:r>
                      <a:endParaRPr lang="en-US" sz="2800" u="none" strike="noStrike" cap="none">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FF0066"/>
                          </a:solidFill>
                          <a:latin typeface="Times New Roman" panose="02020603050405020304"/>
                          <a:ea typeface="Times New Roman" panose="02020603050405020304"/>
                          <a:cs typeface="Times New Roman" panose="02020603050405020304"/>
                          <a:sym typeface="Times New Roman" panose="02020603050405020304"/>
                        </a:rPr>
                        <a:t>Close a TCP connection</a:t>
                      </a:r>
                      <a:endParaRPr lang="en-US" sz="2800" u="none" strike="noStrike" cap="none">
                        <a:solidFill>
                          <a:srgbClr val="FF0066"/>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r>
              <a:tr h="778675">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rPr>
                        <a:t>RST</a:t>
                      </a:r>
                      <a:endPar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accent1"/>
                        </a:buClr>
                        <a:buSzPts val="2800"/>
                        <a:buFont typeface="Noto Sans Symbols"/>
                        <a:buNone/>
                      </a:pPr>
                      <a:r>
                        <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rPr>
                        <a:t>Abort a TCP connection</a:t>
                      </a:r>
                      <a:endParaRPr lang="en-US" sz="2800" u="none" strike="noStrike" cap="none">
                        <a:solidFill>
                          <a:srgbClr val="3333FF"/>
                        </a:solidFill>
                        <a:latin typeface="Times New Roman" panose="02020603050405020304"/>
                        <a:ea typeface="Times New Roman" panose="02020603050405020304"/>
                        <a:cs typeface="Times New Roman" panose="02020603050405020304"/>
                        <a:sym typeface="Times New Roman" panose="02020603050405020304"/>
                      </a:endParaRPr>
                    </a:p>
                  </a:txBody>
                  <a:tcPr marL="91450" marR="91450" marT="45725" marB="45725">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fade">
                                      <p:cBhvr>
                                        <p:cTn id="7" dur="5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45" name="Shape 145"/>
        <p:cNvGrpSpPr/>
        <p:nvPr/>
      </p:nvGrpSpPr>
      <p:grpSpPr>
        <a:xfrm>
          <a:off x="0" y="0"/>
          <a:ext cx="0" cy="0"/>
          <a:chOff x="0" y="0"/>
          <a:chExt cx="0" cy="0"/>
        </a:xfrm>
      </p:grpSpPr>
      <p:sp>
        <p:nvSpPr>
          <p:cNvPr id="146" name="Google Shape;146;p19"/>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TCP conversation</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7" name="Google Shape;147;p19"/>
          <p:cNvCxnSpPr/>
          <p:nvPr/>
        </p:nvCxnSpPr>
        <p:spPr>
          <a:xfrm>
            <a:off x="1042988" y="2205038"/>
            <a:ext cx="0" cy="3887787"/>
          </a:xfrm>
          <a:prstGeom prst="straightConnector1">
            <a:avLst/>
          </a:prstGeom>
          <a:noFill/>
          <a:ln w="19050" cap="flat" cmpd="sng">
            <a:solidFill>
              <a:schemeClr val="dk1"/>
            </a:solidFill>
            <a:prstDash val="solid"/>
            <a:round/>
            <a:headEnd type="none" w="sm" len="sm"/>
            <a:tailEnd type="triangle" w="med" len="med"/>
          </a:ln>
        </p:spPr>
      </p:cxnSp>
      <p:cxnSp>
        <p:nvCxnSpPr>
          <p:cNvPr id="148" name="Google Shape;148;p19"/>
          <p:cNvCxnSpPr/>
          <p:nvPr/>
        </p:nvCxnSpPr>
        <p:spPr>
          <a:xfrm>
            <a:off x="3851275" y="2205038"/>
            <a:ext cx="0" cy="3887787"/>
          </a:xfrm>
          <a:prstGeom prst="straightConnector1">
            <a:avLst/>
          </a:prstGeom>
          <a:noFill/>
          <a:ln w="19050" cap="flat" cmpd="sng">
            <a:solidFill>
              <a:schemeClr val="dk1"/>
            </a:solidFill>
            <a:prstDash val="solid"/>
            <a:round/>
            <a:headEnd type="none" w="sm" len="sm"/>
            <a:tailEnd type="triangle" w="med" len="med"/>
          </a:ln>
        </p:spPr>
      </p:cxnSp>
      <p:cxnSp>
        <p:nvCxnSpPr>
          <p:cNvPr id="149" name="Google Shape;149;p19"/>
          <p:cNvCxnSpPr/>
          <p:nvPr/>
        </p:nvCxnSpPr>
        <p:spPr>
          <a:xfrm>
            <a:off x="1116013" y="2708275"/>
            <a:ext cx="2663825" cy="433388"/>
          </a:xfrm>
          <a:prstGeom prst="straightConnector1">
            <a:avLst/>
          </a:prstGeom>
          <a:noFill/>
          <a:ln w="19050" cap="flat" cmpd="sng">
            <a:solidFill>
              <a:srgbClr val="3333FF"/>
            </a:solidFill>
            <a:prstDash val="solid"/>
            <a:round/>
            <a:headEnd type="none" w="sm" len="sm"/>
            <a:tailEnd type="triangle" w="med" len="med"/>
          </a:ln>
        </p:spPr>
      </p:cxnSp>
      <p:cxnSp>
        <p:nvCxnSpPr>
          <p:cNvPr id="150" name="Google Shape;150;p19"/>
          <p:cNvCxnSpPr/>
          <p:nvPr/>
        </p:nvCxnSpPr>
        <p:spPr>
          <a:xfrm flipH="1">
            <a:off x="1042988" y="3644900"/>
            <a:ext cx="2808287" cy="504825"/>
          </a:xfrm>
          <a:prstGeom prst="straightConnector1">
            <a:avLst/>
          </a:prstGeom>
          <a:noFill/>
          <a:ln w="19050" cap="flat" cmpd="sng">
            <a:solidFill>
              <a:srgbClr val="33CC33"/>
            </a:solidFill>
            <a:prstDash val="solid"/>
            <a:round/>
            <a:headEnd type="none" w="sm" len="sm"/>
            <a:tailEnd type="triangle" w="med" len="med"/>
          </a:ln>
        </p:spPr>
      </p:cxnSp>
      <p:cxnSp>
        <p:nvCxnSpPr>
          <p:cNvPr id="151" name="Google Shape;151;p19"/>
          <p:cNvCxnSpPr/>
          <p:nvPr/>
        </p:nvCxnSpPr>
        <p:spPr>
          <a:xfrm>
            <a:off x="1042988" y="4508500"/>
            <a:ext cx="2736850" cy="503238"/>
          </a:xfrm>
          <a:prstGeom prst="straightConnector1">
            <a:avLst/>
          </a:prstGeom>
          <a:noFill/>
          <a:ln w="19050" cap="flat" cmpd="sng">
            <a:solidFill>
              <a:srgbClr val="FF0066"/>
            </a:solidFill>
            <a:prstDash val="solid"/>
            <a:round/>
            <a:headEnd type="none" w="sm" len="sm"/>
            <a:tailEnd type="triangle" w="med" len="med"/>
          </a:ln>
        </p:spPr>
      </p:cxnSp>
      <p:cxnSp>
        <p:nvCxnSpPr>
          <p:cNvPr id="152" name="Google Shape;152;p19"/>
          <p:cNvCxnSpPr/>
          <p:nvPr/>
        </p:nvCxnSpPr>
        <p:spPr>
          <a:xfrm>
            <a:off x="1042988" y="5516563"/>
            <a:ext cx="2808287" cy="0"/>
          </a:xfrm>
          <a:prstGeom prst="straightConnector1">
            <a:avLst/>
          </a:prstGeom>
          <a:noFill/>
          <a:ln w="19050" cap="flat" cmpd="sng">
            <a:solidFill>
              <a:srgbClr val="FFCC00"/>
            </a:solidFill>
            <a:prstDash val="solid"/>
            <a:round/>
            <a:headEnd type="triangle" w="med" len="med"/>
            <a:tailEnd type="triangle" w="med" len="med"/>
          </a:ln>
        </p:spPr>
      </p:cxnSp>
      <p:sp>
        <p:nvSpPr>
          <p:cNvPr id="153" name="Google Shape;153;p19"/>
          <p:cNvSpPr txBox="1"/>
          <p:nvPr/>
        </p:nvSpPr>
        <p:spPr>
          <a:xfrm>
            <a:off x="611188" y="1844675"/>
            <a:ext cx="792162"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Client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4" name="Google Shape;154;p19"/>
          <p:cNvSpPr txBox="1"/>
          <p:nvPr/>
        </p:nvSpPr>
        <p:spPr>
          <a:xfrm>
            <a:off x="3419475" y="1844675"/>
            <a:ext cx="935038"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Server</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5" name="Google Shape;155;p19"/>
          <p:cNvSpPr txBox="1"/>
          <p:nvPr/>
        </p:nvSpPr>
        <p:spPr>
          <a:xfrm>
            <a:off x="2195513" y="2565400"/>
            <a:ext cx="86360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SYN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6" name="Google Shape;156;p19"/>
          <p:cNvSpPr txBox="1"/>
          <p:nvPr/>
        </p:nvSpPr>
        <p:spPr>
          <a:xfrm>
            <a:off x="1908175" y="3500438"/>
            <a:ext cx="1223963"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SYN/ACK</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7" name="Google Shape;157;p19"/>
          <p:cNvSpPr txBox="1"/>
          <p:nvPr/>
        </p:nvSpPr>
        <p:spPr>
          <a:xfrm>
            <a:off x="2195513" y="4365625"/>
            <a:ext cx="86360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ACK</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58" name="Google Shape;158;p19"/>
          <p:cNvSpPr txBox="1"/>
          <p:nvPr/>
        </p:nvSpPr>
        <p:spPr>
          <a:xfrm>
            <a:off x="1187450" y="5157788"/>
            <a:ext cx="2592388"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Connection Established</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59" name="Google Shape;159;p19"/>
          <p:cNvCxnSpPr/>
          <p:nvPr/>
        </p:nvCxnSpPr>
        <p:spPr>
          <a:xfrm>
            <a:off x="5219700" y="2205038"/>
            <a:ext cx="0" cy="3887787"/>
          </a:xfrm>
          <a:prstGeom prst="straightConnector1">
            <a:avLst/>
          </a:prstGeom>
          <a:noFill/>
          <a:ln w="19050" cap="flat" cmpd="sng">
            <a:solidFill>
              <a:schemeClr val="dk1"/>
            </a:solidFill>
            <a:prstDash val="solid"/>
            <a:round/>
            <a:headEnd type="none" w="sm" len="sm"/>
            <a:tailEnd type="triangle" w="med" len="med"/>
          </a:ln>
        </p:spPr>
      </p:cxnSp>
      <p:cxnSp>
        <p:nvCxnSpPr>
          <p:cNvPr id="160" name="Google Shape;160;p19"/>
          <p:cNvCxnSpPr/>
          <p:nvPr/>
        </p:nvCxnSpPr>
        <p:spPr>
          <a:xfrm>
            <a:off x="8027988" y="2205038"/>
            <a:ext cx="0" cy="3887787"/>
          </a:xfrm>
          <a:prstGeom prst="straightConnector1">
            <a:avLst/>
          </a:prstGeom>
          <a:noFill/>
          <a:ln w="19050" cap="flat" cmpd="sng">
            <a:solidFill>
              <a:schemeClr val="dk1"/>
            </a:solidFill>
            <a:prstDash val="solid"/>
            <a:round/>
            <a:headEnd type="none" w="sm" len="sm"/>
            <a:tailEnd type="triangle" w="med" len="med"/>
          </a:ln>
        </p:spPr>
      </p:cxnSp>
      <p:cxnSp>
        <p:nvCxnSpPr>
          <p:cNvPr id="161" name="Google Shape;161;p19"/>
          <p:cNvCxnSpPr/>
          <p:nvPr/>
        </p:nvCxnSpPr>
        <p:spPr>
          <a:xfrm>
            <a:off x="5292725" y="2708275"/>
            <a:ext cx="2663825" cy="433388"/>
          </a:xfrm>
          <a:prstGeom prst="straightConnector1">
            <a:avLst/>
          </a:prstGeom>
          <a:noFill/>
          <a:ln w="19050" cap="flat" cmpd="sng">
            <a:solidFill>
              <a:srgbClr val="FF0066"/>
            </a:solidFill>
            <a:prstDash val="solid"/>
            <a:round/>
            <a:headEnd type="none" w="sm" len="sm"/>
            <a:tailEnd type="triangle" w="med" len="med"/>
          </a:ln>
        </p:spPr>
      </p:cxnSp>
      <p:cxnSp>
        <p:nvCxnSpPr>
          <p:cNvPr id="162" name="Google Shape;162;p19"/>
          <p:cNvCxnSpPr/>
          <p:nvPr/>
        </p:nvCxnSpPr>
        <p:spPr>
          <a:xfrm flipH="1">
            <a:off x="5219700" y="3644900"/>
            <a:ext cx="2808288" cy="504825"/>
          </a:xfrm>
          <a:prstGeom prst="straightConnector1">
            <a:avLst/>
          </a:prstGeom>
          <a:noFill/>
          <a:ln w="19050" cap="flat" cmpd="sng">
            <a:solidFill>
              <a:srgbClr val="33CC33"/>
            </a:solidFill>
            <a:prstDash val="solid"/>
            <a:round/>
            <a:headEnd type="none" w="sm" len="sm"/>
            <a:tailEnd type="triangle" w="med" len="med"/>
          </a:ln>
        </p:spPr>
      </p:cxnSp>
      <p:cxnSp>
        <p:nvCxnSpPr>
          <p:cNvPr id="163" name="Google Shape;163;p19"/>
          <p:cNvCxnSpPr/>
          <p:nvPr/>
        </p:nvCxnSpPr>
        <p:spPr>
          <a:xfrm>
            <a:off x="5219700" y="4508500"/>
            <a:ext cx="2736850" cy="503238"/>
          </a:xfrm>
          <a:prstGeom prst="straightConnector1">
            <a:avLst/>
          </a:prstGeom>
          <a:noFill/>
          <a:ln w="19050" cap="flat" cmpd="sng">
            <a:solidFill>
              <a:srgbClr val="3333FF"/>
            </a:solidFill>
            <a:prstDash val="solid"/>
            <a:round/>
            <a:headEnd type="none" w="sm" len="sm"/>
            <a:tailEnd type="triangle" w="med" len="med"/>
          </a:ln>
        </p:spPr>
      </p:cxnSp>
      <p:cxnSp>
        <p:nvCxnSpPr>
          <p:cNvPr id="164" name="Google Shape;164;p19"/>
          <p:cNvCxnSpPr/>
          <p:nvPr/>
        </p:nvCxnSpPr>
        <p:spPr>
          <a:xfrm>
            <a:off x="5219700" y="5516563"/>
            <a:ext cx="2808288" cy="0"/>
          </a:xfrm>
          <a:prstGeom prst="straightConnector1">
            <a:avLst/>
          </a:prstGeom>
          <a:noFill/>
          <a:ln w="19050" cap="flat" cmpd="sng">
            <a:solidFill>
              <a:srgbClr val="FFCC00"/>
            </a:solidFill>
            <a:prstDash val="solid"/>
            <a:round/>
            <a:headEnd type="triangle" w="med" len="med"/>
            <a:tailEnd type="triangle" w="med" len="med"/>
          </a:ln>
        </p:spPr>
      </p:cxnSp>
      <p:sp>
        <p:nvSpPr>
          <p:cNvPr id="165" name="Google Shape;165;p19"/>
          <p:cNvSpPr txBox="1"/>
          <p:nvPr/>
        </p:nvSpPr>
        <p:spPr>
          <a:xfrm>
            <a:off x="4787900" y="1844675"/>
            <a:ext cx="792163"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Client</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6" name="Google Shape;166;p19"/>
          <p:cNvSpPr txBox="1"/>
          <p:nvPr/>
        </p:nvSpPr>
        <p:spPr>
          <a:xfrm>
            <a:off x="7596188" y="1844675"/>
            <a:ext cx="935037"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Server</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7" name="Google Shape;167;p19"/>
          <p:cNvSpPr txBox="1"/>
          <p:nvPr/>
        </p:nvSpPr>
        <p:spPr>
          <a:xfrm>
            <a:off x="6372225" y="2565400"/>
            <a:ext cx="86360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FIN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8" name="Google Shape;168;p19"/>
          <p:cNvSpPr txBox="1"/>
          <p:nvPr/>
        </p:nvSpPr>
        <p:spPr>
          <a:xfrm>
            <a:off x="6084888" y="3500438"/>
            <a:ext cx="1223962"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ACK/FIN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69" name="Google Shape;169;p19"/>
          <p:cNvSpPr txBox="1"/>
          <p:nvPr/>
        </p:nvSpPr>
        <p:spPr>
          <a:xfrm>
            <a:off x="6372225" y="4365625"/>
            <a:ext cx="86360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ACK</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0" name="Google Shape;170;p19"/>
          <p:cNvSpPr txBox="1"/>
          <p:nvPr/>
        </p:nvSpPr>
        <p:spPr>
          <a:xfrm>
            <a:off x="5508625" y="5157788"/>
            <a:ext cx="1512888"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Connection</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71" name="Google Shape;171;p19"/>
          <p:cNvSpPr txBox="1"/>
          <p:nvPr/>
        </p:nvSpPr>
        <p:spPr>
          <a:xfrm>
            <a:off x="6804025" y="5157788"/>
            <a:ext cx="936625" cy="3667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rPr>
              <a:t>Closed</a:t>
            </a:r>
            <a:endParaRPr lang="en-US"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cxnSp>
        <p:nvCxnSpPr>
          <p:cNvPr id="172" name="Google Shape;172;p19"/>
          <p:cNvCxnSpPr/>
          <p:nvPr/>
        </p:nvCxnSpPr>
        <p:spPr>
          <a:xfrm>
            <a:off x="5219700" y="5516563"/>
            <a:ext cx="2808288" cy="0"/>
          </a:xfrm>
          <a:prstGeom prst="straightConnector1">
            <a:avLst/>
          </a:prstGeom>
          <a:noFill/>
          <a:ln w="76200" cap="flat" cmpd="sng">
            <a:solidFill>
              <a:srgbClr val="FFFFFF"/>
            </a:solidFill>
            <a:prstDash val="solid"/>
            <a:round/>
            <a:headEnd type="triangle" w="med" len="med"/>
            <a:tailEnd type="triangle" w="med" len="med"/>
          </a:ln>
        </p:spPr>
      </p:cxnSp>
      <p:sp>
        <p:nvSpPr>
          <p:cNvPr id="173" name="Google Shape;173;p19"/>
          <p:cNvSpPr txBox="1"/>
          <p:nvPr/>
        </p:nvSpPr>
        <p:spPr>
          <a:xfrm>
            <a:off x="1908175" y="1557338"/>
            <a:ext cx="1150938" cy="406400"/>
          </a:xfrm>
          <a:prstGeom prst="rect">
            <a:avLst/>
          </a:prstGeom>
          <a:noFill/>
          <a:ln w="9525" cap="flat" cmpd="sng">
            <a:solidFill>
              <a:schemeClr val="lt1"/>
            </a:solidFill>
            <a:prstDash val="solid"/>
            <a:miter lim="800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8000"/>
              </a:buClr>
              <a:buSzPts val="2000"/>
              <a:buFont typeface="Arial" panose="020B0604020202020204"/>
              <a:buNone/>
            </a:pPr>
            <a:r>
              <a:rPr lang="en-US" sz="2000" b="0" i="0" u="none" strike="noStrike" cap="none">
                <a:solidFill>
                  <a:srgbClr val="008000"/>
                </a:solidFill>
                <a:latin typeface="Arial" panose="020B0604020202020204"/>
                <a:ea typeface="Arial" panose="020B0604020202020204"/>
                <a:cs typeface="Arial" panose="020B0604020202020204"/>
                <a:sym typeface="Arial" panose="020B0604020202020204"/>
              </a:rPr>
              <a:t>Connect</a:t>
            </a:r>
            <a:endParaRPr lang="en-US" sz="2000" b="0" i="0" u="none" strike="noStrike" cap="none">
              <a:solidFill>
                <a:srgbClr val="008000"/>
              </a:solidFill>
              <a:latin typeface="Arial" panose="020B0604020202020204"/>
              <a:ea typeface="Arial" panose="020B0604020202020204"/>
              <a:cs typeface="Arial" panose="020B0604020202020204"/>
              <a:sym typeface="Arial" panose="020B0604020202020204"/>
            </a:endParaRPr>
          </a:p>
        </p:txBody>
      </p:sp>
      <p:sp>
        <p:nvSpPr>
          <p:cNvPr id="174" name="Google Shape;174;p19"/>
          <p:cNvSpPr txBox="1"/>
          <p:nvPr/>
        </p:nvSpPr>
        <p:spPr>
          <a:xfrm>
            <a:off x="5940425" y="1557338"/>
            <a:ext cx="1512888" cy="3968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3300"/>
              </a:buClr>
              <a:buSzPts val="2000"/>
              <a:buFont typeface="Arial" panose="020B0604020202020204"/>
              <a:buNone/>
            </a:pPr>
            <a:r>
              <a:rPr lang="en-US" sz="2000" b="0" i="0" u="none" strike="noStrike" cap="none">
                <a:solidFill>
                  <a:srgbClr val="FF3300"/>
                </a:solidFill>
                <a:latin typeface="Arial" panose="020B0604020202020204"/>
                <a:ea typeface="Arial" panose="020B0604020202020204"/>
                <a:cs typeface="Arial" panose="020B0604020202020204"/>
                <a:sym typeface="Arial" panose="020B0604020202020204"/>
              </a:rPr>
              <a:t>Disconnect</a:t>
            </a:r>
            <a:endParaRPr lang="en-US" sz="2000" b="0" i="0" u="none" strike="noStrike" cap="none">
              <a:solidFill>
                <a:srgbClr val="FF3300"/>
              </a:solidFill>
              <a:latin typeface="Arial" panose="020B0604020202020204"/>
              <a:ea typeface="Arial" panose="020B0604020202020204"/>
              <a:cs typeface="Arial" panose="020B0604020202020204"/>
              <a:sym typeface="Arial" panose="020B0604020202020204"/>
            </a:endParaRPr>
          </a:p>
        </p:txBody>
      </p:sp>
      <p:sp>
        <p:nvSpPr>
          <p:cNvPr id="175" name="Google Shape;175;p19"/>
          <p:cNvSpPr txBox="1"/>
          <p:nvPr/>
        </p:nvSpPr>
        <p:spPr>
          <a:xfrm>
            <a:off x="1763713" y="6092825"/>
            <a:ext cx="5976937" cy="51911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800"/>
              <a:buFont typeface="Arial" panose="020B0604020202020204"/>
              <a:buNone/>
            </a:pPr>
            <a:r>
              <a:rPr lang="en-US" sz="2800" b="0" i="0" u="sng" strike="noStrike" cap="none">
                <a:solidFill>
                  <a:schemeClr val="dk1"/>
                </a:solidFill>
                <a:latin typeface="Arial" panose="020B0604020202020204"/>
                <a:ea typeface="Arial" panose="020B0604020202020204"/>
                <a:cs typeface="Arial" panose="020B0604020202020204"/>
                <a:sym typeface="Arial" panose="020B0604020202020204"/>
              </a:rPr>
              <a:t>Three-way handshake</a:t>
            </a:r>
            <a:endParaRPr lang="en-US" sz="2800" b="0" i="0" u="sng"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fade">
                                      <p:cBhvr>
                                        <p:cTn id="7" dur="500"/>
                                        <p:tgtEl>
                                          <p:spTgt spid="155"/>
                                        </p:tgtEl>
                                      </p:cBhvr>
                                    </p:animEffect>
                                  </p:childTnLst>
                                </p:cTn>
                              </p:par>
                              <p:par>
                                <p:cTn id="8" presetID="10" presetClass="entr" presetSubtype="0" fill="hold" nodeType="withEffect">
                                  <p:stCondLst>
                                    <p:cond delay="0"/>
                                  </p:stCondLst>
                                  <p:childTnLst>
                                    <p:set>
                                      <p:cBhvr>
                                        <p:cTn id="9" dur="1" fill="hold">
                                          <p:stCondLst>
                                            <p:cond delay="0"/>
                                          </p:stCondLst>
                                        </p:cTn>
                                        <p:tgtEl>
                                          <p:spTgt spid="149"/>
                                        </p:tgtEl>
                                        <p:attrNameLst>
                                          <p:attrName>style.visibility</p:attrName>
                                        </p:attrNameLst>
                                      </p:cBhvr>
                                      <p:to>
                                        <p:strVal val="visible"/>
                                      </p:to>
                                    </p:set>
                                    <p:animEffect transition="in" filter="fade">
                                      <p:cBhvr>
                                        <p:cTn id="10" dur="500"/>
                                        <p:tgtEl>
                                          <p:spTgt spid="1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156"/>
                                        </p:tgtEl>
                                        <p:attrNameLst>
                                          <p:attrName>style.visibility</p:attrName>
                                        </p:attrNameLst>
                                      </p:cBhvr>
                                      <p:to>
                                        <p:strVal val="visible"/>
                                      </p:to>
                                    </p:set>
                                    <p:animEffect transition="in" filter="fade">
                                      <p:cBhvr>
                                        <p:cTn id="14" dur="500"/>
                                        <p:tgtEl>
                                          <p:spTgt spid="156"/>
                                        </p:tgtEl>
                                      </p:cBhvr>
                                    </p:animEffect>
                                  </p:childTnLst>
                                </p:cTn>
                              </p:par>
                              <p:par>
                                <p:cTn id="15" presetID="10" presetClass="entr" presetSubtype="0" fill="hold" nodeType="withEffect">
                                  <p:stCondLst>
                                    <p:cond delay="0"/>
                                  </p:stCondLst>
                                  <p:childTnLst>
                                    <p:set>
                                      <p:cBhvr>
                                        <p:cTn id="16" dur="1" fill="hold">
                                          <p:stCondLst>
                                            <p:cond delay="0"/>
                                          </p:stCondLst>
                                        </p:cTn>
                                        <p:tgtEl>
                                          <p:spTgt spid="150"/>
                                        </p:tgtEl>
                                        <p:attrNameLst>
                                          <p:attrName>style.visibility</p:attrName>
                                        </p:attrNameLst>
                                      </p:cBhvr>
                                      <p:to>
                                        <p:strVal val="visible"/>
                                      </p:to>
                                    </p:set>
                                    <p:animEffect transition="in" filter="fade">
                                      <p:cBhvr>
                                        <p:cTn id="17" dur="500"/>
                                        <p:tgtEl>
                                          <p:spTgt spid="150"/>
                                        </p:tgtEl>
                                      </p:cBhvr>
                                    </p:animEffect>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157"/>
                                        </p:tgtEl>
                                        <p:attrNameLst>
                                          <p:attrName>style.visibility</p:attrName>
                                        </p:attrNameLst>
                                      </p:cBhvr>
                                      <p:to>
                                        <p:strVal val="visible"/>
                                      </p:to>
                                    </p:set>
                                    <p:animEffect transition="in" filter="fade">
                                      <p:cBhvr>
                                        <p:cTn id="21" dur="500"/>
                                        <p:tgtEl>
                                          <p:spTgt spid="157"/>
                                        </p:tgtEl>
                                      </p:cBhvr>
                                    </p:animEffect>
                                  </p:childTnLst>
                                </p:cTn>
                              </p:par>
                              <p:par>
                                <p:cTn id="22" presetID="10" presetClass="entr" presetSubtype="0" fill="hold" nodeType="withEffect">
                                  <p:stCondLst>
                                    <p:cond delay="0"/>
                                  </p:stCondLst>
                                  <p:childTnLst>
                                    <p:set>
                                      <p:cBhvr>
                                        <p:cTn id="23" dur="1" fill="hold">
                                          <p:stCondLst>
                                            <p:cond delay="0"/>
                                          </p:stCondLst>
                                        </p:cTn>
                                        <p:tgtEl>
                                          <p:spTgt spid="151"/>
                                        </p:tgtEl>
                                        <p:attrNameLst>
                                          <p:attrName>style.visibility</p:attrName>
                                        </p:attrNameLst>
                                      </p:cBhvr>
                                      <p:to>
                                        <p:strVal val="visible"/>
                                      </p:to>
                                    </p:set>
                                    <p:animEffect transition="in" filter="fade">
                                      <p:cBhvr>
                                        <p:cTn id="24" dur="500"/>
                                        <p:tgtEl>
                                          <p:spTgt spid="151"/>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152"/>
                                        </p:tgtEl>
                                        <p:attrNameLst>
                                          <p:attrName>style.visibility</p:attrName>
                                        </p:attrNameLst>
                                      </p:cBhvr>
                                      <p:to>
                                        <p:strVal val="visible"/>
                                      </p:to>
                                    </p:set>
                                    <p:animEffect transition="in" filter="fade">
                                      <p:cBhvr>
                                        <p:cTn id="28" dur="2000"/>
                                        <p:tgtEl>
                                          <p:spTgt spid="152"/>
                                        </p:tgtEl>
                                      </p:cBhvr>
                                    </p:animEffect>
                                  </p:childTnLst>
                                </p:cTn>
                              </p:par>
                              <p:par>
                                <p:cTn id="29" presetID="10" presetClass="entr" presetSubtype="0" fill="hold" nodeType="withEffect">
                                  <p:stCondLst>
                                    <p:cond delay="0"/>
                                  </p:stCondLst>
                                  <p:childTnLst>
                                    <p:set>
                                      <p:cBhvr>
                                        <p:cTn id="30" dur="1" fill="hold">
                                          <p:stCondLst>
                                            <p:cond delay="0"/>
                                          </p:stCondLst>
                                        </p:cTn>
                                        <p:tgtEl>
                                          <p:spTgt spid="158"/>
                                        </p:tgtEl>
                                        <p:attrNameLst>
                                          <p:attrName>style.visibility</p:attrName>
                                        </p:attrNameLst>
                                      </p:cBhvr>
                                      <p:to>
                                        <p:strVal val="visible"/>
                                      </p:to>
                                    </p:set>
                                    <p:animEffect transition="in" filter="fade">
                                      <p:cBhvr>
                                        <p:cTn id="31" dur="2000"/>
                                        <p:tgtEl>
                                          <p:spTgt spid="15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74"/>
                                        </p:tgtEl>
                                        <p:attrNameLst>
                                          <p:attrName>style.visibility</p:attrName>
                                        </p:attrNameLst>
                                      </p:cBhvr>
                                      <p:to>
                                        <p:strVal val="visible"/>
                                      </p:to>
                                    </p:set>
                                    <p:animEffect transition="in" filter="fade">
                                      <p:cBhvr>
                                        <p:cTn id="36" dur="500"/>
                                        <p:tgtEl>
                                          <p:spTgt spid="174"/>
                                        </p:tgtEl>
                                      </p:cBhvr>
                                    </p:animEffect>
                                  </p:childTnLst>
                                </p:cTn>
                              </p:par>
                              <p:par>
                                <p:cTn id="37" presetID="10" presetClass="entr" presetSubtype="0" fill="hold" nodeType="withEffect">
                                  <p:stCondLst>
                                    <p:cond delay="0"/>
                                  </p:stCondLst>
                                  <p:childTnLst>
                                    <p:set>
                                      <p:cBhvr>
                                        <p:cTn id="38" dur="1" fill="hold">
                                          <p:stCondLst>
                                            <p:cond delay="0"/>
                                          </p:stCondLst>
                                        </p:cTn>
                                        <p:tgtEl>
                                          <p:spTgt spid="159"/>
                                        </p:tgtEl>
                                        <p:attrNameLst>
                                          <p:attrName>style.visibility</p:attrName>
                                        </p:attrNameLst>
                                      </p:cBhvr>
                                      <p:to>
                                        <p:strVal val="visible"/>
                                      </p:to>
                                    </p:set>
                                    <p:animEffect transition="in" filter="fade">
                                      <p:cBhvr>
                                        <p:cTn id="39" dur="500"/>
                                        <p:tgtEl>
                                          <p:spTgt spid="159"/>
                                        </p:tgtEl>
                                      </p:cBhvr>
                                    </p:animEffect>
                                  </p:childTnLst>
                                </p:cTn>
                              </p:par>
                              <p:par>
                                <p:cTn id="40" presetID="10" presetClass="entr" presetSubtype="0" fill="hold" nodeType="withEffect">
                                  <p:stCondLst>
                                    <p:cond delay="0"/>
                                  </p:stCondLst>
                                  <p:childTnLst>
                                    <p:set>
                                      <p:cBhvr>
                                        <p:cTn id="41" dur="1" fill="hold">
                                          <p:stCondLst>
                                            <p:cond delay="0"/>
                                          </p:stCondLst>
                                        </p:cTn>
                                        <p:tgtEl>
                                          <p:spTgt spid="160"/>
                                        </p:tgtEl>
                                        <p:attrNameLst>
                                          <p:attrName>style.visibility</p:attrName>
                                        </p:attrNameLst>
                                      </p:cBhvr>
                                      <p:to>
                                        <p:strVal val="visible"/>
                                      </p:to>
                                    </p:set>
                                    <p:animEffect transition="in" filter="fade">
                                      <p:cBhvr>
                                        <p:cTn id="42" dur="500"/>
                                        <p:tgtEl>
                                          <p:spTgt spid="160"/>
                                        </p:tgtEl>
                                      </p:cBhvr>
                                    </p:animEffect>
                                  </p:childTnLst>
                                </p:cTn>
                              </p:par>
                              <p:par>
                                <p:cTn id="43" presetID="10" presetClass="entr" presetSubtype="0" fill="hold" nodeType="withEffect">
                                  <p:stCondLst>
                                    <p:cond delay="0"/>
                                  </p:stCondLst>
                                  <p:childTnLst>
                                    <p:set>
                                      <p:cBhvr>
                                        <p:cTn id="44" dur="1" fill="hold">
                                          <p:stCondLst>
                                            <p:cond delay="0"/>
                                          </p:stCondLst>
                                        </p:cTn>
                                        <p:tgtEl>
                                          <p:spTgt spid="166"/>
                                        </p:tgtEl>
                                        <p:attrNameLst>
                                          <p:attrName>style.visibility</p:attrName>
                                        </p:attrNameLst>
                                      </p:cBhvr>
                                      <p:to>
                                        <p:strVal val="visible"/>
                                      </p:to>
                                    </p:set>
                                    <p:animEffect transition="in" filter="fade">
                                      <p:cBhvr>
                                        <p:cTn id="45" dur="500"/>
                                        <p:tgtEl>
                                          <p:spTgt spid="166"/>
                                        </p:tgtEl>
                                      </p:cBhvr>
                                    </p:animEffect>
                                  </p:childTnLst>
                                </p:cTn>
                              </p:par>
                              <p:par>
                                <p:cTn id="46" presetID="10" presetClass="entr" presetSubtype="0" fill="hold" nodeType="withEffect">
                                  <p:stCondLst>
                                    <p:cond delay="0"/>
                                  </p:stCondLst>
                                  <p:childTnLst>
                                    <p:set>
                                      <p:cBhvr>
                                        <p:cTn id="47" dur="1" fill="hold">
                                          <p:stCondLst>
                                            <p:cond delay="0"/>
                                          </p:stCondLst>
                                        </p:cTn>
                                        <p:tgtEl>
                                          <p:spTgt spid="165"/>
                                        </p:tgtEl>
                                        <p:attrNameLst>
                                          <p:attrName>style.visibility</p:attrName>
                                        </p:attrNameLst>
                                      </p:cBhvr>
                                      <p:to>
                                        <p:strVal val="visible"/>
                                      </p:to>
                                    </p:set>
                                    <p:animEffect transition="in" filter="fade">
                                      <p:cBhvr>
                                        <p:cTn id="48" dur="500"/>
                                        <p:tgtEl>
                                          <p:spTgt spid="165"/>
                                        </p:tgtEl>
                                      </p:cBhvr>
                                    </p:animEffect>
                                  </p:childTnLst>
                                </p:cTn>
                              </p:par>
                              <p:par>
                                <p:cTn id="49" presetID="10" presetClass="entr" presetSubtype="0" fill="hold" nodeType="withEffect">
                                  <p:stCondLst>
                                    <p:cond delay="0"/>
                                  </p:stCondLst>
                                  <p:childTnLst>
                                    <p:set>
                                      <p:cBhvr>
                                        <p:cTn id="50" dur="1" fill="hold">
                                          <p:stCondLst>
                                            <p:cond delay="0"/>
                                          </p:stCondLst>
                                        </p:cTn>
                                        <p:tgtEl>
                                          <p:spTgt spid="164"/>
                                        </p:tgtEl>
                                        <p:attrNameLst>
                                          <p:attrName>style.visibility</p:attrName>
                                        </p:attrNameLst>
                                      </p:cBhvr>
                                      <p:to>
                                        <p:strVal val="visible"/>
                                      </p:to>
                                    </p:set>
                                    <p:animEffect transition="in" filter="fade">
                                      <p:cBhvr>
                                        <p:cTn id="51" dur="500"/>
                                        <p:tgtEl>
                                          <p:spTgt spid="164"/>
                                        </p:tgtEl>
                                      </p:cBhvr>
                                    </p:animEffect>
                                  </p:childTnLst>
                                </p:cTn>
                              </p:par>
                            </p:childTnLst>
                          </p:cTn>
                        </p:par>
                        <p:par>
                          <p:cTn id="52" fill="hold">
                            <p:stCondLst>
                              <p:cond delay="500"/>
                            </p:stCondLst>
                            <p:childTnLst>
                              <p:par>
                                <p:cTn id="53" presetID="10" presetClass="entr" presetSubtype="0" fill="hold" nodeType="afterEffect">
                                  <p:stCondLst>
                                    <p:cond delay="0"/>
                                  </p:stCondLst>
                                  <p:childTnLst>
                                    <p:set>
                                      <p:cBhvr>
                                        <p:cTn id="54" dur="1" fill="hold">
                                          <p:stCondLst>
                                            <p:cond delay="0"/>
                                          </p:stCondLst>
                                        </p:cTn>
                                        <p:tgtEl>
                                          <p:spTgt spid="167"/>
                                        </p:tgtEl>
                                        <p:attrNameLst>
                                          <p:attrName>style.visibility</p:attrName>
                                        </p:attrNameLst>
                                      </p:cBhvr>
                                      <p:to>
                                        <p:strVal val="visible"/>
                                      </p:to>
                                    </p:set>
                                    <p:animEffect transition="in" filter="fade">
                                      <p:cBhvr>
                                        <p:cTn id="55" dur="500"/>
                                        <p:tgtEl>
                                          <p:spTgt spid="167"/>
                                        </p:tgtEl>
                                      </p:cBhvr>
                                    </p:animEffect>
                                  </p:childTnLst>
                                </p:cTn>
                              </p:par>
                              <p:par>
                                <p:cTn id="56" presetID="10" presetClass="entr" presetSubtype="0" fill="hold" nodeType="withEffect">
                                  <p:stCondLst>
                                    <p:cond delay="0"/>
                                  </p:stCondLst>
                                  <p:childTnLst>
                                    <p:set>
                                      <p:cBhvr>
                                        <p:cTn id="57" dur="1" fill="hold">
                                          <p:stCondLst>
                                            <p:cond delay="0"/>
                                          </p:stCondLst>
                                        </p:cTn>
                                        <p:tgtEl>
                                          <p:spTgt spid="161"/>
                                        </p:tgtEl>
                                        <p:attrNameLst>
                                          <p:attrName>style.visibility</p:attrName>
                                        </p:attrNameLst>
                                      </p:cBhvr>
                                      <p:to>
                                        <p:strVal val="visible"/>
                                      </p:to>
                                    </p:set>
                                    <p:animEffect transition="in" filter="fade">
                                      <p:cBhvr>
                                        <p:cTn id="58" dur="500"/>
                                        <p:tgtEl>
                                          <p:spTgt spid="161"/>
                                        </p:tgtEl>
                                      </p:cBhvr>
                                    </p:animEffect>
                                  </p:childTnLst>
                                </p:cTn>
                              </p:par>
                            </p:childTnLst>
                          </p:cTn>
                        </p:par>
                        <p:par>
                          <p:cTn id="59" fill="hold">
                            <p:stCondLst>
                              <p:cond delay="1000"/>
                            </p:stCondLst>
                            <p:childTnLst>
                              <p:par>
                                <p:cTn id="60" presetID="10" presetClass="entr" presetSubtype="0" fill="hold" nodeType="afterEffect">
                                  <p:stCondLst>
                                    <p:cond delay="0"/>
                                  </p:stCondLst>
                                  <p:childTnLst>
                                    <p:set>
                                      <p:cBhvr>
                                        <p:cTn id="61" dur="1" fill="hold">
                                          <p:stCondLst>
                                            <p:cond delay="0"/>
                                          </p:stCondLst>
                                        </p:cTn>
                                        <p:tgtEl>
                                          <p:spTgt spid="168"/>
                                        </p:tgtEl>
                                        <p:attrNameLst>
                                          <p:attrName>style.visibility</p:attrName>
                                        </p:attrNameLst>
                                      </p:cBhvr>
                                      <p:to>
                                        <p:strVal val="visible"/>
                                      </p:to>
                                    </p:set>
                                    <p:animEffect transition="in" filter="fade">
                                      <p:cBhvr>
                                        <p:cTn id="62" dur="500"/>
                                        <p:tgtEl>
                                          <p:spTgt spid="168"/>
                                        </p:tgtEl>
                                      </p:cBhvr>
                                    </p:animEffect>
                                  </p:childTnLst>
                                </p:cTn>
                              </p:par>
                              <p:par>
                                <p:cTn id="63" presetID="10" presetClass="entr" presetSubtype="0" fill="hold" nodeType="withEffect">
                                  <p:stCondLst>
                                    <p:cond delay="0"/>
                                  </p:stCondLst>
                                  <p:childTnLst>
                                    <p:set>
                                      <p:cBhvr>
                                        <p:cTn id="64" dur="1" fill="hold">
                                          <p:stCondLst>
                                            <p:cond delay="0"/>
                                          </p:stCondLst>
                                        </p:cTn>
                                        <p:tgtEl>
                                          <p:spTgt spid="162"/>
                                        </p:tgtEl>
                                        <p:attrNameLst>
                                          <p:attrName>style.visibility</p:attrName>
                                        </p:attrNameLst>
                                      </p:cBhvr>
                                      <p:to>
                                        <p:strVal val="visible"/>
                                      </p:to>
                                    </p:set>
                                    <p:animEffect transition="in" filter="fade">
                                      <p:cBhvr>
                                        <p:cTn id="65" dur="500"/>
                                        <p:tgtEl>
                                          <p:spTgt spid="162"/>
                                        </p:tgtEl>
                                      </p:cBhvr>
                                    </p:animEffect>
                                  </p:childTnLst>
                                </p:cTn>
                              </p:par>
                            </p:childTnLst>
                          </p:cTn>
                        </p:par>
                        <p:par>
                          <p:cTn id="66" fill="hold">
                            <p:stCondLst>
                              <p:cond delay="1500"/>
                            </p:stCondLst>
                            <p:childTnLst>
                              <p:par>
                                <p:cTn id="67" presetID="10" presetClass="entr" presetSubtype="0" fill="hold" nodeType="afterEffect">
                                  <p:stCondLst>
                                    <p:cond delay="0"/>
                                  </p:stCondLst>
                                  <p:childTnLst>
                                    <p:set>
                                      <p:cBhvr>
                                        <p:cTn id="68" dur="1" fill="hold">
                                          <p:stCondLst>
                                            <p:cond delay="0"/>
                                          </p:stCondLst>
                                        </p:cTn>
                                        <p:tgtEl>
                                          <p:spTgt spid="169"/>
                                        </p:tgtEl>
                                        <p:attrNameLst>
                                          <p:attrName>style.visibility</p:attrName>
                                        </p:attrNameLst>
                                      </p:cBhvr>
                                      <p:to>
                                        <p:strVal val="visible"/>
                                      </p:to>
                                    </p:set>
                                    <p:animEffect transition="in" filter="fade">
                                      <p:cBhvr>
                                        <p:cTn id="69" dur="500"/>
                                        <p:tgtEl>
                                          <p:spTgt spid="169"/>
                                        </p:tgtEl>
                                      </p:cBhvr>
                                    </p:animEffect>
                                  </p:childTnLst>
                                </p:cTn>
                              </p:par>
                              <p:par>
                                <p:cTn id="70" presetID="10" presetClass="entr" presetSubtype="0" fill="hold" nodeType="withEffect">
                                  <p:stCondLst>
                                    <p:cond delay="0"/>
                                  </p:stCondLst>
                                  <p:childTnLst>
                                    <p:set>
                                      <p:cBhvr>
                                        <p:cTn id="71" dur="1" fill="hold">
                                          <p:stCondLst>
                                            <p:cond delay="0"/>
                                          </p:stCondLst>
                                        </p:cTn>
                                        <p:tgtEl>
                                          <p:spTgt spid="163"/>
                                        </p:tgtEl>
                                        <p:attrNameLst>
                                          <p:attrName>style.visibility</p:attrName>
                                        </p:attrNameLst>
                                      </p:cBhvr>
                                      <p:to>
                                        <p:strVal val="visible"/>
                                      </p:to>
                                    </p:set>
                                    <p:animEffect transition="in" filter="fade">
                                      <p:cBhvr>
                                        <p:cTn id="72" dur="500"/>
                                        <p:tgtEl>
                                          <p:spTgt spid="163"/>
                                        </p:tgtEl>
                                      </p:cBhvr>
                                    </p:animEffect>
                                  </p:childTnLst>
                                </p:cTn>
                              </p:par>
                            </p:childTnLst>
                          </p:cTn>
                        </p:par>
                        <p:par>
                          <p:cTn id="73" fill="hold">
                            <p:stCondLst>
                              <p:cond delay="20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500"/>
                                        <p:tgtEl>
                                          <p:spTgt spid="170"/>
                                        </p:tgtEl>
                                      </p:cBhvr>
                                    </p:animEffect>
                                  </p:childTnLst>
                                </p:cTn>
                              </p:par>
                              <p:par>
                                <p:cTn id="77" presetID="10" presetClass="entr" presetSubtype="0" fill="hold" nodeType="withEffect">
                                  <p:stCondLst>
                                    <p:cond delay="0"/>
                                  </p:stCondLst>
                                  <p:childTnLst>
                                    <p:set>
                                      <p:cBhvr>
                                        <p:cTn id="78" dur="1" fill="hold">
                                          <p:stCondLst>
                                            <p:cond delay="0"/>
                                          </p:stCondLst>
                                        </p:cTn>
                                        <p:tgtEl>
                                          <p:spTgt spid="171"/>
                                        </p:tgtEl>
                                        <p:attrNameLst>
                                          <p:attrName>style.visibility</p:attrName>
                                        </p:attrNameLst>
                                      </p:cBhvr>
                                      <p:to>
                                        <p:strVal val="visible"/>
                                      </p:to>
                                    </p:set>
                                    <p:animEffect transition="in" filter="fade">
                                      <p:cBhvr>
                                        <p:cTn id="79" dur="500"/>
                                        <p:tgtEl>
                                          <p:spTgt spid="171"/>
                                        </p:tgtEl>
                                      </p:cBhvr>
                                    </p:animEffect>
                                  </p:childTnLst>
                                </p:cTn>
                              </p:par>
                              <p:par>
                                <p:cTn id="80" presetID="10" presetClass="entr" presetSubtype="0" fill="hold" nodeType="withEffect">
                                  <p:stCondLst>
                                    <p:cond delay="0"/>
                                  </p:stCondLst>
                                  <p:childTnLst>
                                    <p:set>
                                      <p:cBhvr>
                                        <p:cTn id="81" dur="1" fill="hold">
                                          <p:stCondLst>
                                            <p:cond delay="0"/>
                                          </p:stCondLst>
                                        </p:cTn>
                                        <p:tgtEl>
                                          <p:spTgt spid="172"/>
                                        </p:tgtEl>
                                        <p:attrNameLst>
                                          <p:attrName>style.visibility</p:attrName>
                                        </p:attrNameLst>
                                      </p:cBhvr>
                                      <p:to>
                                        <p:strVal val="visible"/>
                                      </p:to>
                                    </p:set>
                                    <p:animEffect transition="in" filter="fade">
                                      <p:cBhvr>
                                        <p:cTn id="82" dur="2000"/>
                                        <p:tgtEl>
                                          <p:spTgt spid="1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79" name="Shape 179"/>
        <p:cNvGrpSpPr/>
        <p:nvPr/>
      </p:nvGrpSpPr>
      <p:grpSpPr>
        <a:xfrm>
          <a:off x="0" y="0"/>
          <a:ext cx="0" cy="0"/>
          <a:chOff x="0" y="0"/>
          <a:chExt cx="0" cy="0"/>
        </a:xfrm>
      </p:grpSpPr>
      <p:sp>
        <p:nvSpPr>
          <p:cNvPr id="180" name="Google Shape;180;p20"/>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What is nmap?</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81" name="Google Shape;181;p20"/>
          <p:cNvSpPr txBox="1"/>
          <p:nvPr>
            <p:ph type="body" idx="1"/>
          </p:nvPr>
        </p:nvSpPr>
        <p:spPr>
          <a:xfrm>
            <a:off x="914400" y="1447800"/>
            <a:ext cx="7922260" cy="5191125"/>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NMAP is a free and open source utility for network discovery and security auditing. Like there are too many devices connected to the network and a pentester or network administrators will gather a information like which type of devices, their services uptimes, live systems, which kind of services are running their with the help of this utility.</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5" name="Shape 185"/>
        <p:cNvGrpSpPr/>
        <p:nvPr/>
      </p:nvGrpSpPr>
      <p:grpSpPr>
        <a:xfrm>
          <a:off x="0" y="0"/>
          <a:ext cx="0" cy="0"/>
          <a:chOff x="0" y="0"/>
          <a:chExt cx="0" cy="0"/>
        </a:xfrm>
      </p:grpSpPr>
      <p:sp>
        <p:nvSpPr>
          <p:cNvPr id="186" name="Google Shape;186;p21"/>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Quick Start Cheat-sheet</a:t>
            </a:r>
            <a:endParaRPr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187" name="Google Shape;187;p21"/>
          <p:cNvSpPr txBox="1"/>
          <p:nvPr>
            <p:ph type="body" idx="1"/>
          </p:nvPr>
        </p:nvSpPr>
        <p:spPr>
          <a:xfrm>
            <a:off x="323528" y="1447800"/>
            <a:ext cx="8363272" cy="486152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  Switch      Description                          Example </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  -sS          TCP SYN port scan.         nmap -sS 192.168.1.1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  -sT          TCP Connect port scan     nmap -sT 192.168.1.1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  -sU          UDP port scan.                 nmap -sU 192.168.1.1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  -sA          TCP ACK port scan.         nmap -sA 192.168.1.1</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22"/>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Conti......</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193" name="Google Shape;193;p22"/>
          <p:cNvSpPr txBox="1"/>
          <p:nvPr>
            <p:ph type="body" idx="1"/>
          </p:nvPr>
        </p:nvSpPr>
        <p:spPr>
          <a:xfrm>
            <a:off x="711200" y="1447800"/>
            <a:ext cx="8325296" cy="4933528"/>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Switch             Description                          Example </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a:latin typeface="Times New Roman" panose="02020603050405020304"/>
                <a:ea typeface="Times New Roman" panose="02020603050405020304"/>
                <a:cs typeface="Times New Roman" panose="02020603050405020304"/>
                <a:sym typeface="Times New Roman" panose="02020603050405020304"/>
              </a:rPr>
              <a:t>-Pn      Only port scan.                        nmap -Pn 192.168.1.1 </a:t>
            </a:r>
            <a:endParaRPr lang="en-US" sz="2400">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a:latin typeface="Times New Roman" panose="02020603050405020304"/>
                <a:ea typeface="Times New Roman" panose="02020603050405020304"/>
                <a:cs typeface="Times New Roman" panose="02020603050405020304"/>
                <a:sym typeface="Times New Roman" panose="02020603050405020304"/>
              </a:rPr>
              <a:t>-sn      Only host discovery.                 nmap -sn 192.168.1.1</a:t>
            </a:r>
            <a:endParaRPr lang="en-US" sz="2400">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a:latin typeface="Times New Roman" panose="02020603050405020304"/>
                <a:ea typeface="Times New Roman" panose="02020603050405020304"/>
                <a:cs typeface="Times New Roman" panose="02020603050405020304"/>
                <a:sym typeface="Times New Roman" panose="02020603050405020304"/>
              </a:rPr>
              <a:t>-PR     ARP discovery                         nmap -PR 192.168.1.1 </a:t>
            </a:r>
            <a:endParaRPr lang="en-US" sz="2400">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040"/>
              <a:buChar char="⚫"/>
            </a:pPr>
            <a:r>
              <a:rPr lang="en-US" sz="2400">
                <a:latin typeface="Times New Roman" panose="02020603050405020304"/>
                <a:ea typeface="Times New Roman" panose="02020603050405020304"/>
                <a:cs typeface="Times New Roman" panose="02020603050405020304"/>
                <a:sym typeface="Times New Roman" panose="02020603050405020304"/>
              </a:rPr>
              <a:t>  -n      Disable DNS resolution.          nmap -n 192.168.1.1 </a:t>
            </a:r>
            <a:endParaRPr lang="en-US" sz="240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7" name="Shape 197"/>
        <p:cNvGrpSpPr/>
        <p:nvPr/>
      </p:nvGrpSpPr>
      <p:grpSpPr>
        <a:xfrm>
          <a:off x="0" y="0"/>
          <a:ext cx="0" cy="0"/>
          <a:chOff x="0" y="0"/>
          <a:chExt cx="0" cy="0"/>
        </a:xfrm>
      </p:grpSpPr>
      <p:sp>
        <p:nvSpPr>
          <p:cNvPr id="198" name="Google Shape;198;p23"/>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u="sng">
                <a:latin typeface="Times New Roman" panose="02020603050405020304"/>
                <a:ea typeface="Times New Roman" panose="02020603050405020304"/>
                <a:cs typeface="Times New Roman" panose="02020603050405020304"/>
                <a:sym typeface="Times New Roman" panose="02020603050405020304"/>
              </a:rPr>
              <a:t>HOST Scan</a:t>
            </a:r>
            <a:endParaRPr u="sng">
              <a:latin typeface="Times New Roman" panose="02020603050405020304"/>
              <a:ea typeface="Times New Roman" panose="02020603050405020304"/>
              <a:cs typeface="Times New Roman" panose="02020603050405020304"/>
              <a:sym typeface="Times New Roman" panose="02020603050405020304"/>
            </a:endParaRPr>
          </a:p>
        </p:txBody>
      </p:sp>
      <p:sp>
        <p:nvSpPr>
          <p:cNvPr id="199" name="Google Shape;199;p23"/>
          <p:cNvSpPr txBox="1"/>
          <p:nvPr>
            <p:ph type="body" idx="1"/>
          </p:nvPr>
        </p:nvSpPr>
        <p:spPr>
          <a:xfrm>
            <a:off x="914400" y="1447800"/>
            <a:ext cx="7672705" cy="4572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2210"/>
              <a:buNone/>
            </a:pPr>
            <a:r>
              <a:rPr lang="en-US">
                <a:latin typeface="Times New Roman" panose="02020603050405020304"/>
                <a:ea typeface="Times New Roman" panose="02020603050405020304"/>
                <a:cs typeface="Times New Roman" panose="02020603050405020304"/>
                <a:sym typeface="Times New Roman" panose="02020603050405020304"/>
              </a:rPr>
              <a:t> This Scan is used to find or identify active host in the network by sending ARP request packets to all system in that network. And in result it will show a message “Host is up” by Receiving MAC address from Each active host.</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r>
              <a:rPr lang="en-US">
                <a:latin typeface="Times New Roman" panose="02020603050405020304"/>
                <a:ea typeface="Times New Roman" panose="02020603050405020304"/>
                <a:cs typeface="Times New Roman" panose="02020603050405020304"/>
                <a:sym typeface="Times New Roman" panose="02020603050405020304"/>
              </a:rPr>
              <a:t>Syntax: - nmap -sP target_ip_range</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r>
              <a:rPr lang="en-US">
                <a:latin typeface="Times New Roman" panose="02020603050405020304"/>
                <a:ea typeface="Times New Roman" panose="02020603050405020304"/>
                <a:cs typeface="Times New Roman" panose="02020603050405020304"/>
                <a:sym typeface="Times New Roman" panose="02020603050405020304"/>
              </a:rPr>
              <a:t>               nmap -sn target_ip_range</a:t>
            </a: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03" name="Shape 203"/>
        <p:cNvGrpSpPr/>
        <p:nvPr/>
      </p:nvGrpSpPr>
      <p:grpSpPr>
        <a:xfrm>
          <a:off x="0" y="0"/>
          <a:ext cx="0" cy="0"/>
          <a:chOff x="0" y="0"/>
          <a:chExt cx="0" cy="0"/>
        </a:xfrm>
      </p:grpSpPr>
      <p:sp>
        <p:nvSpPr>
          <p:cNvPr id="204" name="Google Shape;204;p24"/>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205" name="Google Shape;205;p24"/>
          <p:cNvSpPr txBox="1"/>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206" name="Google Shape;206;p24"/>
          <p:cNvPicPr preferRelativeResize="0"/>
          <p:nvPr>
            <p:ph type="body" idx="1"/>
          </p:nvPr>
        </p:nvPicPr>
        <p:blipFill rotWithShape="1">
          <a:blip r:embed="rId1"/>
          <a:srcRect/>
          <a:stretch>
            <a:fillRect/>
          </a:stretch>
        </p:blipFill>
        <p:spPr>
          <a:xfrm>
            <a:off x="914400" y="1447800"/>
            <a:ext cx="7768590" cy="457136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10" name="Shape 210"/>
        <p:cNvGrpSpPr/>
        <p:nvPr/>
      </p:nvGrpSpPr>
      <p:grpSpPr>
        <a:xfrm>
          <a:off x="0" y="0"/>
          <a:ext cx="0" cy="0"/>
          <a:chOff x="0" y="0"/>
          <a:chExt cx="0" cy="0"/>
        </a:xfrm>
      </p:grpSpPr>
      <p:sp>
        <p:nvSpPr>
          <p:cNvPr id="211" name="Google Shape;211;p25"/>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Port Scan/TCP Scan/Stealth Scan</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212" name="Google Shape;212;p25"/>
          <p:cNvSpPr txBox="1"/>
          <p:nvPr>
            <p:ph type="body" idx="1"/>
          </p:nvPr>
        </p:nvSpPr>
        <p:spPr>
          <a:xfrm>
            <a:off x="914400" y="1447800"/>
            <a:ext cx="7339330"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With the help of this scan, User can Identify open or close state of a particular port on target machine.</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1" indent="0" algn="l" rtl="0">
              <a:spcBef>
                <a:spcPts val="370"/>
              </a:spcBef>
              <a:spcAft>
                <a:spcPts val="0"/>
              </a:spcAft>
              <a:buSzPts val="204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1" indent="0" algn="l" rtl="0">
              <a:spcBef>
                <a:spcPts val="370"/>
              </a:spcBef>
              <a:spcAft>
                <a:spcPts val="0"/>
              </a:spcAft>
              <a:buSzPts val="2040"/>
              <a:buNone/>
            </a:pPr>
            <a:r>
              <a:rPr lang="en-US">
                <a:latin typeface="Times New Roman" panose="02020603050405020304"/>
                <a:ea typeface="Times New Roman" panose="02020603050405020304"/>
                <a:cs typeface="Times New Roman" panose="02020603050405020304"/>
                <a:sym typeface="Times New Roman" panose="02020603050405020304"/>
              </a:rPr>
              <a:t> </a:t>
            </a:r>
            <a:r>
              <a:rPr lang="en-US" b="1">
                <a:latin typeface="Times New Roman" panose="02020603050405020304"/>
                <a:ea typeface="Times New Roman" panose="02020603050405020304"/>
                <a:cs typeface="Times New Roman" panose="02020603050405020304"/>
                <a:sym typeface="Times New Roman" panose="02020603050405020304"/>
              </a:rPr>
              <a:t>Six Types of Port status</a:t>
            </a:r>
            <a:endParaRPr>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Open</a:t>
            </a:r>
            <a:endParaRPr lang="en-US">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Closed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Filtered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Unfiltered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Open/Filtered</a:t>
            </a:r>
            <a:endParaRPr lang="en-US">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a:latin typeface="Times New Roman" panose="02020603050405020304"/>
                <a:ea typeface="Times New Roman" panose="02020603050405020304"/>
                <a:cs typeface="Times New Roman" panose="02020603050405020304"/>
                <a:sym typeface="Times New Roman" panose="02020603050405020304"/>
              </a:rPr>
              <a:t>Closed/Filtered</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6" name="Shape 216"/>
        <p:cNvGrpSpPr/>
        <p:nvPr/>
      </p:nvGrpSpPr>
      <p:grpSpPr>
        <a:xfrm>
          <a:off x="0" y="0"/>
          <a:ext cx="0" cy="0"/>
          <a:chOff x="0" y="0"/>
          <a:chExt cx="0" cy="0"/>
        </a:xfrm>
      </p:grpSpPr>
      <p:sp>
        <p:nvSpPr>
          <p:cNvPr id="217" name="Google Shape;217;p26"/>
          <p:cNvSpPr txBox="1"/>
          <p:nvPr>
            <p:ph type="body" idx="1"/>
          </p:nvPr>
        </p:nvSpPr>
        <p:spPr>
          <a:xfrm>
            <a:off x="914400" y="274955"/>
            <a:ext cx="7960360" cy="1801495"/>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b="1"/>
              <a:t>Syntax</a:t>
            </a:r>
            <a:r>
              <a:rPr lang="en-US"/>
              <a:t> :-  </a:t>
            </a:r>
            <a:endParaRPr lang="en-US"/>
          </a:p>
          <a:p>
            <a:pPr marL="0" lvl="0" indent="0" algn="l" rtl="0">
              <a:spcBef>
                <a:spcPts val="580"/>
              </a:spcBef>
              <a:spcAft>
                <a:spcPts val="0"/>
              </a:spcAft>
              <a:buSzPts val="2210"/>
              <a:buNone/>
            </a:pPr>
            <a:r>
              <a:rPr lang="en-US"/>
              <a:t>      </a:t>
            </a:r>
            <a:r>
              <a:rPr lang="en-US">
                <a:latin typeface="Times New Roman" panose="02020603050405020304"/>
                <a:ea typeface="Times New Roman" panose="02020603050405020304"/>
                <a:cs typeface="Times New Roman" panose="02020603050405020304"/>
                <a:sym typeface="Times New Roman" panose="02020603050405020304"/>
              </a:rPr>
              <a:t>nmap -p port_number or service_name target_IP_range</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r>
              <a:rPr lang="en-US">
                <a:latin typeface="Times New Roman" panose="02020603050405020304"/>
                <a:ea typeface="Times New Roman" panose="02020603050405020304"/>
                <a:cs typeface="Times New Roman" panose="02020603050405020304"/>
                <a:sym typeface="Times New Roman" panose="02020603050405020304"/>
              </a:rPr>
              <a:t>      nmap -sT port_number target_IP_range</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p>
        </p:txBody>
      </p:sp>
      <p:pic>
        <p:nvPicPr>
          <p:cNvPr id="218" name="Google Shape;218;p26"/>
          <p:cNvPicPr preferRelativeResize="0"/>
          <p:nvPr>
            <p:ph type="body" idx="2"/>
          </p:nvPr>
        </p:nvPicPr>
        <p:blipFill rotWithShape="1">
          <a:blip r:embed="rId1"/>
          <a:srcRect/>
          <a:stretch>
            <a:fillRect/>
          </a:stretch>
        </p:blipFill>
        <p:spPr>
          <a:xfrm>
            <a:off x="722630" y="2077085"/>
            <a:ext cx="7960360" cy="416369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22" name="Shape 222"/>
        <p:cNvGrpSpPr/>
        <p:nvPr/>
      </p:nvGrpSpPr>
      <p:grpSpPr>
        <a:xfrm>
          <a:off x="0" y="0"/>
          <a:ext cx="0" cy="0"/>
          <a:chOff x="0" y="0"/>
          <a:chExt cx="0" cy="0"/>
        </a:xfrm>
      </p:grpSpPr>
      <p:pic>
        <p:nvPicPr>
          <p:cNvPr id="223" name="Google Shape;223;p27"/>
          <p:cNvPicPr preferRelativeResize="0"/>
          <p:nvPr>
            <p:ph type="body" idx="2"/>
          </p:nvPr>
        </p:nvPicPr>
        <p:blipFill rotWithShape="1">
          <a:blip r:embed="rId1"/>
          <a:srcRect/>
          <a:stretch>
            <a:fillRect/>
          </a:stretch>
        </p:blipFill>
        <p:spPr>
          <a:xfrm>
            <a:off x="157480" y="185420"/>
            <a:ext cx="8525510" cy="611886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27" name="Shape 227"/>
        <p:cNvGrpSpPr/>
        <p:nvPr/>
      </p:nvGrpSpPr>
      <p:grpSpPr>
        <a:xfrm>
          <a:off x="0" y="0"/>
          <a:ext cx="0" cy="0"/>
          <a:chOff x="0" y="0"/>
          <a:chExt cx="0" cy="0"/>
        </a:xfrm>
      </p:grpSpPr>
      <p:sp>
        <p:nvSpPr>
          <p:cNvPr id="228" name="Google Shape;228;p28"/>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UDP Scan</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229" name="Google Shape;229;p28"/>
          <p:cNvSpPr txBox="1"/>
          <p:nvPr>
            <p:ph type="body" idx="1"/>
          </p:nvPr>
        </p:nvSpPr>
        <p:spPr>
          <a:xfrm>
            <a:off x="914400" y="1447800"/>
            <a:ext cx="7772400"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This method is used to list all open UDP ports on a host.With the help of this scan penetration testers know that they often expose host essential information or can even be vulnerable moreover used to compromise a host.</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Syntax</a:t>
            </a:r>
            <a:r>
              <a:rPr lang="en-US">
                <a:latin typeface="Times New Roman" panose="02020603050405020304"/>
                <a:ea typeface="Times New Roman" panose="02020603050405020304"/>
                <a:cs typeface="Times New Roman" panose="02020603050405020304"/>
                <a:sym typeface="Times New Roman" panose="02020603050405020304"/>
              </a:rPr>
              <a:t>:-  nmap -sU target_IP</a:t>
            </a: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29"/>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235" name="Google Shape;235;p29"/>
          <p:cNvSpPr txBox="1"/>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236" name="Google Shape;236;p29"/>
          <p:cNvPicPr preferRelativeResize="0"/>
          <p:nvPr>
            <p:ph type="body" idx="1"/>
          </p:nvPr>
        </p:nvPicPr>
        <p:blipFill rotWithShape="1">
          <a:blip r:embed="rId1"/>
          <a:srcRect/>
          <a:stretch>
            <a:fillRect/>
          </a:stretch>
        </p:blipFill>
        <p:spPr>
          <a:xfrm>
            <a:off x="914400" y="517525"/>
            <a:ext cx="7772400" cy="531304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30"/>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XMAS SCAN</a:t>
            </a:r>
            <a:endParaRPr lang="en-US" b="1" u="sng">
              <a:latin typeface="Times New Roman" panose="02020603050405020304"/>
              <a:ea typeface="Times New Roman" panose="02020603050405020304"/>
              <a:cs typeface="Times New Roman" panose="02020603050405020304"/>
              <a:sym typeface="Times New Roman" panose="02020603050405020304"/>
            </a:endParaRPr>
          </a:p>
        </p:txBody>
      </p:sp>
      <p:sp>
        <p:nvSpPr>
          <p:cNvPr id="242" name="Google Shape;242;p30"/>
          <p:cNvSpPr txBox="1"/>
          <p:nvPr>
            <p:ph type="body" idx="1"/>
          </p:nvPr>
        </p:nvSpPr>
        <p:spPr>
          <a:xfrm>
            <a:off x="764298" y="1772816"/>
            <a:ext cx="7884795"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This scan is accomplished by sending packets with the FIN, URG and PUSH flags, if the server sends RST’s regardless of the port state, then that is not vulnerable to this type of scan. If the client didn’t get any response, then the port is considered as open.  </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Xmas Scan is only workable in Linux machines and does not work on the latest version of windows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46" name="Shape 246"/>
        <p:cNvGrpSpPr/>
        <p:nvPr/>
      </p:nvGrpSpPr>
      <p:grpSpPr>
        <a:xfrm>
          <a:off x="0" y="0"/>
          <a:ext cx="0" cy="0"/>
          <a:chOff x="0" y="0"/>
          <a:chExt cx="0" cy="0"/>
        </a:xfrm>
      </p:grpSpPr>
      <p:sp>
        <p:nvSpPr>
          <p:cNvPr id="247" name="Google Shape;247;p31"/>
          <p:cNvSpPr txBox="1"/>
          <p:nvPr>
            <p:ph type="title"/>
          </p:nvPr>
        </p:nvSpPr>
        <p:spPr>
          <a:xfrm>
            <a:off x="457200" y="76200"/>
            <a:ext cx="8229600" cy="1480592"/>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2600"/>
              <a:buFont typeface="Times New Roman" panose="02020603050405020304"/>
              <a:buNone/>
            </a:pPr>
            <a:r>
              <a:rPr lang="en-US" sz="2600" b="1">
                <a:latin typeface="Times New Roman" panose="02020603050405020304"/>
                <a:ea typeface="Times New Roman" panose="02020603050405020304"/>
                <a:cs typeface="Times New Roman" panose="02020603050405020304"/>
                <a:sym typeface="Times New Roman" panose="02020603050405020304"/>
              </a:rPr>
              <a:t>      </a:t>
            </a:r>
            <a:br>
              <a:rPr lang="en-US" sz="2600" b="1">
                <a:latin typeface="Times New Roman" panose="02020603050405020304"/>
                <a:ea typeface="Times New Roman" panose="02020603050405020304"/>
                <a:cs typeface="Times New Roman" panose="02020603050405020304"/>
                <a:sym typeface="Times New Roman" panose="02020603050405020304"/>
              </a:rPr>
            </a:br>
            <a:br>
              <a:rPr lang="en-US" sz="2600" b="1">
                <a:latin typeface="Times New Roman" panose="02020603050405020304"/>
                <a:ea typeface="Times New Roman" panose="02020603050405020304"/>
                <a:cs typeface="Times New Roman" panose="02020603050405020304"/>
                <a:sym typeface="Times New Roman" panose="02020603050405020304"/>
              </a:rPr>
            </a:br>
            <a:br>
              <a:rPr lang="en-US" sz="2600" b="1">
                <a:latin typeface="Times New Roman" panose="02020603050405020304"/>
                <a:ea typeface="Times New Roman" panose="02020603050405020304"/>
                <a:cs typeface="Times New Roman" panose="02020603050405020304"/>
                <a:sym typeface="Times New Roman" panose="02020603050405020304"/>
              </a:rPr>
            </a:br>
            <a:r>
              <a:rPr lang="en-US" sz="2600" b="1">
                <a:latin typeface="Times New Roman" panose="02020603050405020304"/>
                <a:ea typeface="Times New Roman" panose="02020603050405020304"/>
                <a:cs typeface="Times New Roman" panose="02020603050405020304"/>
                <a:sym typeface="Times New Roman" panose="02020603050405020304"/>
              </a:rPr>
              <a:t>  Syntax</a:t>
            </a:r>
            <a:r>
              <a:rPr lang="en-US" sz="2600">
                <a:latin typeface="Times New Roman" panose="02020603050405020304"/>
                <a:ea typeface="Times New Roman" panose="02020603050405020304"/>
                <a:cs typeface="Times New Roman" panose="02020603050405020304"/>
                <a:sym typeface="Times New Roman" panose="02020603050405020304"/>
              </a:rPr>
              <a:t> :-  nmap -sX   target_IP</a:t>
            </a:r>
            <a:br>
              <a:rPr lang="en-US" sz="2600">
                <a:latin typeface="Times New Roman" panose="02020603050405020304"/>
                <a:ea typeface="Times New Roman" panose="02020603050405020304"/>
                <a:cs typeface="Times New Roman" panose="02020603050405020304"/>
                <a:sym typeface="Times New Roman" panose="02020603050405020304"/>
              </a:rPr>
            </a:br>
            <a:endParaRPr sz="2600">
              <a:latin typeface="Times New Roman" panose="02020603050405020304"/>
              <a:ea typeface="Times New Roman" panose="02020603050405020304"/>
              <a:cs typeface="Times New Roman" panose="02020603050405020304"/>
              <a:sym typeface="Times New Roman" panose="02020603050405020304"/>
            </a:endParaRPr>
          </a:p>
        </p:txBody>
      </p:sp>
      <p:pic>
        <p:nvPicPr>
          <p:cNvPr id="248" name="Google Shape;248;p31"/>
          <p:cNvPicPr preferRelativeResize="0"/>
          <p:nvPr>
            <p:ph type="tbl" idx="2"/>
          </p:nvPr>
        </p:nvPicPr>
        <p:blipFill rotWithShape="1">
          <a:blip r:embed="rId1"/>
          <a:srcRect/>
          <a:stretch>
            <a:fillRect/>
          </a:stretch>
        </p:blipFill>
        <p:spPr>
          <a:xfrm>
            <a:off x="725507" y="1734820"/>
            <a:ext cx="7014845" cy="379285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52" name="Shape 252"/>
        <p:cNvGrpSpPr/>
        <p:nvPr/>
      </p:nvGrpSpPr>
      <p:grpSpPr>
        <a:xfrm>
          <a:off x="0" y="0"/>
          <a:ext cx="0" cy="0"/>
          <a:chOff x="0" y="0"/>
          <a:chExt cx="0" cy="0"/>
        </a:xfrm>
      </p:grpSpPr>
      <p:sp>
        <p:nvSpPr>
          <p:cNvPr id="253" name="Google Shape;253;p32"/>
          <p:cNvSpPr txBox="1"/>
          <p:nvPr>
            <p:ph type="title"/>
          </p:nvPr>
        </p:nvSpPr>
        <p:spPr>
          <a:xfrm>
            <a:off x="457200" y="76200"/>
            <a:ext cx="82296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pic>
        <p:nvPicPr>
          <p:cNvPr id="254" name="Google Shape;254;p32"/>
          <p:cNvPicPr preferRelativeResize="0"/>
          <p:nvPr>
            <p:ph type="tbl" idx="2"/>
          </p:nvPr>
        </p:nvPicPr>
        <p:blipFill rotWithShape="1">
          <a:blip r:embed="rId1"/>
          <a:srcRect/>
          <a:stretch>
            <a:fillRect/>
          </a:stretch>
        </p:blipFill>
        <p:spPr>
          <a:xfrm>
            <a:off x="457835" y="215265"/>
            <a:ext cx="8228330" cy="64128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58" name="Shape 258"/>
        <p:cNvGrpSpPr/>
        <p:nvPr/>
      </p:nvGrpSpPr>
      <p:grpSpPr>
        <a:xfrm>
          <a:off x="0" y="0"/>
          <a:ext cx="0" cy="0"/>
          <a:chOff x="0" y="0"/>
          <a:chExt cx="0" cy="0"/>
        </a:xfrm>
      </p:grpSpPr>
      <p:sp>
        <p:nvSpPr>
          <p:cNvPr id="259" name="Google Shape;259;p33"/>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NULL Scan </a:t>
            </a:r>
            <a:endParaRPr u="sng">
              <a:latin typeface="Times New Roman" panose="02020603050405020304"/>
              <a:ea typeface="Times New Roman" panose="02020603050405020304"/>
              <a:cs typeface="Times New Roman" panose="02020603050405020304"/>
              <a:sym typeface="Times New Roman" panose="02020603050405020304"/>
            </a:endParaRPr>
          </a:p>
        </p:txBody>
      </p:sp>
      <p:sp>
        <p:nvSpPr>
          <p:cNvPr id="260" name="Google Shape;260;p33"/>
          <p:cNvSpPr txBox="1"/>
          <p:nvPr>
            <p:ph type="body" idx="1"/>
          </p:nvPr>
        </p:nvSpPr>
        <p:spPr>
          <a:xfrm>
            <a:off x="654968" y="1844824"/>
            <a:ext cx="7834064"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Null scan sends a packet with no flags switched on, if the server sends RST’S regardless of the port state, them that is not vulnerable to this type of scan. If the client didn’t get any response, them the port is considered as open.</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Syntax :- </a:t>
            </a:r>
            <a:r>
              <a:rPr lang="en-US">
                <a:latin typeface="Times New Roman" panose="02020603050405020304"/>
                <a:ea typeface="Times New Roman" panose="02020603050405020304"/>
                <a:cs typeface="Times New Roman" panose="02020603050405020304"/>
                <a:sym typeface="Times New Roman" panose="02020603050405020304"/>
              </a:rPr>
              <a:t>nmap -nS target_IP</a:t>
            </a: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64" name="Shape 264"/>
        <p:cNvGrpSpPr/>
        <p:nvPr/>
      </p:nvGrpSpPr>
      <p:grpSpPr>
        <a:xfrm>
          <a:off x="0" y="0"/>
          <a:ext cx="0" cy="0"/>
          <a:chOff x="0" y="0"/>
          <a:chExt cx="0" cy="0"/>
        </a:xfrm>
      </p:grpSpPr>
      <p:sp>
        <p:nvSpPr>
          <p:cNvPr id="265" name="Google Shape;265;p34"/>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266" name="Google Shape;266;p34"/>
          <p:cNvSpPr txBox="1"/>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267" name="Google Shape;267;p34"/>
          <p:cNvPicPr preferRelativeResize="0"/>
          <p:nvPr/>
        </p:nvPicPr>
        <p:blipFill rotWithShape="1">
          <a:blip r:embed="rId1"/>
          <a:srcRect/>
          <a:stretch>
            <a:fillRect/>
          </a:stretch>
        </p:blipFill>
        <p:spPr>
          <a:xfrm>
            <a:off x="709791" y="112686"/>
            <a:ext cx="5731510" cy="2526944"/>
          </a:xfrm>
          <a:prstGeom prst="rect">
            <a:avLst/>
          </a:prstGeom>
          <a:noFill/>
          <a:ln>
            <a:noFill/>
          </a:ln>
        </p:spPr>
      </p:pic>
      <p:pic>
        <p:nvPicPr>
          <p:cNvPr id="268" name="Google Shape;268;p34"/>
          <p:cNvPicPr preferRelativeResize="0"/>
          <p:nvPr>
            <p:ph type="body" idx="2"/>
          </p:nvPr>
        </p:nvPicPr>
        <p:blipFill rotWithShape="1">
          <a:blip r:embed="rId2"/>
          <a:srcRect/>
          <a:stretch>
            <a:fillRect/>
          </a:stretch>
        </p:blipFill>
        <p:spPr>
          <a:xfrm>
            <a:off x="683568" y="2752365"/>
            <a:ext cx="6912768" cy="41111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72" name="Shape 272"/>
        <p:cNvGrpSpPr/>
        <p:nvPr/>
      </p:nvGrpSpPr>
      <p:grpSpPr>
        <a:xfrm>
          <a:off x="0" y="0"/>
          <a:ext cx="0" cy="0"/>
          <a:chOff x="0" y="0"/>
          <a:chExt cx="0" cy="0"/>
        </a:xfrm>
      </p:grpSpPr>
      <p:sp>
        <p:nvSpPr>
          <p:cNvPr id="273" name="Google Shape;273;p35"/>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br>
              <a:rPr lang="en-US" b="1"/>
            </a:br>
            <a:br>
              <a:rPr lang="en-US" b="1"/>
            </a:br>
            <a:br>
              <a:rPr lang="en-US" b="1"/>
            </a:br>
            <a:br>
              <a:rPr lang="en-US" b="1"/>
            </a:br>
            <a:r>
              <a:rPr lang="en-US" b="1" u="sng">
                <a:latin typeface="Times New Roman" panose="02020603050405020304"/>
                <a:ea typeface="Times New Roman" panose="02020603050405020304"/>
                <a:cs typeface="Times New Roman" panose="02020603050405020304"/>
                <a:sym typeface="Times New Roman" panose="02020603050405020304"/>
              </a:rPr>
              <a:t>FIN Scan</a:t>
            </a:r>
            <a:br>
              <a:rPr lang="en-US"/>
            </a:br>
            <a:endParaRPr lang="en-US"/>
          </a:p>
        </p:txBody>
      </p:sp>
      <p:sp>
        <p:nvSpPr>
          <p:cNvPr id="274" name="Google Shape;274;p35"/>
          <p:cNvSpPr txBox="1"/>
          <p:nvPr>
            <p:ph type="body" idx="1"/>
          </p:nvPr>
        </p:nvSpPr>
        <p:spPr>
          <a:xfrm>
            <a:off x="914400" y="1447800"/>
            <a:ext cx="8050088"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A FIN packet is used to terminate the tcp connection between source and destination port typically after the data transfer is complete.  In the place of SYN packet, Nmap starts a FIN scan by using a FIN packet. If the port is open then no response will come from destination port when FIN packet is send through source port.</a:t>
            </a:r>
            <a:endParaRPr lang="en-US">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Syntax: -  nmap -sF  target_IP</a:t>
            </a: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280" name="Google Shape;280;p36"/>
          <p:cNvSpPr txBox="1"/>
          <p:nvPr>
            <p:ph type="body" idx="2"/>
          </p:nvPr>
        </p:nvSpPr>
        <p:spPr>
          <a:xfrm>
            <a:off x="4999424"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281" name="Google Shape;281;p36"/>
          <p:cNvPicPr preferRelativeResize="0"/>
          <p:nvPr/>
        </p:nvPicPr>
        <p:blipFill rotWithShape="1">
          <a:blip r:embed="rId1"/>
          <a:srcRect/>
          <a:stretch>
            <a:fillRect/>
          </a:stretch>
        </p:blipFill>
        <p:spPr>
          <a:xfrm>
            <a:off x="492293" y="156528"/>
            <a:ext cx="5213350" cy="2522220"/>
          </a:xfrm>
          <a:prstGeom prst="rect">
            <a:avLst/>
          </a:prstGeom>
          <a:noFill/>
          <a:ln>
            <a:noFill/>
          </a:ln>
        </p:spPr>
      </p:pic>
      <p:pic>
        <p:nvPicPr>
          <p:cNvPr id="282" name="Google Shape;282;p36"/>
          <p:cNvPicPr preferRelativeResize="0"/>
          <p:nvPr>
            <p:ph type="body" idx="1"/>
          </p:nvPr>
        </p:nvPicPr>
        <p:blipFill rotWithShape="1">
          <a:blip r:embed="rId2"/>
          <a:srcRect/>
          <a:stretch>
            <a:fillRect/>
          </a:stretch>
        </p:blipFill>
        <p:spPr>
          <a:xfrm>
            <a:off x="539552" y="2680284"/>
            <a:ext cx="7474024" cy="387445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86" name="Shape 286"/>
        <p:cNvGrpSpPr/>
        <p:nvPr/>
      </p:nvGrpSpPr>
      <p:grpSpPr>
        <a:xfrm>
          <a:off x="0" y="0"/>
          <a:ext cx="0" cy="0"/>
          <a:chOff x="0" y="0"/>
          <a:chExt cx="0" cy="0"/>
        </a:xfrm>
      </p:grpSpPr>
      <p:sp>
        <p:nvSpPr>
          <p:cNvPr id="287" name="Google Shape;287;p37"/>
          <p:cNvSpPr txBox="1"/>
          <p:nvPr>
            <p:ph type="title"/>
          </p:nvPr>
        </p:nvSpPr>
        <p:spPr>
          <a:xfrm>
            <a:off x="914400" y="236931"/>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Times New Roman" panose="02020603050405020304"/>
              <a:buNone/>
            </a:pPr>
            <a:r>
              <a:rPr lang="en-US" b="1" u="sng">
                <a:latin typeface="Times New Roman" panose="02020603050405020304"/>
                <a:ea typeface="Times New Roman" panose="02020603050405020304"/>
                <a:cs typeface="Times New Roman" panose="02020603050405020304"/>
                <a:sym typeface="Times New Roman" panose="02020603050405020304"/>
              </a:rPr>
              <a:t>OS Detection Scan</a:t>
            </a:r>
            <a:endParaRPr u="sng">
              <a:latin typeface="Times New Roman" panose="02020603050405020304"/>
              <a:ea typeface="Times New Roman" panose="02020603050405020304"/>
              <a:cs typeface="Times New Roman" panose="02020603050405020304"/>
              <a:sym typeface="Times New Roman" panose="02020603050405020304"/>
            </a:endParaRPr>
          </a:p>
        </p:txBody>
      </p:sp>
      <p:sp>
        <p:nvSpPr>
          <p:cNvPr id="288" name="Google Shape;288;p37"/>
          <p:cNvSpPr txBox="1"/>
          <p:nvPr>
            <p:ph type="body" idx="1"/>
          </p:nvPr>
        </p:nvSpPr>
        <p:spPr>
          <a:xfrm>
            <a:off x="539552" y="1556792"/>
            <a:ext cx="7690048"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a:latin typeface="Times New Roman" panose="02020603050405020304"/>
                <a:ea typeface="Times New Roman" panose="02020603050405020304"/>
                <a:cs typeface="Times New Roman" panose="02020603050405020304"/>
                <a:sym typeface="Times New Roman" panose="02020603050405020304"/>
              </a:rPr>
              <a:t>Apart from open port enumeration nmap is quite useful in OS fingerprinting. This scan very helpful to penetration tester in order to conclude possible security vulnerabilities and determining the available system calls to set the specific exploit payloads.</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b="1">
                <a:latin typeface="Times New Roman" panose="02020603050405020304"/>
                <a:ea typeface="Times New Roman" panose="02020603050405020304"/>
                <a:cs typeface="Times New Roman" panose="02020603050405020304"/>
                <a:sym typeface="Times New Roman" panose="02020603050405020304"/>
              </a:rPr>
              <a:t>Device type</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b="1">
                <a:latin typeface="Times New Roman" panose="02020603050405020304"/>
                <a:ea typeface="Times New Roman" panose="02020603050405020304"/>
                <a:cs typeface="Times New Roman" panose="02020603050405020304"/>
                <a:sym typeface="Times New Roman" panose="02020603050405020304"/>
              </a:rPr>
              <a:t>Running</a:t>
            </a:r>
            <a:endParaRPr>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b="1">
                <a:latin typeface="Times New Roman" panose="02020603050405020304"/>
                <a:ea typeface="Times New Roman" panose="02020603050405020304"/>
                <a:cs typeface="Times New Roman" panose="02020603050405020304"/>
                <a:sym typeface="Times New Roman" panose="02020603050405020304"/>
              </a:rPr>
              <a:t>OS CPE</a:t>
            </a:r>
            <a:endParaRPr lang="en-US" b="1">
              <a:latin typeface="Times New Roman" panose="02020603050405020304"/>
              <a:ea typeface="Times New Roman" panose="02020603050405020304"/>
              <a:cs typeface="Times New Roman" panose="02020603050405020304"/>
              <a:sym typeface="Times New Roman" panose="02020603050405020304"/>
            </a:endParaRPr>
          </a:p>
          <a:p>
            <a:pPr marL="548640" lvl="1" indent="-228600" algn="l" rtl="0">
              <a:spcBef>
                <a:spcPts val="370"/>
              </a:spcBef>
              <a:spcAft>
                <a:spcPts val="0"/>
              </a:spcAft>
              <a:buSzPts val="2040"/>
              <a:buChar char="⚫"/>
            </a:pPr>
            <a:r>
              <a:rPr lang="en-US" b="1">
                <a:latin typeface="Times New Roman" panose="02020603050405020304"/>
                <a:ea typeface="Times New Roman" panose="02020603050405020304"/>
                <a:cs typeface="Times New Roman" panose="02020603050405020304"/>
                <a:sym typeface="Times New Roman" panose="02020603050405020304"/>
              </a:rPr>
              <a:t>OS details</a:t>
            </a:r>
            <a:endParaRPr>
              <a:latin typeface="Times New Roman" panose="02020603050405020304"/>
              <a:ea typeface="Times New Roman" panose="02020603050405020304"/>
              <a:cs typeface="Times New Roman" panose="02020603050405020304"/>
              <a:sym typeface="Times New Roman" panose="02020603050405020304"/>
            </a:endParaRPr>
          </a:p>
          <a:p>
            <a:pPr marL="548640" lvl="1" indent="-99060" algn="l" rtl="0">
              <a:spcBef>
                <a:spcPts val="370"/>
              </a:spcBef>
              <a:spcAft>
                <a:spcPts val="0"/>
              </a:spcAft>
              <a:buSzPts val="204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92" name="Shape 292"/>
        <p:cNvGrpSpPr/>
        <p:nvPr/>
      </p:nvGrpSpPr>
      <p:grpSpPr>
        <a:xfrm>
          <a:off x="0" y="0"/>
          <a:ext cx="0" cy="0"/>
          <a:chOff x="0" y="0"/>
          <a:chExt cx="0" cy="0"/>
        </a:xfrm>
      </p:grpSpPr>
      <p:sp>
        <p:nvSpPr>
          <p:cNvPr id="293" name="Google Shape;293;p38"/>
          <p:cNvSpPr txBox="1"/>
          <p:nvPr>
            <p:ph type="title"/>
          </p:nvPr>
        </p:nvSpPr>
        <p:spPr>
          <a:xfrm>
            <a:off x="976064" y="236931"/>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r>
              <a:rPr lang="en-US"/>
              <a:t>Cont..</a:t>
            </a:r>
            <a:endParaRPr lang="en-US"/>
          </a:p>
        </p:txBody>
      </p:sp>
      <p:sp>
        <p:nvSpPr>
          <p:cNvPr id="294" name="Google Shape;294;p38"/>
          <p:cNvSpPr txBox="1"/>
          <p:nvPr>
            <p:ph type="body" idx="1"/>
          </p:nvPr>
        </p:nvSpPr>
        <p:spPr>
          <a:xfrm>
            <a:off x="91440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a:p>
            <a:pPr marL="274320" lvl="0" indent="-133985" algn="l" rtl="0">
              <a:spcBef>
                <a:spcPts val="580"/>
              </a:spcBef>
              <a:spcAft>
                <a:spcPts val="0"/>
              </a:spcAft>
              <a:buSzPts val="2210"/>
              <a:buNone/>
            </a:pPr>
          </a:p>
          <a:p>
            <a:pPr marL="274320" lvl="0" indent="-133985" algn="l" rtl="0">
              <a:spcBef>
                <a:spcPts val="580"/>
              </a:spcBef>
              <a:spcAft>
                <a:spcPts val="0"/>
              </a:spcAft>
              <a:buSzPts val="2210"/>
              <a:buNone/>
            </a:pPr>
          </a:p>
        </p:txBody>
      </p:sp>
      <p:sp>
        <p:nvSpPr>
          <p:cNvPr id="295" name="Google Shape;295;p38"/>
          <p:cNvSpPr txBox="1"/>
          <p:nvPr>
            <p:ph type="body" idx="2"/>
          </p:nvPr>
        </p:nvSpPr>
        <p:spPr>
          <a:xfrm>
            <a:off x="976064" y="1485507"/>
            <a:ext cx="7772400" cy="4572000"/>
          </a:xfrm>
          <a:prstGeom prst="rect">
            <a:avLst/>
          </a:prstGeom>
          <a:noFill/>
          <a:ln>
            <a:noFill/>
          </a:ln>
        </p:spPr>
        <p:txBody>
          <a:bodyPr spcFirstLastPara="1" wrap="square" lIns="91425" tIns="45700" rIns="91425" bIns="45700" anchor="t" anchorCtr="0">
            <a:noAutofit/>
          </a:bodyPr>
          <a:lstStyle/>
          <a:p>
            <a:pPr marL="274320" lvl="0" indent="-274320" algn="l" rtl="0">
              <a:spcBef>
                <a:spcPts val="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Syntax</a:t>
            </a:r>
            <a:r>
              <a:rPr lang="en-US">
                <a:latin typeface="Times New Roman" panose="02020603050405020304"/>
                <a:ea typeface="Times New Roman" panose="02020603050405020304"/>
                <a:cs typeface="Times New Roman" panose="02020603050405020304"/>
                <a:sym typeface="Times New Roman" panose="02020603050405020304"/>
              </a:rPr>
              <a:t>: nmap -O target_ip</a:t>
            </a: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Syntax: </a:t>
            </a:r>
            <a:r>
              <a:rPr lang="en-US">
                <a:latin typeface="Times New Roman" panose="02020603050405020304"/>
                <a:ea typeface="Times New Roman" panose="02020603050405020304"/>
                <a:cs typeface="Times New Roman" panose="02020603050405020304"/>
                <a:sym typeface="Times New Roman" panose="02020603050405020304"/>
              </a:rPr>
              <a:t>nmap -O -p- –osscan-guess &lt;target&gt;</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274320" algn="l" rtl="0">
              <a:spcBef>
                <a:spcPts val="580"/>
              </a:spcBef>
              <a:spcAft>
                <a:spcPts val="0"/>
              </a:spcAft>
              <a:buSzPts val="2210"/>
              <a:buChar char="⚫"/>
            </a:pPr>
            <a:r>
              <a:rPr lang="en-US" b="1">
                <a:latin typeface="Times New Roman" panose="02020603050405020304"/>
                <a:ea typeface="Times New Roman" panose="02020603050405020304"/>
                <a:cs typeface="Times New Roman" panose="02020603050405020304"/>
                <a:sym typeface="Times New Roman" panose="02020603050405020304"/>
              </a:rPr>
              <a:t>Syntax: </a:t>
            </a:r>
            <a:r>
              <a:rPr lang="en-US">
                <a:latin typeface="Times New Roman" panose="02020603050405020304"/>
                <a:ea typeface="Times New Roman" panose="02020603050405020304"/>
                <a:cs typeface="Times New Roman" panose="02020603050405020304"/>
                <a:sym typeface="Times New Roman" panose="02020603050405020304"/>
              </a:rPr>
              <a:t>nmap -O –osscan-limit &lt;target&gt;</a:t>
            </a:r>
            <a:endParaRPr lang="en-US">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a:p>
            <a:pPr marL="274320" lvl="0" indent="-133985" algn="l" rtl="0">
              <a:spcBef>
                <a:spcPts val="580"/>
              </a:spcBef>
              <a:spcAft>
                <a:spcPts val="0"/>
              </a:spcAft>
              <a:buSzPts val="221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301" name="Google Shape;301;p39"/>
          <p:cNvSpPr txBox="1"/>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302" name="Google Shape;302;p39"/>
          <p:cNvPicPr preferRelativeResize="0"/>
          <p:nvPr>
            <p:ph type="body" idx="1"/>
          </p:nvPr>
        </p:nvPicPr>
        <p:blipFill rotWithShape="1">
          <a:blip r:embed="rId1"/>
          <a:srcRect/>
          <a:stretch>
            <a:fillRect/>
          </a:stretch>
        </p:blipFill>
        <p:spPr>
          <a:xfrm>
            <a:off x="323528" y="116632"/>
            <a:ext cx="8359462" cy="646672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914400" y="274638"/>
            <a:ext cx="7772400" cy="1143000"/>
          </a:xfrm>
          <a:prstGeom prst="rect">
            <a:avLst/>
          </a:prstGeom>
          <a:noFill/>
          <a:ln>
            <a:noFill/>
          </a:ln>
        </p:spPr>
        <p:txBody>
          <a:bodyPr spcFirstLastPara="1" wrap="square" lIns="91425" tIns="45700" rIns="91425" bIns="91425" anchor="b" anchorCtr="0">
            <a:noAutofit/>
          </a:bodyPr>
          <a:lstStyle/>
          <a:p>
            <a:pPr marL="0" lvl="0" indent="0" algn="l" rtl="0">
              <a:spcBef>
                <a:spcPts val="0"/>
              </a:spcBef>
              <a:spcAft>
                <a:spcPts val="0"/>
              </a:spcAft>
              <a:buClr>
                <a:schemeClr val="dk2"/>
              </a:buClr>
              <a:buSzPts val="4000"/>
              <a:buFont typeface="Libre Franklin"/>
              <a:buNone/>
            </a:pPr>
          </a:p>
        </p:txBody>
      </p:sp>
      <p:sp>
        <p:nvSpPr>
          <p:cNvPr id="308" name="Google Shape;308;p40"/>
          <p:cNvSpPr txBox="1"/>
          <p:nvPr>
            <p:ph type="body" idx="2"/>
          </p:nvPr>
        </p:nvSpPr>
        <p:spPr>
          <a:xfrm>
            <a:off x="4933950" y="1447800"/>
            <a:ext cx="3749040" cy="4572000"/>
          </a:xfrm>
          <a:prstGeom prst="rect">
            <a:avLst/>
          </a:prstGeom>
          <a:noFill/>
          <a:ln>
            <a:noFill/>
          </a:ln>
        </p:spPr>
        <p:txBody>
          <a:bodyPr spcFirstLastPara="1" wrap="square" lIns="91425" tIns="45700" rIns="91425" bIns="45700" anchor="t" anchorCtr="0">
            <a:noAutofit/>
          </a:bodyPr>
          <a:lstStyle/>
          <a:p>
            <a:pPr marL="274320" lvl="0" indent="-133985" algn="l" rtl="0">
              <a:spcBef>
                <a:spcPts val="0"/>
              </a:spcBef>
              <a:spcAft>
                <a:spcPts val="0"/>
              </a:spcAft>
              <a:buSzPts val="2210"/>
              <a:buNone/>
            </a:pPr>
          </a:p>
        </p:txBody>
      </p:sp>
      <p:pic>
        <p:nvPicPr>
          <p:cNvPr id="309" name="Google Shape;309;p40" descr="Andreas Zeller's Old Blog: Summarizing your presentation with ..."/>
          <p:cNvPicPr preferRelativeResize="0"/>
          <p:nvPr>
            <p:ph type="body" idx="1"/>
          </p:nvPr>
        </p:nvPicPr>
        <p:blipFill rotWithShape="1">
          <a:blip r:embed="rId1"/>
          <a:srcRect/>
          <a:stretch>
            <a:fillRect/>
          </a:stretch>
        </p:blipFill>
        <p:spPr>
          <a:xfrm>
            <a:off x="107504" y="274638"/>
            <a:ext cx="9001000" cy="6106690"/>
          </a:xfrm>
          <a:prstGeom prst="rect">
            <a:avLst/>
          </a:prstGeom>
          <a:noFill/>
          <a:ln>
            <a:noFill/>
          </a:ln>
        </p:spPr>
      </p:pic>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4284</Words>
  <Application>WPS Presentation</Application>
  <PresentationFormat/>
  <Paragraphs>184</Paragraphs>
  <Slides>28</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28</vt:i4>
      </vt:variant>
    </vt:vector>
  </HeadingPairs>
  <TitlesOfParts>
    <vt:vector size="41" baseType="lpstr">
      <vt:lpstr>Arial</vt:lpstr>
      <vt:lpstr>SimSun</vt:lpstr>
      <vt:lpstr>Wingdings</vt:lpstr>
      <vt:lpstr>Arial</vt:lpstr>
      <vt:lpstr>Times New Roman</vt:lpstr>
      <vt:lpstr>Libre Baskerville</vt:lpstr>
      <vt:lpstr>Libre Franklin</vt:lpstr>
      <vt:lpstr>Noto Sans Symbols</vt:lpstr>
      <vt:lpstr>Segoe Print</vt:lpstr>
      <vt:lpstr>Calibri</vt:lpstr>
      <vt:lpstr>Microsoft YaHei</vt:lpstr>
      <vt:lpstr>Arial Unicode MS</vt:lpstr>
      <vt:lpstr>Equity</vt:lpstr>
      <vt:lpstr>Network Scanning  with Nmap</vt:lpstr>
      <vt:lpstr>Introduction</vt:lpstr>
      <vt:lpstr>Pre Study</vt:lpstr>
      <vt:lpstr>PowerPoint 演示文稿</vt:lpstr>
      <vt:lpstr>Cont..</vt:lpstr>
      <vt:lpstr>TCP Flag Definitions</vt:lpstr>
      <vt:lpstr>TCP conversation</vt:lpstr>
      <vt:lpstr>What is nmap?</vt:lpstr>
      <vt:lpstr>Quick Start Cheat-sheet</vt:lpstr>
      <vt:lpstr>Conti......</vt:lpstr>
      <vt:lpstr>HOST Scan</vt:lpstr>
      <vt:lpstr>PowerPoint 演示文稿</vt:lpstr>
      <vt:lpstr>Port Scan/TCP Scan/Stealth Scan</vt:lpstr>
      <vt:lpstr>PowerPoint 演示文稿</vt:lpstr>
      <vt:lpstr>PowerPoint 演示文稿</vt:lpstr>
      <vt:lpstr>UDP Scan</vt:lpstr>
      <vt:lpstr>PowerPoint 演示文稿</vt:lpstr>
      <vt:lpstr>XMAS SCAN</vt:lpstr>
      <vt:lpstr>           Syntax :-  nmap -sX   target_IP </vt:lpstr>
      <vt:lpstr>PowerPoint 演示文稿</vt:lpstr>
      <vt:lpstr>NULL Scan </vt:lpstr>
      <vt:lpstr>PowerPoint 演示文稿</vt:lpstr>
      <vt:lpstr>    FIN Scan </vt:lpstr>
      <vt:lpstr>PowerPoint 演示文稿</vt:lpstr>
      <vt:lpstr>OS Detection Scan</vt:lpstr>
      <vt:lpstr>Cont..</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Scanning  with Nmap</dc:title>
  <dc:creator/>
  <cp:lastModifiedBy>Elight</cp:lastModifiedBy>
  <cp:revision>1</cp:revision>
  <dcterms:created xsi:type="dcterms:W3CDTF">2022-04-20T09:02:26Z</dcterms:created>
  <dcterms:modified xsi:type="dcterms:W3CDTF">2022-04-20T09:02:26Z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56070FF2F39E470AB76EC1D7A2280A82</vt:lpwstr>
  </property>
  <property fmtid="{D5CDD505-2E9C-101B-9397-08002B2CF9AE}" pid="3" name="KSOProductBuildVer">
    <vt:lpwstr>1033-11.2.0.11074</vt:lpwstr>
  </property>
</Properties>
</file>