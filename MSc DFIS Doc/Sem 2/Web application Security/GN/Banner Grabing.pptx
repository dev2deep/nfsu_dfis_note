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84" r:id="rId2"/>
    <p:sldId id="285" r:id="rId3"/>
    <p:sldId id="349" r:id="rId4"/>
    <p:sldId id="358" r:id="rId5"/>
    <p:sldId id="357" r:id="rId6"/>
    <p:sldId id="350" r:id="rId7"/>
    <p:sldId id="351" r:id="rId8"/>
    <p:sldId id="352" r:id="rId9"/>
    <p:sldId id="353" r:id="rId10"/>
    <p:sldId id="354" r:id="rId11"/>
    <p:sldId id="355" r:id="rId12"/>
    <p:sldId id="356" r:id="rId13"/>
    <p:sldId id="344" r:id="rId14"/>
  </p:sldIdLst>
  <p:sldSz cx="9144000" cy="6858000" type="screen4x3"/>
  <p:notesSz cx="6858000" cy="9144000"/>
  <p:defaultTextStyle>
    <a:defPPr>
      <a:defRPr lang="zh-TW"/>
    </a:defPPr>
    <a:lvl1pPr marL="0" lvl="0"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vl6pPr marL="2286000" lvl="5"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6pPr>
    <a:lvl7pPr marL="2743200" lvl="6"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7pPr>
    <a:lvl8pPr marL="3200400" lvl="7"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8pPr>
    <a:lvl9pPr marL="3657600" lvl="8"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9pPr>
  </p:defaultTextStyle>
  <p:extLst>
    <p:ext uri="{EFAFB233-063F-42B5-8137-9DF3F51BA10A}">
      <p15:sldGuideLst xmlns:p15="http://schemas.microsoft.com/office/powerpoint/2012/main">
        <p15:guide id="1" orient="horz" pos="2155">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a:srgbClr val="FF3300"/>
    <a:srgbClr val="008000"/>
    <a:srgbClr val="FF3399"/>
    <a:srgbClr val="00CC00"/>
    <a:srgbClr val="3333FF"/>
    <a:srgbClr val="FFFF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p:restoredTop sz="94660"/>
  </p:normalViewPr>
  <p:slideViewPr>
    <p:cSldViewPr showGuides="1">
      <p:cViewPr>
        <p:scale>
          <a:sx n="93" d="100"/>
          <a:sy n="93" d="100"/>
        </p:scale>
        <p:origin x="1162" y="-418"/>
      </p:cViewPr>
      <p:guideLst>
        <p:guide orient="horz" pos="2155"/>
        <p:guide pos="2880"/>
      </p:guideLst>
    </p:cSldViewPr>
  </p:slideViewPr>
  <p:notesTextViewPr>
    <p:cViewPr>
      <p:scale>
        <a:sx n="100" d="100"/>
        <a:sy n="100" d="100"/>
      </p:scale>
      <p:origin x="0" y="0"/>
    </p:cViewPr>
  </p:notesTextViewPr>
  <p:sorterViewPr showFormatting="0">
    <p:cViewPr>
      <p:scale>
        <a:sx n="66" d="100"/>
        <a:sy n="66" d="100"/>
      </p:scale>
      <p:origin x="0" y="155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p>
            <a:pPr lvl="0" algn="l" eaLnBrk="1" hangingPunct="1"/>
            <a:endParaRPr lang="en-US" altLang="zh-TW" sz="1200" dirty="0">
              <a:latin typeface="Arial" panose="020B0604020202020204" pitchFamily="34" charset="0"/>
              <a:ea typeface="PMingLiU" pitchFamily="18" charset="-120"/>
            </a:endParaRPr>
          </a:p>
        </p:txBody>
      </p:sp>
      <p:sp>
        <p:nvSpPr>
          <p:cNvPr id="9216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p>
            <a:pPr lvl="0" algn="r" eaLnBrk="1" hangingPunct="1"/>
            <a:endParaRPr lang="en-US" altLang="zh-TW" sz="1200" dirty="0">
              <a:latin typeface="Arial" panose="020B0604020202020204" pitchFamily="34" charset="0"/>
              <a:ea typeface="PMingLiU" pitchFamily="18" charset="-120"/>
            </a:endParaRPr>
          </a:p>
        </p:txBody>
      </p:sp>
      <p:sp>
        <p:nvSpPr>
          <p:cNvPr id="3891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9216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TW" altLang="en-US" dirty="0"/>
              <a:t>按一下以編輯母片</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9216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l" eaLnBrk="1" hangingPunct="1"/>
            <a:endParaRPr lang="en-US" altLang="zh-TW" sz="1200" dirty="0">
              <a:latin typeface="Arial" panose="020B0604020202020204" pitchFamily="34" charset="0"/>
              <a:ea typeface="PMingLiU" pitchFamily="18" charset="-120"/>
            </a:endParaRPr>
          </a:p>
        </p:txBody>
      </p:sp>
      <p:sp>
        <p:nvSpPr>
          <p:cNvPr id="9216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TW" sz="1200" dirty="0">
                <a:latin typeface="Arial" panose="020B0604020202020204" pitchFamily="34" charset="0"/>
                <a:ea typeface="PMingLiU" pitchFamily="18" charset="-120"/>
              </a:rPr>
              <a:t>‹#›</a:t>
            </a:fld>
            <a:endParaRPr lang="en-US" altLang="zh-TW" sz="1200" dirty="0">
              <a:latin typeface="Arial" panose="020B0604020202020204" pitchFamily="34" charset="0"/>
              <a:ea typeface="PMingLiU" pitchFamily="18" charset="-12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1</a:t>
            </a:fld>
            <a:endParaRPr lang="en-US" altLang="zh-TW" sz="1200" dirty="0">
              <a:latin typeface="Arial" panose="020B0604020202020204" pitchFamily="34" charset="0"/>
              <a:ea typeface="PMingLiU" pitchFamily="18" charset="-120"/>
            </a:endParaRPr>
          </a:p>
        </p:txBody>
      </p:sp>
      <p:sp>
        <p:nvSpPr>
          <p:cNvPr id="39939" name="Rectangle 2"/>
          <p:cNvSpPr>
            <a:spLocks noGrp="1" noRot="1" noChangeAspect="1" noTextEdit="1"/>
          </p:cNvSpPr>
          <p:nvPr>
            <p:ph type="sldImg"/>
          </p:nvPr>
        </p:nvSpPr>
        <p:spPr>
          <a:ln/>
        </p:spPr>
      </p:sp>
      <p:sp>
        <p:nvSpPr>
          <p:cNvPr id="39940"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2</a:t>
            </a:fld>
            <a:endParaRPr lang="en-US" altLang="zh-TW" sz="1200" dirty="0">
              <a:latin typeface="Arial" panose="020B0604020202020204" pitchFamily="34" charset="0"/>
              <a:ea typeface="PMingLiU" pitchFamily="18" charset="-120"/>
            </a:endParaRPr>
          </a:p>
        </p:txBody>
      </p:sp>
      <p:sp>
        <p:nvSpPr>
          <p:cNvPr id="40963" name="Rectangle 2"/>
          <p:cNvSpPr>
            <a:spLocks noGrp="1" noRot="1" noChangeAspect="1" noTextEdit="1"/>
          </p:cNvSpPr>
          <p:nvPr>
            <p:ph type="sldImg"/>
          </p:nvPr>
        </p:nvSpPr>
        <p:spPr>
          <a:ln/>
        </p:spPr>
      </p:sp>
      <p:sp>
        <p:nvSpPr>
          <p:cNvPr id="40964"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useBgFill="1">
        <p:nvSpPr>
          <p:cNvPr id="11" name="Rounded Rectangle 10"/>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2" name="Rectangle 11"/>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5" name="Rectangle 14"/>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6" name="Rectangle 15"/>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
        <p:nvSpPr>
          <p:cNvPr id="17" name="Date Placeholder 27"/>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1">
              <a:rPr lang="en-US" altLang="x-none" dirty="0"/>
              <a:t>1/13/2021</a:t>
            </a:fld>
            <a:endParaRPr lang="en-US" altLang="x-none" dirty="0"/>
          </a:p>
        </p:txBody>
      </p:sp>
      <p:sp>
        <p:nvSpPr>
          <p:cNvPr id="18" name="Footer Placeholder 16"/>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9" name="Slide Number Placeholder 28"/>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t>‹#›</a:t>
            </a:fld>
            <a:endParaRPr lang="en-US" altLang="x-none" dirty="0">
              <a:latin typeface="Franklin Gothic Book" panose="020B05030201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3"/>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t>1/13/2021</a:t>
            </a:fld>
            <a:endParaRPr lang="en-US" altLang="x-none" dirty="0"/>
          </a:p>
        </p:txBody>
      </p:sp>
      <p:sp>
        <p:nvSpPr>
          <p:cNvPr id="11" name="Footer Placeholder 4"/>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5"/>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t>‹#›</a:t>
            </a:fld>
            <a:endParaRPr lang="en-US" altLang="x-none" dirty="0">
              <a:latin typeface="Franklin Gothic Book" panose="020B05030201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useBgFill="1">
        <p:nvSpPr>
          <p:cNvPr id="11" name="Rounded Rectangle 10"/>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2" name="Rectangle 11"/>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5" name="Rectangle 14"/>
          <p:cNvSpPr/>
          <p:nvPr/>
        </p:nvSpPr>
        <p:spPr>
          <a:xfrm>
            <a:off x="69850" y="2341563"/>
            <a:ext cx="901382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6" name="Rectangle 15"/>
          <p:cNvSpPr/>
          <p:nvPr/>
        </p:nvSpPr>
        <p:spPr>
          <a:xfrm>
            <a:off x="68263" y="2468563"/>
            <a:ext cx="9015413" cy="460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7" name="Date Placeholder 3"/>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t>1/13/2021</a:t>
            </a:fld>
            <a:endParaRPr lang="en-US" altLang="x-none" dirty="0"/>
          </a:p>
        </p:txBody>
      </p:sp>
      <p:sp>
        <p:nvSpPr>
          <p:cNvPr id="18" name="Footer Placeholder 4"/>
          <p:cNvSpPr>
            <a:spLocks noGrp="1"/>
          </p:cNvSpPr>
          <p:nvPr>
            <p:ph type="ftr" sz="quarter" idx="3"/>
          </p:nvPr>
        </p:nvSpPr>
        <p:spPr>
          <a:xfrm>
            <a:off x="800100" y="6172200"/>
            <a:ext cx="4000500" cy="457200"/>
          </a:xfrm>
          <a:prstGeom prst="rect">
            <a:avLst/>
          </a:prstGeom>
        </p:spPr>
        <p:txBody>
          <a:bodyPr anchor="ctr" anchorCtr="0"/>
          <a:lstStyle/>
          <a:p>
            <a:pPr>
              <a:buNone/>
            </a:pPr>
            <a:endParaRPr lang="en-US" altLang="zh-TW" dirty="0"/>
          </a:p>
        </p:txBody>
      </p:sp>
      <p:sp>
        <p:nvSpPr>
          <p:cNvPr id="19" name="Slide Number Placeholder 5"/>
          <p:cNvSpPr>
            <a:spLocks noGrp="1"/>
          </p:cNvSpPr>
          <p:nvPr>
            <p:ph type="sldNum" sz="quarter" idx="4"/>
          </p:nvPr>
        </p:nvSpPr>
        <p:spPr>
          <a:xfrm>
            <a:off x="146050" y="6208713"/>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t>‹#›</a:t>
            </a:fld>
            <a:endParaRPr lang="en-US" altLang="x-none" dirty="0">
              <a:latin typeface="Franklin Gothic Book" panose="020B05030201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4"/>
          <p:cNvSpPr>
            <a:spLocks noGrp="1"/>
          </p:cNvSpPr>
          <p:nvPr>
            <p:ph type="dt" sz="half" idx="1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t>1/13/2021</a:t>
            </a:fld>
            <a:endParaRPr lang="en-US" altLang="x-none" dirty="0"/>
          </a:p>
        </p:txBody>
      </p:sp>
      <p:sp>
        <p:nvSpPr>
          <p:cNvPr id="3" name="Footer Placeholder 5"/>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6"/>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t>‹#›</a:t>
            </a:fld>
            <a:endParaRPr lang="en-US" altLang="x-none" dirty="0">
              <a:latin typeface="Franklin Gothic Book" panose="020B05030201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6"/>
          <p:cNvSpPr>
            <a:spLocks noGrp="1"/>
          </p:cNvSpPr>
          <p:nvPr>
            <p:ph type="dt" sz="half" idx="1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t>1/13/2021</a:t>
            </a:fld>
            <a:endParaRPr lang="en-US" altLang="x-none" dirty="0"/>
          </a:p>
        </p:txBody>
      </p:sp>
      <p:sp>
        <p:nvSpPr>
          <p:cNvPr id="5" name="Footer Placeholder 7"/>
          <p:cNvSpPr>
            <a:spLocks noGrp="1"/>
          </p:cNvSpPr>
          <p:nvPr>
            <p:ph type="ftr" sz="quarter" idx="1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8"/>
          <p:cNvSpPr>
            <a:spLocks noGrp="1"/>
          </p:cNvSpPr>
          <p:nvPr>
            <p:ph type="sldNum" sz="quarter" idx="1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t>‹#›</a:t>
            </a:fld>
            <a:endParaRPr lang="en-US" altLang="x-none" dirty="0">
              <a:latin typeface="Franklin Gothic Book" panose="020B05030201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10" name="Date Placeholder 2"/>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t>1/13/2021</a:t>
            </a:fld>
            <a:endParaRPr lang="en-US" altLang="x-none" dirty="0"/>
          </a:p>
        </p:txBody>
      </p:sp>
      <p:sp>
        <p:nvSpPr>
          <p:cNvPr id="11" name="Footer Placeholder 3"/>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4"/>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t>‹#›</a:t>
            </a:fld>
            <a:endParaRPr lang="en-US" altLang="x-none" dirty="0">
              <a:latin typeface="Franklin Gothic Book" panose="020B05030201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Date Placeholder 1"/>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t>1/13/2021</a:t>
            </a:fld>
            <a:endParaRPr lang="en-US" altLang="x-none" dirty="0"/>
          </a:p>
        </p:txBody>
      </p:sp>
      <p:sp>
        <p:nvSpPr>
          <p:cNvPr id="11" name="Footer Placeholder 2"/>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3"/>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t>‹#›</a:t>
            </a:fld>
            <a:endParaRPr lang="en-US" altLang="x-none" dirty="0">
              <a:latin typeface="Franklin Gothic Book" panose="020B05030201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useBgFill="1">
        <p:nvSpPr>
          <p:cNvPr id="4" name="Rounded Rectangle 10"/>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Date Placeholder 4"/>
          <p:cNvSpPr>
            <a:spLocks noGrp="1"/>
          </p:cNvSpPr>
          <p:nvPr>
            <p:ph type="dt" sz="half" idx="1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t>1/13/2021</a:t>
            </a:fld>
            <a:endParaRPr lang="en-US" altLang="x-none" dirty="0"/>
          </a:p>
        </p:txBody>
      </p:sp>
      <p:sp>
        <p:nvSpPr>
          <p:cNvPr id="15" name="Footer Placeholder 5"/>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6" name="Slide Number Placeholder 6"/>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t>‹#›</a:t>
            </a:fld>
            <a:endParaRPr lang="en-US" altLang="x-none" dirty="0">
              <a:latin typeface="Franklin Gothic Book" panose="020B05030201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1" name="Rectangle 10"/>
          <p:cNvSpPr/>
          <p:nvPr/>
        </p:nvSpPr>
        <p:spPr>
          <a:xfrm>
            <a:off x="68263" y="4649788"/>
            <a:ext cx="900747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2" name="Rectangle 11"/>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marL="0" marR="0" lvl="0" indent="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US" sz="32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5" name="Date Placeholder 4"/>
          <p:cNvSpPr>
            <a:spLocks noGrp="1"/>
          </p:cNvSpPr>
          <p:nvPr>
            <p:ph type="dt" sz="half" idx="1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t>1/13/2021</a:t>
            </a:fld>
            <a:endParaRPr lang="en-US" altLang="x-none" dirty="0"/>
          </a:p>
        </p:txBody>
      </p:sp>
      <p:sp>
        <p:nvSpPr>
          <p:cNvPr id="16" name="Footer Placeholder 5"/>
          <p:cNvSpPr>
            <a:spLocks noGrp="1"/>
          </p:cNvSpPr>
          <p:nvPr>
            <p:ph type="ftr" sz="quarter" idx="3"/>
          </p:nvPr>
        </p:nvSpPr>
        <p:spPr>
          <a:xfrm>
            <a:off x="914400" y="6172200"/>
            <a:ext cx="3886200" cy="457200"/>
          </a:xfrm>
          <a:prstGeom prst="rect">
            <a:avLst/>
          </a:prstGeom>
        </p:spPr>
        <p:txBody>
          <a:bodyPr anchor="ctr" anchorCtr="0"/>
          <a:lstStyle/>
          <a:p>
            <a:pPr>
              <a:buNone/>
            </a:pPr>
            <a:endParaRPr lang="en-US" altLang="zh-TW" dirty="0"/>
          </a:p>
        </p:txBody>
      </p:sp>
      <p:sp>
        <p:nvSpPr>
          <p:cNvPr id="17" name="Slide Number Placeholder 6"/>
          <p:cNvSpPr>
            <a:spLocks noGrp="1"/>
          </p:cNvSpPr>
          <p:nvPr>
            <p:ph type="sldNum" sz="quarter" idx="4"/>
          </p:nvPr>
        </p:nvSpPr>
        <p:spPr>
          <a:xfrm>
            <a:off x="146050" y="6208713"/>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t>‹#›</a:t>
            </a:fld>
            <a:endParaRPr lang="en-US" altLang="x-none" dirty="0">
              <a:latin typeface="Franklin Gothic Book" panose="020B05030201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3"/>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t>1/13/2021</a:t>
            </a:fld>
            <a:endParaRPr lang="en-US" altLang="x-none" dirty="0"/>
          </a:p>
        </p:txBody>
      </p:sp>
      <p:sp>
        <p:nvSpPr>
          <p:cNvPr id="11" name="Footer Placeholder 4"/>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5"/>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t>‹#›</a:t>
            </a:fld>
            <a:endParaRPr lang="en-US" altLang="x-none" dirty="0">
              <a:latin typeface="Franklin Gothic Book" panose="020B05030201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3"/>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t>1/13/2021</a:t>
            </a:fld>
            <a:endParaRPr lang="en-US" altLang="x-none" dirty="0"/>
          </a:p>
        </p:txBody>
      </p:sp>
      <p:sp>
        <p:nvSpPr>
          <p:cNvPr id="11" name="Footer Placeholder 4"/>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5"/>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t>‹#›</a:t>
            </a:fld>
            <a:endParaRPr lang="en-US" altLang="x-none" dirty="0">
              <a:latin typeface="Franklin Gothic Book" panose="020B05030201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2052" name="Title Placeholder 21"/>
          <p:cNvSpPr>
            <a:spLocks noGrp="1"/>
          </p:cNvSpPr>
          <p:nvPr>
            <p:ph type="title"/>
          </p:nvPr>
        </p:nvSpPr>
        <p:spPr>
          <a:xfrm>
            <a:off x="914400" y="274638"/>
            <a:ext cx="7772400" cy="1143000"/>
          </a:xfrm>
          <a:prstGeom prst="rect">
            <a:avLst/>
          </a:prstGeom>
          <a:noFill/>
          <a:ln w="9525">
            <a:noFill/>
          </a:ln>
        </p:spPr>
        <p:txBody>
          <a:bodyPr bIns="91440" anchor="b"/>
          <a:lstStyle/>
          <a:p>
            <a:pPr lvl="0"/>
            <a:r>
              <a:rPr lang="en-US" altLang="x-none" dirty="0"/>
              <a:t>Click to edit Master title style</a:t>
            </a:r>
          </a:p>
        </p:txBody>
      </p:sp>
      <p:sp>
        <p:nvSpPr>
          <p:cNvPr id="2053" name="Text Placeholder 12"/>
          <p:cNvSpPr>
            <a:spLocks noGrp="1"/>
          </p:cNvSpPr>
          <p:nvPr>
            <p:ph type="body" idx="1"/>
          </p:nvPr>
        </p:nvSpPr>
        <p:spPr>
          <a:xfrm>
            <a:off x="914400" y="1447800"/>
            <a:ext cx="7772400" cy="4572000"/>
          </a:xfrm>
          <a:prstGeom prst="rect">
            <a:avLst/>
          </a:prstGeom>
          <a:noFill/>
          <a:ln w="9525">
            <a:noFill/>
          </a:ln>
        </p:spPr>
        <p:txBody>
          <a:bodyPr/>
          <a:lstStyle/>
          <a:p>
            <a:pPr lvl="0"/>
            <a:r>
              <a:rPr lang="en-US" altLang="x-none" dirty="0"/>
              <a:t>Click to edit Master text styles</a:t>
            </a:r>
          </a:p>
          <a:p>
            <a:pPr lvl="1"/>
            <a:r>
              <a:rPr lang="en-US" altLang="x-none" dirty="0"/>
              <a:t>Second level</a:t>
            </a:r>
          </a:p>
          <a:p>
            <a:pPr lvl="2"/>
            <a:r>
              <a:rPr lang="en-US" altLang="x-none" dirty="0"/>
              <a:t>Third level</a:t>
            </a:r>
          </a:p>
          <a:p>
            <a:pPr lvl="3"/>
            <a:r>
              <a:rPr lang="en-US" altLang="x-none" dirty="0"/>
              <a:t>Fourth level</a:t>
            </a:r>
          </a:p>
          <a:p>
            <a:pPr lvl="4"/>
            <a:r>
              <a:rPr lang="en-US" altLang="x-none" dirty="0"/>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a:defRPr sz="1400">
                <a:solidFill>
                  <a:schemeClr val="tx2"/>
                </a:solidFill>
              </a:defRPr>
            </a:lvl1pPr>
          </a:lstStyle>
          <a:p>
            <a:pPr lvl="0" eaLnBrk="1" hangingPunct="1">
              <a:buNone/>
            </a:pPr>
            <a:fld id="{BB962C8B-B14F-4D97-AF65-F5344CB8AC3E}" type="datetimeFigureOut">
              <a:rPr lang="en-US" altLang="x-none" dirty="0">
                <a:latin typeface="Times New Roman" panose="02020603050405020304" pitchFamily="18" charset="0"/>
              </a:rPr>
              <a:t>1/13/2021</a:t>
            </a:fld>
            <a:endParaRPr lang="en-US" altLang="x-none" dirty="0">
              <a:latin typeface="Times New Roman" panose="02020603050405020304" pitchFamily="18" charset="0"/>
            </a:endParaRP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a:defRPr sz="1400">
                <a:solidFill>
                  <a:schemeClr val="tx2"/>
                </a:solidFill>
              </a:defRPr>
            </a:lvl1pPr>
          </a:lstStyle>
          <a:p>
            <a:pPr lvl="0" eaLnBrk="1" hangingPunct="1">
              <a:buNone/>
            </a:pPr>
            <a:endParaRPr lang="en-US" altLang="zh-TW" dirty="0">
              <a:latin typeface="Times New Roman" panose="02020603050405020304" pitchFamily="18" charset="0"/>
            </a:endParaRPr>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defRPr sz="1400">
                <a:solidFill>
                  <a:srgbClr val="FFFFFF"/>
                </a:solidFill>
                <a:latin typeface="Franklin Gothic Book" panose="020B0503020102020204" pitchFamily="34" charset="0"/>
              </a:defRPr>
            </a:lvl1pPr>
          </a:lstStyle>
          <a:p>
            <a:pPr lvl="0" eaLnBrk="1" hangingPunct="1">
              <a:buNone/>
            </a:pPr>
            <a:fld id="{9A0DB2DC-4C9A-4742-B13C-FB6460FD3503}" type="slidenum">
              <a:rPr lang="en-US" altLang="x-none" dirty="0"/>
              <a:t>‹#›</a:t>
            </a:fld>
            <a:endParaRPr lang="en-US" altLang="x-none"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ip/"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ubtitle 8"/>
          <p:cNvSpPr>
            <a:spLocks noGrp="1"/>
          </p:cNvSpPr>
          <p:nvPr>
            <p:ph type="subTitle" idx="1"/>
          </p:nvPr>
        </p:nvSpPr>
        <p:spPr>
          <a:xfrm>
            <a:off x="2555875" y="4508500"/>
            <a:ext cx="6400800" cy="1600200"/>
          </a:xfrm>
          <a:ln/>
        </p:spPr>
        <p:txBody>
          <a:bodyPr vert="horz" wrap="square" anchor="t"/>
          <a:lstStyle/>
          <a:p>
            <a:pPr>
              <a:buFont typeface="Wingdings 2" panose="05020102010507070707" pitchFamily="18" charset="2"/>
            </a:pPr>
            <a:r>
              <a:rPr kumimoji="0" lang="en-US" altLang="x-none" kern="1200" dirty="0">
                <a:latin typeface="+mn-lt"/>
                <a:ea typeface="+mn-ea"/>
                <a:cs typeface="+mn-cs"/>
              </a:rPr>
              <a:t>                                          </a:t>
            </a:r>
          </a:p>
          <a:p>
            <a:pPr>
              <a:buFont typeface="Wingdings 2" panose="05020102010507070707" pitchFamily="18" charset="2"/>
            </a:pPr>
            <a:r>
              <a:rPr lang="en-US" altLang="x-none" dirty="0"/>
              <a:t>                                  </a:t>
            </a:r>
            <a:r>
              <a:rPr kumimoji="0" lang="en-US" altLang="x-none" kern="1200" dirty="0">
                <a:latin typeface="+mn-lt"/>
                <a:ea typeface="+mn-ea"/>
                <a:cs typeface="+mn-cs"/>
              </a:rPr>
              <a:t> </a:t>
            </a:r>
            <a:r>
              <a:rPr kumimoji="0" lang="en-US" altLang="x-none" sz="2000" kern="1200" dirty="0">
                <a:latin typeface="+mn-lt"/>
                <a:ea typeface="+mn-ea"/>
                <a:cs typeface="+mn-cs"/>
              </a:rPr>
              <a:t>By –</a:t>
            </a:r>
            <a:r>
              <a:rPr lang="en-US" sz="2000" dirty="0"/>
              <a:t>Prakash </a:t>
            </a:r>
            <a:r>
              <a:rPr lang="en-US" sz="2000" dirty="0" err="1"/>
              <a:t>Khasor</a:t>
            </a:r>
            <a:r>
              <a:rPr lang="en-US" sz="2000" dirty="0"/>
              <a:t>,</a:t>
            </a:r>
            <a:br>
              <a:rPr lang="en-US" sz="2000" dirty="0"/>
            </a:br>
            <a:r>
              <a:rPr lang="en-US" sz="2000" dirty="0"/>
              <a:t>                                                  Assistant Professor(Cyber Security),</a:t>
            </a:r>
            <a:br>
              <a:rPr lang="en-US" sz="2000" dirty="0"/>
            </a:br>
            <a:r>
              <a:rPr lang="en-US" sz="2000" dirty="0"/>
              <a:t>                                                National Forensic Sciences University</a:t>
            </a:r>
            <a:endParaRPr kumimoji="0" lang="en-IN" altLang="en-US" sz="2000" kern="1200" dirty="0">
              <a:latin typeface="+mn-lt"/>
              <a:ea typeface="+mn-ea"/>
              <a:cs typeface="+mn-cs"/>
            </a:endParaRPr>
          </a:p>
        </p:txBody>
      </p:sp>
      <p:sp>
        <p:nvSpPr>
          <p:cNvPr id="17412" name="Rectangle 4"/>
          <p:cNvSpPr>
            <a:spLocks noGrp="1"/>
          </p:cNvSpPr>
          <p:nvPr>
            <p:ph type="ctrTitle"/>
          </p:nvPr>
        </p:nvSpPr>
        <p:spPr>
          <a:xfrm>
            <a:off x="457200" y="1506538"/>
            <a:ext cx="8229600" cy="1470025"/>
          </a:xfrm>
          <a:ln/>
        </p:spPr>
        <p:txBody>
          <a:bodyPr vert="horz" wrap="square" bIns="91440" anchor="ctr"/>
          <a:lstStyle/>
          <a:p>
            <a:pPr>
              <a:buClrTx/>
              <a:buSzTx/>
              <a:buFontTx/>
            </a:pPr>
            <a:r>
              <a:rPr kumimoji="0" lang="en-IN" altLang="en-US" kern="1200" dirty="0">
                <a:solidFill>
                  <a:srgbClr val="FFFFFF"/>
                </a:solidFill>
                <a:latin typeface="+mj-lt"/>
                <a:ea typeface="+mj-ea"/>
                <a:cs typeface="+mj-cs"/>
              </a:rPr>
              <a:t>Web Application Security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914400" y="274638"/>
            <a:ext cx="7772400" cy="850106"/>
          </a:xfrm>
          <a:ln/>
        </p:spPr>
        <p:txBody>
          <a:bodyPr vert="horz" wrap="square" bIns="91440" anchor="b"/>
          <a:lstStyle/>
          <a:p>
            <a:r>
              <a:rPr lang="en-US" altLang="zh-TW" dirty="0">
                <a:solidFill>
                  <a:srgbClr val="FF3300"/>
                </a:solidFill>
                <a:latin typeface="Times New Roman" panose="02020603050405020304" pitchFamily="18" charset="0"/>
                <a:cs typeface="Times New Roman" panose="02020603050405020304" pitchFamily="18" charset="0"/>
              </a:rPr>
              <a:t>Banner Grabbing</a:t>
            </a:r>
          </a:p>
        </p:txBody>
      </p:sp>
      <p:sp>
        <p:nvSpPr>
          <p:cNvPr id="71683" name="Rectangle 3"/>
          <p:cNvSpPr>
            <a:spLocks noGrp="1"/>
          </p:cNvSpPr>
          <p:nvPr>
            <p:ph sz="quarter" idx="1"/>
          </p:nvPr>
        </p:nvSpPr>
        <p:spPr>
          <a:xfrm>
            <a:off x="348680" y="1286272"/>
            <a:ext cx="8338120" cy="5095056"/>
          </a:xfrm>
          <a:ln/>
        </p:spPr>
        <p:txBody>
          <a:bodyPr wrap="square" anchor="t"/>
          <a:lstStyle/>
          <a:p>
            <a:r>
              <a:rPr lang="en-US" altLang="zh-TW" u="sng" dirty="0">
                <a:latin typeface="Times New Roman" panose="02020603050405020304" pitchFamily="18" charset="0"/>
                <a:cs typeface="Times New Roman" panose="02020603050405020304" pitchFamily="18" charset="0"/>
              </a:rPr>
              <a:t>Banner grabbing </a:t>
            </a:r>
            <a:r>
              <a:rPr lang="en-US" altLang="zh-TW" dirty="0">
                <a:latin typeface="Times New Roman" panose="02020603050405020304" pitchFamily="18" charset="0"/>
                <a:cs typeface="Times New Roman" panose="02020603050405020304" pitchFamily="18" charset="0"/>
              </a:rPr>
              <a:t>is the act of getting software banner information (name and version), whether it’s done manually, or by using any OSINT tools that can do it for you automatically.</a:t>
            </a:r>
          </a:p>
          <a:p>
            <a:r>
              <a:rPr lang="en-US" altLang="zh-TW" dirty="0">
                <a:latin typeface="Times New Roman" panose="02020603050405020304" pitchFamily="18" charset="0"/>
                <a:cs typeface="Times New Roman" panose="02020603050405020304" pitchFamily="18" charset="0"/>
              </a:rPr>
              <a:t>And its termed as Service </a:t>
            </a:r>
            <a:r>
              <a:rPr lang="en-US" altLang="zh-TW" u="sng" dirty="0" err="1">
                <a:latin typeface="Times New Roman" panose="02020603050405020304" pitchFamily="18" charset="0"/>
                <a:cs typeface="Times New Roman" panose="02020603050405020304" pitchFamily="18" charset="0"/>
              </a:rPr>
              <a:t>FingerPrinting</a:t>
            </a:r>
            <a:r>
              <a:rPr lang="en-US" altLang="zh-TW" dirty="0">
                <a:latin typeface="Times New Roman" panose="02020603050405020304" pitchFamily="18" charset="0"/>
                <a:cs typeface="Times New Roman" panose="02020603050405020304" pitchFamily="18" charset="0"/>
              </a:rPr>
              <a:t> also.</a:t>
            </a:r>
          </a:p>
          <a:p>
            <a:r>
              <a:rPr lang="en-US" altLang="zh-TW" dirty="0">
                <a:latin typeface="Times New Roman" panose="02020603050405020304" pitchFamily="18" charset="0"/>
                <a:cs typeface="Times New Roman" panose="02020603050405020304" pitchFamily="18" charset="0"/>
              </a:rPr>
              <a:t>Why Banner Grabbing?</a:t>
            </a:r>
          </a:p>
          <a:p>
            <a:pPr marL="0" indent="0">
              <a:buNone/>
            </a:pPr>
            <a:r>
              <a:rPr lang="en-US" altLang="zh-TW"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Banner Grabbing allows an attacker to discover network hosts   and running services with their versions on the open ports and moreover operating systems so that he can exploit the remote host server and Local Server.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EA4A0-5DF6-4323-AF2B-8253FB8DF924}"/>
              </a:ext>
            </a:extLst>
          </p:cNvPr>
          <p:cNvSpPr>
            <a:spLocks noGrp="1"/>
          </p:cNvSpPr>
          <p:nvPr>
            <p:ph type="title"/>
          </p:nvPr>
        </p:nvSpPr>
        <p:spPr/>
        <p:txBody>
          <a:bodyPr/>
          <a:lstStyle/>
          <a:p>
            <a:r>
              <a:rPr lang="en-IN" dirty="0">
                <a:solidFill>
                  <a:srgbClr val="FF0000"/>
                </a:solidFill>
                <a:latin typeface="Times New Roman" panose="02020603050405020304" pitchFamily="18" charset="0"/>
                <a:cs typeface="Times New Roman" panose="02020603050405020304" pitchFamily="18" charset="0"/>
              </a:rPr>
              <a:t>Types of Banner Grabbing</a:t>
            </a:r>
          </a:p>
        </p:txBody>
      </p:sp>
      <p:sp>
        <p:nvSpPr>
          <p:cNvPr id="3" name="Content Placeholder 2">
            <a:extLst>
              <a:ext uri="{FF2B5EF4-FFF2-40B4-BE49-F238E27FC236}">
                <a16:creationId xmlns:a16="http://schemas.microsoft.com/office/drawing/2014/main" id="{73CD8CFB-4915-4DBE-9933-326165D3B823}"/>
              </a:ext>
            </a:extLst>
          </p:cNvPr>
          <p:cNvSpPr>
            <a:spLocks noGrp="1"/>
          </p:cNvSpPr>
          <p:nvPr>
            <p:ph sz="quarter" idx="1"/>
          </p:nvPr>
        </p:nvSpPr>
        <p:spPr>
          <a:xfrm>
            <a:off x="914400" y="1447800"/>
            <a:ext cx="7772400" cy="5365576"/>
          </a:xfrm>
        </p:spPr>
        <p:txBody>
          <a:bodyPr/>
          <a:lstStyle/>
          <a:p>
            <a:r>
              <a:rPr lang="en-US" altLang="zh-TW" b="1" u="sng" dirty="0">
                <a:latin typeface="Times New Roman" panose="02020603050405020304" pitchFamily="18" charset="0"/>
                <a:cs typeface="Times New Roman" panose="02020603050405020304" pitchFamily="18" charset="0"/>
              </a:rPr>
              <a:t>Active Banner grabbing:</a:t>
            </a:r>
            <a:r>
              <a:rPr lang="en-US" altLang="zh-TW"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This is the most popular type of banner grabbing, basically the act of sending packets to the remote host and waiting for their response to analyze the data.</a:t>
            </a:r>
            <a:endParaRPr lang="en-US" altLang="zh-TW" sz="2400" b="1" u="sng" dirty="0">
              <a:latin typeface="Times New Roman" panose="02020603050405020304" pitchFamily="18" charset="0"/>
              <a:cs typeface="Times New Roman" panose="02020603050405020304" pitchFamily="18" charset="0"/>
            </a:endParaRPr>
          </a:p>
          <a:p>
            <a:r>
              <a:rPr lang="en-US" altLang="zh-TW" b="1" u="sng" dirty="0">
                <a:latin typeface="Times New Roman" panose="02020603050405020304" pitchFamily="18" charset="0"/>
                <a:cs typeface="Times New Roman" panose="02020603050405020304" pitchFamily="18" charset="0"/>
              </a:rPr>
              <a:t>Passive Banner grabbing:</a:t>
            </a:r>
            <a:r>
              <a:rPr lang="en-US" altLang="zh-TW"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Passive banner grabbing enables you to get the same information while avoiding a high level of exposure from the origin connection. Different intermediate software and platforms can be used as a gateway to avoid a direct connection and still allow you to obtain the data you need</a:t>
            </a:r>
            <a:r>
              <a:rPr lang="en-US" altLang="zh-TW" dirty="0">
                <a:latin typeface="Times New Roman" panose="02020603050405020304" pitchFamily="18" charset="0"/>
                <a:cs typeface="Times New Roman" panose="02020603050405020304" pitchFamily="18" charset="0"/>
              </a:rPr>
              <a:t>.</a:t>
            </a:r>
            <a:endParaRPr lang="en-IN" dirty="0"/>
          </a:p>
        </p:txBody>
      </p:sp>
    </p:spTree>
    <p:extLst>
      <p:ext uri="{BB962C8B-B14F-4D97-AF65-F5344CB8AC3E}">
        <p14:creationId xmlns:p14="http://schemas.microsoft.com/office/powerpoint/2010/main" val="1405683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22CD7-BD35-447F-BF4C-3C4E635BEC0F}"/>
              </a:ext>
            </a:extLst>
          </p:cNvPr>
          <p:cNvSpPr>
            <a:spLocks noGrp="1"/>
          </p:cNvSpPr>
          <p:nvPr>
            <p:ph type="title"/>
          </p:nvPr>
        </p:nvSpPr>
        <p:spPr/>
        <p:txBody>
          <a:bodyPr/>
          <a:lstStyle/>
          <a:p>
            <a:r>
              <a:rPr lang="en-IN" dirty="0">
                <a:solidFill>
                  <a:srgbClr val="FF0000"/>
                </a:solidFill>
              </a:rPr>
              <a:t>SEC_TERMS</a:t>
            </a:r>
          </a:p>
        </p:txBody>
      </p:sp>
      <p:sp>
        <p:nvSpPr>
          <p:cNvPr id="3" name="Content Placeholder 2">
            <a:extLst>
              <a:ext uri="{FF2B5EF4-FFF2-40B4-BE49-F238E27FC236}">
                <a16:creationId xmlns:a16="http://schemas.microsoft.com/office/drawing/2014/main" id="{8A203C82-00A3-4C27-80FD-13D2D141C2BB}"/>
              </a:ext>
            </a:extLst>
          </p:cNvPr>
          <p:cNvSpPr>
            <a:spLocks noGrp="1"/>
          </p:cNvSpPr>
          <p:nvPr>
            <p:ph sz="quarter" idx="1"/>
          </p:nvPr>
        </p:nvSpPr>
        <p:spPr/>
        <p:txBody>
          <a:bodyPr/>
          <a:lstStyle/>
          <a:p>
            <a:r>
              <a:rPr lang="en-IN" b="1" dirty="0"/>
              <a:t>Exploit</a:t>
            </a:r>
            <a:r>
              <a:rPr lang="en-IN" dirty="0"/>
              <a:t>:-</a:t>
            </a:r>
            <a:r>
              <a:rPr lang="en-US" dirty="0"/>
              <a:t>An Exploit is a tool that is used to manipulate the vulnerability. There can't be an exploit without first being a vulnerability.</a:t>
            </a:r>
            <a:endParaRPr lang="en-IN" dirty="0"/>
          </a:p>
          <a:p>
            <a:r>
              <a:rPr lang="en-IN" b="1" dirty="0"/>
              <a:t>Payload</a:t>
            </a:r>
            <a:r>
              <a:rPr lang="en-IN" dirty="0"/>
              <a:t>:-</a:t>
            </a:r>
            <a:r>
              <a:rPr lang="en-US" dirty="0"/>
              <a:t>After the vulnerability is discovered, and exploit is created and used, then a payload can get loaded. The payload is a malicious program that allows hackers to obtain their objectives</a:t>
            </a:r>
            <a:endParaRPr lang="en-IN" dirty="0"/>
          </a:p>
          <a:p>
            <a:r>
              <a:rPr lang="en-IN" b="1" dirty="0"/>
              <a:t>Shellcode</a:t>
            </a:r>
            <a:r>
              <a:rPr lang="en-IN" dirty="0"/>
              <a:t>:-</a:t>
            </a:r>
            <a:r>
              <a:rPr lang="en-US" dirty="0"/>
              <a:t>Shellcode is mainly a listing of fastidiously crafted instructions that may be executed as soon as the code is injected right into a working software.</a:t>
            </a:r>
            <a:endParaRPr lang="en-IN" dirty="0"/>
          </a:p>
        </p:txBody>
      </p:sp>
    </p:spTree>
    <p:extLst>
      <p:ext uri="{BB962C8B-B14F-4D97-AF65-F5344CB8AC3E}">
        <p14:creationId xmlns:p14="http://schemas.microsoft.com/office/powerpoint/2010/main" val="2480791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A21BD-21C9-4EA9-AA17-000A920C5F64}"/>
              </a:ext>
            </a:extLst>
          </p:cNvPr>
          <p:cNvSpPr>
            <a:spLocks noGrp="1"/>
          </p:cNvSpPr>
          <p:nvPr>
            <p:ph type="title"/>
          </p:nvPr>
        </p:nvSpPr>
        <p:spPr/>
        <p:txBody>
          <a:bodyPr/>
          <a:lstStyle/>
          <a:p>
            <a:r>
              <a:rPr lang="en-IN" dirty="0">
                <a:solidFill>
                  <a:srgbClr val="FF0000"/>
                </a:solidFill>
              </a:rPr>
              <a:t>TOOLS</a:t>
            </a:r>
          </a:p>
        </p:txBody>
      </p:sp>
      <p:sp>
        <p:nvSpPr>
          <p:cNvPr id="3" name="Content Placeholder 2">
            <a:extLst>
              <a:ext uri="{FF2B5EF4-FFF2-40B4-BE49-F238E27FC236}">
                <a16:creationId xmlns:a16="http://schemas.microsoft.com/office/drawing/2014/main" id="{91BABBDF-5516-436B-AE23-561C39299D2B}"/>
              </a:ext>
            </a:extLst>
          </p:cNvPr>
          <p:cNvSpPr>
            <a:spLocks noGrp="1"/>
          </p:cNvSpPr>
          <p:nvPr>
            <p:ph sz="quarter" idx="1"/>
          </p:nvPr>
        </p:nvSpPr>
        <p:spPr>
          <a:xfrm>
            <a:off x="914400" y="1417638"/>
            <a:ext cx="7772400" cy="4572000"/>
          </a:xfrm>
        </p:spPr>
        <p:txBody>
          <a:bodyPr/>
          <a:lstStyle/>
          <a:p>
            <a:r>
              <a:rPr lang="en-IN" dirty="0"/>
              <a:t>Telnet</a:t>
            </a:r>
          </a:p>
          <a:p>
            <a:r>
              <a:rPr lang="en-IN" dirty="0" err="1"/>
              <a:t>Wget</a:t>
            </a:r>
            <a:endParaRPr lang="en-IN" dirty="0"/>
          </a:p>
          <a:p>
            <a:r>
              <a:rPr lang="en-IN" dirty="0"/>
              <a:t>Curl</a:t>
            </a:r>
          </a:p>
          <a:p>
            <a:r>
              <a:rPr lang="en-IN" dirty="0" err="1"/>
              <a:t>Netcat</a:t>
            </a:r>
            <a:endParaRPr lang="en-IN" dirty="0"/>
          </a:p>
          <a:p>
            <a:r>
              <a:rPr lang="en-IN" dirty="0"/>
              <a:t>Dmitry</a:t>
            </a:r>
          </a:p>
          <a:p>
            <a:r>
              <a:rPr lang="en-IN" dirty="0" err="1"/>
              <a:t>Nikto</a:t>
            </a:r>
            <a:r>
              <a:rPr lang="en-IN" dirty="0"/>
              <a:t> </a:t>
            </a:r>
          </a:p>
          <a:p>
            <a:r>
              <a:rPr lang="en-IN" dirty="0"/>
              <a:t>Nmap</a:t>
            </a:r>
          </a:p>
          <a:p>
            <a:endParaRPr lang="en-IN" dirty="0"/>
          </a:p>
          <a:p>
            <a:endParaRPr lang="en-IN" dirty="0"/>
          </a:p>
        </p:txBody>
      </p:sp>
    </p:spTree>
    <p:extLst>
      <p:ext uri="{BB962C8B-B14F-4D97-AF65-F5344CB8AC3E}">
        <p14:creationId xmlns:p14="http://schemas.microsoft.com/office/powerpoint/2010/main" val="2616063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5867-120A-45BB-A0DD-C30FE3F95340}"/>
              </a:ext>
            </a:extLst>
          </p:cNvPr>
          <p:cNvSpPr>
            <a:spLocks noGrp="1"/>
          </p:cNvSpPr>
          <p:nvPr>
            <p:ph type="title"/>
          </p:nvPr>
        </p:nvSpPr>
        <p:spPr/>
        <p:txBody>
          <a:bodyPr/>
          <a:lstStyle/>
          <a:p>
            <a:r>
              <a:rPr lang="en-IN" dirty="0">
                <a:solidFill>
                  <a:srgbClr val="FF0000"/>
                </a:solidFill>
                <a:latin typeface="Arial" panose="020B0604020202020204" pitchFamily="34" charset="0"/>
                <a:cs typeface="Arial" panose="020B0604020202020204" pitchFamily="34" charset="0"/>
              </a:rPr>
              <a:t>Telnet</a:t>
            </a:r>
          </a:p>
        </p:txBody>
      </p:sp>
      <p:sp>
        <p:nvSpPr>
          <p:cNvPr id="3" name="Content Placeholder 2">
            <a:extLst>
              <a:ext uri="{FF2B5EF4-FFF2-40B4-BE49-F238E27FC236}">
                <a16:creationId xmlns:a16="http://schemas.microsoft.com/office/drawing/2014/main" id="{B5CCBDF2-E48F-4894-888B-06116C5A268F}"/>
              </a:ext>
            </a:extLst>
          </p:cNvPr>
          <p:cNvSpPr>
            <a:spLocks noGrp="1"/>
          </p:cNvSpPr>
          <p:nvPr>
            <p:ph sz="quarter" idx="1"/>
          </p:nvPr>
        </p:nvSpPr>
        <p:spPr/>
        <p:txBody>
          <a:bodyPr/>
          <a:lstStyle/>
          <a:p>
            <a:r>
              <a:rPr lang="en-US" dirty="0"/>
              <a:t>Telnet is one of the most classic cross-platform clients available, one that allows you to interact with remote services for banner grabbing.</a:t>
            </a:r>
          </a:p>
          <a:p>
            <a:r>
              <a:rPr lang="en-IN" dirty="0"/>
              <a:t>Syntax:- telnet IP PORT</a:t>
            </a:r>
          </a:p>
        </p:txBody>
      </p:sp>
      <p:pic>
        <p:nvPicPr>
          <p:cNvPr id="7" name="Picture 6">
            <a:extLst>
              <a:ext uri="{FF2B5EF4-FFF2-40B4-BE49-F238E27FC236}">
                <a16:creationId xmlns:a16="http://schemas.microsoft.com/office/drawing/2014/main" id="{A0D46AC8-8D00-4253-B8D6-6F77A3CCAE01}"/>
              </a:ext>
            </a:extLst>
          </p:cNvPr>
          <p:cNvPicPr>
            <a:picLocks noChangeAspect="1"/>
          </p:cNvPicPr>
          <p:nvPr/>
        </p:nvPicPr>
        <p:blipFill>
          <a:blip r:embed="rId2"/>
          <a:stretch>
            <a:fillRect/>
          </a:stretch>
        </p:blipFill>
        <p:spPr>
          <a:xfrm>
            <a:off x="1259632" y="3765037"/>
            <a:ext cx="6408712" cy="1685925"/>
          </a:xfrm>
          <a:prstGeom prst="rect">
            <a:avLst/>
          </a:prstGeom>
        </p:spPr>
      </p:pic>
    </p:spTree>
    <p:extLst>
      <p:ext uri="{BB962C8B-B14F-4D97-AF65-F5344CB8AC3E}">
        <p14:creationId xmlns:p14="http://schemas.microsoft.com/office/powerpoint/2010/main" val="241911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E4F54-5C4E-4533-A1B4-A02D57B1D110}"/>
              </a:ext>
            </a:extLst>
          </p:cNvPr>
          <p:cNvSpPr>
            <a:spLocks noGrp="1"/>
          </p:cNvSpPr>
          <p:nvPr>
            <p:ph type="title"/>
          </p:nvPr>
        </p:nvSpPr>
        <p:spPr/>
        <p:txBody>
          <a:bodyPr/>
          <a:lstStyle/>
          <a:p>
            <a:r>
              <a:rPr lang="en-IN" dirty="0" err="1">
                <a:solidFill>
                  <a:srgbClr val="FF0000"/>
                </a:solidFill>
              </a:rPr>
              <a:t>Wget</a:t>
            </a:r>
            <a:endParaRPr lang="en-IN" dirty="0">
              <a:solidFill>
                <a:srgbClr val="FF0000"/>
              </a:solidFill>
            </a:endParaRPr>
          </a:p>
        </p:txBody>
      </p:sp>
      <p:sp>
        <p:nvSpPr>
          <p:cNvPr id="3" name="Content Placeholder 2">
            <a:extLst>
              <a:ext uri="{FF2B5EF4-FFF2-40B4-BE49-F238E27FC236}">
                <a16:creationId xmlns:a16="http://schemas.microsoft.com/office/drawing/2014/main" id="{C2CF405A-3B89-4D16-A66B-E7BE63B5059E}"/>
              </a:ext>
            </a:extLst>
          </p:cNvPr>
          <p:cNvSpPr>
            <a:spLocks noGrp="1"/>
          </p:cNvSpPr>
          <p:nvPr>
            <p:ph sz="quarter" idx="1"/>
          </p:nvPr>
        </p:nvSpPr>
        <p:spPr/>
        <p:txBody>
          <a:bodyPr/>
          <a:lstStyle/>
          <a:p>
            <a:r>
              <a:rPr lang="en-IN" dirty="0"/>
              <a:t>WGET is another that can help us to remote banner of any remote or local server.</a:t>
            </a:r>
          </a:p>
          <a:p>
            <a:r>
              <a:rPr lang="en-IN" dirty="0"/>
              <a:t>Syntax:- </a:t>
            </a:r>
            <a:r>
              <a:rPr lang="en-IN" dirty="0" err="1"/>
              <a:t>wget</a:t>
            </a:r>
            <a:r>
              <a:rPr lang="en-IN" dirty="0"/>
              <a:t> IP –q –S </a:t>
            </a:r>
          </a:p>
          <a:p>
            <a:pPr marL="0" indent="0">
              <a:buNone/>
            </a:pPr>
            <a:r>
              <a:rPr lang="en-IN" dirty="0"/>
              <a:t>    </a:t>
            </a:r>
            <a:r>
              <a:rPr lang="en-IN" b="1" dirty="0"/>
              <a:t>q-</a:t>
            </a:r>
            <a:r>
              <a:rPr lang="en-IN" dirty="0"/>
              <a:t> for the normal output</a:t>
            </a:r>
          </a:p>
          <a:p>
            <a:pPr marL="0" indent="0">
              <a:buNone/>
            </a:pPr>
            <a:r>
              <a:rPr lang="en-IN" dirty="0"/>
              <a:t>    </a:t>
            </a:r>
            <a:r>
              <a:rPr lang="en-IN" b="1" dirty="0"/>
              <a:t>S-</a:t>
            </a:r>
            <a:r>
              <a:rPr lang="en-IN" dirty="0"/>
              <a:t>  for print the headers sent by the HTTP server.</a:t>
            </a:r>
          </a:p>
          <a:p>
            <a:pPr marL="0" indent="0">
              <a:buNone/>
            </a:pPr>
            <a:endParaRPr lang="en-IN" dirty="0"/>
          </a:p>
          <a:p>
            <a:pPr marL="0" indent="0">
              <a:buNone/>
            </a:pPr>
            <a:endParaRPr lang="en-IN" dirty="0"/>
          </a:p>
        </p:txBody>
      </p:sp>
      <p:pic>
        <p:nvPicPr>
          <p:cNvPr id="5" name="Picture 4">
            <a:extLst>
              <a:ext uri="{FF2B5EF4-FFF2-40B4-BE49-F238E27FC236}">
                <a16:creationId xmlns:a16="http://schemas.microsoft.com/office/drawing/2014/main" id="{75C952B5-FC3D-468C-982E-B0D265971EDC}"/>
              </a:ext>
            </a:extLst>
          </p:cNvPr>
          <p:cNvPicPr>
            <a:picLocks noChangeAspect="1"/>
          </p:cNvPicPr>
          <p:nvPr/>
        </p:nvPicPr>
        <p:blipFill>
          <a:blip r:embed="rId2"/>
          <a:stretch>
            <a:fillRect/>
          </a:stretch>
        </p:blipFill>
        <p:spPr>
          <a:xfrm>
            <a:off x="1187624" y="4077072"/>
            <a:ext cx="6535291" cy="2190750"/>
          </a:xfrm>
          <a:prstGeom prst="rect">
            <a:avLst/>
          </a:prstGeom>
        </p:spPr>
      </p:pic>
    </p:spTree>
    <p:extLst>
      <p:ext uri="{BB962C8B-B14F-4D97-AF65-F5344CB8AC3E}">
        <p14:creationId xmlns:p14="http://schemas.microsoft.com/office/powerpoint/2010/main" val="1059733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D0EB7-6E36-4298-B893-C69BD88DDC37}"/>
              </a:ext>
            </a:extLst>
          </p:cNvPr>
          <p:cNvSpPr>
            <a:spLocks noGrp="1"/>
          </p:cNvSpPr>
          <p:nvPr>
            <p:ph type="title"/>
          </p:nvPr>
        </p:nvSpPr>
        <p:spPr/>
        <p:txBody>
          <a:bodyPr/>
          <a:lstStyle/>
          <a:p>
            <a:r>
              <a:rPr lang="en-IN" dirty="0" err="1">
                <a:solidFill>
                  <a:srgbClr val="FF0000"/>
                </a:solidFill>
              </a:rPr>
              <a:t>cURL</a:t>
            </a:r>
            <a:endParaRPr lang="en-IN" dirty="0">
              <a:solidFill>
                <a:srgbClr val="FF0000"/>
              </a:solidFill>
            </a:endParaRPr>
          </a:p>
        </p:txBody>
      </p:sp>
      <p:sp>
        <p:nvSpPr>
          <p:cNvPr id="3" name="Content Placeholder 2">
            <a:extLst>
              <a:ext uri="{FF2B5EF4-FFF2-40B4-BE49-F238E27FC236}">
                <a16:creationId xmlns:a16="http://schemas.microsoft.com/office/drawing/2014/main" id="{127D1B44-47A1-43B5-A9C0-3BD894F256EA}"/>
              </a:ext>
            </a:extLst>
          </p:cNvPr>
          <p:cNvSpPr>
            <a:spLocks noGrp="1"/>
          </p:cNvSpPr>
          <p:nvPr>
            <p:ph sz="quarter" idx="1"/>
          </p:nvPr>
        </p:nvSpPr>
        <p:spPr/>
        <p:txBody>
          <a:bodyPr/>
          <a:lstStyle/>
          <a:p>
            <a:r>
              <a:rPr lang="en-US" dirty="0"/>
              <a:t>The </a:t>
            </a:r>
            <a:r>
              <a:rPr lang="en-US" dirty="0" err="1"/>
              <a:t>cURL</a:t>
            </a:r>
            <a:r>
              <a:rPr lang="en-US" dirty="0"/>
              <a:t> command includes the functionality for retrieving the banner details from HTTP servers. Just execute the following command</a:t>
            </a:r>
          </a:p>
          <a:p>
            <a:r>
              <a:rPr lang="en-US" dirty="0"/>
              <a:t>Syntax:- curl –s –I IP</a:t>
            </a:r>
          </a:p>
          <a:p>
            <a:endParaRPr lang="en-IN" dirty="0"/>
          </a:p>
        </p:txBody>
      </p:sp>
      <p:pic>
        <p:nvPicPr>
          <p:cNvPr id="5" name="Picture 4">
            <a:extLst>
              <a:ext uri="{FF2B5EF4-FFF2-40B4-BE49-F238E27FC236}">
                <a16:creationId xmlns:a16="http://schemas.microsoft.com/office/drawing/2014/main" id="{6EE833AC-FB4E-4D11-84C7-CC79D48C4BDF}"/>
              </a:ext>
            </a:extLst>
          </p:cNvPr>
          <p:cNvPicPr>
            <a:picLocks noChangeAspect="1"/>
          </p:cNvPicPr>
          <p:nvPr/>
        </p:nvPicPr>
        <p:blipFill>
          <a:blip r:embed="rId2"/>
          <a:stretch>
            <a:fillRect/>
          </a:stretch>
        </p:blipFill>
        <p:spPr>
          <a:xfrm>
            <a:off x="1043608" y="3717032"/>
            <a:ext cx="7715250" cy="1721768"/>
          </a:xfrm>
          <a:prstGeom prst="rect">
            <a:avLst/>
          </a:prstGeom>
        </p:spPr>
      </p:pic>
    </p:spTree>
    <p:extLst>
      <p:ext uri="{BB962C8B-B14F-4D97-AF65-F5344CB8AC3E}">
        <p14:creationId xmlns:p14="http://schemas.microsoft.com/office/powerpoint/2010/main" val="40249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41BA-4EC2-40EC-8559-5BD6A9D70441}"/>
              </a:ext>
            </a:extLst>
          </p:cNvPr>
          <p:cNvSpPr>
            <a:spLocks noGrp="1"/>
          </p:cNvSpPr>
          <p:nvPr>
            <p:ph type="title"/>
          </p:nvPr>
        </p:nvSpPr>
        <p:spPr/>
        <p:txBody>
          <a:bodyPr/>
          <a:lstStyle/>
          <a:p>
            <a:r>
              <a:rPr lang="en-IN" dirty="0" err="1">
                <a:solidFill>
                  <a:srgbClr val="FF0000"/>
                </a:solidFill>
              </a:rPr>
              <a:t>Netcat</a:t>
            </a:r>
            <a:endParaRPr lang="en-IN" dirty="0">
              <a:solidFill>
                <a:srgbClr val="FF0000"/>
              </a:solidFill>
            </a:endParaRPr>
          </a:p>
        </p:txBody>
      </p:sp>
      <p:sp>
        <p:nvSpPr>
          <p:cNvPr id="3" name="Content Placeholder 2">
            <a:extLst>
              <a:ext uri="{FF2B5EF4-FFF2-40B4-BE49-F238E27FC236}">
                <a16:creationId xmlns:a16="http://schemas.microsoft.com/office/drawing/2014/main" id="{9B1941BA-6C15-42E9-AFD0-32A015807648}"/>
              </a:ext>
            </a:extLst>
          </p:cNvPr>
          <p:cNvSpPr>
            <a:spLocks noGrp="1"/>
          </p:cNvSpPr>
          <p:nvPr>
            <p:ph sz="quarter" idx="1"/>
          </p:nvPr>
        </p:nvSpPr>
        <p:spPr/>
        <p:txBody>
          <a:bodyPr/>
          <a:lstStyle/>
          <a:p>
            <a:r>
              <a:rPr lang="en-US" dirty="0" err="1"/>
              <a:t>Netcat</a:t>
            </a:r>
            <a:r>
              <a:rPr lang="en-US" dirty="0"/>
              <a:t> is one of the oldest and most popular network utilities for Unix and Linux. For banner grabbing purposes</a:t>
            </a:r>
          </a:p>
          <a:p>
            <a:endParaRPr lang="en-US" dirty="0"/>
          </a:p>
          <a:p>
            <a:r>
              <a:rPr lang="en-US" dirty="0"/>
              <a:t>Syntax :- </a:t>
            </a:r>
            <a:r>
              <a:rPr lang="en-US" dirty="0" err="1"/>
              <a:t>nc</a:t>
            </a:r>
            <a:r>
              <a:rPr lang="en-US" dirty="0"/>
              <a:t> –v IP PORT</a:t>
            </a:r>
            <a:endParaRPr lang="en-IN" dirty="0"/>
          </a:p>
        </p:txBody>
      </p:sp>
      <p:pic>
        <p:nvPicPr>
          <p:cNvPr id="5" name="Picture 4">
            <a:extLst>
              <a:ext uri="{FF2B5EF4-FFF2-40B4-BE49-F238E27FC236}">
                <a16:creationId xmlns:a16="http://schemas.microsoft.com/office/drawing/2014/main" id="{4083635A-8D55-46F2-8F76-415296AE57C9}"/>
              </a:ext>
            </a:extLst>
          </p:cNvPr>
          <p:cNvPicPr>
            <a:picLocks noChangeAspect="1"/>
          </p:cNvPicPr>
          <p:nvPr/>
        </p:nvPicPr>
        <p:blipFill>
          <a:blip r:embed="rId2"/>
          <a:stretch>
            <a:fillRect/>
          </a:stretch>
        </p:blipFill>
        <p:spPr>
          <a:xfrm>
            <a:off x="1187624" y="3861048"/>
            <a:ext cx="7041976" cy="1549152"/>
          </a:xfrm>
          <a:prstGeom prst="rect">
            <a:avLst/>
          </a:prstGeom>
        </p:spPr>
      </p:pic>
    </p:spTree>
    <p:extLst>
      <p:ext uri="{BB962C8B-B14F-4D97-AF65-F5344CB8AC3E}">
        <p14:creationId xmlns:p14="http://schemas.microsoft.com/office/powerpoint/2010/main" val="1704680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14362-31AE-491D-99B1-EAC77389B07A}"/>
              </a:ext>
            </a:extLst>
          </p:cNvPr>
          <p:cNvSpPr>
            <a:spLocks noGrp="1"/>
          </p:cNvSpPr>
          <p:nvPr>
            <p:ph type="title"/>
          </p:nvPr>
        </p:nvSpPr>
        <p:spPr/>
        <p:txBody>
          <a:bodyPr/>
          <a:lstStyle/>
          <a:p>
            <a:r>
              <a:rPr lang="en-IN" dirty="0" err="1">
                <a:solidFill>
                  <a:srgbClr val="FF0000"/>
                </a:solidFill>
              </a:rPr>
              <a:t>DMitry</a:t>
            </a:r>
            <a:endParaRPr lang="en-IN" dirty="0">
              <a:solidFill>
                <a:srgbClr val="FF0000"/>
              </a:solidFill>
            </a:endParaRPr>
          </a:p>
        </p:txBody>
      </p:sp>
      <p:sp>
        <p:nvSpPr>
          <p:cNvPr id="3" name="Content Placeholder 2">
            <a:extLst>
              <a:ext uri="{FF2B5EF4-FFF2-40B4-BE49-F238E27FC236}">
                <a16:creationId xmlns:a16="http://schemas.microsoft.com/office/drawing/2014/main" id="{447F767A-BF9A-4C51-A5AB-03FCFDDBE17C}"/>
              </a:ext>
            </a:extLst>
          </p:cNvPr>
          <p:cNvSpPr>
            <a:spLocks noGrp="1"/>
          </p:cNvSpPr>
          <p:nvPr>
            <p:ph sz="quarter" idx="1"/>
          </p:nvPr>
        </p:nvSpPr>
        <p:spPr/>
        <p:txBody>
          <a:bodyPr/>
          <a:lstStyle/>
          <a:p>
            <a:r>
              <a:rPr lang="en-US" dirty="0"/>
              <a:t>It can help you get all the information possible from a remote host, including DNS enumeration, subdomain mapping, open ports and much more</a:t>
            </a:r>
          </a:p>
          <a:p>
            <a:r>
              <a:rPr lang="en-US" dirty="0"/>
              <a:t>Syntax:-</a:t>
            </a:r>
            <a:r>
              <a:rPr lang="en-US" dirty="0" err="1"/>
              <a:t>dmitry</a:t>
            </a:r>
            <a:r>
              <a:rPr lang="en-US" dirty="0"/>
              <a:t> –bp IP</a:t>
            </a:r>
          </a:p>
          <a:p>
            <a:endParaRPr lang="en-IN" dirty="0"/>
          </a:p>
        </p:txBody>
      </p:sp>
      <p:pic>
        <p:nvPicPr>
          <p:cNvPr id="5" name="Picture 4">
            <a:extLst>
              <a:ext uri="{FF2B5EF4-FFF2-40B4-BE49-F238E27FC236}">
                <a16:creationId xmlns:a16="http://schemas.microsoft.com/office/drawing/2014/main" id="{D4921526-409E-4E27-8016-703B79A1AE8A}"/>
              </a:ext>
            </a:extLst>
          </p:cNvPr>
          <p:cNvPicPr>
            <a:picLocks noChangeAspect="1"/>
          </p:cNvPicPr>
          <p:nvPr/>
        </p:nvPicPr>
        <p:blipFill>
          <a:blip r:embed="rId2"/>
          <a:stretch>
            <a:fillRect/>
          </a:stretch>
        </p:blipFill>
        <p:spPr>
          <a:xfrm>
            <a:off x="1147762" y="3140968"/>
            <a:ext cx="6848475" cy="3600400"/>
          </a:xfrm>
          <a:prstGeom prst="rect">
            <a:avLst/>
          </a:prstGeom>
        </p:spPr>
      </p:pic>
    </p:spTree>
    <p:extLst>
      <p:ext uri="{BB962C8B-B14F-4D97-AF65-F5344CB8AC3E}">
        <p14:creationId xmlns:p14="http://schemas.microsoft.com/office/powerpoint/2010/main" val="4214367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0634E-F5B1-4EED-B759-86C6ECD935B1}"/>
              </a:ext>
            </a:extLst>
          </p:cNvPr>
          <p:cNvSpPr>
            <a:spLocks noGrp="1"/>
          </p:cNvSpPr>
          <p:nvPr>
            <p:ph type="title"/>
          </p:nvPr>
        </p:nvSpPr>
        <p:spPr/>
        <p:txBody>
          <a:bodyPr/>
          <a:lstStyle/>
          <a:p>
            <a:r>
              <a:rPr lang="en-IN" dirty="0" err="1">
                <a:solidFill>
                  <a:srgbClr val="FF0000"/>
                </a:solidFill>
              </a:rPr>
              <a:t>Nikto</a:t>
            </a:r>
            <a:endParaRPr lang="en-IN" dirty="0">
              <a:solidFill>
                <a:srgbClr val="FF0000"/>
              </a:solidFill>
            </a:endParaRPr>
          </a:p>
        </p:txBody>
      </p:sp>
      <p:sp>
        <p:nvSpPr>
          <p:cNvPr id="3" name="Content Placeholder 2">
            <a:extLst>
              <a:ext uri="{FF2B5EF4-FFF2-40B4-BE49-F238E27FC236}">
                <a16:creationId xmlns:a16="http://schemas.microsoft.com/office/drawing/2014/main" id="{0F4FBC2C-ACD4-4985-88A8-944FF16F0D8A}"/>
              </a:ext>
            </a:extLst>
          </p:cNvPr>
          <p:cNvSpPr>
            <a:spLocks noGrp="1"/>
          </p:cNvSpPr>
          <p:nvPr>
            <p:ph sz="quarter" idx="1"/>
          </p:nvPr>
        </p:nvSpPr>
        <p:spPr/>
        <p:txBody>
          <a:bodyPr/>
          <a:lstStyle/>
          <a:p>
            <a:r>
              <a:rPr lang="en-US" dirty="0" err="1"/>
              <a:t>Nikto</a:t>
            </a:r>
            <a:r>
              <a:rPr lang="en-US" dirty="0"/>
              <a:t> is an open-source web-application scanner, which we’ll be using to grab a banner of a website running on an Ubuntu server.</a:t>
            </a:r>
          </a:p>
          <a:p>
            <a:r>
              <a:rPr lang="en-IN" dirty="0" err="1"/>
              <a:t>nikto</a:t>
            </a:r>
            <a:r>
              <a:rPr lang="en-IN" dirty="0"/>
              <a:t> –h </a:t>
            </a:r>
            <a:r>
              <a:rPr lang="en-IN" dirty="0">
                <a:hlinkClick r:id="rId2"/>
              </a:rPr>
              <a:t>http://IP</a:t>
            </a:r>
            <a:endParaRPr lang="en-IN" dirty="0"/>
          </a:p>
          <a:p>
            <a:pPr marL="0" indent="0">
              <a:buNone/>
            </a:pPr>
            <a:endParaRPr lang="en-IN" dirty="0"/>
          </a:p>
        </p:txBody>
      </p:sp>
      <p:pic>
        <p:nvPicPr>
          <p:cNvPr id="5" name="Picture 4">
            <a:extLst>
              <a:ext uri="{FF2B5EF4-FFF2-40B4-BE49-F238E27FC236}">
                <a16:creationId xmlns:a16="http://schemas.microsoft.com/office/drawing/2014/main" id="{834D0C62-5CE1-4860-897D-46293E1ED281}"/>
              </a:ext>
            </a:extLst>
          </p:cNvPr>
          <p:cNvPicPr>
            <a:picLocks noChangeAspect="1"/>
          </p:cNvPicPr>
          <p:nvPr/>
        </p:nvPicPr>
        <p:blipFill>
          <a:blip r:embed="rId3"/>
          <a:stretch>
            <a:fillRect/>
          </a:stretch>
        </p:blipFill>
        <p:spPr>
          <a:xfrm>
            <a:off x="1100808" y="3423028"/>
            <a:ext cx="7128792" cy="3160334"/>
          </a:xfrm>
          <a:prstGeom prst="rect">
            <a:avLst/>
          </a:prstGeom>
        </p:spPr>
      </p:pic>
    </p:spTree>
    <p:extLst>
      <p:ext uri="{BB962C8B-B14F-4D97-AF65-F5344CB8AC3E}">
        <p14:creationId xmlns:p14="http://schemas.microsoft.com/office/powerpoint/2010/main" val="382306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293B2-BB1C-483E-A9F0-9BD434FDD22A}"/>
              </a:ext>
            </a:extLst>
          </p:cNvPr>
          <p:cNvSpPr>
            <a:spLocks noGrp="1"/>
          </p:cNvSpPr>
          <p:nvPr>
            <p:ph type="title"/>
          </p:nvPr>
        </p:nvSpPr>
        <p:spPr/>
        <p:txBody>
          <a:bodyPr/>
          <a:lstStyle/>
          <a:p>
            <a:br>
              <a:rPr lang="en-IN" dirty="0"/>
            </a:br>
            <a:r>
              <a:rPr lang="en-IN" dirty="0">
                <a:solidFill>
                  <a:srgbClr val="FF0000"/>
                </a:solidFill>
              </a:rPr>
              <a:t>Nmap</a:t>
            </a:r>
          </a:p>
        </p:txBody>
      </p:sp>
      <p:sp>
        <p:nvSpPr>
          <p:cNvPr id="3" name="Content Placeholder 2">
            <a:extLst>
              <a:ext uri="{FF2B5EF4-FFF2-40B4-BE49-F238E27FC236}">
                <a16:creationId xmlns:a16="http://schemas.microsoft.com/office/drawing/2014/main" id="{4CE8CFAC-331F-4992-85D7-EF98441DA0DD}"/>
              </a:ext>
            </a:extLst>
          </p:cNvPr>
          <p:cNvSpPr>
            <a:spLocks noGrp="1"/>
          </p:cNvSpPr>
          <p:nvPr>
            <p:ph sz="quarter" idx="1"/>
          </p:nvPr>
        </p:nvSpPr>
        <p:spPr/>
        <p:txBody>
          <a:bodyPr/>
          <a:lstStyle/>
          <a:p>
            <a:r>
              <a:rPr lang="en-IN" dirty="0"/>
              <a:t>Nmap can used as a Banner Grabbing tool.</a:t>
            </a:r>
          </a:p>
          <a:p>
            <a:endParaRPr lang="en-IN" dirty="0"/>
          </a:p>
          <a:p>
            <a:r>
              <a:rPr lang="en-IN" dirty="0"/>
              <a:t>Syntax:- </a:t>
            </a:r>
            <a:r>
              <a:rPr lang="en-IN" dirty="0" err="1"/>
              <a:t>nmap</a:t>
            </a:r>
            <a:r>
              <a:rPr lang="en-IN" dirty="0"/>
              <a:t> –</a:t>
            </a:r>
            <a:r>
              <a:rPr lang="en-IN" dirty="0" err="1"/>
              <a:t>Sv</a:t>
            </a:r>
            <a:r>
              <a:rPr lang="en-IN" dirty="0"/>
              <a:t> –p PORT IP</a:t>
            </a:r>
          </a:p>
          <a:p>
            <a:endParaRPr lang="en-IN" dirty="0"/>
          </a:p>
        </p:txBody>
      </p:sp>
      <p:pic>
        <p:nvPicPr>
          <p:cNvPr id="5" name="Picture 4">
            <a:extLst>
              <a:ext uri="{FF2B5EF4-FFF2-40B4-BE49-F238E27FC236}">
                <a16:creationId xmlns:a16="http://schemas.microsoft.com/office/drawing/2014/main" id="{545099B1-3F7C-4BDE-A2E8-5F4E635FE7BA}"/>
              </a:ext>
            </a:extLst>
          </p:cNvPr>
          <p:cNvPicPr>
            <a:picLocks noChangeAspect="1"/>
          </p:cNvPicPr>
          <p:nvPr/>
        </p:nvPicPr>
        <p:blipFill>
          <a:blip r:embed="rId2"/>
          <a:stretch>
            <a:fillRect/>
          </a:stretch>
        </p:blipFill>
        <p:spPr>
          <a:xfrm>
            <a:off x="1043609" y="3487737"/>
            <a:ext cx="7643192" cy="2562225"/>
          </a:xfrm>
          <a:prstGeom prst="rect">
            <a:avLst/>
          </a:prstGeom>
        </p:spPr>
      </p:pic>
    </p:spTree>
    <p:extLst>
      <p:ext uri="{BB962C8B-B14F-4D97-AF65-F5344CB8AC3E}">
        <p14:creationId xmlns:p14="http://schemas.microsoft.com/office/powerpoint/2010/main" val="1389078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5E208-8300-45C0-9DD6-CA856ADB8C42}"/>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BBF3937E-B070-45E1-9BD1-585B0F649470}"/>
              </a:ext>
            </a:extLst>
          </p:cNvPr>
          <p:cNvSpPr>
            <a:spLocks noGrp="1"/>
          </p:cNvSpPr>
          <p:nvPr>
            <p:ph sz="quarter" idx="2"/>
          </p:nvPr>
        </p:nvSpPr>
        <p:spPr/>
        <p:txBody>
          <a:bodyPr/>
          <a:lstStyle/>
          <a:p>
            <a:endParaRPr lang="en-IN"/>
          </a:p>
        </p:txBody>
      </p:sp>
      <p:pic>
        <p:nvPicPr>
          <p:cNvPr id="4098" name="Picture 2" descr="Andreas Zeller's Old Blog: Summarizing your presentation with ...">
            <a:extLst>
              <a:ext uri="{FF2B5EF4-FFF2-40B4-BE49-F238E27FC236}">
                <a16:creationId xmlns:a16="http://schemas.microsoft.com/office/drawing/2014/main" id="{0C936E1B-BD21-4AE5-997A-23F9A1996AB4}"/>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07504" y="274638"/>
            <a:ext cx="9001000" cy="6106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03534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14101</TotalTime>
  <Words>519</Words>
  <Application>Microsoft Office PowerPoint</Application>
  <PresentationFormat>On-screen Show (4:3)</PresentationFormat>
  <Paragraphs>50</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Franklin Gothic Book</vt:lpstr>
      <vt:lpstr>Perpetua</vt:lpstr>
      <vt:lpstr>Times New Roman</vt:lpstr>
      <vt:lpstr>Wingdings 2</vt:lpstr>
      <vt:lpstr>Equity</vt:lpstr>
      <vt:lpstr>Web Application Security</vt:lpstr>
      <vt:lpstr>Banner Grabbing</vt:lpstr>
      <vt:lpstr>Types of Banner Grabbing</vt:lpstr>
      <vt:lpstr>SEC_TERMS</vt:lpstr>
      <vt:lpstr>TOOLS</vt:lpstr>
      <vt:lpstr>Telnet</vt:lpstr>
      <vt:lpstr>Wget</vt:lpstr>
      <vt:lpstr>cURL</vt:lpstr>
      <vt:lpstr>Netcat</vt:lpstr>
      <vt:lpstr>DMitry</vt:lpstr>
      <vt:lpstr>Nikto</vt:lpstr>
      <vt:lpstr> Nmap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Nmap Packet Trace and Network Scanning  with Nmap</dc:title>
  <dc:creator>Elight</dc:creator>
  <cp:lastModifiedBy>Elight</cp:lastModifiedBy>
  <cp:revision>48</cp:revision>
  <dcterms:created xsi:type="dcterms:W3CDTF">2004-07-02T10:13:24Z</dcterms:created>
  <dcterms:modified xsi:type="dcterms:W3CDTF">2021-01-20T12:14:08Z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1033-11.2.0.9327</vt:lpwstr>
  </property>
</Properties>
</file>