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Libre Franklin"/>
      <p:regular r:id="rId26"/>
      <p:bold r:id="rId27"/>
      <p:italic r:id="rId28"/>
      <p:boldItalic r:id="rId29"/>
    </p:embeddedFont>
    <p:embeddedFont>
      <p:font typeface="Libre Baskerville"/>
      <p:regular r:id="rId30"/>
      <p:bold r:id="rId31"/>
      <p: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5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ibreFranklin-regular.fntdata"/><Relationship Id="rId25" Type="http://schemas.openxmlformats.org/officeDocument/2006/relationships/slide" Target="slides/slide20.xml"/><Relationship Id="rId28" Type="http://schemas.openxmlformats.org/officeDocument/2006/relationships/font" Target="fonts/LibreFranklin-italic.fntdata"/><Relationship Id="rId27" Type="http://schemas.openxmlformats.org/officeDocument/2006/relationships/font" Target="fonts/LibreFranklin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breFranklin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ibreBaskerville-bold.fntdata"/><Relationship Id="rId30" Type="http://schemas.openxmlformats.org/officeDocument/2006/relationships/font" Target="fonts/LibreBaskervill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ibreBaskervill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2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3" name="Google Shape;33;p3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4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4" name="Google Shape;44;p5"/>
          <p:cNvSpPr/>
          <p:nvPr/>
        </p:nvSpPr>
        <p:spPr>
          <a:xfrm flipH="1" rot="10800000">
            <a:off x="69850" y="2376488"/>
            <a:ext cx="9013825" cy="92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9850" y="2341563"/>
            <a:ext cx="9013825" cy="46038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8263" y="2468563"/>
            <a:ext cx="9015413" cy="460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7" name="Google Shape;47;p5"/>
          <p:cNvSpPr txBox="1"/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" type="body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5"/>
          <p:cNvSpPr/>
          <p:nvPr>
            <p:ph idx="12" type="sldNum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6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7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9" name="Google Shape;69;p8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2" name="Google Shape;72;p9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3" name="Google Shape;73;p9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" type="body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2" type="body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8" name="Google Shape;78;p9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/>
          <p:nvPr/>
        </p:nvSpPr>
        <p:spPr>
          <a:xfrm flipH="1" rot="10800000">
            <a:off x="68263" y="4683125"/>
            <a:ext cx="9007475" cy="92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68263" y="4649788"/>
            <a:ext cx="9007475" cy="46038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3" name="Google Shape;83;p10"/>
          <p:cNvSpPr txBox="1"/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" type="body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69" lvl="1" marL="914400" algn="l"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19" lvl="3" marL="1828800" algn="l"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0"/>
          <p:cNvSpPr/>
          <p:nvPr>
            <p:ph idx="2" type="pic"/>
          </p:nvPr>
        </p:nvSpPr>
        <p:spPr>
          <a:xfrm>
            <a:off x="68308" y="66675"/>
            <a:ext cx="9001873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0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88" name="Google Shape;88;p10"/>
          <p:cNvSpPr/>
          <p:nvPr>
            <p:ph idx="12" type="sldNum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11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/>
          <p:nvPr>
            <p:ph type="title"/>
          </p:nvPr>
        </p:nvSpPr>
        <p:spPr>
          <a:xfrm rot="5400000">
            <a:off x="4709478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 rot="5400000">
            <a:off x="7699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12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935" lvl="0" marL="457200" marR="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1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bloomreach.com/en/blog/2019/08/content-management-system.html" TargetMode="External"/><Relationship Id="rId4" Type="http://schemas.openxmlformats.org/officeDocument/2006/relationships/hyperlink" Target="https://w3techs.com/technologies/overview/content_management" TargetMode="External"/><Relationship Id="rId5" Type="http://schemas.openxmlformats.org/officeDocument/2006/relationships/hyperlink" Target="https://webflow.com/blog/website-security-checklist" TargetMode="External"/><Relationship Id="rId6" Type="http://schemas.openxmlformats.org/officeDocument/2006/relationships/hyperlink" Target="https://medium.com/@the.bilal.rizwan/wordpress-xmlrpc-php-common-vulnerabilites-how-to-exploit-them-d8d3c8600b32" TargetMode="External"/><Relationship Id="rId7" Type="http://schemas.openxmlformats.org/officeDocument/2006/relationships/hyperlink" Target="https://blogvault.net/owasp-top-10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idx="1" type="subTitle"/>
          </p:nvPr>
        </p:nvSpPr>
        <p:spPr>
          <a:xfrm>
            <a:off x="2555875" y="45085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en-IN"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              </a:t>
            </a:r>
            <a:r>
              <a:rPr lang="en-IN" sz="2000">
                <a:latin typeface="Libre Baskerville"/>
                <a:ea typeface="Libre Baskerville"/>
                <a:cs typeface="Libre Baskerville"/>
                <a:sym typeface="Libre Baskerville"/>
              </a:rPr>
              <a:t>By –</a:t>
            </a:r>
            <a:r>
              <a:rPr lang="en-IN" sz="2000"/>
              <a:t>Prakash Khasor,</a:t>
            </a:r>
            <a:br>
              <a:rPr lang="en-IN" sz="2000"/>
            </a:br>
            <a:r>
              <a:rPr lang="en-IN" sz="2000"/>
              <a:t>                                                  Assistant Professor(Cyber Security),</a:t>
            </a:r>
            <a:br>
              <a:rPr lang="en-IN" sz="2000"/>
            </a:br>
            <a:r>
              <a:rPr lang="en-IN" sz="2000"/>
              <a:t>                                                      Institute of Forensic Science,</a:t>
            </a:r>
            <a:br>
              <a:rPr lang="en-IN" sz="2000"/>
            </a:br>
            <a:r>
              <a:rPr lang="en-IN" sz="2000"/>
              <a:t>                                                  Gujarat Forensic Sciences University</a:t>
            </a:r>
            <a:endParaRPr sz="20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457200" y="1506538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</a:pPr>
            <a:r>
              <a:rPr lang="en-IN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Content Management System Security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4000"/>
              <a:buFont typeface="Times New Roman"/>
              <a:buNone/>
            </a:pPr>
            <a:r>
              <a:rPr b="1" lang="en-IN" u="sng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348680" y="1286272"/>
            <a:ext cx="8338120" cy="4285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Char char="⚫"/>
            </a:pPr>
            <a:r>
              <a:rPr lang="en-IN" sz="2400"/>
              <a:t>What is CMS?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Char char="⚫"/>
            </a:pPr>
            <a:r>
              <a:rPr lang="en-IN" sz="2400"/>
              <a:t>Why CMS Security is Important ?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Char char="⚫"/>
            </a:pPr>
            <a:r>
              <a:rPr lang="en-IN" sz="2400"/>
              <a:t>CMS Security and Penetration Testing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914400" y="18864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What is CMS?</a:t>
            </a:r>
            <a:endParaRPr/>
          </a:p>
        </p:txBody>
      </p:sp>
      <p:sp>
        <p:nvSpPr>
          <p:cNvPr id="121" name="Google Shape;121;p15"/>
          <p:cNvSpPr txBox="1"/>
          <p:nvPr>
            <p:ph idx="1" type="body"/>
          </p:nvPr>
        </p:nvSpPr>
        <p:spPr>
          <a:xfrm>
            <a:off x="914400" y="1447800"/>
            <a:ext cx="7618040" cy="4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Char char="⚫"/>
            </a:pPr>
            <a:r>
              <a:rPr b="1" lang="en-IN" sz="2200">
                <a:latin typeface="Times New Roman"/>
                <a:ea typeface="Times New Roman"/>
                <a:cs typeface="Times New Roman"/>
                <a:sym typeface="Times New Roman"/>
              </a:rPr>
              <a:t>CMS is Stand for Content Management System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Char char="⚫"/>
            </a:pPr>
            <a:r>
              <a:rPr b="1" lang="en-IN" sz="2200">
                <a:latin typeface="Times New Roman"/>
                <a:ea typeface="Times New Roman"/>
                <a:cs typeface="Times New Roman"/>
                <a:sym typeface="Times New Roman"/>
              </a:rPr>
              <a:t>A Content Management System is a System that facilitates creating, editing, organizing and publishing content.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Char char="⚫"/>
            </a:pPr>
            <a:r>
              <a:rPr b="1" lang="en-IN" sz="2200">
                <a:latin typeface="Times New Roman"/>
                <a:ea typeface="Times New Roman"/>
                <a:cs typeface="Times New Roman"/>
                <a:sym typeface="Times New Roman"/>
              </a:rPr>
              <a:t>CMS is mostly used for Web Publishing.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1870"/>
              <a:buNone/>
            </a:pPr>
            <a:r>
              <a:t/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Char char="⚫"/>
            </a:pPr>
            <a:r>
              <a:rPr b="1" lang="en-IN" sz="2200" u="sng">
                <a:latin typeface="Times New Roman"/>
                <a:ea typeface="Times New Roman"/>
                <a:cs typeface="Times New Roman"/>
                <a:sym typeface="Times New Roman"/>
              </a:rPr>
              <a:t>Content Management Application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Char char="⚫"/>
            </a:pPr>
            <a:r>
              <a:rPr b="1" lang="en-IN" sz="2200" u="sng">
                <a:latin typeface="Times New Roman"/>
                <a:ea typeface="Times New Roman"/>
                <a:cs typeface="Times New Roman"/>
                <a:sym typeface="Times New Roman"/>
              </a:rPr>
              <a:t>Content Delivery Application </a:t>
            </a:r>
            <a:endParaRPr/>
          </a:p>
          <a:p>
            <a:pPr indent="-155575" lvl="0" marL="27432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1870"/>
              <a:buFont typeface="Noto Sans Symbols"/>
              <a:buNone/>
            </a:pPr>
            <a:r>
              <a:t/>
            </a:r>
            <a:endParaRPr b="1"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title"/>
          </p:nvPr>
        </p:nvSpPr>
        <p:spPr>
          <a:xfrm>
            <a:off x="914400" y="274638"/>
            <a:ext cx="7772400" cy="92211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Types of CMS Platforms</a:t>
            </a:r>
            <a:endParaRPr/>
          </a:p>
        </p:txBody>
      </p:sp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Opensource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Wordpress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Joomla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Drupal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Magento (e-commerce)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PrestaShop (e-commerce)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6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Proprietary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Kentico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Microsoft SharePoint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IBM Enterprise Content Management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Pulse CMS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Sitecore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Shopify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>
            <p:ph type="title"/>
          </p:nvPr>
        </p:nvSpPr>
        <p:spPr>
          <a:xfrm>
            <a:off x="323528" y="165121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Why CMS Security is Important?</a:t>
            </a:r>
            <a:endParaRPr/>
          </a:p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179512" y="1417638"/>
            <a:ext cx="5385792" cy="259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Some Advantages of CMS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Its easy for non-technically minded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It allows multiple users.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It streamlines scheduling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It improves site maintenance.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Design Changes are simple.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1526" y="2293438"/>
            <a:ext cx="4690864" cy="42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OWASP Project for CMS Security</a:t>
            </a:r>
            <a:endParaRPr/>
          </a:p>
        </p:txBody>
      </p:sp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914400" y="1447800"/>
            <a:ext cx="7258000" cy="1261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b="1" lang="en-IN"/>
              <a:t>OWASP Broken Web Applications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It have Vulnerable CMS for Security Practices </a:t>
            </a:r>
            <a:endParaRPr/>
          </a:p>
        </p:txBody>
      </p:sp>
      <p:pic>
        <p:nvPicPr>
          <p:cNvPr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624" y="2492896"/>
            <a:ext cx="6457950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7624" y="4653136"/>
            <a:ext cx="6457951" cy="201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914400" y="274638"/>
            <a:ext cx="77724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IN"/>
              <a:t> </a:t>
            </a: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Owasp top 10</a:t>
            </a:r>
            <a:endParaRPr/>
          </a:p>
        </p:txBody>
      </p:sp>
      <p:sp>
        <p:nvSpPr>
          <p:cNvPr id="149" name="Google Shape;149;p19"/>
          <p:cNvSpPr txBox="1"/>
          <p:nvPr>
            <p:ph idx="1" type="body"/>
          </p:nvPr>
        </p:nvSpPr>
        <p:spPr>
          <a:xfrm>
            <a:off x="179512" y="836712"/>
            <a:ext cx="8640960" cy="602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Code Injection Vulnerability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An injection can occur when a website gives its users the option to enter data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Broken Authentication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It can allow a hacker to either capture the credentials during authentication or to bypass the authentication altogether. This becomes a ‘broken authentication’ vulnerability</a:t>
            </a:r>
            <a:r>
              <a:rPr lang="en-IN"/>
              <a:t>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Sensitive data exposure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Sensitive data exposure takes place when software doesn’t have adequate measures in place to protect data while in transfer or storage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XML External Entities (XXE)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This kind of vulnerability allows attackers to interfere with an application’s processing of XML data.</a:t>
            </a:r>
            <a:endParaRPr b="1" sz="20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Broken Access Control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Upon successful verification to the attacker It grants the user access to content and functions</a:t>
            </a:r>
            <a:endParaRPr b="1" sz="2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323528" y="274638"/>
            <a:ext cx="8363272" cy="85010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Continue..</a:t>
            </a:r>
            <a:endParaRPr/>
          </a:p>
        </p:txBody>
      </p:sp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179512" y="1124744"/>
            <a:ext cx="864096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Security Misconfigurations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Improper security configurations refer to weakness in the coding or omissions of security protocols that end up giving hackers an easy pass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Cross-Site Scripting (XSS)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Cross-site scripting is a type of injection attack. It exploits user inputs and browser cookies to run malicious JavaScript code on users’ browsers.</a:t>
            </a:r>
            <a:endParaRPr b="1" sz="20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Insecure Deserialization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The vulnerability occurs when deserialization accepts untrusted user input.</a:t>
            </a:r>
            <a:endParaRPr sz="20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Using Components With Known Vulnerabilities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There are times when websites use outdated software or other components that have known vulnerabilities.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Insufficient Logging and Monitoring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Lack of continues logging and monitoring of application</a:t>
            </a:r>
            <a:endParaRPr sz="2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395536" y="274638"/>
            <a:ext cx="8291264" cy="85010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Vulnerable CMS for Pen Testing</a:t>
            </a:r>
            <a:endParaRPr/>
          </a:p>
        </p:txBody>
      </p:sp>
      <p:pic>
        <p:nvPicPr>
          <p:cNvPr id="161" name="Google Shape;161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1412776"/>
            <a:ext cx="4248472" cy="478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1016" y="1412776"/>
            <a:ext cx="4248472" cy="478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733425" y="274638"/>
            <a:ext cx="7953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Automated SQL Injection</a:t>
            </a:r>
            <a:b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(Broken Wordpress)</a:t>
            </a:r>
            <a:endParaRPr/>
          </a:p>
        </p:txBody>
      </p:sp>
      <p:sp>
        <p:nvSpPr>
          <p:cNvPr id="168" name="Google Shape;168;p22"/>
          <p:cNvSpPr txBox="1"/>
          <p:nvPr>
            <p:ph idx="1" type="body"/>
          </p:nvPr>
        </p:nvSpPr>
        <p:spPr>
          <a:xfrm>
            <a:off x="914400" y="1447800"/>
            <a:ext cx="7772400" cy="500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Step:1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425" y="1988839"/>
            <a:ext cx="5278735" cy="381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561256" y="274638"/>
            <a:ext cx="8125544" cy="63408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Continue...</a:t>
            </a:r>
            <a:endParaRPr/>
          </a:p>
        </p:txBody>
      </p:sp>
      <p:sp>
        <p:nvSpPr>
          <p:cNvPr id="175" name="Google Shape;175;p23"/>
          <p:cNvSpPr txBox="1"/>
          <p:nvPr>
            <p:ph idx="2" type="body"/>
          </p:nvPr>
        </p:nvSpPr>
        <p:spPr>
          <a:xfrm>
            <a:off x="3347864" y="5182060"/>
            <a:ext cx="3749040" cy="1654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b="1"/>
          </a:p>
        </p:txBody>
      </p:sp>
      <p:sp>
        <p:nvSpPr>
          <p:cNvPr id="176" name="Google Shape;176;p23"/>
          <p:cNvSpPr txBox="1"/>
          <p:nvPr>
            <p:ph idx="1" type="body"/>
          </p:nvPr>
        </p:nvSpPr>
        <p:spPr>
          <a:xfrm>
            <a:off x="457200" y="823912"/>
            <a:ext cx="812554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Step:2</a:t>
            </a:r>
            <a:endParaRPr/>
          </a:p>
        </p:txBody>
      </p:sp>
      <p:pic>
        <p:nvPicPr>
          <p:cNvPr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1296364"/>
            <a:ext cx="4896182" cy="2669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8104" y="1258627"/>
            <a:ext cx="3446547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914400" y="274638"/>
            <a:ext cx="77724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Continue..</a:t>
            </a:r>
            <a:endParaRPr/>
          </a:p>
        </p:txBody>
      </p: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105594" y="1196752"/>
            <a:ext cx="468243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Step:3</a:t>
            </a:r>
            <a:endParaRPr/>
          </a:p>
        </p:txBody>
      </p:sp>
      <p:sp>
        <p:nvSpPr>
          <p:cNvPr id="185" name="Google Shape;185;p24"/>
          <p:cNvSpPr txBox="1"/>
          <p:nvPr>
            <p:ph idx="2" type="body"/>
          </p:nvPr>
        </p:nvSpPr>
        <p:spPr>
          <a:xfrm>
            <a:off x="4716016" y="1196752"/>
            <a:ext cx="4322390" cy="4530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Step:4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6" name="Google Shape;1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776" y="1730262"/>
            <a:ext cx="4392487" cy="2274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776" y="4005064"/>
            <a:ext cx="4392488" cy="1296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8023" y="1730263"/>
            <a:ext cx="4061201" cy="3570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Mitigation SQL Injection </a:t>
            </a:r>
            <a:endParaRPr/>
          </a:p>
        </p:txBody>
      </p:sp>
      <p:sp>
        <p:nvSpPr>
          <p:cNvPr id="194" name="Google Shape;194;p25"/>
          <p:cNvSpPr txBox="1"/>
          <p:nvPr>
            <p:ph idx="1" type="body"/>
          </p:nvPr>
        </p:nvSpPr>
        <p:spPr>
          <a:xfrm>
            <a:off x="914400" y="1447800"/>
            <a:ext cx="740201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Validation for server-side input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Use SQL controls such as LIMIT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Data sanitization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Use a safe API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539552" y="274638"/>
            <a:ext cx="8147248" cy="70609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Vulnerable Xml-rpc pingback</a:t>
            </a:r>
            <a:endParaRPr/>
          </a:p>
        </p:txBody>
      </p:sp>
      <p:sp>
        <p:nvSpPr>
          <p:cNvPr id="200" name="Google Shape;200;p26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Step:2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6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Step:1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2" name="Google Shape;20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056" y="1988840"/>
            <a:ext cx="3522928" cy="378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8064" y="1988840"/>
            <a:ext cx="3995936" cy="3789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Continue..</a:t>
            </a:r>
            <a:endParaRPr/>
          </a:p>
        </p:txBody>
      </p:sp>
      <p:sp>
        <p:nvSpPr>
          <p:cNvPr id="209" name="Google Shape;209;p27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Step:4</a:t>
            </a:r>
            <a:endParaRPr/>
          </a:p>
        </p:txBody>
      </p:sp>
      <p:sp>
        <p:nvSpPr>
          <p:cNvPr id="210" name="Google Shape;210;p27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Step:3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1" name="Google Shape;2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010" y="1988840"/>
            <a:ext cx="4399022" cy="396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513" y="2115175"/>
            <a:ext cx="4210050" cy="3944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914400" y="274638"/>
            <a:ext cx="7772400" cy="81461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XSPA(</a:t>
            </a: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Cross site port attack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218" name="Google Shape;218;p28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STEP:2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/>
          </a:p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107504" y="1447800"/>
            <a:ext cx="455593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STEP:1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</a:t>
            </a:r>
            <a:endParaRPr/>
          </a:p>
        </p:txBody>
      </p:sp>
      <p:pic>
        <p:nvPicPr>
          <p:cNvPr id="220" name="Google Shape;2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960" y="1916833"/>
            <a:ext cx="4555935" cy="381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1916833"/>
            <a:ext cx="4480560" cy="3744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n-IN"/>
              <a:t>Continue..</a:t>
            </a:r>
            <a:endParaRPr/>
          </a:p>
        </p:txBody>
      </p:sp>
      <p:sp>
        <p:nvSpPr>
          <p:cNvPr id="227" name="Google Shape;227;p29"/>
          <p:cNvSpPr txBox="1"/>
          <p:nvPr>
            <p:ph idx="2" type="body"/>
          </p:nvPr>
        </p:nvSpPr>
        <p:spPr>
          <a:xfrm>
            <a:off x="914400" y="4509120"/>
            <a:ext cx="7768590" cy="151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3985" lvl="0" marL="27432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Step:3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pic>
        <p:nvPicPr>
          <p:cNvPr id="229" name="Google Shape;22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65" y="1916832"/>
            <a:ext cx="8001000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type="title"/>
          </p:nvPr>
        </p:nvSpPr>
        <p:spPr>
          <a:xfrm>
            <a:off x="914400" y="274638"/>
            <a:ext cx="7772400" cy="77809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Mitigations for secure xml-rpc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3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Reconfigure “.htacess”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Disable XML-RPC + Pingback WordPress Plugin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Replace angle bracket text with its symbol Angle brackets files xmlrpc.php.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Whitelist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/>
          </a:p>
        </p:txBody>
      </p:sp>
      <p:sp>
        <p:nvSpPr>
          <p:cNvPr id="241" name="Google Shape;241;p3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https://www.bloomreach.com/en/blog/2019/08/content-management-system.html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https://w3techs.com/technologies/overview/content_management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 u="sng">
                <a:solidFill>
                  <a:schemeClr val="hlink"/>
                </a:solidFill>
                <a:hlinkClick r:id="rId5"/>
              </a:rPr>
              <a:t>https://webflow.com/blog/website-security-checklist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 u="sng">
                <a:solidFill>
                  <a:schemeClr val="hlink"/>
                </a:solidFill>
                <a:hlinkClick r:id="rId6"/>
              </a:rPr>
              <a:t>https://medium.com/@the.bilal.rizwan/wordpress-xmlrpc-php-common-vulnerabilites-how-to-exploit-them-d8d3c8600b32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 u="sng">
                <a:solidFill>
                  <a:schemeClr val="hlink"/>
                </a:solidFill>
                <a:hlinkClick r:id="rId7"/>
              </a:rPr>
              <a:t>https://blogvault.net/owasp-top-10/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247" name="Google Shape;247;p32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3985" lvl="0" marL="27432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pic>
        <p:nvPicPr>
          <p:cNvPr descr="Andreas Zeller's Old Blog: Summarizing your presentation with ..." id="248" name="Google Shape;248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274638"/>
            <a:ext cx="9001000" cy="6106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