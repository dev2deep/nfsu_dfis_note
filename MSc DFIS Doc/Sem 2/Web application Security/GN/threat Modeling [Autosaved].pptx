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Libre Franklin"/>
      <p:regular r:id="rId15"/>
      <p:bold r:id="rId16"/>
      <p:italic r:id="rId17"/>
      <p:boldItalic r:id="rId18"/>
    </p:embeddedFont>
    <p:embeddedFont>
      <p:font typeface="Libre Baskerville"/>
      <p:regular r:id="rId19"/>
      <p:bold r:id="rId20"/>
      <p: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5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Baskervill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ibreBaskervill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ibreFranklin-regular.fntdata"/><Relationship Id="rId14" Type="http://schemas.openxmlformats.org/officeDocument/2006/relationships/slide" Target="slides/slide9.xml"/><Relationship Id="rId17" Type="http://schemas.openxmlformats.org/officeDocument/2006/relationships/font" Target="fonts/LibreFranklin-italic.fntdata"/><Relationship Id="rId16" Type="http://schemas.openxmlformats.org/officeDocument/2006/relationships/font" Target="fonts/LibreFranklin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ibreBaskerville-regular.fntdata"/><Relationship Id="rId6" Type="http://schemas.openxmlformats.org/officeDocument/2006/relationships/slide" Target="slides/slide1.xml"/><Relationship Id="rId18" Type="http://schemas.openxmlformats.org/officeDocument/2006/relationships/font" Target="fonts/LibreFranklin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2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3" name="Google Shape;33;p3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4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4" name="Google Shape;44;p5"/>
          <p:cNvSpPr/>
          <p:nvPr/>
        </p:nvSpPr>
        <p:spPr>
          <a:xfrm flipH="1" rot="10800000">
            <a:off x="69850" y="2376488"/>
            <a:ext cx="9013825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9850" y="2341563"/>
            <a:ext cx="9013825" cy="46038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8263" y="2468563"/>
            <a:ext cx="9015413" cy="460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7" name="Google Shape;47;p5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5"/>
          <p:cNvSpPr/>
          <p:nvPr>
            <p:ph idx="12" type="sldNum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6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7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9" name="Google Shape;69;p8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3" name="Google Shape;73;p9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9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/>
          <p:nvPr/>
        </p:nvSpPr>
        <p:spPr>
          <a:xfrm flipH="1" rot="10800000">
            <a:off x="68263" y="4683125"/>
            <a:ext cx="9007475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68263" y="4649788"/>
            <a:ext cx="9007475" cy="46038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3" name="Google Shape;83;p10"/>
          <p:cNvSpPr txBox="1"/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69" lvl="1" marL="914400" algn="l"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19" lvl="3" marL="1828800" algn="l"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0"/>
          <p:cNvSpPr/>
          <p:nvPr>
            <p:ph idx="2" type="pic"/>
          </p:nvPr>
        </p:nvSpPr>
        <p:spPr>
          <a:xfrm>
            <a:off x="68308" y="66675"/>
            <a:ext cx="9001873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88" name="Google Shape;88;p10"/>
          <p:cNvSpPr/>
          <p:nvPr>
            <p:ph idx="12" type="sldNum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11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/>
          <p:nvPr>
            <p:ph type="title"/>
          </p:nvPr>
        </p:nvSpPr>
        <p:spPr>
          <a:xfrm rot="5400000">
            <a:off x="4709478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7699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12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935" lvl="0" marL="457200" marR="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1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idx="1" type="subTitle"/>
          </p:nvPr>
        </p:nvSpPr>
        <p:spPr>
          <a:xfrm>
            <a:off x="2555875" y="4869160"/>
            <a:ext cx="6400800" cy="1239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en-IN"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                        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By –Prakash Khasor,</a:t>
            </a:r>
            <a:b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Assistant Professor(Cyber Security),</a:t>
            </a:r>
            <a:b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National Forensic Sciences University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457200" y="1506538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Threat Modeling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4000"/>
              <a:buFont typeface="Times New Roman"/>
              <a:buNone/>
            </a:pPr>
            <a:r>
              <a:rPr b="1" lang="en-IN" u="sng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348680" y="1286272"/>
            <a:ext cx="8338120" cy="4285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What is Threat Modeling??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Why Threat Modeling?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Common Models ??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914400" y="188640"/>
            <a:ext cx="7772400" cy="93610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IN" u="sng">
                <a:latin typeface="Times New Roman"/>
                <a:ea typeface="Times New Roman"/>
                <a:cs typeface="Times New Roman"/>
                <a:sym typeface="Times New Roman"/>
              </a:rPr>
              <a:t>What is Threat Modeling</a:t>
            </a:r>
            <a:endParaRPr/>
          </a:p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914400" y="1124744"/>
            <a:ext cx="7546032" cy="4895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Threat modeling is a process by which potential threats, such as structural vulnerabilities or the absence of appropriate safeguards, can be identified, enumerated, and mitigations can be prioritized. (Wikipedia)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15"/>
          <p:cNvPicPr preferRelativeResize="0"/>
          <p:nvPr/>
        </p:nvPicPr>
        <p:blipFill rotWithShape="1">
          <a:blip r:embed="rId3">
            <a:alphaModFix/>
          </a:blip>
          <a:srcRect b="14068" l="8074" r="2812" t="11362"/>
          <a:stretch/>
        </p:blipFill>
        <p:spPr>
          <a:xfrm>
            <a:off x="539552" y="3395169"/>
            <a:ext cx="7315200" cy="3240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type="title"/>
          </p:nvPr>
        </p:nvSpPr>
        <p:spPr>
          <a:xfrm>
            <a:off x="914400" y="274638"/>
            <a:ext cx="7772400" cy="85010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IN" u="sng">
                <a:latin typeface="Times New Roman"/>
                <a:ea typeface="Times New Roman"/>
                <a:cs typeface="Times New Roman"/>
                <a:sym typeface="Times New Roman"/>
              </a:rPr>
              <a:t>Why Threat Modeling?</a:t>
            </a:r>
            <a:endParaRPr/>
          </a:p>
        </p:txBody>
      </p:sp>
      <p:pic>
        <p:nvPicPr>
          <p:cNvPr id="128" name="Google Shape;128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1196752"/>
            <a:ext cx="6984776" cy="294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683568" y="4143053"/>
            <a:ext cx="8208912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b="0" i="0" lang="en-IN" sz="26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Essential Steps:-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b="0" i="0" lang="en-IN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Diagram: what are we building?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b="0" i="0" lang="en-IN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threats: what can go wrong?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b="0" i="0" lang="en-IN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Mitigate: what are we doing to defend against threats?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b="0" i="0" lang="en-IN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Validate: validation of the previous steps and act upon them</a:t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IN" u="sng">
                <a:latin typeface="Times New Roman"/>
                <a:ea typeface="Times New Roman"/>
                <a:cs typeface="Times New Roman"/>
                <a:sym typeface="Times New Roman"/>
              </a:rPr>
              <a:t>The Process</a:t>
            </a:r>
            <a:endParaRPr/>
          </a:p>
        </p:txBody>
      </p:sp>
      <p:pic>
        <p:nvPicPr>
          <p:cNvPr id="135" name="Google Shape;135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28801"/>
            <a:ext cx="7768590" cy="3076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914400" y="274638"/>
            <a:ext cx="7772400" cy="149817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Common Models ??</a:t>
            </a:r>
            <a:br>
              <a:rPr lang="en-IN"/>
            </a:br>
            <a:endParaRPr/>
          </a:p>
        </p:txBody>
      </p:sp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914400" y="1447800"/>
            <a:ext cx="7906072" cy="4933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SDL(Microsoft Security Development Cycle)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Libre Baskerville"/>
              <a:buChar char="-"/>
            </a:pPr>
            <a:r>
              <a:rPr lang="en-IN"/>
              <a:t>In this “Security in every stage of Development”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Libre Baskerville"/>
              <a:buChar char="-"/>
            </a:pPr>
            <a:r>
              <a:rPr lang="en-IN"/>
              <a:t>Secure the development by Design /Deploy / Default &amp; Communication(“SD3+C”)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935"/>
              <a:buNone/>
            </a:pPr>
            <a:r>
              <a:rPr lang="en-IN" sz="1100"/>
              <a:t>“”””Remove bugs and security flows from Design and Coding. “””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DREAD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-Damage Potential.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-Reproducibility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-Exploitability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-Affected Users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-Discoverability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3985072" y="4994701"/>
            <a:ext cx="424847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IN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= (Damage Potential+Reproducibility</a:t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IN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+Exploitability+Affected Users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IN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+Discoverability)/5 </a:t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222304" y="3530958"/>
            <a:ext cx="44644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IN"/>
              <a:t>Conti….</a:t>
            </a:r>
            <a:endParaRPr/>
          </a:p>
        </p:txBody>
      </p:sp>
      <p:sp>
        <p:nvSpPr>
          <p:cNvPr id="149" name="Google Shape;149;p1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STRIDE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-Spoofing:-     Authentication :- identity theft                                      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-Tampering:-  Integrity 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-Repudiation:-     Non-Repudiation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-Information Disclosure:- confidentiality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-Denial of Service:- Availability DOS and DDOS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-Elevation/Escalation of privilege:-Authorization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P.A.S.T.A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-Process for Attack Simulation and Threat Analysis 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6732240" y="3212976"/>
            <a:ext cx="331236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IN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1.Vertical Escalation:-basic user -&gt;admin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IN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2.Horizontal Escalation:-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IN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a-&gt; user b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IN"/>
              <a:t>P.A.S.T.A</a:t>
            </a:r>
            <a:br>
              <a:rPr lang="en-IN"/>
            </a:br>
            <a:endParaRPr/>
          </a:p>
        </p:txBody>
      </p:sp>
      <p:pic>
        <p:nvPicPr>
          <p:cNvPr id="156" name="Google Shape;156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939428"/>
            <a:ext cx="3749675" cy="3588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>
            <p:ph idx="2" type="body"/>
          </p:nvPr>
        </p:nvSpPr>
        <p:spPr>
          <a:xfrm>
            <a:off x="4933950" y="1052736"/>
            <a:ext cx="3749040" cy="576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Define Objectives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Define Technical Scope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Decomposition &amp; Analysis of Application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Threat Analysis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Vulnerabilities and Weaknesses Analysis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Attack/Exploit Enumeration and Modeling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Risk and Impact Analysis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539552" y="1268760"/>
            <a:ext cx="424847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IN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Threat Mitigations,Identify trust boundaries, classification of the data assets,identify vulnerability and mitigation by proper design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3985" lvl="0" marL="27432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pic>
        <p:nvPicPr>
          <p:cNvPr descr="Andreas Zeller's Old Blog: Summarizing your presentation with ..." id="165" name="Google Shape;165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274638"/>
            <a:ext cx="9001000" cy="6106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