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embeddedFontLst>
    <p:embeddedFont>
      <p:font typeface="Libre Franklin"/>
      <p:regular r:id="rId20"/>
      <p:bold r:id="rId21"/>
      <p:italic r:id="rId22"/>
      <p:boldItalic r:id="rId23"/>
    </p:embeddedFont>
    <p:embeddedFont>
      <p:font typeface="Libre Baskerville"/>
      <p:regular r:id="rId24"/>
      <p:bold r:id="rId25"/>
      <p: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5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5"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Franklin-regular.fntdata"/><Relationship Id="rId22" Type="http://schemas.openxmlformats.org/officeDocument/2006/relationships/font" Target="fonts/LibreFranklin-italic.fntdata"/><Relationship Id="rId21" Type="http://schemas.openxmlformats.org/officeDocument/2006/relationships/font" Target="fonts/LibreFranklin-bold.fntdata"/><Relationship Id="rId24" Type="http://schemas.openxmlformats.org/officeDocument/2006/relationships/font" Target="fonts/LibreBaskerville-regular.fntdata"/><Relationship Id="rId23"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ibreBaskerville-italic.fntdata"/><Relationship Id="rId25" Type="http://schemas.openxmlformats.org/officeDocument/2006/relationships/font" Target="fonts/LibreBaskerville-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latin typeface="Arial"/>
                <a:ea typeface="Arial"/>
                <a:cs typeface="Arial"/>
                <a:sym typeface="Arial"/>
              </a:rPr>
              <a:t>‹#›</a:t>
            </a:fld>
            <a:endParaRPr sz="1200">
              <a:latin typeface="Arial"/>
              <a:ea typeface="Arial"/>
              <a:cs typeface="Arial"/>
              <a:sym typeface="Arial"/>
            </a:endParaRPr>
          </a:p>
        </p:txBody>
      </p:sp>
      <p:sp>
        <p:nvSpPr>
          <p:cNvPr id="103" name="Google Shape;10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latin typeface="Arial"/>
                <a:ea typeface="Arial"/>
                <a:cs typeface="Arial"/>
                <a:sym typeface="Arial"/>
              </a:rPr>
              <a:t>‹#›</a:t>
            </a:fld>
            <a:endParaRPr sz="1200">
              <a:latin typeface="Arial"/>
              <a:ea typeface="Arial"/>
              <a:cs typeface="Arial"/>
              <a:sym typeface="Arial"/>
            </a:endParaRPr>
          </a:p>
        </p:txBody>
      </p:sp>
      <p:sp>
        <p:nvSpPr>
          <p:cNvPr id="110" name="Google Shape;11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 name="Google Shape;11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latin typeface="Arial"/>
                <a:ea typeface="Arial"/>
                <a:cs typeface="Arial"/>
                <a:sym typeface="Arial"/>
              </a:rPr>
              <a:t>‹#›</a:t>
            </a:fld>
            <a:endParaRPr sz="1200">
              <a:latin typeface="Arial"/>
              <a:ea typeface="Arial"/>
              <a:cs typeface="Arial"/>
              <a:sym typeface="Arial"/>
            </a:endParaRPr>
          </a:p>
        </p:txBody>
      </p:sp>
      <p:sp>
        <p:nvSpPr>
          <p:cNvPr id="123" name="Google Shape;12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0" name="Google Shape;13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9" name="Google Shape;14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1" name="Google Shape;16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7" name="Google Shape;16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5" name="Google Shape;18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9" name="Google Shape;19;p2"/>
          <p:cNvSpPr/>
          <p:nvPr/>
        </p:nvSpPr>
        <p:spPr>
          <a:xfrm>
            <a:off x="65088" y="69850"/>
            <a:ext cx="9013825" cy="6691313"/>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0" name="Google Shape;20;p2"/>
          <p:cNvSpPr/>
          <p:nvPr/>
        </p:nvSpPr>
        <p:spPr>
          <a:xfrm>
            <a:off x="63500" y="1449388"/>
            <a:ext cx="9020175" cy="15271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1" name="Google Shape;21;p2"/>
          <p:cNvSpPr/>
          <p:nvPr/>
        </p:nvSpPr>
        <p:spPr>
          <a:xfrm>
            <a:off x="63500" y="1397000"/>
            <a:ext cx="9020175" cy="12065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2" name="Google Shape;22;p2"/>
          <p:cNvSpPr/>
          <p:nvPr/>
        </p:nvSpPr>
        <p:spPr>
          <a:xfrm>
            <a:off x="63500" y="2976563"/>
            <a:ext cx="9020175" cy="1111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3" name="Google Shape;23;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4" name="Google Shape;24;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6" name="Google Shape;26;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7" name="Google Shape;27;p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1" name="Google Shape;31;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2" name="Google Shape;32;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3" name="Google Shape;33;p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7" name="Google Shape;37;p4"/>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8" name="Google Shape;38;p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9" name="Google Shape;39;p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40" name="Google Shape;40;p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1" name="Shape 41"/>
        <p:cNvGrpSpPr/>
        <p:nvPr/>
      </p:nvGrpSpPr>
      <p:grpSpPr>
        <a:xfrm>
          <a:off x="0" y="0"/>
          <a:ext cx="0" cy="0"/>
          <a:chOff x="0" y="0"/>
          <a:chExt cx="0" cy="0"/>
        </a:xfrm>
      </p:grpSpPr>
      <p:sp>
        <p:nvSpPr>
          <p:cNvPr id="42" name="Google Shape;42;p5"/>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3" name="Google Shape;43;p5"/>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4" name="Google Shape;44;p5"/>
          <p:cNvSpPr/>
          <p:nvPr/>
        </p:nvSpPr>
        <p:spPr>
          <a:xfrm flipH="1" rot="10800000">
            <a:off x="69850" y="2376488"/>
            <a:ext cx="901382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5" name="Google Shape;45;p5"/>
          <p:cNvSpPr/>
          <p:nvPr/>
        </p:nvSpPr>
        <p:spPr>
          <a:xfrm>
            <a:off x="69850" y="2341563"/>
            <a:ext cx="9013825" cy="46038"/>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6" name="Google Shape;46;p5"/>
          <p:cNvSpPr/>
          <p:nvPr/>
        </p:nvSpPr>
        <p:spPr>
          <a:xfrm>
            <a:off x="68263" y="2468563"/>
            <a:ext cx="9015413" cy="46038"/>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7" name="Google Shape;47;p5"/>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2040"/>
              <a:buNone/>
              <a:defRPr sz="2400">
                <a:solidFill>
                  <a:srgbClr val="888888"/>
                </a:solidFill>
              </a:defRPr>
            </a:lvl1pPr>
            <a:lvl2pPr indent="-228600" lvl="1" marL="914400" algn="l">
              <a:spcBef>
                <a:spcPts val="370"/>
              </a:spcBef>
              <a:spcAft>
                <a:spcPts val="0"/>
              </a:spcAft>
              <a:buSzPts val="1530"/>
              <a:buNone/>
              <a:defRPr sz="1800">
                <a:solidFill>
                  <a:srgbClr val="888888"/>
                </a:solidFill>
              </a:defRPr>
            </a:lvl2pPr>
            <a:lvl3pPr indent="-228600" lvl="2" marL="1371600" algn="l">
              <a:spcBef>
                <a:spcPts val="370"/>
              </a:spcBef>
              <a:spcAft>
                <a:spcPts val="0"/>
              </a:spcAft>
              <a:buSzPts val="1360"/>
              <a:buNone/>
              <a:defRPr sz="1600">
                <a:solidFill>
                  <a:srgbClr val="888888"/>
                </a:solidFill>
              </a:defRPr>
            </a:lvl3pPr>
            <a:lvl4pPr indent="-228600" lvl="3" marL="1828800" algn="l">
              <a:spcBef>
                <a:spcPts val="370"/>
              </a:spcBef>
              <a:spcAft>
                <a:spcPts val="0"/>
              </a:spcAft>
              <a:buSzPts val="1120"/>
              <a:buNone/>
              <a:defRPr sz="1400">
                <a:solidFill>
                  <a:srgbClr val="888888"/>
                </a:solidFill>
              </a:defRPr>
            </a:lvl4pPr>
            <a:lvl5pPr indent="-228600" lvl="4" marL="2286000" algn="l">
              <a:spcBef>
                <a:spcPts val="370"/>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49" name="Google Shape;49;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0" name="Google Shape;50;p5"/>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1" name="Google Shape;51;p5"/>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6"/>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5" name="Google Shape;55;p6"/>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6" name="Google Shape;56;p6"/>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7" name="Google Shape;57;p6"/>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8" name="Google Shape;58;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9" name="Google Shape;59;p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0" name="Google Shape;60;p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4" name="Google Shape;64;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5" name="Google Shape;65;p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9" name="Google Shape;69;p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9"/>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72" name="Google Shape;72;p9"/>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73" name="Google Shape;73;p9"/>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1530"/>
              <a:buNone/>
              <a:defRPr sz="1800"/>
            </a:lvl1pPr>
            <a:lvl2pPr indent="-228600" lvl="1" marL="914400" algn="l">
              <a:spcBef>
                <a:spcPts val="370"/>
              </a:spcBef>
              <a:spcAft>
                <a:spcPts val="0"/>
              </a:spcAft>
              <a:buSzPts val="1020"/>
              <a:buNone/>
              <a:defRPr sz="1200"/>
            </a:lvl2pPr>
            <a:lvl3pPr indent="-228600" lvl="2" marL="1371600" algn="l">
              <a:spcBef>
                <a:spcPts val="370"/>
              </a:spcBef>
              <a:spcAft>
                <a:spcPts val="0"/>
              </a:spcAft>
              <a:buSzPts val="850"/>
              <a:buNone/>
              <a:defRPr sz="1000"/>
            </a:lvl3pPr>
            <a:lvl4pPr indent="-228600" lvl="3" marL="1828800" algn="l">
              <a:spcBef>
                <a:spcPts val="370"/>
              </a:spcBef>
              <a:spcAft>
                <a:spcPts val="0"/>
              </a:spcAft>
              <a:buSzPts val="720"/>
              <a:buNone/>
              <a:defRPr sz="900"/>
            </a:lvl4pPr>
            <a:lvl5pPr indent="-228600" lvl="4" marL="2286000" algn="l">
              <a:spcBef>
                <a:spcPts val="370"/>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5" name="Google Shape;75;p9"/>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6" name="Google Shape;76;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7" name="Google Shape;77;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8" name="Google Shape;78;p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10"/>
          <p:cNvSpPr/>
          <p:nvPr/>
        </p:nvSpPr>
        <p:spPr>
          <a:xfrm flipH="1" rot="10800000">
            <a:off x="68263" y="4683125"/>
            <a:ext cx="900747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81" name="Google Shape;81;p10"/>
          <p:cNvSpPr/>
          <p:nvPr/>
        </p:nvSpPr>
        <p:spPr>
          <a:xfrm>
            <a:off x="68263" y="4649788"/>
            <a:ext cx="9007475" cy="46038"/>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82" name="Google Shape;82;p10"/>
          <p:cNvSpPr/>
          <p:nvPr/>
        </p:nvSpPr>
        <p:spPr>
          <a:xfrm>
            <a:off x="68263" y="4773613"/>
            <a:ext cx="9007475" cy="476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83" name="Google Shape;83;p10"/>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0"/>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1360"/>
              <a:buFont typeface="Libre Baskerville"/>
              <a:buNone/>
              <a:defRPr sz="1600"/>
            </a:lvl1pPr>
            <a:lvl2pPr indent="-293369" lvl="1" marL="914400" algn="l">
              <a:spcBef>
                <a:spcPts val="370"/>
              </a:spcBef>
              <a:spcAft>
                <a:spcPts val="0"/>
              </a:spcAft>
              <a:buSzPts val="1020"/>
              <a:buChar char="⚫"/>
              <a:defRPr sz="1200"/>
            </a:lvl2pPr>
            <a:lvl3pPr indent="-282575" lvl="2" marL="1371600" algn="l">
              <a:spcBef>
                <a:spcPts val="370"/>
              </a:spcBef>
              <a:spcAft>
                <a:spcPts val="0"/>
              </a:spcAft>
              <a:buSzPts val="850"/>
              <a:buChar char="⚫"/>
              <a:defRPr sz="1000"/>
            </a:lvl3pPr>
            <a:lvl4pPr indent="-274319" lvl="3" marL="1828800" algn="l">
              <a:spcBef>
                <a:spcPts val="370"/>
              </a:spcBef>
              <a:spcAft>
                <a:spcPts val="0"/>
              </a:spcAft>
              <a:buSzPts val="720"/>
              <a:buChar char="⚫"/>
              <a:defRPr sz="900"/>
            </a:lvl4pPr>
            <a:lvl5pPr indent="-285750" lvl="4" marL="2286000" algn="l">
              <a:spcBef>
                <a:spcPts val="370"/>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5" name="Google Shape;85;p10"/>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
        <p:nvSpPr>
          <p:cNvPr id="86" name="Google Shape;86;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7" name="Google Shape;87;p10"/>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8" name="Google Shape;88;p10"/>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1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1"/>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2" name="Google Shape;92;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3" name="Google Shape;93;p1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4" name="Google Shape;94;p1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12"/>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2"/>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8" name="Google Shape;98;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9" name="Google Shape;99;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100" name="Google Shape;100;p1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1" name="Google Shape;11;p1"/>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16" name="Google Shape;16;p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idx="1" type="subTitle"/>
          </p:nvPr>
        </p:nvSpPr>
        <p:spPr>
          <a:xfrm>
            <a:off x="2555875" y="4869160"/>
            <a:ext cx="6400800" cy="123954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210"/>
              <a:buFont typeface="Noto Sans Symbols"/>
              <a:buNone/>
            </a:pPr>
            <a:r>
              <a:rPr lang="en-US">
                <a:latin typeface="Libre Baskerville"/>
                <a:ea typeface="Libre Baskerville"/>
                <a:cs typeface="Libre Baskerville"/>
                <a:sym typeface="Libre Baskerville"/>
              </a:rPr>
              <a:t>                                                     </a:t>
            </a:r>
            <a:r>
              <a:rPr lang="en-US" sz="2000">
                <a:latin typeface="Times New Roman"/>
                <a:ea typeface="Times New Roman"/>
                <a:cs typeface="Times New Roman"/>
                <a:sym typeface="Times New Roman"/>
              </a:rPr>
              <a:t>By –Prakash Khasor,</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Assistant Professor(Cyber Security),  </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National Forensic Sciences University</a:t>
            </a:r>
            <a:endParaRPr sz="2000">
              <a:latin typeface="Times New Roman"/>
              <a:ea typeface="Times New Roman"/>
              <a:cs typeface="Times New Roman"/>
              <a:sym typeface="Times New Roman"/>
            </a:endParaRPr>
          </a:p>
        </p:txBody>
      </p:sp>
      <p:sp>
        <p:nvSpPr>
          <p:cNvPr id="107" name="Google Shape;107;p13"/>
          <p:cNvSpPr txBox="1"/>
          <p:nvPr>
            <p:ph type="ctrTitle"/>
          </p:nvPr>
        </p:nvSpPr>
        <p:spPr>
          <a:xfrm>
            <a:off x="457200" y="1506538"/>
            <a:ext cx="8229600" cy="1470025"/>
          </a:xfrm>
          <a:prstGeom prst="rect">
            <a:avLst/>
          </a:prstGeom>
          <a:noFill/>
          <a:ln>
            <a:noFill/>
          </a:ln>
        </p:spPr>
        <p:txBody>
          <a:bodyPr anchorCtr="0" anchor="ctr" bIns="91425" lIns="91425" spcFirstLastPara="1" rIns="91425" wrap="square" tIns="45700">
            <a:noAutofit/>
          </a:bodyPr>
          <a:lstStyle/>
          <a:p>
            <a:pPr indent="0" lvl="0" marL="0" rtl="0" algn="ctr">
              <a:spcBef>
                <a:spcPts val="0"/>
              </a:spcBef>
              <a:spcAft>
                <a:spcPts val="0"/>
              </a:spcAft>
              <a:buClr>
                <a:srgbClr val="FFFFFF"/>
              </a:buClr>
              <a:buSzPts val="4000"/>
              <a:buFont typeface="Times New Roman"/>
              <a:buNone/>
            </a:pPr>
            <a:r>
              <a:rPr lang="en-US">
                <a:latin typeface="Times New Roman"/>
                <a:ea typeface="Times New Roman"/>
                <a:cs typeface="Times New Roman"/>
                <a:sym typeface="Times New Roman"/>
              </a:rPr>
              <a:t>File Inclusion Vulnerability</a:t>
            </a:r>
            <a:endParaRPr>
              <a:solidFill>
                <a:srgbClr val="FFFFF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rgbClr val="FF3300"/>
              </a:buClr>
              <a:buSzPts val="4000"/>
              <a:buFont typeface="Times New Roman"/>
              <a:buNone/>
            </a:pPr>
            <a:r>
              <a:rPr b="1" lang="en-US" u="sng">
                <a:solidFill>
                  <a:srgbClr val="FF3300"/>
                </a:solidFill>
                <a:latin typeface="Times New Roman"/>
                <a:ea typeface="Times New Roman"/>
                <a:cs typeface="Times New Roman"/>
                <a:sym typeface="Times New Roman"/>
              </a:rPr>
              <a:t>Introduction</a:t>
            </a:r>
            <a:endParaRPr/>
          </a:p>
        </p:txBody>
      </p:sp>
      <p:sp>
        <p:nvSpPr>
          <p:cNvPr id="114" name="Google Shape;114;p14"/>
          <p:cNvSpPr txBox="1"/>
          <p:nvPr>
            <p:ph idx="1" type="body"/>
          </p:nvPr>
        </p:nvSpPr>
        <p:spPr>
          <a:xfrm>
            <a:off x="348680" y="1286272"/>
            <a:ext cx="8338120" cy="4285456"/>
          </a:xfrm>
          <a:prstGeom prst="rect">
            <a:avLst/>
          </a:prstGeom>
          <a:noFill/>
          <a:ln>
            <a:noFill/>
          </a:ln>
        </p:spPr>
        <p:txBody>
          <a:bodyPr anchorCtr="0" anchor="t" bIns="45700" lIns="91425" spcFirstLastPara="1" rIns="91425" wrap="square" tIns="45700">
            <a:noAutofit/>
          </a:bodyPr>
          <a:lstStyle/>
          <a:p>
            <a:pPr indent="-133985" lvl="0" marL="274320" rtl="0" algn="l">
              <a:spcBef>
                <a:spcPts val="0"/>
              </a:spcBef>
              <a:spcAft>
                <a:spcPts val="0"/>
              </a:spcAft>
              <a:buClr>
                <a:schemeClr val="accent1"/>
              </a:buClr>
              <a:buSzPts val="2210"/>
              <a:buFont typeface="Noto Sans Symbols"/>
              <a:buNone/>
            </a:pPr>
            <a:r>
              <a:t/>
            </a:r>
            <a:endParaRPr/>
          </a:p>
          <a:p>
            <a:pPr indent="-274320" lvl="0" marL="274320" rtl="0" algn="l">
              <a:spcBef>
                <a:spcPts val="580"/>
              </a:spcBef>
              <a:spcAft>
                <a:spcPts val="0"/>
              </a:spcAft>
              <a:buClr>
                <a:schemeClr val="accent1"/>
              </a:buClr>
              <a:buSzPts val="2040"/>
              <a:buFont typeface="Noto Sans Symbols"/>
              <a:buChar char="⚫"/>
            </a:pPr>
            <a:r>
              <a:rPr lang="en-US" sz="2400">
                <a:latin typeface="Times New Roman"/>
                <a:ea typeface="Times New Roman"/>
                <a:cs typeface="Times New Roman"/>
                <a:sym typeface="Times New Roman"/>
              </a:rPr>
              <a:t>What is File Inclusion Vulnerability</a:t>
            </a:r>
            <a:endParaRPr/>
          </a:p>
          <a:p>
            <a:pPr indent="-274320" lvl="0" marL="274320" rtl="0" algn="l">
              <a:spcBef>
                <a:spcPts val="580"/>
              </a:spcBef>
              <a:spcAft>
                <a:spcPts val="0"/>
              </a:spcAft>
              <a:buClr>
                <a:schemeClr val="accent1"/>
              </a:buClr>
              <a:buSzPts val="2040"/>
              <a:buFont typeface="Noto Sans Symbols"/>
              <a:buChar char="⚫"/>
            </a:pPr>
            <a:r>
              <a:rPr lang="en-US" sz="2400">
                <a:latin typeface="Times New Roman"/>
                <a:ea typeface="Times New Roman"/>
                <a:cs typeface="Times New Roman"/>
                <a:sym typeface="Times New Roman"/>
              </a:rPr>
              <a:t>Methodology</a:t>
            </a:r>
            <a:endParaRPr/>
          </a:p>
          <a:p>
            <a:pPr indent="-274320" lvl="0" marL="274320" rtl="0" algn="l">
              <a:spcBef>
                <a:spcPts val="580"/>
              </a:spcBef>
              <a:spcAft>
                <a:spcPts val="0"/>
              </a:spcAft>
              <a:buClr>
                <a:schemeClr val="accent1"/>
              </a:buClr>
              <a:buSzPts val="2040"/>
              <a:buFont typeface="Noto Sans Symbols"/>
              <a:buChar char="⚫"/>
            </a:pPr>
            <a:r>
              <a:rPr lang="en-US" sz="2400">
                <a:latin typeface="Times New Roman"/>
                <a:ea typeface="Times New Roman"/>
                <a:cs typeface="Times New Roman"/>
                <a:sym typeface="Times New Roman"/>
              </a:rPr>
              <a:t>Impact</a:t>
            </a:r>
            <a:endParaRPr/>
          </a:p>
          <a:p>
            <a:pPr indent="-274320" lvl="0" marL="274320" rtl="0" algn="l">
              <a:spcBef>
                <a:spcPts val="580"/>
              </a:spcBef>
              <a:spcAft>
                <a:spcPts val="0"/>
              </a:spcAft>
              <a:buClr>
                <a:schemeClr val="accent1"/>
              </a:buClr>
              <a:buSzPts val="2040"/>
              <a:buFont typeface="Noto Sans Symbols"/>
              <a:buChar char="⚫"/>
            </a:pPr>
            <a:r>
              <a:rPr lang="en-US" sz="2400">
                <a:latin typeface="Times New Roman"/>
                <a:ea typeface="Times New Roman"/>
                <a:cs typeface="Times New Roman"/>
                <a:sym typeface="Times New Roman"/>
              </a:rPr>
              <a:t>Mitigations</a:t>
            </a:r>
            <a:endParaRPr/>
          </a:p>
          <a:p>
            <a:pPr indent="0" lvl="0" marL="0" rtl="0" algn="l">
              <a:spcBef>
                <a:spcPts val="580"/>
              </a:spcBef>
              <a:spcAft>
                <a:spcPts val="0"/>
              </a:spcAft>
              <a:buClr>
                <a:schemeClr val="accent1"/>
              </a:buClr>
              <a:buSzPts val="204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ph type="title"/>
          </p:nvPr>
        </p:nvSpPr>
        <p:spPr>
          <a:xfrm>
            <a:off x="914400" y="274638"/>
            <a:ext cx="7772400" cy="778098"/>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a:latin typeface="Times New Roman"/>
                <a:ea typeface="Times New Roman"/>
                <a:cs typeface="Times New Roman"/>
                <a:sym typeface="Times New Roman"/>
              </a:rPr>
              <a:t>File Inclusion Vulnerability</a:t>
            </a:r>
            <a:endParaRPr/>
          </a:p>
        </p:txBody>
      </p:sp>
      <p:sp>
        <p:nvSpPr>
          <p:cNvPr id="120" name="Google Shape;120;p15"/>
          <p:cNvSpPr txBox="1"/>
          <p:nvPr>
            <p:ph idx="1" type="body"/>
          </p:nvPr>
        </p:nvSpPr>
        <p:spPr>
          <a:xfrm>
            <a:off x="323528" y="1052736"/>
            <a:ext cx="8712968" cy="5805264"/>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b="0" i="0" lang="en-US">
                <a:solidFill>
                  <a:srgbClr val="202124"/>
                </a:solidFill>
                <a:latin typeface="Times New Roman"/>
                <a:ea typeface="Times New Roman"/>
                <a:cs typeface="Times New Roman"/>
                <a:sym typeface="Times New Roman"/>
              </a:rPr>
              <a:t>The </a:t>
            </a:r>
            <a:r>
              <a:rPr b="1" i="0" lang="en-US">
                <a:solidFill>
                  <a:srgbClr val="202124"/>
                </a:solidFill>
                <a:latin typeface="Times New Roman"/>
                <a:ea typeface="Times New Roman"/>
                <a:cs typeface="Times New Roman"/>
                <a:sym typeface="Times New Roman"/>
              </a:rPr>
              <a:t>File Inclusion</a:t>
            </a:r>
            <a:r>
              <a:rPr b="0" i="0" lang="en-US">
                <a:solidFill>
                  <a:srgbClr val="202124"/>
                </a:solidFill>
                <a:latin typeface="Times New Roman"/>
                <a:ea typeface="Times New Roman"/>
                <a:cs typeface="Times New Roman"/>
                <a:sym typeface="Times New Roman"/>
              </a:rPr>
              <a:t> vulnerability allows an attacker to </a:t>
            </a:r>
            <a:r>
              <a:rPr b="1" i="0" lang="en-US">
                <a:solidFill>
                  <a:srgbClr val="202124"/>
                </a:solidFill>
                <a:latin typeface="Times New Roman"/>
                <a:ea typeface="Times New Roman"/>
                <a:cs typeface="Times New Roman"/>
                <a:sym typeface="Times New Roman"/>
              </a:rPr>
              <a:t>include</a:t>
            </a:r>
            <a:r>
              <a:rPr b="0" i="0" lang="en-US">
                <a:solidFill>
                  <a:srgbClr val="202124"/>
                </a:solidFill>
                <a:latin typeface="Times New Roman"/>
                <a:ea typeface="Times New Roman"/>
                <a:cs typeface="Times New Roman"/>
                <a:sym typeface="Times New Roman"/>
              </a:rPr>
              <a:t> a </a:t>
            </a:r>
            <a:r>
              <a:rPr b="1" i="0" lang="en-US">
                <a:solidFill>
                  <a:srgbClr val="202124"/>
                </a:solidFill>
                <a:latin typeface="Times New Roman"/>
                <a:ea typeface="Times New Roman"/>
                <a:cs typeface="Times New Roman"/>
                <a:sym typeface="Times New Roman"/>
              </a:rPr>
              <a:t>file</a:t>
            </a:r>
            <a:r>
              <a:rPr b="0" i="0" lang="en-US">
                <a:solidFill>
                  <a:srgbClr val="202124"/>
                </a:solidFill>
                <a:latin typeface="Times New Roman"/>
                <a:ea typeface="Times New Roman"/>
                <a:cs typeface="Times New Roman"/>
                <a:sym typeface="Times New Roman"/>
              </a:rPr>
              <a:t>, usually exploiting a “dynamic </a:t>
            </a:r>
            <a:r>
              <a:rPr b="1" i="0" lang="en-US">
                <a:solidFill>
                  <a:srgbClr val="202124"/>
                </a:solidFill>
                <a:latin typeface="Times New Roman"/>
                <a:ea typeface="Times New Roman"/>
                <a:cs typeface="Times New Roman"/>
                <a:sym typeface="Times New Roman"/>
              </a:rPr>
              <a:t>file inclusion</a:t>
            </a:r>
            <a:r>
              <a:rPr b="0" i="0" lang="en-US">
                <a:solidFill>
                  <a:srgbClr val="202124"/>
                </a:solidFill>
                <a:latin typeface="Times New Roman"/>
                <a:ea typeface="Times New Roman"/>
                <a:cs typeface="Times New Roman"/>
                <a:sym typeface="Times New Roman"/>
              </a:rPr>
              <a:t>” mechanisms implemented in the target application. The vulnerability occurs due to the use of user-supplied input without proper validation.</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CWE-98: “Improper Control of Filename for Include/Require Statement in PHP Program”.</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CWE-20: “Improper Input Validation”.</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CWE-22: “Improper Limitation of a Pathname to a Restricted Directory (‘Path Traversal’)”.</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CWE-23: “Relative Path Traversal”.</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CWE-200: “Exposure of Sensitive Information to an Unauthorized Actor”.</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txBox="1"/>
          <p:nvPr>
            <p:ph type="title"/>
          </p:nvPr>
        </p:nvSpPr>
        <p:spPr>
          <a:xfrm>
            <a:off x="755576" y="188640"/>
            <a:ext cx="7931224"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Impact of File Inclusion</a:t>
            </a:r>
            <a:endParaRPr/>
          </a:p>
        </p:txBody>
      </p:sp>
      <p:sp>
        <p:nvSpPr>
          <p:cNvPr id="127" name="Google Shape;127;p16"/>
          <p:cNvSpPr txBox="1"/>
          <p:nvPr>
            <p:ph idx="1" type="body"/>
          </p:nvPr>
        </p:nvSpPr>
        <p:spPr>
          <a:xfrm>
            <a:off x="914400" y="1447800"/>
            <a:ext cx="7546032" cy="4933528"/>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accent1"/>
              </a:buClr>
              <a:buSzPts val="2210"/>
              <a:buFont typeface="Noto Sans Symbols"/>
              <a:buChar char="⚫"/>
            </a:pPr>
            <a:r>
              <a:rPr lang="en-US">
                <a:latin typeface="Times New Roman"/>
                <a:ea typeface="Times New Roman"/>
                <a:cs typeface="Times New Roman"/>
                <a:sym typeface="Times New Roman"/>
              </a:rPr>
              <a:t>This Vulnerability is mainly due to a bad input validation mechanism, wherein the user's input is passed to the file include commands without proper validation. The impact of this vulnerability can lead to malicious code execution on the server or reveal data present in sensitive files, etc.</a:t>
            </a:r>
            <a:endParaRPr/>
          </a:p>
          <a:p>
            <a:pPr indent="-274320" lvl="0" marL="274320" rtl="0" algn="l">
              <a:spcBef>
                <a:spcPts val="580"/>
              </a:spcBef>
              <a:spcAft>
                <a:spcPts val="0"/>
              </a:spcAft>
              <a:buClr>
                <a:schemeClr val="accent1"/>
              </a:buClr>
              <a:buSzPts val="2210"/>
              <a:buFont typeface="Noto Sans Symbols"/>
              <a:buChar char="⚫"/>
            </a:pPr>
            <a:r>
              <a:rPr lang="en-US">
                <a:latin typeface="Times New Roman"/>
                <a:ea typeface="Times New Roman"/>
                <a:cs typeface="Times New Roman"/>
                <a:sym typeface="Times New Roman"/>
              </a:rPr>
              <a:t>Code execution on the Web server</a:t>
            </a:r>
            <a:endParaRPr/>
          </a:p>
          <a:p>
            <a:pPr indent="-274320" lvl="0" marL="274320" rtl="0" algn="l">
              <a:spcBef>
                <a:spcPts val="580"/>
              </a:spcBef>
              <a:spcAft>
                <a:spcPts val="0"/>
              </a:spcAft>
              <a:buClr>
                <a:schemeClr val="accent1"/>
              </a:buClr>
              <a:buSzPts val="2210"/>
              <a:buFont typeface="Noto Sans Symbols"/>
              <a:buChar char="⚫"/>
            </a:pPr>
            <a:r>
              <a:rPr lang="en-US">
                <a:latin typeface="Times New Roman"/>
                <a:ea typeface="Times New Roman"/>
                <a:cs typeface="Times New Roman"/>
                <a:sym typeface="Times New Roman"/>
              </a:rPr>
              <a:t>Cross-Site Scripting Attacks (XSS)</a:t>
            </a:r>
            <a:endParaRPr/>
          </a:p>
          <a:p>
            <a:pPr indent="-274320" lvl="0" marL="274320" rtl="0" algn="l">
              <a:spcBef>
                <a:spcPts val="580"/>
              </a:spcBef>
              <a:spcAft>
                <a:spcPts val="0"/>
              </a:spcAft>
              <a:buClr>
                <a:schemeClr val="accent1"/>
              </a:buClr>
              <a:buSzPts val="2210"/>
              <a:buFont typeface="Noto Sans Symbols"/>
              <a:buChar char="⚫"/>
            </a:pPr>
            <a:r>
              <a:rPr lang="en-US">
                <a:latin typeface="Times New Roman"/>
                <a:ea typeface="Times New Roman"/>
                <a:cs typeface="Times New Roman"/>
                <a:sym typeface="Times New Roman"/>
              </a:rPr>
              <a:t>Denial of service (DOS)</a:t>
            </a:r>
            <a:endParaRPr/>
          </a:p>
          <a:p>
            <a:pPr indent="-274320" lvl="0" marL="274320" rtl="0" algn="l">
              <a:spcBef>
                <a:spcPts val="580"/>
              </a:spcBef>
              <a:spcAft>
                <a:spcPts val="0"/>
              </a:spcAft>
              <a:buClr>
                <a:schemeClr val="accent1"/>
              </a:buClr>
              <a:buSzPts val="2210"/>
              <a:buFont typeface="Noto Sans Symbols"/>
              <a:buChar char="⚫"/>
            </a:pPr>
            <a:r>
              <a:rPr lang="en-US">
                <a:latin typeface="Times New Roman"/>
                <a:ea typeface="Times New Roman"/>
                <a:cs typeface="Times New Roman"/>
                <a:sym typeface="Times New Roman"/>
              </a:rPr>
              <a:t>Data Manipulation Attacks</a:t>
            </a:r>
            <a:endParaRPr/>
          </a:p>
          <a:p>
            <a:pPr indent="-274320" lvl="0" marL="274320" rtl="0" algn="l">
              <a:spcBef>
                <a:spcPts val="580"/>
              </a:spcBef>
              <a:spcAft>
                <a:spcPts val="0"/>
              </a:spcAft>
              <a:buClr>
                <a:schemeClr val="accent1"/>
              </a:buClr>
              <a:buSzPts val="2210"/>
              <a:buFont typeface="Noto Sans Symbols"/>
              <a:buChar char="⚫"/>
            </a:pPr>
            <a:r>
              <a:rPr lang="en-US">
                <a:latin typeface="Times New Roman"/>
                <a:ea typeface="Times New Roman"/>
                <a:cs typeface="Times New Roman"/>
                <a:sym typeface="Times New Roman"/>
              </a:rPr>
              <a:t>Sensitive Information Disclosure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lang="en-US">
                <a:latin typeface="Times New Roman"/>
                <a:ea typeface="Times New Roman"/>
                <a:cs typeface="Times New Roman"/>
                <a:sym typeface="Times New Roman"/>
              </a:rPr>
              <a:t>Types of File Inclusion</a:t>
            </a:r>
            <a:endParaRPr/>
          </a:p>
        </p:txBody>
      </p:sp>
      <p:sp>
        <p:nvSpPr>
          <p:cNvPr id="133" name="Google Shape;133;p17"/>
          <p:cNvSpPr txBox="1"/>
          <p:nvPr>
            <p:ph idx="1" type="body"/>
          </p:nvPr>
        </p:nvSpPr>
        <p:spPr>
          <a:xfrm>
            <a:off x="914400" y="1447800"/>
            <a:ext cx="8122096"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b="1" lang="en-US">
                <a:latin typeface="Times New Roman"/>
                <a:ea typeface="Times New Roman"/>
                <a:cs typeface="Times New Roman"/>
                <a:sym typeface="Times New Roman"/>
              </a:rPr>
              <a:t>RFI ”Remote File Inclusion”</a:t>
            </a:r>
            <a:endParaRPr/>
          </a:p>
          <a:p>
            <a:pPr indent="-274320" lvl="0" marL="274320" rtl="0" algn="l">
              <a:spcBef>
                <a:spcPts val="580"/>
              </a:spcBef>
              <a:spcAft>
                <a:spcPts val="0"/>
              </a:spcAft>
              <a:buSzPts val="2210"/>
              <a:buChar char="⚫"/>
            </a:pPr>
            <a:r>
              <a:rPr b="1" i="0" lang="en-US">
                <a:solidFill>
                  <a:srgbClr val="131415"/>
                </a:solidFill>
                <a:latin typeface="Times New Roman"/>
                <a:ea typeface="Times New Roman"/>
                <a:cs typeface="Times New Roman"/>
                <a:sym typeface="Times New Roman"/>
              </a:rPr>
              <a:t>Remote File Inclusion</a:t>
            </a:r>
            <a:r>
              <a:rPr b="0" i="0" lang="en-US">
                <a:solidFill>
                  <a:srgbClr val="131415"/>
                </a:solidFill>
                <a:latin typeface="Times New Roman"/>
                <a:ea typeface="Times New Roman"/>
                <a:cs typeface="Times New Roman"/>
                <a:sym typeface="Times New Roman"/>
              </a:rPr>
              <a:t> (RFI) is a method that allows an attacker to employ a script to include a remotely hosted file on the webserver.</a:t>
            </a:r>
            <a:endParaRPr/>
          </a:p>
          <a:p>
            <a:pPr indent="-274320" lvl="0" marL="274320" rtl="0" algn="l">
              <a:spcBef>
                <a:spcPts val="580"/>
              </a:spcBef>
              <a:spcAft>
                <a:spcPts val="0"/>
              </a:spcAft>
              <a:buSzPts val="2210"/>
              <a:buChar char="⚫"/>
            </a:pPr>
            <a:r>
              <a:rPr b="1" lang="en-US">
                <a:latin typeface="Times New Roman"/>
                <a:ea typeface="Times New Roman"/>
                <a:cs typeface="Times New Roman"/>
                <a:sym typeface="Times New Roman"/>
              </a:rPr>
              <a:t>LFI ” Local File Inclusion”</a:t>
            </a:r>
            <a:endParaRPr/>
          </a:p>
          <a:p>
            <a:pPr indent="-274320" lvl="0" marL="274320" rtl="0" algn="l">
              <a:spcBef>
                <a:spcPts val="580"/>
              </a:spcBef>
              <a:spcAft>
                <a:spcPts val="0"/>
              </a:spcAft>
              <a:buSzPts val="2210"/>
              <a:buChar char="⚫"/>
            </a:pPr>
            <a:r>
              <a:rPr b="1" i="0" lang="en-US">
                <a:solidFill>
                  <a:srgbClr val="131415"/>
                </a:solidFill>
                <a:latin typeface="Times New Roman"/>
                <a:ea typeface="Times New Roman"/>
                <a:cs typeface="Times New Roman"/>
                <a:sym typeface="Times New Roman"/>
              </a:rPr>
              <a:t>Local File Inclusion</a:t>
            </a:r>
            <a:r>
              <a:rPr b="0" i="0" lang="en-US">
                <a:solidFill>
                  <a:srgbClr val="131415"/>
                </a:solidFill>
                <a:latin typeface="Times New Roman"/>
                <a:ea typeface="Times New Roman"/>
                <a:cs typeface="Times New Roman"/>
                <a:sym typeface="Times New Roman"/>
              </a:rPr>
              <a:t> (LFI) is very much similar to RFI. The only difference being that in LFI, in order to carry out the attack instead of including remote files, the attacker has to use local files.</a:t>
            </a:r>
            <a:endParaRPr b="1">
              <a:latin typeface="Times New Roman"/>
              <a:ea typeface="Times New Roman"/>
              <a:cs typeface="Times New Roman"/>
              <a:sym typeface="Times New Roman"/>
            </a:endParaRPr>
          </a:p>
          <a:p>
            <a:pPr indent="-133985" lvl="0" marL="274320" rtl="0" algn="l">
              <a:spcBef>
                <a:spcPts val="580"/>
              </a:spcBef>
              <a:spcAft>
                <a:spcPts val="0"/>
              </a:spcAft>
              <a:buSzPts val="2210"/>
              <a:buNone/>
            </a:pPr>
            <a:r>
              <a:t/>
            </a:r>
            <a:endParaRPr b="1">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type="title"/>
          </p:nvPr>
        </p:nvSpPr>
        <p:spPr>
          <a:xfrm>
            <a:off x="914400" y="274638"/>
            <a:ext cx="7978080" cy="687028"/>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lang="en-US">
                <a:latin typeface="Times New Roman"/>
                <a:ea typeface="Times New Roman"/>
                <a:cs typeface="Times New Roman"/>
                <a:sym typeface="Times New Roman"/>
              </a:rPr>
              <a:t>Practical Scenarios</a:t>
            </a:r>
            <a:endParaRPr/>
          </a:p>
        </p:txBody>
      </p:sp>
      <p:sp>
        <p:nvSpPr>
          <p:cNvPr id="139" name="Google Shape;139;p18"/>
          <p:cNvSpPr txBox="1"/>
          <p:nvPr>
            <p:ph idx="1" type="body"/>
          </p:nvPr>
        </p:nvSpPr>
        <p:spPr>
          <a:xfrm>
            <a:off x="914400" y="1447800"/>
            <a:ext cx="797808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Demo1=Low Security</a:t>
            </a:r>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p:txBody>
      </p:sp>
      <p:pic>
        <p:nvPicPr>
          <p:cNvPr id="140" name="Google Shape;140;p18"/>
          <p:cNvPicPr preferRelativeResize="0"/>
          <p:nvPr/>
        </p:nvPicPr>
        <p:blipFill rotWithShape="1">
          <a:blip r:embed="rId3">
            <a:alphaModFix/>
          </a:blip>
          <a:srcRect b="0" l="0" r="0" t="0"/>
          <a:stretch/>
        </p:blipFill>
        <p:spPr>
          <a:xfrm>
            <a:off x="1241884" y="2060848"/>
            <a:ext cx="7362564" cy="45225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../../../../../../etc/passwd</a:t>
            </a:r>
            <a:endParaRPr/>
          </a:p>
        </p:txBody>
      </p:sp>
      <p:pic>
        <p:nvPicPr>
          <p:cNvPr id="146" name="Google Shape;146;p19"/>
          <p:cNvPicPr preferRelativeResize="0"/>
          <p:nvPr>
            <p:ph idx="1" type="body"/>
          </p:nvPr>
        </p:nvPicPr>
        <p:blipFill rotWithShape="1">
          <a:blip r:embed="rId3">
            <a:alphaModFix/>
          </a:blip>
          <a:srcRect b="0" l="0" r="0" t="0"/>
          <a:stretch/>
        </p:blipFill>
        <p:spPr>
          <a:xfrm>
            <a:off x="906996" y="1430281"/>
            <a:ext cx="7330008" cy="49545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RFI URL=GOOGLE.COM</a:t>
            </a:r>
            <a:endParaRPr/>
          </a:p>
        </p:txBody>
      </p:sp>
      <p:pic>
        <p:nvPicPr>
          <p:cNvPr id="152" name="Google Shape;152;p20"/>
          <p:cNvPicPr preferRelativeResize="0"/>
          <p:nvPr>
            <p:ph idx="1" type="body"/>
          </p:nvPr>
        </p:nvPicPr>
        <p:blipFill rotWithShape="1">
          <a:blip r:embed="rId3">
            <a:alphaModFix/>
          </a:blip>
          <a:srcRect b="0" l="0" r="0" t="0"/>
          <a:stretch/>
        </p:blipFill>
        <p:spPr>
          <a:xfrm>
            <a:off x="914400" y="1417638"/>
            <a:ext cx="7772400" cy="44596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MEDIUM</a:t>
            </a:r>
            <a:endParaRPr/>
          </a:p>
        </p:txBody>
      </p:sp>
      <p:pic>
        <p:nvPicPr>
          <p:cNvPr id="158" name="Google Shape;158;p21"/>
          <p:cNvPicPr preferRelativeResize="0"/>
          <p:nvPr>
            <p:ph idx="1" type="body"/>
          </p:nvPr>
        </p:nvPicPr>
        <p:blipFill rotWithShape="1">
          <a:blip r:embed="rId3">
            <a:alphaModFix/>
          </a:blip>
          <a:srcRect b="0" l="0" r="0" t="0"/>
          <a:stretch/>
        </p:blipFill>
        <p:spPr>
          <a:xfrm>
            <a:off x="914400" y="1417638"/>
            <a:ext cx="7402016" cy="49636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CHECK PATTERN IN SOURCE CODE</a:t>
            </a:r>
            <a:endParaRPr/>
          </a:p>
        </p:txBody>
      </p:sp>
      <p:pic>
        <p:nvPicPr>
          <p:cNvPr id="164" name="Google Shape;164;p22"/>
          <p:cNvPicPr preferRelativeResize="0"/>
          <p:nvPr>
            <p:ph idx="1" type="body"/>
          </p:nvPr>
        </p:nvPicPr>
        <p:blipFill rotWithShape="1">
          <a:blip r:embed="rId3">
            <a:alphaModFix/>
          </a:blip>
          <a:srcRect b="0" l="0" r="0" t="0"/>
          <a:stretch/>
        </p:blipFill>
        <p:spPr>
          <a:xfrm>
            <a:off x="914400" y="1417638"/>
            <a:ext cx="7772400" cy="467565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BYPASS BLACKLIST</a:t>
            </a:r>
            <a:endParaRPr/>
          </a:p>
        </p:txBody>
      </p:sp>
      <p:pic>
        <p:nvPicPr>
          <p:cNvPr id="170" name="Google Shape;170;p23"/>
          <p:cNvPicPr preferRelativeResize="0"/>
          <p:nvPr>
            <p:ph idx="1" type="body"/>
          </p:nvPr>
        </p:nvPicPr>
        <p:blipFill rotWithShape="1">
          <a:blip r:embed="rId3">
            <a:alphaModFix/>
          </a:blip>
          <a:srcRect b="0" l="0" r="0" t="0"/>
          <a:stretch/>
        </p:blipFill>
        <p:spPr>
          <a:xfrm>
            <a:off x="914400" y="1417638"/>
            <a:ext cx="7772400" cy="48196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BYPASS FOR RFI</a:t>
            </a:r>
            <a:endParaRPr/>
          </a:p>
        </p:txBody>
      </p:sp>
      <p:pic>
        <p:nvPicPr>
          <p:cNvPr id="176" name="Google Shape;176;p24"/>
          <p:cNvPicPr preferRelativeResize="0"/>
          <p:nvPr>
            <p:ph idx="1" type="body"/>
          </p:nvPr>
        </p:nvPicPr>
        <p:blipFill rotWithShape="1">
          <a:blip r:embed="rId3">
            <a:alphaModFix/>
          </a:blip>
          <a:srcRect b="0" l="0" r="0" t="0"/>
          <a:stretch/>
        </p:blipFill>
        <p:spPr>
          <a:xfrm>
            <a:off x="896753" y="1484784"/>
            <a:ext cx="7546032" cy="4819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a:latin typeface="Times New Roman"/>
                <a:ea typeface="Times New Roman"/>
                <a:cs typeface="Times New Roman"/>
                <a:sym typeface="Times New Roman"/>
              </a:rPr>
              <a:t>Mitigations</a:t>
            </a:r>
            <a:endParaRPr/>
          </a:p>
        </p:txBody>
      </p:sp>
      <p:sp>
        <p:nvSpPr>
          <p:cNvPr id="182" name="Google Shape;182;p25"/>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Don’t Permit File paths to be appended Directly. Make them Hardcoded of Selectable from limited Hardcoded path list with the help of an index variable.</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 If you definitely need dynamic path concatenation, ensure you only accept required characters such as "a-Z0-9" and do not allow ".." or "/" or "%00" (null byte) or any other similar unexpected characters.</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limit the API to allow inclusion only from a directory and directories below it. This ensures that any potential attack cannot perform a directory traversal attack.</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t/>
            </a:r>
            <a:endParaRPr/>
          </a:p>
        </p:txBody>
      </p:sp>
      <p:sp>
        <p:nvSpPr>
          <p:cNvPr id="188" name="Google Shape;188;p26"/>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p>
            <a:pPr indent="-133985" lvl="0" marL="274320" rtl="0" algn="l">
              <a:spcBef>
                <a:spcPts val="0"/>
              </a:spcBef>
              <a:spcAft>
                <a:spcPts val="0"/>
              </a:spcAft>
              <a:buSzPts val="2210"/>
              <a:buNone/>
            </a:pPr>
            <a:r>
              <a:t/>
            </a:r>
            <a:endParaRPr/>
          </a:p>
        </p:txBody>
      </p:sp>
      <p:pic>
        <p:nvPicPr>
          <p:cNvPr descr="Andreas Zeller's Old Blog: Summarizing your presentation with ..." id="189" name="Google Shape;189;p26"/>
          <p:cNvPicPr preferRelativeResize="0"/>
          <p:nvPr>
            <p:ph idx="1" type="body"/>
          </p:nvPr>
        </p:nvPicPr>
        <p:blipFill rotWithShape="1">
          <a:blip r:embed="rId3">
            <a:alphaModFix/>
          </a:blip>
          <a:srcRect b="0" l="0" r="0" t="0"/>
          <a:stretch/>
        </p:blipFill>
        <p:spPr>
          <a:xfrm>
            <a:off x="107504" y="274638"/>
            <a:ext cx="9001000" cy="61066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