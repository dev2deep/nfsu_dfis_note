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3" r:id="rId1"/>
  </p:sldMasterIdLst>
  <p:notesMasterIdLst>
    <p:notesMasterId r:id="rId46"/>
  </p:notesMasterIdLst>
  <p:handoutMasterIdLst>
    <p:handoutMasterId r:id="rId47"/>
  </p:handoutMasterIdLst>
  <p:sldIdLst>
    <p:sldId id="258" r:id="rId2"/>
    <p:sldId id="288" r:id="rId3"/>
    <p:sldId id="303" r:id="rId4"/>
    <p:sldId id="305" r:id="rId5"/>
    <p:sldId id="306" r:id="rId6"/>
    <p:sldId id="307" r:id="rId7"/>
    <p:sldId id="308" r:id="rId8"/>
    <p:sldId id="309" r:id="rId9"/>
    <p:sldId id="310" r:id="rId10"/>
    <p:sldId id="313" r:id="rId11"/>
    <p:sldId id="312" r:id="rId12"/>
    <p:sldId id="311" r:id="rId13"/>
    <p:sldId id="314" r:id="rId14"/>
    <p:sldId id="315" r:id="rId15"/>
    <p:sldId id="316" r:id="rId16"/>
    <p:sldId id="317" r:id="rId17"/>
    <p:sldId id="318" r:id="rId18"/>
    <p:sldId id="323" r:id="rId19"/>
    <p:sldId id="324" r:id="rId20"/>
    <p:sldId id="325" r:id="rId21"/>
    <p:sldId id="326" r:id="rId22"/>
    <p:sldId id="327" r:id="rId23"/>
    <p:sldId id="329" r:id="rId24"/>
    <p:sldId id="330" r:id="rId25"/>
    <p:sldId id="331" r:id="rId26"/>
    <p:sldId id="332" r:id="rId27"/>
    <p:sldId id="335" r:id="rId28"/>
    <p:sldId id="333" r:id="rId29"/>
    <p:sldId id="334" r:id="rId30"/>
    <p:sldId id="336" r:id="rId31"/>
    <p:sldId id="341" r:id="rId32"/>
    <p:sldId id="340" r:id="rId33"/>
    <p:sldId id="342" r:id="rId34"/>
    <p:sldId id="343" r:id="rId35"/>
    <p:sldId id="344" r:id="rId36"/>
    <p:sldId id="345" r:id="rId37"/>
    <p:sldId id="337" r:id="rId38"/>
    <p:sldId id="338" r:id="rId39"/>
    <p:sldId id="339" r:id="rId40"/>
    <p:sldId id="346" r:id="rId41"/>
    <p:sldId id="347" r:id="rId42"/>
    <p:sldId id="348" r:id="rId43"/>
    <p:sldId id="349" r:id="rId44"/>
    <p:sldId id="302" r:id="rId45"/>
  </p:sldIdLst>
  <p:sldSz cx="12179300" cy="9134475" type="ledger"/>
  <p:notesSz cx="6858000" cy="9144000"/>
  <p:embeddedFontLst>
    <p:embeddedFont>
      <p:font typeface="Cambria" pitchFamily="18" charset="0"/>
      <p:regular r:id="rId48"/>
      <p:bold r:id="rId49"/>
      <p:italic r:id="rId50"/>
      <p:boldItalic r:id="rId51"/>
    </p:embeddedFont>
    <p:embeddedFont>
      <p:font typeface="Verdana" pitchFamily="34" charset="0"/>
      <p:regular r:id="rId52"/>
      <p:bold r:id="rId53"/>
      <p:italic r:id="rId54"/>
      <p:boldItalic r:id="rId55"/>
    </p:embeddedFont>
    <p:embeddedFont>
      <p:font typeface="Calibri" pitchFamily="34" charset="0"/>
      <p:regular r:id="rId56"/>
      <p:bold r:id="rId57"/>
      <p:italic r:id="rId58"/>
      <p:boldItalic r:id="rId59"/>
    </p:embeddedFont>
    <p:embeddedFont>
      <p:font typeface="Nunito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3240">
          <p15:clr>
            <a:srgbClr val="A4A3A4"/>
          </p15:clr>
        </p15:guide>
        <p15:guide id="5" orient="horz" pos="2158">
          <p15:clr>
            <a:srgbClr val="A4A3A4"/>
          </p15:clr>
        </p15:guide>
        <p15:guide id="6" orient="horz" pos="2877">
          <p15:clr>
            <a:srgbClr val="A4A3A4"/>
          </p15:clr>
        </p15:guide>
        <p15:guide id="7" pos="3409">
          <p15:clr>
            <a:srgbClr val="A4A3A4"/>
          </p15:clr>
        </p15:guide>
        <p15:guide id="8" pos="38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B21D1B3-EE4D-466E-A5A6-E190B4C86464}">
  <a:tblStyle styleId="{EB21D1B3-EE4D-466E-A5A6-E190B4C864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576" autoAdjust="0"/>
  </p:normalViewPr>
  <p:slideViewPr>
    <p:cSldViewPr>
      <p:cViewPr varScale="1">
        <p:scale>
          <a:sx n="82" d="100"/>
          <a:sy n="82" d="100"/>
        </p:scale>
        <p:origin x="-1638" y="-78"/>
      </p:cViewPr>
      <p:guideLst>
        <p:guide orient="horz" pos="1620"/>
        <p:guide orient="horz" pos="2160"/>
        <p:guide orient="horz" pos="2158"/>
        <p:guide orient="horz" pos="2877"/>
        <p:guide pos="2880"/>
        <p:guide pos="3240"/>
        <p:guide pos="3409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08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2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3372B-AC66-4476-BFD7-374DF2869261}" type="datetimeFigureOut">
              <a:rPr lang="en-US" smtClean="0"/>
              <a:pPr/>
              <a:t>11-Mar-26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4DB6C-BB94-4D8A-A7D4-8ABB1D6B8D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18806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xmlns="" val="37278192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9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34DEFFE9-F3AA-41A8-9DA5-9A414A3D88E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/>
          <a:lstStyle/>
          <a:p>
            <a:fld id="{34DEFFE9-F3AA-41A8-9DA5-9A414A3D88E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9" y="2837628"/>
            <a:ext cx="10352405" cy="19579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895" y="5176202"/>
            <a:ext cx="8525510" cy="2334366"/>
          </a:xfrm>
        </p:spPr>
        <p:txBody>
          <a:bodyPr/>
          <a:lstStyle>
            <a:lvl1pPr marL="0" indent="0" algn="ctr">
              <a:buNone/>
              <a:defRPr/>
            </a:lvl1pPr>
            <a:lvl2pPr marL="533378" indent="0" algn="ctr">
              <a:buNone/>
              <a:defRPr/>
            </a:lvl2pPr>
            <a:lvl3pPr marL="1066754" indent="0" algn="ctr">
              <a:buNone/>
              <a:defRPr/>
            </a:lvl3pPr>
            <a:lvl4pPr marL="1600132" indent="0" algn="ctr">
              <a:buNone/>
              <a:defRPr/>
            </a:lvl4pPr>
            <a:lvl5pPr marL="2133507" indent="0" algn="ctr">
              <a:buNone/>
              <a:defRPr/>
            </a:lvl5pPr>
            <a:lvl6pPr marL="2666885" indent="0" algn="ctr">
              <a:buNone/>
              <a:defRPr/>
            </a:lvl6pPr>
            <a:lvl7pPr marL="3200259" indent="0" algn="ctr">
              <a:buNone/>
              <a:defRPr/>
            </a:lvl7pPr>
            <a:lvl8pPr marL="3733636" indent="0" algn="ctr">
              <a:buNone/>
              <a:defRPr/>
            </a:lvl8pPr>
            <a:lvl9pPr marL="426701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9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7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082" y="5869761"/>
            <a:ext cx="10352405" cy="1814207"/>
          </a:xfrm>
        </p:spPr>
        <p:txBody>
          <a:bodyPr anchor="t"/>
          <a:lstStyle>
            <a:lvl1pPr algn="l">
              <a:defRPr sz="4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082" y="3871594"/>
            <a:ext cx="10352405" cy="1998166"/>
          </a:xfrm>
        </p:spPr>
        <p:txBody>
          <a:bodyPr anchor="b"/>
          <a:lstStyle>
            <a:lvl1pPr marL="0" indent="0">
              <a:buNone/>
              <a:defRPr sz="2300"/>
            </a:lvl1pPr>
            <a:lvl2pPr marL="533378" indent="0">
              <a:buNone/>
              <a:defRPr sz="2200"/>
            </a:lvl2pPr>
            <a:lvl3pPr marL="1066754" indent="0">
              <a:buNone/>
              <a:defRPr sz="1900"/>
            </a:lvl3pPr>
            <a:lvl4pPr marL="1600132" indent="0">
              <a:buNone/>
              <a:defRPr sz="1700"/>
            </a:lvl4pPr>
            <a:lvl5pPr marL="2133507" indent="0">
              <a:buNone/>
              <a:defRPr sz="1700"/>
            </a:lvl5pPr>
            <a:lvl6pPr marL="2666885" indent="0">
              <a:buNone/>
              <a:defRPr sz="1700"/>
            </a:lvl6pPr>
            <a:lvl7pPr marL="3200259" indent="0">
              <a:buNone/>
              <a:defRPr sz="1700"/>
            </a:lvl7pPr>
            <a:lvl8pPr marL="3733636" indent="0">
              <a:buNone/>
              <a:defRPr sz="1700"/>
            </a:lvl8pPr>
            <a:lvl9pPr marL="4267014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965" y="2029883"/>
            <a:ext cx="5379191" cy="5785168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144" y="2029883"/>
            <a:ext cx="5379191" cy="5785168"/>
          </a:xfrm>
        </p:spPr>
        <p:txBody>
          <a:bodyPr/>
          <a:lstStyle>
            <a:lvl1pPr>
              <a:defRPr sz="3300"/>
            </a:lvl1pPr>
            <a:lvl2pPr>
              <a:defRPr sz="2800"/>
            </a:lvl2pPr>
            <a:lvl3pPr>
              <a:defRPr sz="23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365805"/>
            <a:ext cx="10961370" cy="152241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65" y="2044691"/>
            <a:ext cx="5381306" cy="85212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3378" indent="0">
              <a:buNone/>
              <a:defRPr sz="2300" b="1"/>
            </a:lvl2pPr>
            <a:lvl3pPr marL="1066754" indent="0">
              <a:buNone/>
              <a:defRPr sz="2200" b="1"/>
            </a:lvl3pPr>
            <a:lvl4pPr marL="1600132" indent="0">
              <a:buNone/>
              <a:defRPr sz="1900" b="1"/>
            </a:lvl4pPr>
            <a:lvl5pPr marL="2133507" indent="0">
              <a:buNone/>
              <a:defRPr sz="1900" b="1"/>
            </a:lvl5pPr>
            <a:lvl6pPr marL="2666885" indent="0">
              <a:buNone/>
              <a:defRPr sz="1900" b="1"/>
            </a:lvl6pPr>
            <a:lvl7pPr marL="3200259" indent="0">
              <a:buNone/>
              <a:defRPr sz="1900" b="1"/>
            </a:lvl7pPr>
            <a:lvl8pPr marL="3733636" indent="0">
              <a:buNone/>
              <a:defRPr sz="1900" b="1"/>
            </a:lvl8pPr>
            <a:lvl9pPr marL="4267014" indent="0">
              <a:buNone/>
              <a:defRPr sz="1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965" y="2896813"/>
            <a:ext cx="5381306" cy="526289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6933" y="2044691"/>
            <a:ext cx="5383420" cy="85212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33378" indent="0">
              <a:buNone/>
              <a:defRPr sz="2300" b="1"/>
            </a:lvl2pPr>
            <a:lvl3pPr marL="1066754" indent="0">
              <a:buNone/>
              <a:defRPr sz="2200" b="1"/>
            </a:lvl3pPr>
            <a:lvl4pPr marL="1600132" indent="0">
              <a:buNone/>
              <a:defRPr sz="1900" b="1"/>
            </a:lvl4pPr>
            <a:lvl5pPr marL="2133507" indent="0">
              <a:buNone/>
              <a:defRPr sz="1900" b="1"/>
            </a:lvl5pPr>
            <a:lvl6pPr marL="2666885" indent="0">
              <a:buNone/>
              <a:defRPr sz="1900" b="1"/>
            </a:lvl6pPr>
            <a:lvl7pPr marL="3200259" indent="0">
              <a:buNone/>
              <a:defRPr sz="1900" b="1"/>
            </a:lvl7pPr>
            <a:lvl8pPr marL="3733636" indent="0">
              <a:buNone/>
              <a:defRPr sz="1900" b="1"/>
            </a:lvl8pPr>
            <a:lvl9pPr marL="4267014" indent="0">
              <a:buNone/>
              <a:defRPr sz="1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6933" y="2896813"/>
            <a:ext cx="5383420" cy="526289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9" y="363699"/>
            <a:ext cx="4006906" cy="1547787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770" y="363710"/>
            <a:ext cx="6808567" cy="7796021"/>
          </a:xfrm>
        </p:spPr>
        <p:txBody>
          <a:bodyPr/>
          <a:lstStyle>
            <a:lvl1pPr>
              <a:defRPr sz="3700"/>
            </a:lvl1pPr>
            <a:lvl2pPr>
              <a:defRPr sz="33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979" y="1911482"/>
            <a:ext cx="4006906" cy="6248235"/>
          </a:xfrm>
        </p:spPr>
        <p:txBody>
          <a:bodyPr/>
          <a:lstStyle>
            <a:lvl1pPr marL="0" indent="0">
              <a:buNone/>
              <a:defRPr sz="1700"/>
            </a:lvl1pPr>
            <a:lvl2pPr marL="533378" indent="0">
              <a:buNone/>
              <a:defRPr sz="1400"/>
            </a:lvl2pPr>
            <a:lvl3pPr marL="1066754" indent="0">
              <a:buNone/>
              <a:defRPr sz="1300"/>
            </a:lvl3pPr>
            <a:lvl4pPr marL="1600132" indent="0">
              <a:buNone/>
              <a:defRPr sz="1000"/>
            </a:lvl4pPr>
            <a:lvl5pPr marL="2133507" indent="0">
              <a:buNone/>
              <a:defRPr sz="1000"/>
            </a:lvl5pPr>
            <a:lvl6pPr marL="2666885" indent="0">
              <a:buNone/>
              <a:defRPr sz="1000"/>
            </a:lvl6pPr>
            <a:lvl7pPr marL="3200259" indent="0">
              <a:buNone/>
              <a:defRPr sz="1000"/>
            </a:lvl7pPr>
            <a:lvl8pPr marL="3733636" indent="0">
              <a:buNone/>
              <a:defRPr sz="1000"/>
            </a:lvl8pPr>
            <a:lvl9pPr marL="426701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7228" y="6394146"/>
            <a:ext cx="7307580" cy="75486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7228" y="816184"/>
            <a:ext cx="7307580" cy="5480685"/>
          </a:xfrm>
        </p:spPr>
        <p:txBody>
          <a:bodyPr/>
          <a:lstStyle>
            <a:lvl1pPr marL="0" indent="0">
              <a:buNone/>
              <a:defRPr sz="3700"/>
            </a:lvl1pPr>
            <a:lvl2pPr marL="533378" indent="0">
              <a:buNone/>
              <a:defRPr sz="3300"/>
            </a:lvl2pPr>
            <a:lvl3pPr marL="1066754" indent="0">
              <a:buNone/>
              <a:defRPr sz="2800"/>
            </a:lvl3pPr>
            <a:lvl4pPr marL="1600132" indent="0">
              <a:buNone/>
              <a:defRPr sz="2300"/>
            </a:lvl4pPr>
            <a:lvl5pPr marL="2133507" indent="0">
              <a:buNone/>
              <a:defRPr sz="2300"/>
            </a:lvl5pPr>
            <a:lvl6pPr marL="2666885" indent="0">
              <a:buNone/>
              <a:defRPr sz="2300"/>
            </a:lvl6pPr>
            <a:lvl7pPr marL="3200259" indent="0">
              <a:buNone/>
              <a:defRPr sz="2300"/>
            </a:lvl7pPr>
            <a:lvl8pPr marL="3733636" indent="0">
              <a:buNone/>
              <a:defRPr sz="2300"/>
            </a:lvl8pPr>
            <a:lvl9pPr marL="4267014" indent="0">
              <a:buNone/>
              <a:defRPr sz="23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7228" y="7149015"/>
            <a:ext cx="7307580" cy="1072033"/>
          </a:xfrm>
        </p:spPr>
        <p:txBody>
          <a:bodyPr/>
          <a:lstStyle>
            <a:lvl1pPr marL="0" indent="0">
              <a:buNone/>
              <a:defRPr sz="1700"/>
            </a:lvl1pPr>
            <a:lvl2pPr marL="533378" indent="0">
              <a:buNone/>
              <a:defRPr sz="1400"/>
            </a:lvl2pPr>
            <a:lvl3pPr marL="1066754" indent="0">
              <a:buNone/>
              <a:defRPr sz="1300"/>
            </a:lvl3pPr>
            <a:lvl4pPr marL="1600132" indent="0">
              <a:buNone/>
              <a:defRPr sz="1000"/>
            </a:lvl4pPr>
            <a:lvl5pPr marL="2133507" indent="0">
              <a:buNone/>
              <a:defRPr sz="1000"/>
            </a:lvl5pPr>
            <a:lvl6pPr marL="2666885" indent="0">
              <a:buNone/>
              <a:defRPr sz="1000"/>
            </a:lvl6pPr>
            <a:lvl7pPr marL="3200259" indent="0">
              <a:buNone/>
              <a:defRPr sz="1000"/>
            </a:lvl7pPr>
            <a:lvl8pPr marL="3733636" indent="0">
              <a:buNone/>
              <a:defRPr sz="1000"/>
            </a:lvl8pPr>
            <a:lvl9pPr marL="426701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29992" y="304483"/>
            <a:ext cx="2740343" cy="75105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965" y="304483"/>
            <a:ext cx="8018039" cy="7510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3449" y="913452"/>
            <a:ext cx="10352405" cy="2833380"/>
          </a:xfrm>
        </p:spPr>
        <p:txBody>
          <a:bodyPr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965" y="8728498"/>
            <a:ext cx="10961370" cy="405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107418" tIns="53710" rIns="107418" bIns="53710" numCol="1" anchor="ctr" anchorCtr="0" compatLnSpc="1">
            <a:prstTxWarp prst="textNoShape">
              <a:avLst/>
            </a:prstTxWarp>
          </a:bodyPr>
          <a:lstStyle>
            <a:lvl1pPr>
              <a:defRPr sz="1000" b="1" i="0">
                <a:latin typeface="+mj-lt"/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08965" y="304483"/>
            <a:ext cx="10961370" cy="1319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7418" tIns="53710" rIns="107418" bIns="537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965" y="2029883"/>
            <a:ext cx="10961370" cy="5785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7418" tIns="53710" rIns="107418" bIns="53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1826895"/>
            <a:ext cx="6089650" cy="101494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lIns="106678" tIns="53340" rIns="106678" bIns="53340" anchor="ctr"/>
          <a:lstStyle/>
          <a:p>
            <a:pPr>
              <a:defRPr/>
            </a:pPr>
            <a:endParaRPr lang="en-US" sz="1900" dirty="0"/>
          </a:p>
        </p:txBody>
      </p:sp>
      <p:sp>
        <p:nvSpPr>
          <p:cNvPr id="3086" name="Rectangle 14"/>
          <p:cNvSpPr>
            <a:spLocks noChangeArrowheads="1"/>
          </p:cNvSpPr>
          <p:nvPr/>
        </p:nvSpPr>
        <p:spPr bwMode="auto">
          <a:xfrm>
            <a:off x="6089650" y="1826895"/>
            <a:ext cx="6089650" cy="101494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lIns="106678" tIns="53340" rIns="106678" bIns="53340" anchor="ctr"/>
          <a:lstStyle/>
          <a:p>
            <a:pPr>
              <a:defRPr/>
            </a:pPr>
            <a:endParaRPr lang="en-US" sz="1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ransition>
    <p:fade thruBlk="1"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5pPr>
      <a:lvl6pPr marL="533378"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6pPr>
      <a:lvl7pPr marL="1066754"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7pPr>
      <a:lvl8pPr marL="1600132"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8pPr>
      <a:lvl9pPr marL="2133507" algn="ctr" rtl="0" eaLnBrk="1" fontAlgn="base" hangingPunct="1">
        <a:spcBef>
          <a:spcPct val="0"/>
        </a:spcBef>
        <a:spcAft>
          <a:spcPct val="0"/>
        </a:spcAft>
        <a:defRPr sz="4700">
          <a:solidFill>
            <a:schemeClr val="tx2"/>
          </a:solidFill>
          <a:latin typeface="Arial" charset="0"/>
        </a:defRPr>
      </a:lvl9pPr>
    </p:titleStyle>
    <p:bodyStyle>
      <a:lvl1pPr marL="400032" indent="-40003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66738" indent="-333361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500">
          <a:solidFill>
            <a:schemeClr val="tx1"/>
          </a:solidFill>
          <a:latin typeface="+mn-lt"/>
        </a:defRPr>
      </a:lvl2pPr>
      <a:lvl3pPr marL="1333442" indent="-26669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300">
          <a:solidFill>
            <a:schemeClr val="tx1"/>
          </a:solidFill>
          <a:latin typeface="+mn-lt"/>
        </a:defRPr>
      </a:lvl3pPr>
      <a:lvl4pPr marL="1866818" indent="-26669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300">
          <a:solidFill>
            <a:schemeClr val="tx1"/>
          </a:solidFill>
          <a:latin typeface="+mn-lt"/>
        </a:defRPr>
      </a:lvl4pPr>
      <a:lvl5pPr marL="2400196" indent="-26669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300">
          <a:solidFill>
            <a:schemeClr val="tx1"/>
          </a:solidFill>
          <a:latin typeface="+mn-lt"/>
        </a:defRPr>
      </a:lvl5pPr>
      <a:lvl6pPr marL="2933574" indent="-26669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300">
          <a:solidFill>
            <a:schemeClr val="tx1"/>
          </a:solidFill>
          <a:latin typeface="+mn-lt"/>
        </a:defRPr>
      </a:lvl6pPr>
      <a:lvl7pPr marL="3466948" indent="-26669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300">
          <a:solidFill>
            <a:schemeClr val="tx1"/>
          </a:solidFill>
          <a:latin typeface="+mn-lt"/>
        </a:defRPr>
      </a:lvl7pPr>
      <a:lvl8pPr marL="4000327" indent="-26669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300">
          <a:solidFill>
            <a:schemeClr val="tx1"/>
          </a:solidFill>
          <a:latin typeface="+mn-lt"/>
        </a:defRPr>
      </a:lvl8pPr>
      <a:lvl9pPr marL="4533704" indent="-26669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33378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66754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2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33507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666885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00259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636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67014" algn="l" defTabSz="1066754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computer-networks/rsa-algorithm-cryptography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digital-signature-algorithm-dsa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5"/>
          <p:cNvSpPr>
            <a:spLocks noChangeShapeType="1"/>
          </p:cNvSpPr>
          <p:nvPr/>
        </p:nvSpPr>
        <p:spPr bwMode="auto">
          <a:xfrm>
            <a:off x="202988" y="8322522"/>
            <a:ext cx="1167182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 lIns="122427" tIns="61213" rIns="122427" bIns="61213"/>
          <a:lstStyle/>
          <a:p>
            <a:endParaRPr lang="en-US"/>
          </a:p>
        </p:txBody>
      </p:sp>
      <p:sp>
        <p:nvSpPr>
          <p:cNvPr id="3075" name="TextBox 8"/>
          <p:cNvSpPr txBox="1">
            <a:spLocks noChangeArrowheads="1"/>
          </p:cNvSpPr>
          <p:nvPr/>
        </p:nvSpPr>
        <p:spPr bwMode="auto">
          <a:xfrm>
            <a:off x="655807" y="3755284"/>
            <a:ext cx="11055057" cy="126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2427" tIns="61213" rIns="122427" bIns="61213">
            <a:spAutoFit/>
          </a:bodyPr>
          <a:lstStyle/>
          <a:p>
            <a:pPr marL="400032" indent="-400032" algn="ctr" fontAlgn="base">
              <a:spcAft>
                <a:spcPct val="0"/>
              </a:spcAft>
              <a:buClr>
                <a:schemeClr val="accent1"/>
              </a:buClr>
              <a:buSzPct val="75000"/>
              <a:defRPr/>
            </a:pPr>
            <a:r>
              <a:rPr lang="en-US" sz="3700" b="1" dirty="0">
                <a:solidFill>
                  <a:srgbClr val="002060"/>
                </a:solidFill>
                <a:latin typeface="Cambria" pitchFamily="18" charset="0"/>
                <a:ea typeface="Verdana" pitchFamily="34" charset="0"/>
                <a:cs typeface="Verdana" pitchFamily="34" charset="0"/>
              </a:rPr>
              <a:t>Cryptography</a:t>
            </a:r>
          </a:p>
          <a:p>
            <a:pPr marL="400032" indent="-400032" algn="ctr" fontAlgn="base">
              <a:spcAft>
                <a:spcPct val="0"/>
              </a:spcAft>
              <a:buClr>
                <a:schemeClr val="accent1"/>
              </a:buClr>
              <a:buSzPct val="75000"/>
              <a:defRPr/>
            </a:pPr>
            <a:endParaRPr lang="en-US" sz="3700" b="1" dirty="0">
              <a:solidFill>
                <a:srgbClr val="002060"/>
              </a:solidFill>
              <a:latin typeface="Cambria" pitchFamily="18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pPr marL="400032" indent="-400032">
              <a:defRPr/>
            </a:pPr>
            <a:r>
              <a:rPr lang="en-US" sz="3700" b="1" dirty="0">
                <a:latin typeface="Cambria" pitchFamily="18" charset="0"/>
                <a:ea typeface="Verdana" pitchFamily="34" charset="0"/>
                <a:cs typeface="Verdana" pitchFamily="34" charset="0"/>
              </a:rPr>
              <a:t>Network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841837"/>
            <a:ext cx="11429805" cy="1420918"/>
          </a:xfrm>
        </p:spPr>
        <p:txBody>
          <a:bodyPr/>
          <a:lstStyle/>
          <a:p>
            <a:pPr algn="just">
              <a:spcBef>
                <a:spcPts val="1400"/>
              </a:spcBef>
            </a:pPr>
            <a:r>
              <a:rPr lang="en-US" sz="1900" dirty="0"/>
              <a:t>Message on unsecure channel the confidentiality of the message may be breach</a:t>
            </a:r>
          </a:p>
        </p:txBody>
      </p:sp>
      <p:pic>
        <p:nvPicPr>
          <p:cNvPr id="6" name="Picture 5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085" y="3342792"/>
            <a:ext cx="7531138" cy="305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pPr marL="400032" indent="-400032">
              <a:defRPr/>
            </a:pPr>
            <a:r>
              <a:rPr lang="en-US" sz="3700" b="1" dirty="0">
                <a:latin typeface="Cambria" pitchFamily="18" charset="0"/>
                <a:ea typeface="Verdana" pitchFamily="34" charset="0"/>
                <a:cs typeface="Verdana" pitchFamily="34" charset="0"/>
              </a:rPr>
              <a:t>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247813"/>
            <a:ext cx="11429805" cy="3146319"/>
          </a:xfrm>
        </p:spPr>
        <p:txBody>
          <a:bodyPr/>
          <a:lstStyle/>
          <a:p>
            <a:pPr algn="just">
              <a:spcBef>
                <a:spcPts val="1400"/>
              </a:spcBef>
            </a:pPr>
            <a:r>
              <a:rPr lang="en-US" sz="1900" dirty="0"/>
              <a:t>Cryptography is the study of secure communications techniques that allow only the sender and intended recipient of a message to view its contents. The term is derived from the Greek word </a:t>
            </a:r>
            <a:r>
              <a:rPr lang="en-US" sz="1900" dirty="0" err="1"/>
              <a:t>kryptos</a:t>
            </a:r>
            <a:r>
              <a:rPr lang="en-US" sz="1900" dirty="0"/>
              <a:t>, which means hidden.</a:t>
            </a:r>
          </a:p>
          <a:p>
            <a:pPr algn="just">
              <a:spcBef>
                <a:spcPts val="1400"/>
              </a:spcBef>
            </a:pPr>
            <a:r>
              <a:rPr lang="en-US" sz="1900" dirty="0"/>
              <a:t> Confidentiality may be achieved through cryptography.</a:t>
            </a: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pPr marL="400032" indent="-400032">
              <a:defRPr/>
            </a:pPr>
            <a:r>
              <a:rPr lang="en-US" sz="3700" b="1" dirty="0">
                <a:latin typeface="Cambria" pitchFamily="18" charset="0"/>
                <a:ea typeface="Verdana" pitchFamily="34" charset="0"/>
                <a:cs typeface="Verdana" pitchFamily="34" charset="0"/>
              </a:rPr>
              <a:t>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029883"/>
            <a:ext cx="11429805" cy="1725401"/>
          </a:xfrm>
        </p:spPr>
        <p:txBody>
          <a:bodyPr/>
          <a:lstStyle/>
          <a:p>
            <a:pPr algn="just">
              <a:spcBef>
                <a:spcPts val="1400"/>
              </a:spcBef>
            </a:pPr>
            <a:r>
              <a:rPr lang="en-US" sz="1900" dirty="0"/>
              <a:t>The message exchange using cryptography involves the following steps</a:t>
            </a:r>
          </a:p>
          <a:p>
            <a:r>
              <a:rPr lang="en-US" sz="1900" b="1" dirty="0"/>
              <a:t>Step 1:</a:t>
            </a:r>
          </a:p>
          <a:p>
            <a:pPr>
              <a:buNone/>
            </a:pPr>
            <a:r>
              <a:rPr lang="en-US" sz="1900" dirty="0"/>
              <a:t>	At sender side, Using an encryption algorithm, the message is converted into an unreadable form. The message in unreadable form is called as </a:t>
            </a:r>
            <a:r>
              <a:rPr lang="en-US" sz="1900" b="1" dirty="0"/>
              <a:t>cipher text</a:t>
            </a:r>
            <a:r>
              <a:rPr lang="en-US" sz="1900" dirty="0"/>
              <a:t>.</a:t>
            </a:r>
          </a:p>
          <a:p>
            <a:pPr algn="just">
              <a:spcBef>
                <a:spcPts val="1400"/>
              </a:spcBef>
            </a:pPr>
            <a:endParaRPr lang="en-US" sz="1900" dirty="0"/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07" y="4161262"/>
            <a:ext cx="8712884" cy="201576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74748" y="6597121"/>
            <a:ext cx="11429805" cy="71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7418" tIns="53710" rIns="107418" bIns="53710" numCol="1" anchor="t" anchorCtr="0" compatLnSpc="1">
            <a:prstTxWarp prst="textNoShape">
              <a:avLst/>
            </a:prstTxWarp>
          </a:bodyPr>
          <a:lstStyle/>
          <a:p>
            <a:pPr marL="400032" indent="-400032" algn="just" fontAlgn="base">
              <a:spcBef>
                <a:spcPts val="14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dirty="0"/>
              <a:t>cipher text - the coded message </a:t>
            </a: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pPr marL="400032" indent="-400032">
              <a:defRPr/>
            </a:pPr>
            <a:r>
              <a:rPr lang="en-US" sz="3700" b="1" dirty="0">
                <a:latin typeface="Cambria" pitchFamily="18" charset="0"/>
                <a:ea typeface="Verdana" pitchFamily="34" charset="0"/>
                <a:cs typeface="Verdana" pitchFamily="34" charset="0"/>
              </a:rPr>
              <a:t>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029883"/>
            <a:ext cx="11429805" cy="1725401"/>
          </a:xfrm>
        </p:spPr>
        <p:txBody>
          <a:bodyPr/>
          <a:lstStyle/>
          <a:p>
            <a:r>
              <a:rPr lang="en-US" sz="1900" b="1" dirty="0"/>
              <a:t>Step 2:</a:t>
            </a:r>
          </a:p>
          <a:p>
            <a:pPr>
              <a:buNone/>
            </a:pPr>
            <a:r>
              <a:rPr lang="en-US" sz="1900" dirty="0"/>
              <a:t>	The cipher text is sent to the receiver over the communication channel. Since the message is encrypted, the attackers can not read the message.</a:t>
            </a:r>
          </a:p>
          <a:p>
            <a:pPr>
              <a:buNone/>
            </a:pPr>
            <a:endParaRPr lang="en-US" sz="1900" dirty="0"/>
          </a:p>
          <a:p>
            <a:pPr algn="just">
              <a:spcBef>
                <a:spcPts val="1400"/>
              </a:spcBef>
            </a:pPr>
            <a:endParaRPr lang="en-US" sz="1900" dirty="0"/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07" y="4161262"/>
            <a:ext cx="8712884" cy="20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pPr marL="400032" indent="-400032">
              <a:defRPr/>
            </a:pPr>
            <a:r>
              <a:rPr lang="en-US" sz="3700" b="1" dirty="0">
                <a:latin typeface="Cambria" pitchFamily="18" charset="0"/>
                <a:ea typeface="Verdana" pitchFamily="34" charset="0"/>
                <a:cs typeface="Verdana" pitchFamily="34" charset="0"/>
              </a:rPr>
              <a:t>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232871"/>
            <a:ext cx="11429805" cy="1522413"/>
          </a:xfrm>
        </p:spPr>
        <p:txBody>
          <a:bodyPr/>
          <a:lstStyle/>
          <a:p>
            <a:r>
              <a:rPr lang="en-US" sz="1900" b="1" dirty="0"/>
              <a:t>Step 3:</a:t>
            </a:r>
          </a:p>
          <a:p>
            <a:pPr>
              <a:buNone/>
            </a:pPr>
            <a:r>
              <a:rPr lang="en-US" sz="1900" dirty="0"/>
              <a:t>	At receiver side, Using a decryption algorithm, the message is again converted into the readable form. Then, receiver can read the message.</a:t>
            </a:r>
          </a:p>
          <a:p>
            <a:pPr>
              <a:buNone/>
            </a:pPr>
            <a:endParaRPr lang="en-US" sz="1900" dirty="0"/>
          </a:p>
          <a:p>
            <a:pPr algn="just">
              <a:spcBef>
                <a:spcPts val="1400"/>
              </a:spcBef>
            </a:pPr>
            <a:endParaRPr lang="en-US" sz="1900" dirty="0"/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07" y="4161262"/>
            <a:ext cx="8712884" cy="201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Cryptography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537354"/>
            <a:ext cx="11429805" cy="2232872"/>
          </a:xfrm>
        </p:spPr>
        <p:txBody>
          <a:bodyPr/>
          <a:lstStyle/>
          <a:p>
            <a:r>
              <a:rPr lang="en-US" sz="1900" dirty="0"/>
              <a:t>Cryptography techniques may be classified as:</a:t>
            </a:r>
          </a:p>
          <a:p>
            <a:pPr marL="994600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Symmetric Key Cryptography</a:t>
            </a:r>
          </a:p>
          <a:p>
            <a:pPr marL="994600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Asymmetric Key Cryptography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044825"/>
            <a:ext cx="11429805" cy="3044825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b="1" dirty="0"/>
              <a:t>Symmetric Key Cryptography:</a:t>
            </a:r>
          </a:p>
          <a:p>
            <a:pPr marL="800125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Both sender and receiver uses a common key to encrypt and decrypt the message.</a:t>
            </a:r>
          </a:p>
          <a:p>
            <a:pPr marL="800125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This secret key is known only to the sender and to the receiver.</a:t>
            </a:r>
          </a:p>
          <a:p>
            <a:pPr marL="800125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It is also called as </a:t>
            </a:r>
            <a:r>
              <a:rPr lang="en-US" sz="1900" b="1" dirty="0"/>
              <a:t>secret key cryptography</a:t>
            </a:r>
            <a:r>
              <a:rPr lang="en-US" sz="1900" dirty="0"/>
              <a:t>.</a:t>
            </a:r>
          </a:p>
          <a:p>
            <a:pPr>
              <a:spcBef>
                <a:spcPts val="1400"/>
              </a:spcBef>
              <a:buNone/>
            </a:pPr>
            <a:endParaRPr lang="en-US" sz="1900" b="1" dirty="0"/>
          </a:p>
          <a:p>
            <a:pPr>
              <a:spcBef>
                <a:spcPts val="1400"/>
              </a:spcBef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232871"/>
            <a:ext cx="11429805" cy="913448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The message exchange using symmetric key cryptography: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401" y="2131377"/>
            <a:ext cx="5433842" cy="4668732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87376" y="3146319"/>
            <a:ext cx="6370711" cy="4364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7418" tIns="53710" rIns="107418" bIns="53710" numCol="1" anchor="t" anchorCtr="0" compatLnSpc="1">
            <a:prstTxWarp prst="textNoShape">
              <a:avLst/>
            </a:prstTxWarp>
          </a:bodyPr>
          <a:lstStyle/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Before starting the communication, sender   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and receiver shares the secret key. </a:t>
            </a:r>
          </a:p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This secret key is shared through some  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external means. </a:t>
            </a:r>
          </a:p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At sender side, sender encrypts the message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using his copy of the key. </a:t>
            </a:r>
          </a:p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The cipher text is then sent to the receiver   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over the communication channel. </a:t>
            </a:r>
          </a:p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At receiver side, receiver decrypts the cipher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text using his copy of the key. </a:t>
            </a:r>
          </a:p>
          <a:p>
            <a:pPr algn="just" fontAlgn="base"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After decryption, the message converts back   </a:t>
            </a:r>
          </a:p>
          <a:p>
            <a:pPr algn="just" fontAlgn="base">
              <a:buClr>
                <a:schemeClr val="tx2"/>
              </a:buClr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into readable format.</a:t>
            </a: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232871"/>
            <a:ext cx="11429805" cy="913448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Symmetric Encryption Algorithms:</a:t>
            </a:r>
          </a:p>
          <a:p>
            <a:pPr marL="924219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 Data Encryption Standard (DES)[56 bits]</a:t>
            </a:r>
          </a:p>
          <a:p>
            <a:pPr marL="924219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 3 Data Encryption Standard (DES)[156 Bits]</a:t>
            </a:r>
          </a:p>
          <a:p>
            <a:pPr marL="924219" indent="-398211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 Advanced Encryption Standard (AES)[128 bits,192 bits,256 bits]</a:t>
            </a:r>
          </a:p>
          <a:p>
            <a:pPr marL="526009" indent="0">
              <a:spcBef>
                <a:spcPts val="1400"/>
              </a:spcBef>
              <a:buClr>
                <a:schemeClr val="tx2"/>
              </a:buClr>
              <a:buSzPct val="100000"/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xmlns="" val="371692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2232871"/>
            <a:ext cx="11429805" cy="913448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 </a:t>
            </a:r>
            <a:r>
              <a:rPr lang="en-US" sz="1900" b="1" dirty="0"/>
              <a:t>Issues of symmetric key cryptography:</a:t>
            </a:r>
          </a:p>
          <a:p>
            <a:pPr marL="398211" indent="72233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 Sharing the secret key between the sender and receiver is an important issue.</a:t>
            </a:r>
          </a:p>
          <a:p>
            <a:pPr marL="398211" indent="72233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 While sharing the key, attackers might intrude.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327" y="4262756"/>
            <a:ext cx="7026519" cy="395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044825"/>
            <a:ext cx="11429805" cy="3856778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To overcome this disadvantage, </a:t>
            </a:r>
            <a:r>
              <a:rPr lang="en-US" sz="1900" b="1" dirty="0" err="1">
                <a:solidFill>
                  <a:schemeClr val="accent1"/>
                </a:solidFill>
              </a:rPr>
              <a:t>Diffie</a:t>
            </a:r>
            <a:r>
              <a:rPr lang="en-US" sz="1900" b="1" dirty="0">
                <a:solidFill>
                  <a:schemeClr val="accent1"/>
                </a:solidFill>
              </a:rPr>
              <a:t> Hellman Key </a:t>
            </a:r>
            <a:r>
              <a:rPr lang="en-US" sz="1900" dirty="0"/>
              <a:t>Exchange Algorithm is used for exchanging the secret key.</a:t>
            </a:r>
          </a:p>
          <a:p>
            <a:pPr>
              <a:spcBef>
                <a:spcPts val="1400"/>
              </a:spcBef>
            </a:pPr>
            <a:r>
              <a:rPr lang="en-US" sz="1900" dirty="0"/>
              <a:t> </a:t>
            </a:r>
            <a:r>
              <a:rPr lang="en-US" b="1" dirty="0"/>
              <a:t>Advantages: </a:t>
            </a:r>
            <a:r>
              <a:rPr lang="en-US" sz="1900" dirty="0"/>
              <a:t>The advantages of symmetric key algorithms are</a:t>
            </a:r>
          </a:p>
          <a:p>
            <a:pPr marL="398211" indent="198179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They are efficient.</a:t>
            </a:r>
          </a:p>
          <a:p>
            <a:pPr marL="398211" indent="198179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They take less time to encrypt and decrypt the message.</a:t>
            </a:r>
          </a:p>
          <a:p>
            <a:pPr marL="68531" indent="329680">
              <a:spcBef>
                <a:spcPts val="1400"/>
              </a:spcBef>
              <a:buSzPct val="200000"/>
              <a:buFont typeface="Arial" pitchFamily="34" charset="0"/>
              <a:buChar char="•"/>
            </a:pPr>
            <a:r>
              <a:rPr lang="en-US" sz="1900" b="1" dirty="0"/>
              <a:t>Disadvantages:</a:t>
            </a:r>
          </a:p>
          <a:p>
            <a:pPr marL="401916" indent="0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b="1" dirty="0"/>
              <a:t> </a:t>
            </a:r>
            <a:r>
              <a:rPr lang="en-US" sz="1900" dirty="0"/>
              <a:t>The number of keys required is very large.</a:t>
            </a: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044825"/>
            <a:ext cx="11429805" cy="1217930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Keys required in </a:t>
            </a:r>
            <a:r>
              <a:rPr lang="en-US" sz="1900" b="1" dirty="0"/>
              <a:t>Symmetric Key Cryptography:</a:t>
            </a:r>
          </a:p>
          <a:p>
            <a:pPr marL="398211" indent="370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b="1" dirty="0"/>
              <a:t> </a:t>
            </a:r>
            <a:r>
              <a:rPr lang="en-US" sz="1900" dirty="0"/>
              <a:t>In case of symmetric key algorithm, each pair of users require a unique common          secret key.</a:t>
            </a:r>
          </a:p>
          <a:p>
            <a:pPr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US" sz="1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95468" y="5683676"/>
            <a:ext cx="4215912" cy="11165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22363" y="5116982"/>
            <a:ext cx="562122" cy="4599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3791" y="6800268"/>
            <a:ext cx="1014131" cy="379319"/>
          </a:xfrm>
          <a:prstGeom prst="rect">
            <a:avLst/>
          </a:prstGeom>
          <a:noFill/>
        </p:spPr>
        <p:txBody>
          <a:bodyPr wrap="square" lIns="106683" tIns="53343" rIns="106683" bIns="53343" rtlCol="0">
            <a:spAutoFit/>
          </a:bodyPr>
          <a:lstStyle/>
          <a:p>
            <a:r>
              <a:rPr lang="en-US" sz="1700" b="1" dirty="0"/>
              <a:t>User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7249" y="6798283"/>
            <a:ext cx="1014131" cy="379319"/>
          </a:xfrm>
          <a:prstGeom prst="rect">
            <a:avLst/>
          </a:prstGeom>
          <a:noFill/>
        </p:spPr>
        <p:txBody>
          <a:bodyPr wrap="square" lIns="106683" tIns="53343" rIns="106683" bIns="53343" rtlCol="0">
            <a:spAutoFit/>
          </a:bodyPr>
          <a:lstStyle/>
          <a:p>
            <a:r>
              <a:rPr lang="en-US" sz="1700" b="1" dirty="0"/>
              <a:t>User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8033" y="5785172"/>
            <a:ext cx="1592678" cy="400116"/>
          </a:xfrm>
          <a:prstGeom prst="rect">
            <a:avLst/>
          </a:prstGeom>
          <a:noFill/>
        </p:spPr>
        <p:txBody>
          <a:bodyPr wrap="square" lIns="106683" tIns="53343" rIns="106683" bIns="53343" rtlCol="0">
            <a:spAutoFit/>
          </a:bodyPr>
          <a:lstStyle/>
          <a:p>
            <a:r>
              <a:rPr lang="en-US" dirty="0"/>
              <a:t>Cipher </a:t>
            </a:r>
            <a:r>
              <a:rPr lang="en-US" dirty="0" err="1"/>
              <a:t>tex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061114" y="6030494"/>
            <a:ext cx="1328042" cy="400116"/>
          </a:xfrm>
          <a:prstGeom prst="rect">
            <a:avLst/>
          </a:prstGeom>
          <a:noFill/>
        </p:spPr>
        <p:txBody>
          <a:bodyPr wrap="square" lIns="106683" tIns="53343" rIns="106683" bIns="53343" rtlCol="0">
            <a:spAutoFit/>
          </a:bodyPr>
          <a:lstStyle/>
          <a:p>
            <a:r>
              <a:rPr lang="en-US" dirty="0"/>
              <a:t>Plain text</a:t>
            </a:r>
          </a:p>
        </p:txBody>
      </p:sp>
    </p:spTree>
    <p:extLst>
      <p:ext uri="{BB962C8B-B14F-4D97-AF65-F5344CB8AC3E}">
        <p14:creationId xmlns:p14="http://schemas.microsoft.com/office/powerpoint/2010/main" xmlns="" val="3884146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044825"/>
            <a:ext cx="11429805" cy="1217930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Keys required in </a:t>
            </a:r>
            <a:r>
              <a:rPr lang="en-US" sz="1900" b="1" dirty="0"/>
              <a:t>Symmetric Key Cryptography:</a:t>
            </a:r>
          </a:p>
          <a:p>
            <a:pPr marL="398211" indent="72233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b="1" dirty="0"/>
              <a:t> </a:t>
            </a:r>
            <a:r>
              <a:rPr lang="en-US" sz="1900" dirty="0"/>
              <a:t>If 3 people in the world wants to use this technique, then there needs to be 3 secret keys.</a:t>
            </a:r>
          </a:p>
          <a:p>
            <a:pPr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US" sz="19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653791" y="4154673"/>
            <a:ext cx="4778034" cy="315935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65408" y="5271283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45461" y="5271283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42810" y="6597127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55404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3" y="3044825"/>
            <a:ext cx="11429805" cy="1217930"/>
          </a:xfrm>
        </p:spPr>
        <p:txBody>
          <a:bodyPr/>
          <a:lstStyle/>
          <a:p>
            <a:pPr>
              <a:spcBef>
                <a:spcPts val="1400"/>
              </a:spcBef>
            </a:pPr>
            <a:r>
              <a:rPr lang="en-US" sz="1900" dirty="0"/>
              <a:t>Keys required in </a:t>
            </a:r>
            <a:r>
              <a:rPr lang="en-US" sz="1900" b="1" dirty="0"/>
              <a:t>Symmetric Key Cryptography:</a:t>
            </a:r>
          </a:p>
          <a:p>
            <a:pPr marL="398211" indent="72233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b="1" dirty="0"/>
              <a:t> </a:t>
            </a:r>
            <a:r>
              <a:rPr lang="en-US" sz="1900" dirty="0"/>
              <a:t>If 4 people in the world wants to use this technique, then there needs to be 6 secret keys.</a:t>
            </a:r>
          </a:p>
          <a:p>
            <a:pPr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US" sz="1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747482" y="4059768"/>
            <a:ext cx="4310200" cy="3920760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215915" y="5557083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21518" y="4119894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4905" y="7307586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307583" y="5760072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73608" y="5297002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1858" y="6223139"/>
            <a:ext cx="562122" cy="463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881532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sz="3700" b="1" dirty="0"/>
              <a:t>Symmetric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748" y="2435860"/>
            <a:ext cx="11429805" cy="4973214"/>
          </a:xfrm>
        </p:spPr>
        <p:txBody>
          <a:bodyPr/>
          <a:lstStyle/>
          <a:p>
            <a:pPr algn="just">
              <a:spcBef>
                <a:spcPts val="1400"/>
              </a:spcBef>
            </a:pPr>
            <a:r>
              <a:rPr lang="en-US" sz="1900" dirty="0"/>
              <a:t>Keys required in </a:t>
            </a:r>
            <a:r>
              <a:rPr lang="en-US" sz="1900" b="1" dirty="0"/>
              <a:t>Symmetric Key Cryptography:</a:t>
            </a:r>
          </a:p>
          <a:p>
            <a:pPr marL="398211" indent="72233" algn="just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b="1" dirty="0"/>
              <a:t> </a:t>
            </a:r>
            <a:r>
              <a:rPr lang="en-US" sz="1900" dirty="0"/>
              <a:t>If N people in the world wants to use this technique, then there needs to be  	N(N-1) / 2 secret keys.</a:t>
            </a:r>
          </a:p>
          <a:p>
            <a:pPr marL="333385" indent="-333385" algn="just">
              <a:spcBef>
                <a:spcPts val="1400"/>
              </a:spcBef>
              <a:buSzPct val="200000"/>
              <a:buFont typeface="Arial" pitchFamily="34" charset="0"/>
              <a:buChar char="•"/>
            </a:pPr>
            <a:r>
              <a:rPr lang="en-US" sz="1900" b="1" dirty="0"/>
              <a:t>How N(N-1)/2 Keys Will Be Required?</a:t>
            </a:r>
          </a:p>
          <a:p>
            <a:pPr marL="333385" indent="33153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Consider a complete graph with N nodes. </a:t>
            </a:r>
          </a:p>
          <a:p>
            <a:pPr marL="333385" indent="33153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Consider each node represents one person.</a:t>
            </a:r>
          </a:p>
          <a:p>
            <a:pPr marL="333385" indent="33153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Then, each person will require (N-1) keys to communicate with other (N-1) people.</a:t>
            </a:r>
          </a:p>
          <a:p>
            <a:pPr marL="333385" indent="33153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Thus, each edge must have a unique key for communication.</a:t>
            </a:r>
          </a:p>
          <a:p>
            <a:pPr marL="333385" indent="331534">
              <a:spcBef>
                <a:spcPts val="1400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1900" dirty="0"/>
              <a:t>Thus, Number of keys required = Number of edges = </a:t>
            </a:r>
            <a:r>
              <a:rPr lang="en-US" sz="1900" baseline="30000" dirty="0"/>
              <a:t>n</a:t>
            </a:r>
            <a:r>
              <a:rPr lang="en-US" sz="1900" dirty="0"/>
              <a:t>C</a:t>
            </a:r>
            <a:r>
              <a:rPr lang="en-US" sz="1900" baseline="-25000" dirty="0"/>
              <a:t>2</a:t>
            </a:r>
            <a:r>
              <a:rPr lang="en-US" sz="1900" dirty="0"/>
              <a:t> = n(n-1)/2.</a:t>
            </a:r>
          </a:p>
          <a:p>
            <a:pPr marL="333385" indent="0" algn="just">
              <a:spcBef>
                <a:spcPts val="1400"/>
              </a:spcBef>
              <a:buSzPct val="200000"/>
              <a:buNone/>
            </a:pPr>
            <a:endParaRPr lang="en-US" sz="1900" dirty="0"/>
          </a:p>
          <a:p>
            <a:pPr marL="0" indent="0" algn="just">
              <a:spcBef>
                <a:spcPts val="1400"/>
              </a:spcBef>
              <a:buClr>
                <a:schemeClr val="tx2"/>
              </a:buClr>
              <a:buSzPct val="100000"/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xmlns="" val="1931803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5"/>
          <p:cNvSpPr>
            <a:spLocks noChangeShapeType="1"/>
          </p:cNvSpPr>
          <p:nvPr/>
        </p:nvSpPr>
        <p:spPr bwMode="auto">
          <a:xfrm>
            <a:off x="202988" y="8322522"/>
            <a:ext cx="1167182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 lIns="133413" tIns="66705" rIns="133413" bIns="66705"/>
          <a:lstStyle/>
          <a:p>
            <a:endParaRPr lang="en-US"/>
          </a:p>
        </p:txBody>
      </p:sp>
      <p:sp>
        <p:nvSpPr>
          <p:cNvPr id="3075" name="TextBox 8"/>
          <p:cNvSpPr txBox="1">
            <a:spLocks noChangeArrowheads="1"/>
          </p:cNvSpPr>
          <p:nvPr/>
        </p:nvSpPr>
        <p:spPr bwMode="auto">
          <a:xfrm>
            <a:off x="655808" y="3755285"/>
            <a:ext cx="11055057" cy="1588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33413" tIns="66705" rIns="133413" bIns="66705">
            <a:spAutoFit/>
          </a:bodyPr>
          <a:lstStyle/>
          <a:p>
            <a:pPr marL="435930" indent="-435930" algn="ctr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defRPr/>
            </a:pPr>
            <a:r>
              <a:rPr lang="en-US" sz="4100" b="1" dirty="0">
                <a:solidFill>
                  <a:srgbClr val="002060"/>
                </a:solidFill>
                <a:latin typeface="Cambria" pitchFamily="18" charset="0"/>
                <a:ea typeface="Verdana" pitchFamily="34" charset="0"/>
                <a:cs typeface="Verdana" pitchFamily="34" charset="0"/>
              </a:rPr>
              <a:t>Asymmetric Cryptography</a:t>
            </a:r>
          </a:p>
          <a:p>
            <a:pPr marL="435930" indent="-435930" algn="ctr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defRPr/>
            </a:pPr>
            <a:endParaRPr lang="en-US" sz="4100" b="1" dirty="0">
              <a:solidFill>
                <a:srgbClr val="002060"/>
              </a:solidFill>
              <a:latin typeface="Cambria" pitchFamily="18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826895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b="1" dirty="0"/>
              <a:t>Asymmetric Key Cryptography:</a:t>
            </a:r>
            <a:r>
              <a:rPr lang="en-US" sz="2000" dirty="0"/>
              <a:t>. </a:t>
            </a:r>
          </a:p>
          <a:p>
            <a:pPr marL="871926" indent="-433945">
              <a:spcBef>
                <a:spcPts val="1526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 Sender and receiver use two different keys to encrypt and decrypt the message.</a:t>
            </a:r>
          </a:p>
          <a:p>
            <a:pPr marL="871926" indent="-433945">
              <a:spcBef>
                <a:spcPts val="1526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Each user use public and private key in order to encrypt and decrypt the message.</a:t>
            </a:r>
          </a:p>
          <a:p>
            <a:pPr marL="871926" indent="-433945">
              <a:spcBef>
                <a:spcPts val="1526"/>
              </a:spcBef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en-US" sz="2000" dirty="0"/>
          </a:p>
          <a:p>
            <a:pPr>
              <a:spcBef>
                <a:spcPts val="1526"/>
              </a:spcBef>
              <a:buNone/>
            </a:pPr>
            <a:endParaRPr lang="en-US" sz="2000" b="1" dirty="0"/>
          </a:p>
          <a:p>
            <a:pPr>
              <a:spcBef>
                <a:spcPts val="1526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217930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dirty="0"/>
              <a:t>Let there are sender and receiver, sender want to send the message over unsecure channel using asymmetric key cryptography.</a:t>
            </a:r>
          </a:p>
        </p:txBody>
      </p:sp>
      <p:pic>
        <p:nvPicPr>
          <p:cNvPr id="4" name="Picture 3" descr="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659" y="3349307"/>
            <a:ext cx="6839145" cy="4059767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434" y="4262755"/>
            <a:ext cx="4028538" cy="25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7058" tIns="58530" rIns="117058" bIns="58530" numCol="1" anchor="t" anchorCtr="0" compatLnSpc="1">
            <a:prstTxWarp prst="textNoShape">
              <a:avLst/>
            </a:prstTxWarp>
          </a:bodyPr>
          <a:lstStyle/>
          <a:p>
            <a:pPr marL="435930" indent="-435930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Using sender public key</a:t>
            </a:r>
          </a:p>
          <a:p>
            <a:pPr marL="435930" indent="-435930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Using sender private key</a:t>
            </a:r>
          </a:p>
          <a:p>
            <a:pPr marL="435930" indent="-435930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Using receiver private key</a:t>
            </a:r>
          </a:p>
          <a:p>
            <a:pPr marL="435930" indent="-435930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Using receiver public key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420918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b="1" dirty="0"/>
              <a:t>Using sender public key: </a:t>
            </a:r>
            <a:r>
              <a:rPr lang="en-US" sz="2000" dirty="0"/>
              <a:t>Sender encrypt the message using it’s public key and receiver require private key of the sender to decrypt the message. </a:t>
            </a:r>
          </a:p>
          <a:p>
            <a:pPr>
              <a:spcBef>
                <a:spcPts val="1526"/>
              </a:spcBef>
            </a:pPr>
            <a:r>
              <a:rPr lang="en-US" sz="2000" i="1" dirty="0"/>
              <a:t>[Sender not encrypt the msg with sender public key]</a:t>
            </a:r>
          </a:p>
          <a:p>
            <a:pPr>
              <a:spcBef>
                <a:spcPts val="1526"/>
              </a:spcBef>
              <a:buNone/>
            </a:pPr>
            <a:endParaRPr lang="en-US" sz="2000" dirty="0"/>
          </a:p>
        </p:txBody>
      </p:sp>
      <p:pic>
        <p:nvPicPr>
          <p:cNvPr id="6" name="Picture 5" descr="Using sender public 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64" y="3450801"/>
            <a:ext cx="8993945" cy="498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420918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b="1" dirty="0"/>
              <a:t>Using sender private key: </a:t>
            </a:r>
            <a:r>
              <a:rPr lang="en-US" sz="2000" dirty="0"/>
              <a:t>Sender encrypt the message using it’s private key and receiver require public key of the sender to decrypt the message. </a:t>
            </a:r>
          </a:p>
          <a:p>
            <a:pPr>
              <a:spcBef>
                <a:spcPts val="1526"/>
              </a:spcBef>
            </a:pPr>
            <a:r>
              <a:rPr lang="en-US" sz="2000" dirty="0"/>
              <a:t> </a:t>
            </a:r>
            <a:r>
              <a:rPr lang="en-US" sz="2000" i="1" dirty="0"/>
              <a:t>[Sender not encrypt the msg with sender private key]</a:t>
            </a:r>
          </a:p>
          <a:p>
            <a:pPr>
              <a:spcBef>
                <a:spcPts val="1526"/>
              </a:spcBef>
            </a:pPr>
            <a:endParaRPr lang="en-US" sz="2000" dirty="0"/>
          </a:p>
          <a:p>
            <a:pPr>
              <a:spcBef>
                <a:spcPts val="1526"/>
              </a:spcBef>
              <a:buNone/>
            </a:pPr>
            <a:endParaRPr lang="en-US" sz="2000" dirty="0"/>
          </a:p>
        </p:txBody>
      </p:sp>
      <p:pic>
        <p:nvPicPr>
          <p:cNvPr id="5" name="Picture 4" descr="Using sender private 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677" y="3552296"/>
            <a:ext cx="8993945" cy="517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420918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b="1" dirty="0"/>
              <a:t>Using receiver private key: </a:t>
            </a:r>
            <a:r>
              <a:rPr lang="en-US" sz="2000" dirty="0"/>
              <a:t>Sender encrypt the message using receiver’s private key and receiver require public key of the receiver to decrypt the message. </a:t>
            </a:r>
          </a:p>
          <a:p>
            <a:pPr>
              <a:spcBef>
                <a:spcPts val="1526"/>
              </a:spcBef>
            </a:pPr>
            <a:r>
              <a:rPr lang="en-US" sz="2000" dirty="0"/>
              <a:t> </a:t>
            </a:r>
            <a:r>
              <a:rPr lang="en-US" sz="2000" i="1" dirty="0"/>
              <a:t>[Receiver will not share its private key to sender ]</a:t>
            </a:r>
          </a:p>
          <a:p>
            <a:pPr>
              <a:spcBef>
                <a:spcPts val="1526"/>
              </a:spcBef>
            </a:pPr>
            <a:endParaRPr lang="en-US" sz="2000" dirty="0"/>
          </a:p>
          <a:p>
            <a:pPr>
              <a:spcBef>
                <a:spcPts val="1526"/>
              </a:spcBef>
              <a:buNone/>
            </a:pPr>
            <a:endParaRPr lang="en-US" sz="2000" dirty="0"/>
          </a:p>
        </p:txBody>
      </p:sp>
      <p:pic>
        <p:nvPicPr>
          <p:cNvPr id="6" name="Picture 5" descr="Using receiver private 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3758760"/>
            <a:ext cx="9368692" cy="50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34" y="2131378"/>
            <a:ext cx="11429805" cy="1420918"/>
          </a:xfrm>
        </p:spPr>
        <p:txBody>
          <a:bodyPr/>
          <a:lstStyle/>
          <a:p>
            <a:pPr>
              <a:spcBef>
                <a:spcPts val="1526"/>
              </a:spcBef>
            </a:pPr>
            <a:r>
              <a:rPr lang="en-US" sz="2000" b="1" dirty="0"/>
              <a:t>Using receiver public key: </a:t>
            </a:r>
            <a:r>
              <a:rPr lang="en-US" sz="2000" dirty="0"/>
              <a:t>Sender encrypt the message using receiver’s public key and receiver require private key of the receiver to decrypt the message.</a:t>
            </a:r>
          </a:p>
          <a:p>
            <a:pPr>
              <a:spcBef>
                <a:spcPts val="1526"/>
              </a:spcBef>
            </a:pPr>
            <a:r>
              <a:rPr lang="en-US" sz="2000" dirty="0"/>
              <a:t> </a:t>
            </a:r>
            <a:r>
              <a:rPr lang="en-US" sz="2000" i="1" dirty="0"/>
              <a:t>[Valid case]</a:t>
            </a:r>
          </a:p>
          <a:p>
            <a:pPr marL="0" indent="0">
              <a:spcBef>
                <a:spcPts val="1526"/>
              </a:spcBef>
              <a:buNone/>
            </a:pPr>
            <a:r>
              <a:rPr lang="en-US" sz="2000" dirty="0"/>
              <a:t> </a:t>
            </a:r>
          </a:p>
          <a:p>
            <a:pPr>
              <a:spcBef>
                <a:spcPts val="1526"/>
              </a:spcBef>
              <a:buNone/>
            </a:pPr>
            <a:endParaRPr lang="en-US" sz="2000" dirty="0"/>
          </a:p>
        </p:txBody>
      </p:sp>
      <p:pic>
        <p:nvPicPr>
          <p:cNvPr id="5" name="Picture 4" descr="Using receiver public 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3755285"/>
            <a:ext cx="9743440" cy="497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434" y="2537354"/>
            <a:ext cx="11523492" cy="3552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7058" tIns="58530" rIns="117058" bIns="58530" numCol="1" anchor="t" anchorCtr="0" compatLnSpc="1">
            <a:prstTxWarp prst="textNoShape">
              <a:avLst/>
            </a:prstTxWarp>
          </a:bodyPr>
          <a:lstStyle/>
          <a:p>
            <a:pPr marL="435930" indent="-435930"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3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Advantages: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It is more robust. 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It is less susceptible to third-party security breach attempts.</a:t>
            </a:r>
          </a:p>
          <a:p>
            <a:pPr fontAlgn="base">
              <a:spcBef>
                <a:spcPts val="1526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3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Disadvantages:</a:t>
            </a:r>
          </a:p>
          <a:p>
            <a:pPr marL="724587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It involves high computational requirements. </a:t>
            </a:r>
          </a:p>
          <a:p>
            <a:pPr marL="724587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It is slower than symmetric key cryptography.</a:t>
            </a:r>
          </a:p>
          <a:p>
            <a:pPr fontAlgn="base">
              <a:spcBef>
                <a:spcPts val="1526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endParaRPr lang="en-US" b="1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434" y="2537354"/>
            <a:ext cx="11523492" cy="2029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7058" tIns="58530" rIns="117058" bIns="58530" numCol="1" anchor="t" anchorCtr="0" compatLnSpc="1">
            <a:prstTxWarp prst="textNoShape">
              <a:avLst/>
            </a:prstTxWarp>
          </a:bodyPr>
          <a:lstStyle/>
          <a:p>
            <a:pPr marL="435930" indent="-435930"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3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Number of Keys Required:</a:t>
            </a: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Each individual requires two keys- one public key and one private key.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For n individuals to communicate, number of keys required = 2 x n = 2n keys.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accent1"/>
              </a:buClr>
              <a:buSzPct val="200000"/>
            </a:pPr>
            <a:endParaRPr lang="en-US" b="1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Asymmetric Key or Public Key Cryptography</a:t>
            </a:r>
            <a:endParaRPr lang="en-US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434" y="2537354"/>
            <a:ext cx="11523492" cy="25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7058" tIns="58530" rIns="117058" bIns="58530" numCol="1" anchor="t" anchorCtr="0" compatLnSpc="1">
            <a:prstTxWarp prst="textNoShape">
              <a:avLst/>
            </a:prstTxWarp>
          </a:bodyPr>
          <a:lstStyle/>
          <a:p>
            <a:pPr marL="435930" indent="-435930"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3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Asymmetric Encryption Algorithms:</a:t>
            </a: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The famous asymmetric encryption algorithms are</a:t>
            </a:r>
          </a:p>
          <a:p>
            <a:pPr marL="950642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Ø"/>
              <a:tabLst>
                <a:tab pos="950642" algn="l"/>
              </a:tabLst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RSA Algorithm</a:t>
            </a:r>
          </a:p>
          <a:p>
            <a:pPr marL="950642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Ø"/>
              <a:tabLst>
                <a:tab pos="950642" algn="l"/>
              </a:tabLst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Diffie</a:t>
            </a: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-Hellman Key Exchange</a:t>
            </a:r>
          </a:p>
          <a:p>
            <a:pPr marL="649908" fontAlgn="base">
              <a:spcBef>
                <a:spcPts val="1526"/>
              </a:spcBef>
              <a:buClr>
                <a:schemeClr val="tx2"/>
              </a:buClr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649908" fontAlgn="base">
              <a:spcBef>
                <a:spcPts val="1526"/>
              </a:spcBef>
              <a:buClr>
                <a:schemeClr val="tx2"/>
              </a:buClr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accent1"/>
              </a:buClr>
              <a:buSzPct val="200000"/>
            </a:pPr>
            <a:endParaRPr lang="en-US" b="1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 fontAlgn="base">
              <a:spcBef>
                <a:spcPts val="1526"/>
              </a:spcBef>
              <a:buClr>
                <a:schemeClr val="tx2"/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0701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223837"/>
            <a:ext cx="10961370" cy="838200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RSA Algorithm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24FD5A5-5112-4A8B-A5A5-79DB0BEED4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8450" y="2433637"/>
            <a:ext cx="7488873" cy="381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BE37DE8-2E5E-4204-9FD5-CD895F40889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0850" y="6396037"/>
            <a:ext cx="77724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107348C-A1F0-4967-B356-46153255FB91}"/>
              </a:ext>
            </a:extLst>
          </p:cNvPr>
          <p:cNvSpPr txBox="1"/>
          <p:nvPr/>
        </p:nvSpPr>
        <p:spPr>
          <a:xfrm>
            <a:off x="6775450" y="1928543"/>
            <a:ext cx="5105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dirty="0">
                <a:solidFill>
                  <a:srgbClr val="0A0A0A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The </a:t>
            </a:r>
            <a:r>
              <a:rPr lang="en-IN" sz="1800" u="sng" dirty="0">
                <a:solidFill>
                  <a:srgbClr val="1A0DAB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RSA (Rivest-Shamir-Adleman) algorithm</a:t>
            </a:r>
            <a:r>
              <a:rPr lang="en-IN" sz="18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 is a asymmetric/public  cryptographic method, introduced in 1978, that uses a public key for encryption and a private key for decryption</a:t>
            </a:r>
            <a:r>
              <a:rPr lang="en-IN" sz="1800" u="sng" dirty="0">
                <a:solidFill>
                  <a:srgbClr val="0A0A0A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. </a:t>
            </a:r>
            <a:r>
              <a:rPr lang="en-IN" sz="18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IN" sz="1800" u="sng" dirty="0">
                <a:solidFill>
                  <a:srgbClr val="0000FF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800" dirty="0">
                <a:latin typeface="+mn-lt"/>
              </a:rPr>
              <a:t>                                     Ron Rivest,</a:t>
            </a:r>
          </a:p>
          <a:p>
            <a:pPr algn="just"/>
            <a:r>
              <a:rPr lang="en-US" sz="1800" dirty="0">
                <a:latin typeface="+mn-lt"/>
              </a:rPr>
              <a:t>                                    Adi Shamir </a:t>
            </a:r>
          </a:p>
          <a:p>
            <a:pPr algn="just"/>
            <a:r>
              <a:rPr lang="en-US" sz="1800" dirty="0">
                <a:latin typeface="+mn-lt"/>
              </a:rPr>
              <a:t>                                    Leonard Adleman</a:t>
            </a:r>
            <a:endParaRPr lang="en-IN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5894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Classical Encryption Techniques </a:t>
            </a:r>
            <a:endParaRPr lang="en-US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468434" y="2537354"/>
            <a:ext cx="11523492" cy="25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7058" tIns="58530" rIns="117058" bIns="58530" numCol="1" anchor="t" anchorCtr="0" compatLnSpc="1">
            <a:prstTxWarp prst="textNoShape">
              <a:avLst/>
            </a:prstTxWarp>
          </a:bodyPr>
          <a:lstStyle/>
          <a:p>
            <a:pPr marL="435930" indent="-435930"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There are two basic encryption techniques: </a:t>
            </a:r>
          </a:p>
          <a:p>
            <a:pPr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1. Substitution </a:t>
            </a:r>
          </a:p>
          <a:p>
            <a:pPr algn="just" fontAlgn="base">
              <a:spcBef>
                <a:spcPts val="1526"/>
              </a:spcBef>
              <a:spcAft>
                <a:spcPct val="0"/>
              </a:spcAft>
              <a:buClr>
                <a:schemeClr val="accent1"/>
              </a:buClr>
              <a:buSzPct val="75000"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       2. Transposition </a:t>
            </a:r>
            <a:endParaRPr lang="en-US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4FB1661-02EA-4C26-BF94-D5567F43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66" y="4338637"/>
            <a:ext cx="10204450" cy="253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03813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Caesar Cipher Encryption Techniques 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9304F4-0CBC-4FE2-89E0-F02A8740C33F}"/>
              </a:ext>
            </a:extLst>
          </p:cNvPr>
          <p:cNvSpPr txBox="1"/>
          <p:nvPr/>
        </p:nvSpPr>
        <p:spPr>
          <a:xfrm>
            <a:off x="608964" y="2586037"/>
            <a:ext cx="9366885" cy="1272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  <a:spcAft>
                <a:spcPts val="750"/>
              </a:spcAf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Caesar cipher is a simple encryption technique that was used by Julius Caesar to send secret messages to his allies. It works by shifting the letters in the plaintext message by a certain number of positions, known as the "shift" or "key". The Caesar Cipher technique is one of the earliest and simplest methods of encryption techniques.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7410C4F-50F6-4654-A7F9-341DBBE710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184650" y="4713741"/>
            <a:ext cx="3429000" cy="13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33840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SECURE HASH ALGORITHM (SHA)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9304F4-0CBC-4FE2-89E0-F02A8740C33F}"/>
              </a:ext>
            </a:extLst>
          </p:cNvPr>
          <p:cNvSpPr txBox="1"/>
          <p:nvPr/>
        </p:nvSpPr>
        <p:spPr>
          <a:xfrm>
            <a:off x="608964" y="2586037"/>
            <a:ext cx="10961370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recent years, the most widely used hash function has been the Secure Hash Algorithm (SHA). </a:t>
            </a:r>
          </a:p>
          <a:p>
            <a:pPr algn="just" rtl="0" fontAlgn="base">
              <a:lnSpc>
                <a:spcPct val="150000"/>
              </a:lnSpc>
            </a:pPr>
            <a:endParaRPr lang="en-US" sz="2000" dirty="0">
              <a:solidFill>
                <a:srgbClr val="273239"/>
              </a:solidFill>
              <a:latin typeface="Nunito" pitchFamily="2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• SHA was developed by the National Institute of Standards and Technology (NIST) and published as a federal information processing standard (FIPS 180) in 1993. When weaknesses were discovered in SHA, now known as SHA-0, a revised version was issued as FIPS 180-1 in 1995 and is referred to as SHA-1.  </a:t>
            </a:r>
          </a:p>
          <a:p>
            <a:pPr algn="just" rtl="0" fontAlgn="base">
              <a:lnSpc>
                <a:spcPct val="150000"/>
              </a:lnSpc>
            </a:pPr>
            <a:endParaRPr lang="en-US" sz="2000" dirty="0">
              <a:solidFill>
                <a:srgbClr val="273239"/>
              </a:solidFill>
              <a:latin typeface="Nunito" pitchFamily="2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• The actual standards document is entitled “Secure Hash Standard.” SHA is based on the hash function MD4, and its design closely models MD4. SHA-1 is also specified in RFC 3174, which essentially duplicates the material in FIPS 180-1 but adds a C code implementation.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7015335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SECURE HASH ALGORITHM (SHA)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9304F4-0CBC-4FE2-89E0-F02A8740C33F}"/>
              </a:ext>
            </a:extLst>
          </p:cNvPr>
          <p:cNvSpPr txBox="1"/>
          <p:nvPr/>
        </p:nvSpPr>
        <p:spPr>
          <a:xfrm>
            <a:off x="608964" y="2586037"/>
            <a:ext cx="1096137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SHA-1 produces a hash value of 160 bits. In 2002, NIST produced a revised version of the standard, FIPS 180-2, that defined three new versions of SHA, with hash value lengths of 256, 384, and 512 bits, known as SHA-256, SHA-384, and SHA-512, respectively. Collectively, these hash algorithms are known as SHA-2 </a:t>
            </a:r>
          </a:p>
          <a:p>
            <a:pPr algn="just" rtl="0" fontAlgn="base">
              <a:lnSpc>
                <a:spcPct val="15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• The algorithm takes as input a message with a maximum length of less than 2128 bits and produces as output a 512-bit message digest. The input is processed in 1024-bit blocks.  </a:t>
            </a:r>
          </a:p>
        </p:txBody>
      </p:sp>
    </p:spTree>
    <p:extLst>
      <p:ext uri="{BB962C8B-B14F-4D97-AF65-F5344CB8AC3E}">
        <p14:creationId xmlns:p14="http://schemas.microsoft.com/office/powerpoint/2010/main" xmlns="" val="1124922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SHA−512 (Secure Hash Algorithm 512-bit)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5DBADA0-1CF8-42CD-B7FD-4F6D31F1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065" y="2890836"/>
            <a:ext cx="7544385" cy="47152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EDAFD83-A1AA-4C3A-BD27-D3E8D70E25B1}"/>
              </a:ext>
            </a:extLst>
          </p:cNvPr>
          <p:cNvSpPr/>
          <p:nvPr/>
        </p:nvSpPr>
        <p:spPr bwMode="auto">
          <a:xfrm>
            <a:off x="3956050" y="7521053"/>
            <a:ext cx="304800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Hash Value =512 bit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A1F38A1-6E55-4A07-8334-5408F9A53DD6}"/>
              </a:ext>
            </a:extLst>
          </p:cNvPr>
          <p:cNvSpPr/>
          <p:nvPr/>
        </p:nvSpPr>
        <p:spPr bwMode="auto">
          <a:xfrm>
            <a:off x="4146257" y="5405437"/>
            <a:ext cx="304800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SHA 512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73603FB-132C-4D69-A751-4C3214F7C966}"/>
              </a:ext>
            </a:extLst>
          </p:cNvPr>
          <p:cNvSpPr/>
          <p:nvPr/>
        </p:nvSpPr>
        <p:spPr bwMode="auto">
          <a:xfrm>
            <a:off x="4166680" y="3204739"/>
            <a:ext cx="329457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Message </a:t>
            </a:r>
            <a:r>
              <a:rPr kumimoji="0" 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Lenght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8605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How SHA−512 generate 512 bit Digest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6E82C52-0155-4F11-BD63-5055A722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085950"/>
            <a:ext cx="8764223" cy="51632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BC4CDF5-1C78-4926-BCAA-0106B962A54B}"/>
              </a:ext>
            </a:extLst>
          </p:cNvPr>
          <p:cNvSpPr/>
          <p:nvPr/>
        </p:nvSpPr>
        <p:spPr bwMode="auto">
          <a:xfrm>
            <a:off x="5937250" y="3424237"/>
            <a:ext cx="304800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chemeClr val="tx1"/>
                </a:solidFill>
                <a:latin typeface="Courier New" pitchFamily="49" charset="0"/>
              </a:rPr>
              <a:t>24 bit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ADFBC64F-DE20-4F52-A152-3C0A47189C13}"/>
              </a:ext>
            </a:extLst>
          </p:cNvPr>
          <p:cNvCxnSpPr/>
          <p:nvPr/>
        </p:nvCxnSpPr>
        <p:spPr bwMode="auto">
          <a:xfrm flipH="1">
            <a:off x="4489450" y="4262437"/>
            <a:ext cx="990600" cy="1447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32EE6DEF-D435-4923-A7BB-89589F768690}"/>
              </a:ext>
            </a:extLst>
          </p:cNvPr>
          <p:cNvSpPr/>
          <p:nvPr/>
        </p:nvSpPr>
        <p:spPr bwMode="auto">
          <a:xfrm>
            <a:off x="4984750" y="5202369"/>
            <a:ext cx="304800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Add </a:t>
            </a:r>
            <a:r>
              <a:rPr lang="en-US" sz="2000" i="1" dirty="0">
                <a:solidFill>
                  <a:schemeClr val="tx1"/>
                </a:solidFill>
                <a:latin typeface="Courier New" pitchFamily="49" charset="0"/>
              </a:rPr>
              <a:t>1 or 0 pattern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EDDD3ED-B286-457D-8F64-4CF9C86F1C19}"/>
              </a:ext>
            </a:extLst>
          </p:cNvPr>
          <p:cNvSpPr/>
          <p:nvPr/>
        </p:nvSpPr>
        <p:spPr bwMode="auto">
          <a:xfrm>
            <a:off x="4961924" y="6096641"/>
            <a:ext cx="3048000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i="1" dirty="0">
                <a:solidFill>
                  <a:schemeClr val="tx1"/>
                </a:solidFill>
                <a:latin typeface="Courier New" pitchFamily="49" charset="0"/>
              </a:rPr>
              <a:t>N * 1024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9359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Padding Example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71572D8-03E4-4F1C-A70A-D4D864A049DA}"/>
              </a:ext>
            </a:extLst>
          </p:cNvPr>
          <p:cNvSpPr txBox="1"/>
          <p:nvPr/>
        </p:nvSpPr>
        <p:spPr>
          <a:xfrm>
            <a:off x="298450" y="2281237"/>
            <a:ext cx="109613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algorithm takes as input a message with a maximum length of less than 2^128 bits and produces as output a 512-bit message digest. The input is processed in 1024-bit blocks.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1141D96-880F-4B12-AF0B-7A7F73F6D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3517514"/>
            <a:ext cx="9116697" cy="48393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B43F1CE-CC04-49B6-935A-6A0EDB7031A9}"/>
              </a:ext>
            </a:extLst>
          </p:cNvPr>
          <p:cNvSpPr/>
          <p:nvPr/>
        </p:nvSpPr>
        <p:spPr bwMode="auto">
          <a:xfrm>
            <a:off x="5614506" y="8224837"/>
            <a:ext cx="4285143" cy="524298"/>
          </a:xfrm>
          <a:prstGeom prst="rect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</a:rPr>
              <a:t>Hexadecimal Representation</a:t>
            </a:r>
            <a:endParaRPr kumimoji="0" lang="en-IN" sz="2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4320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Padding Example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8B3D31A-B2E4-4CD9-AD7A-E3503D4D7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2890837"/>
            <a:ext cx="9383434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2033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Padding Example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6F4DFA-9669-461E-B624-F3115A02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738437"/>
            <a:ext cx="9753600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5162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Digital Signature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9304F4-0CBC-4FE2-89E0-F02A8740C33F}"/>
              </a:ext>
            </a:extLst>
          </p:cNvPr>
          <p:cNvSpPr txBox="1"/>
          <p:nvPr/>
        </p:nvSpPr>
        <p:spPr>
          <a:xfrm>
            <a:off x="608964" y="2586037"/>
            <a:ext cx="1096137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200000"/>
              </a:lnSpc>
            </a:pP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Digital Signature</a:t>
            </a:r>
          </a:p>
          <a:p>
            <a:pPr algn="l" rtl="0" fontAlgn="base">
              <a:lnSpc>
                <a:spcPct val="200000"/>
              </a:lnSpc>
            </a:pP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A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digital signature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cryptographic technique used to verify the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authenticity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,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integrity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, and </a:t>
            </a:r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non-repudiation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of a digital message or document. It ensures that the message was created by a known sender and that it has not been altered during transmission.</a:t>
            </a:r>
          </a:p>
        </p:txBody>
      </p:sp>
    </p:spTree>
    <p:extLst>
      <p:ext uri="{BB962C8B-B14F-4D97-AF65-F5344CB8AC3E}">
        <p14:creationId xmlns:p14="http://schemas.microsoft.com/office/powerpoint/2010/main" xmlns="" val="3815203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Digital Signature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79304F4-0CBC-4FE2-89E0-F02A8740C33F}"/>
              </a:ext>
            </a:extLst>
          </p:cNvPr>
          <p:cNvSpPr txBox="1"/>
          <p:nvPr/>
        </p:nvSpPr>
        <p:spPr>
          <a:xfrm>
            <a:off x="608964" y="2586037"/>
            <a:ext cx="1096137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41414"/>
                </a:solidFill>
                <a:effectLst/>
                <a:latin typeface="Mulish"/>
              </a:rPr>
              <a:t>Authentication: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Mulish"/>
              </a:rPr>
              <a:t>Authentication is a technique that confirms a user's identity before allowing them access to a system. Authentication aids in the authentication of message sources in digital signatures.</a:t>
            </a:r>
            <a:endParaRPr lang="en-US" sz="2000" b="0" i="0" dirty="0">
              <a:solidFill>
                <a:srgbClr val="7F7F7F"/>
              </a:solidFill>
              <a:effectLst/>
              <a:latin typeface="Mulish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41414"/>
                </a:solidFill>
                <a:effectLst/>
                <a:latin typeface="Mulish"/>
              </a:rPr>
              <a:t>Non-repudiation: 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Mulish"/>
              </a:rPr>
              <a:t>The term "non-repudiation" refers to guaranteeing something that cannot be disputed. It assures that someone who signs a contract or communicates with someone else cannot subsequently deny the legitimacy of their signature on a document or in a file or the transmission of a message that they initiated.</a:t>
            </a:r>
            <a:endParaRPr lang="en-US" sz="2000" b="0" i="0" dirty="0">
              <a:solidFill>
                <a:srgbClr val="7F7F7F"/>
              </a:solidFill>
              <a:effectLst/>
              <a:latin typeface="Mulish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41414"/>
                </a:solidFill>
                <a:effectLst/>
                <a:latin typeface="Mulish"/>
              </a:rPr>
              <a:t>Integrity: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Mulish"/>
              </a:rPr>
              <a:t> Integrity guarantees that the communication is genuine and correct and protects it against 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Mulish"/>
              </a:rPr>
              <a:t>unauthorised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Mulish"/>
              </a:rPr>
              <a:t> changes during delivery.</a:t>
            </a:r>
            <a:endParaRPr lang="en-US" sz="2000" b="0" i="0" dirty="0">
              <a:solidFill>
                <a:srgbClr val="7F7F7F"/>
              </a:solidFill>
              <a:effectLst/>
              <a:latin typeface="Mulish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45240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Digital Signature Model</a:t>
            </a:r>
            <a:endParaRPr lang="en-US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0E7AAEA5-2E8A-43A1-8942-86BF86F9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65350" y="3119437"/>
            <a:ext cx="7848600" cy="4264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DAAFF57-F1DB-4177-9394-0130C703090B}"/>
              </a:ext>
            </a:extLst>
          </p:cNvPr>
          <p:cNvSpPr txBox="1"/>
          <p:nvPr/>
        </p:nvSpPr>
        <p:spPr>
          <a:xfrm>
            <a:off x="1289050" y="7158037"/>
            <a:ext cx="6091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Rivest-Shamir-Adleman (RSA)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Digital Signature Algorithm (DSA)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BEF357-04EF-4B97-8DC0-D37C923E2CDC}"/>
              </a:ext>
            </a:extLst>
          </p:cNvPr>
          <p:cNvSpPr txBox="1"/>
          <p:nvPr/>
        </p:nvSpPr>
        <p:spPr>
          <a:xfrm>
            <a:off x="831850" y="7983968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https://www.geeksforgeeks.org/computer-networks/digital-signature-algorithm-dsa/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705133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What is MD5 Algorithm?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A4821CC-D8B7-4501-97F2-C59D64B10D63}"/>
              </a:ext>
            </a:extLst>
          </p:cNvPr>
          <p:cNvSpPr txBox="1"/>
          <p:nvPr/>
        </p:nvSpPr>
        <p:spPr>
          <a:xfrm>
            <a:off x="146049" y="2281237"/>
            <a:ext cx="11424285" cy="1360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33333"/>
                </a:solidFill>
                <a:effectLst/>
                <a:latin typeface="__CircularFontRegular_889f74"/>
              </a:rPr>
              <a:t>MD5 hash algorithm is a cryptographic hash function that takes input messages and produces a fixed size 128-bit hash value irrespective of the size of the input message. MD5 was created in 1991 by Ronald Rivest to validate data integrity, detect tampering, and generate digital signatures.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39415A8-F495-4F05-ADFC-C756BDF621DA}"/>
              </a:ext>
            </a:extLst>
          </p:cNvPr>
          <p:cNvSpPr txBox="1"/>
          <p:nvPr/>
        </p:nvSpPr>
        <p:spPr>
          <a:xfrm>
            <a:off x="298450" y="3881437"/>
            <a:ext cx="6091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__CircularFontRegular_889f74"/>
              </a:rPr>
              <a:t>MD5 Algorithm Work?</a:t>
            </a:r>
            <a:endParaRPr lang="en-IN" b="1" i="0" dirty="0">
              <a:solidFill>
                <a:srgbClr val="000000"/>
              </a:solidFill>
              <a:effectLst/>
              <a:latin typeface="__CircularFontMedium_8f35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4A88BB6-09CE-422F-BE02-7B37C323A28C}"/>
              </a:ext>
            </a:extLst>
          </p:cNvPr>
          <p:cNvSpPr txBox="1"/>
          <p:nvPr/>
        </p:nvSpPr>
        <p:spPr>
          <a:xfrm>
            <a:off x="146048" y="4294346"/>
            <a:ext cx="975360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__CircularFontRegular_889f74"/>
              </a:rPr>
              <a:t>Step 1: Padding</a:t>
            </a:r>
          </a:p>
          <a:p>
            <a:r>
              <a:rPr lang="en-IN" b="1" dirty="0">
                <a:solidFill>
                  <a:srgbClr val="333333"/>
                </a:solidFill>
                <a:latin typeface="__CircularFontRegular_889f74"/>
              </a:rPr>
              <a:t>Step2: 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Append Length Bits</a:t>
            </a:r>
          </a:p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__CircularFontRegular_889f74"/>
              </a:rPr>
              <a:t>Step 3: Block Partitioning</a:t>
            </a:r>
            <a:r>
              <a:rPr lang="en-US" b="0" i="0" dirty="0">
                <a:solidFill>
                  <a:srgbClr val="333333"/>
                </a:solidFill>
                <a:effectLst/>
                <a:latin typeface="__CircularFontRegular_889f74"/>
              </a:rPr>
              <a:t> 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__CircularFontRegular_889f74"/>
              </a:rPr>
              <a:t>The padded message is separated into 512-bit blocks. </a:t>
            </a:r>
          </a:p>
          <a:p>
            <a:pPr algn="l"/>
            <a:endParaRPr lang="en-US" dirty="0">
              <a:solidFill>
                <a:srgbClr val="333333"/>
              </a:solidFill>
              <a:latin typeface="__CircularFontRegular_889f74"/>
            </a:endParaRP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__CircularFontRegular_889f74"/>
            </a:endParaRPr>
          </a:p>
          <a:p>
            <a:endParaRPr lang="en-IN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Step4. Initialize MD buffer:</a:t>
            </a:r>
          </a:p>
          <a:p>
            <a:endParaRPr lang="en-IN" b="1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Here, we use the 4 buffers i.e. A B, C, and D. The size of each buffer is 32 bits.  </a:t>
            </a:r>
            <a:endParaRPr lang="en-IN" dirty="0"/>
          </a:p>
        </p:txBody>
      </p:sp>
      <p:pic>
        <p:nvPicPr>
          <p:cNvPr id="1026" name="Picture 2" descr="F,G,H and I functions">
            <a:extLst>
              <a:ext uri="{FF2B5EF4-FFF2-40B4-BE49-F238E27FC236}">
                <a16:creationId xmlns:a16="http://schemas.microsoft.com/office/drawing/2014/main" xmlns="" id="{DA992981-D85D-4A3F-9BC1-4441CB395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61250" y="3195637"/>
            <a:ext cx="5508368" cy="299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970579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What is MD5 Algorithm?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39415A8-F495-4F05-ADFC-C756BDF621DA}"/>
              </a:ext>
            </a:extLst>
          </p:cNvPr>
          <p:cNvSpPr txBox="1"/>
          <p:nvPr/>
        </p:nvSpPr>
        <p:spPr>
          <a:xfrm>
            <a:off x="298450" y="2534286"/>
            <a:ext cx="609188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__CircularFontRegular_889f74"/>
              </a:rPr>
              <a:t>MD5 Algorithm Work?</a:t>
            </a:r>
            <a:endParaRPr lang="en-IN" b="1" i="0" dirty="0">
              <a:solidFill>
                <a:srgbClr val="000000"/>
              </a:solidFill>
              <a:effectLst/>
              <a:latin typeface="__CircularFontMedium_8f35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4A88BB6-09CE-422F-BE02-7B37C323A28C}"/>
              </a:ext>
            </a:extLst>
          </p:cNvPr>
          <p:cNvSpPr txBox="1"/>
          <p:nvPr/>
        </p:nvSpPr>
        <p:spPr>
          <a:xfrm>
            <a:off x="34839" y="2919007"/>
            <a:ext cx="975360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1" i="0" dirty="0">
              <a:solidFill>
                <a:srgbClr val="333333"/>
              </a:solidFill>
              <a:effectLst/>
              <a:latin typeface="__CircularFontRegular_889f74"/>
            </a:endParaRPr>
          </a:p>
          <a:p>
            <a:endParaRPr lang="en-IN" b="1" dirty="0">
              <a:solidFill>
                <a:srgbClr val="333333"/>
              </a:solidFill>
              <a:latin typeface="__CircularFontRegular_889f74"/>
            </a:endParaRPr>
          </a:p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4. Process Each 512-bit Block:</a:t>
            </a:r>
          </a:p>
          <a:p>
            <a:endParaRPr lang="en-IN" b="1" dirty="0">
              <a:solidFill>
                <a:srgbClr val="273239"/>
              </a:solidFill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order to process each 512-bit Block we have performed 64.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the 1st round, 16 operations will be performed using the function F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2nd round 16 operations will be performed using the function G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3rd round 16 operations will be performed using the function H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4th round, 16 operations will be performed using the function I</a:t>
            </a:r>
          </a:p>
          <a:p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We perform OR, AND, XOR, and NOT (basically these are logic gates) for calculating functions. We use 3 buffers for each function i.e. B, C, D.</a:t>
            </a:r>
          </a:p>
        </p:txBody>
      </p:sp>
    </p:spTree>
    <p:extLst>
      <p:ext uri="{BB962C8B-B14F-4D97-AF65-F5344CB8AC3E}">
        <p14:creationId xmlns:p14="http://schemas.microsoft.com/office/powerpoint/2010/main" xmlns="" val="19839517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Transposition Cipher Technique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39415A8-F495-4F05-ADFC-C756BDF621DA}"/>
              </a:ext>
            </a:extLst>
          </p:cNvPr>
          <p:cNvSpPr txBox="1"/>
          <p:nvPr/>
        </p:nvSpPr>
        <p:spPr>
          <a:xfrm>
            <a:off x="298450" y="2534286"/>
            <a:ext cx="10668000" cy="332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Transposition Cipher Technique is an encryption method used to encrypt a message or information. This encryption method is done by playing with the position of letters of the plain text.</a:t>
            </a:r>
          </a:p>
          <a:p>
            <a:pPr algn="l"/>
            <a:endParaRPr lang="en-IN" sz="1800" dirty="0">
              <a:solidFill>
                <a:srgbClr val="273239"/>
              </a:solidFill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dirty="0">
              <a:solidFill>
                <a:srgbClr val="273239"/>
              </a:solidFill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ts val="2100"/>
              </a:lnSpc>
            </a:pPr>
            <a:r>
              <a:rPr lang="en-IN" sz="1800" b="1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Types of Transposition Cipher Techniques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fontAlgn="base">
              <a:spcAft>
                <a:spcPts val="750"/>
              </a:spcAf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</a:rPr>
              <a:t>There are three types of transposition cipher techniques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Rail Fence Transposition Cipher/ zigzag cipher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Block (Single Columnar) Transposition Cipher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Double Columnar Transposition Cipher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i="0" dirty="0">
              <a:solidFill>
                <a:srgbClr val="000000"/>
              </a:solidFill>
              <a:effectLst/>
              <a:latin typeface="__CircularFontMedium_8f35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15013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65" y="811953"/>
            <a:ext cx="10961370" cy="1116436"/>
          </a:xfrm>
        </p:spPr>
        <p:txBody>
          <a:bodyPr/>
          <a:lstStyle/>
          <a:p>
            <a:r>
              <a:rPr lang="en-US" b="1" dirty="0">
                <a:latin typeface="Cambria" pitchFamily="18" charset="0"/>
              </a:rPr>
              <a:t>Transposition Cipher Technique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39415A8-F495-4F05-ADFC-C756BDF621DA}"/>
              </a:ext>
            </a:extLst>
          </p:cNvPr>
          <p:cNvSpPr txBox="1"/>
          <p:nvPr/>
        </p:nvSpPr>
        <p:spPr>
          <a:xfrm>
            <a:off x="298450" y="2534286"/>
            <a:ext cx="10668000" cy="356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Rail Fence Transposition Cipher: I will use some variable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1800" dirty="0">
              <a:solidFill>
                <a:srgbClr val="273239"/>
              </a:solidFill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L=#of characters in string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N= # of rail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K=L/2(N-1)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Where K is length of string in first and last string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 should be multiple of 2(N-1)</a:t>
            </a:r>
          </a:p>
          <a:p>
            <a:pPr lvl="0" fontAlgn="base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Each internal string of length  2*K.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IN" sz="1800" dirty="0">
                <a:solidFill>
                  <a:srgbClr val="273239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i="0" dirty="0">
              <a:solidFill>
                <a:srgbClr val="000000"/>
              </a:solidFill>
              <a:effectLst/>
              <a:latin typeface="__CircularFontMedium_8f35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720268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870" y="2841836"/>
            <a:ext cx="10352405" cy="1014942"/>
          </a:xfrm>
        </p:spPr>
        <p:txBody>
          <a:bodyPr/>
          <a:lstStyle/>
          <a:p>
            <a:pPr marL="479844" lvl="1" indent="-479844"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xmlns="" val="2886680067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2. Introduction (Cont.)</Template>
  <TotalTime>4336</TotalTime>
  <Words>1606</Words>
  <Application>Microsoft Office PowerPoint</Application>
  <PresentationFormat>Ledger Paper (11x17 in)</PresentationFormat>
  <Paragraphs>224</Paragraphs>
  <Slides>44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8" baseType="lpstr">
      <vt:lpstr>Arial</vt:lpstr>
      <vt:lpstr>Cambria</vt:lpstr>
      <vt:lpstr>Verdana</vt:lpstr>
      <vt:lpstr>Monotype Sorts</vt:lpstr>
      <vt:lpstr>Wingdings</vt:lpstr>
      <vt:lpstr>Times New Roman</vt:lpstr>
      <vt:lpstr>Calibri</vt:lpstr>
      <vt:lpstr>Nunito</vt:lpstr>
      <vt:lpstr>Courier New</vt:lpstr>
      <vt:lpstr>Mulish</vt:lpstr>
      <vt:lpstr>__CircularFontRegular_889f74</vt:lpstr>
      <vt:lpstr>__CircularFontMedium_8f3579</vt:lpstr>
      <vt:lpstr>Symbol</vt:lpstr>
      <vt:lpstr>computer-bunny.blue</vt:lpstr>
      <vt:lpstr>Slide 1</vt:lpstr>
      <vt:lpstr>Network Security</vt:lpstr>
      <vt:lpstr>Cryptography</vt:lpstr>
      <vt:lpstr>Cryptography</vt:lpstr>
      <vt:lpstr>Cryptography</vt:lpstr>
      <vt:lpstr>Cryptography</vt:lpstr>
      <vt:lpstr>Cryptography Techniques</vt:lpstr>
      <vt:lpstr>Symmetric Key Cryptography</vt:lpstr>
      <vt:lpstr>Symmetric Key Cryptography</vt:lpstr>
      <vt:lpstr>Symmetric Key Cryptography</vt:lpstr>
      <vt:lpstr>Symmetric Key Cryptography</vt:lpstr>
      <vt:lpstr>Symmetric Key Cryptography</vt:lpstr>
      <vt:lpstr>Symmetric Key Cryptography</vt:lpstr>
      <vt:lpstr>Symmetric Key Cryptography</vt:lpstr>
      <vt:lpstr>Symmetric Key Cryptography</vt:lpstr>
      <vt:lpstr>Symmetric Key Cryptography</vt:lpstr>
      <vt:lpstr>Slide 17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Asymmetric Key or Public Key Cryptography</vt:lpstr>
      <vt:lpstr>RSA Algorithm</vt:lpstr>
      <vt:lpstr>Classical Encryption Techniques </vt:lpstr>
      <vt:lpstr>Caesar Cipher Encryption Techniques </vt:lpstr>
      <vt:lpstr>SECURE HASH ALGORITHM (SHA)</vt:lpstr>
      <vt:lpstr>SECURE HASH ALGORITHM (SHA)</vt:lpstr>
      <vt:lpstr>SHA−512 (Secure Hash Algorithm 512-bit)</vt:lpstr>
      <vt:lpstr>How SHA−512 generate 512 bit Digest</vt:lpstr>
      <vt:lpstr>Padding Example</vt:lpstr>
      <vt:lpstr>Padding Example</vt:lpstr>
      <vt:lpstr>Padding Example</vt:lpstr>
      <vt:lpstr>Digital Signature</vt:lpstr>
      <vt:lpstr>Digital Signature</vt:lpstr>
      <vt:lpstr>Digital Signature Model</vt:lpstr>
      <vt:lpstr>What is MD5 Algorithm?</vt:lpstr>
      <vt:lpstr>What is MD5 Algorithm?</vt:lpstr>
      <vt:lpstr>Transposition Cipher Technique</vt:lpstr>
      <vt:lpstr>Transposition Cipher Technique</vt:lpstr>
      <vt:lpstr>End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admin</cp:lastModifiedBy>
  <cp:revision>376</cp:revision>
  <dcterms:modified xsi:type="dcterms:W3CDTF">2026-03-11T11:29:13Z</dcterms:modified>
</cp:coreProperties>
</file>