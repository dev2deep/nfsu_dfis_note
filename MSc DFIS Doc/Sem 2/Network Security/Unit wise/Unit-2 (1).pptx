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8" r:id="rId1"/>
  </p:sldMasterIdLst>
  <p:notesMasterIdLst>
    <p:notesMasterId r:id="rId45"/>
  </p:notesMasterIdLst>
  <p:sldIdLst>
    <p:sldId id="256" r:id="rId2"/>
    <p:sldId id="333" r:id="rId3"/>
    <p:sldId id="334" r:id="rId4"/>
    <p:sldId id="371" r:id="rId5"/>
    <p:sldId id="372" r:id="rId6"/>
    <p:sldId id="284" r:id="rId7"/>
    <p:sldId id="285" r:id="rId8"/>
    <p:sldId id="301" r:id="rId9"/>
    <p:sldId id="321" r:id="rId10"/>
    <p:sldId id="258" r:id="rId11"/>
    <p:sldId id="346" r:id="rId12"/>
    <p:sldId id="322" r:id="rId13"/>
    <p:sldId id="323" r:id="rId14"/>
    <p:sldId id="324" r:id="rId15"/>
    <p:sldId id="325" r:id="rId16"/>
    <p:sldId id="326" r:id="rId17"/>
    <p:sldId id="327" r:id="rId18"/>
    <p:sldId id="328" r:id="rId19"/>
    <p:sldId id="332" r:id="rId20"/>
    <p:sldId id="347" r:id="rId21"/>
    <p:sldId id="348" r:id="rId22"/>
    <p:sldId id="349" r:id="rId23"/>
    <p:sldId id="350" r:id="rId24"/>
    <p:sldId id="341" r:id="rId25"/>
    <p:sldId id="342" r:id="rId26"/>
    <p:sldId id="351" r:id="rId27"/>
    <p:sldId id="352" r:id="rId28"/>
    <p:sldId id="353" r:id="rId29"/>
    <p:sldId id="354" r:id="rId30"/>
    <p:sldId id="365" r:id="rId31"/>
    <p:sldId id="355" r:id="rId32"/>
    <p:sldId id="338" r:id="rId33"/>
    <p:sldId id="356" r:id="rId34"/>
    <p:sldId id="357" r:id="rId35"/>
    <p:sldId id="358" r:id="rId36"/>
    <p:sldId id="359" r:id="rId37"/>
    <p:sldId id="366" r:id="rId38"/>
    <p:sldId id="367" r:id="rId39"/>
    <p:sldId id="368" r:id="rId40"/>
    <p:sldId id="369" r:id="rId41"/>
    <p:sldId id="363" r:id="rId42"/>
    <p:sldId id="364" r:id="rId43"/>
    <p:sldId id="370" r:id="rId4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14B7C1-FD59-429B-A4EC-9C83C2EC818A}" type="datetimeFigureOut">
              <a:rPr lang="en-CA" smtClean="0"/>
              <a:t>2026-02-10</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6B36617-E622-45B6-BC36-905E918E0391}" type="slidenum">
              <a:rPr lang="en-CA" smtClean="0"/>
              <a:t>‹#›</a:t>
            </a:fld>
            <a:endParaRPr lang="en-CA"/>
          </a:p>
        </p:txBody>
      </p:sp>
    </p:spTree>
    <p:extLst>
      <p:ext uri="{BB962C8B-B14F-4D97-AF65-F5344CB8AC3E}">
        <p14:creationId xmlns:p14="http://schemas.microsoft.com/office/powerpoint/2010/main" val="39491326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eaLnBrk="1" hangingPunct="1"/>
            <a:fld id="{9A0DB2DC-4C9A-4742-B13C-FB6460FD3503}" type="slidenum">
              <a:rPr lang="en-US" altLang="zh-TW" sz="1200" dirty="0">
                <a:latin typeface="Arial" panose="020B0604020202020204" pitchFamily="34" charset="0"/>
                <a:ea typeface="PMingLiU" pitchFamily="18" charset="-120"/>
              </a:rPr>
              <a:t>6</a:t>
            </a:fld>
            <a:endParaRPr lang="en-US" altLang="zh-TW" sz="1200" dirty="0">
              <a:latin typeface="Arial" panose="020B0604020202020204" pitchFamily="34" charset="0"/>
              <a:ea typeface="PMingLiU" pitchFamily="18" charset="-120"/>
            </a:endParaRPr>
          </a:p>
        </p:txBody>
      </p:sp>
      <p:sp>
        <p:nvSpPr>
          <p:cNvPr id="39939" name="Rectangle 2"/>
          <p:cNvSpPr>
            <a:spLocks noGrp="1" noRot="1" noChangeAspect="1" noTextEdit="1"/>
          </p:cNvSpPr>
          <p:nvPr>
            <p:ph type="sldImg"/>
          </p:nvPr>
        </p:nvSpPr>
        <p:spPr>
          <a:ln/>
        </p:spPr>
      </p:sp>
      <p:sp>
        <p:nvSpPr>
          <p:cNvPr id="39940" name="Rectangle 3"/>
          <p:cNvSpPr>
            <a:spLocks noGrp="1"/>
          </p:cNvSpPr>
          <p:nvPr>
            <p:ph type="body" idx="1"/>
          </p:nvPr>
        </p:nvSpPr>
        <p:spPr>
          <a:ln/>
        </p:spPr>
        <p:txBody>
          <a:bodyPr wrap="square" lIns="91440" tIns="45720" rIns="91440" bIns="45720" anchor="t"/>
          <a:lstStyle/>
          <a:p>
            <a:pPr lvl="0" eaLnBrk="1" hangingPunct="1"/>
            <a:endParaRPr lang="zh-TW" altLang="zh-TW"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eaLnBrk="1" hangingPunct="1"/>
            <a:fld id="{9A0DB2DC-4C9A-4742-B13C-FB6460FD3503}" type="slidenum">
              <a:rPr lang="en-US" altLang="zh-TW" sz="1200" dirty="0">
                <a:latin typeface="Arial" panose="020B0604020202020204" pitchFamily="34" charset="0"/>
                <a:ea typeface="PMingLiU" pitchFamily="18" charset="-120"/>
              </a:rPr>
              <a:t>7</a:t>
            </a:fld>
            <a:endParaRPr lang="en-US" altLang="zh-TW" sz="1200" dirty="0">
              <a:latin typeface="Arial" panose="020B0604020202020204" pitchFamily="34" charset="0"/>
              <a:ea typeface="PMingLiU" pitchFamily="18" charset="-120"/>
            </a:endParaRPr>
          </a:p>
        </p:txBody>
      </p:sp>
      <p:sp>
        <p:nvSpPr>
          <p:cNvPr id="40963" name="Rectangle 2"/>
          <p:cNvSpPr>
            <a:spLocks noGrp="1" noRot="1" noChangeAspect="1" noTextEdit="1"/>
          </p:cNvSpPr>
          <p:nvPr>
            <p:ph type="sldImg"/>
          </p:nvPr>
        </p:nvSpPr>
        <p:spPr>
          <a:ln/>
        </p:spPr>
      </p:sp>
      <p:sp>
        <p:nvSpPr>
          <p:cNvPr id="40964" name="Rectangle 3"/>
          <p:cNvSpPr>
            <a:spLocks noGrp="1"/>
          </p:cNvSpPr>
          <p:nvPr>
            <p:ph type="body" idx="1"/>
          </p:nvPr>
        </p:nvSpPr>
        <p:spPr>
          <a:ln/>
        </p:spPr>
        <p:txBody>
          <a:bodyPr wrap="square" lIns="91440" tIns="45720" rIns="91440" bIns="45720" anchor="t"/>
          <a:lstStyle/>
          <a:p>
            <a:pPr lvl="0" eaLnBrk="1" hangingPunct="1"/>
            <a:endParaRPr lang="zh-TW" altLang="zh-TW"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eaLnBrk="1" hangingPunct="1"/>
            <a:fld id="{9A0DB2DC-4C9A-4742-B13C-FB6460FD3503}" type="slidenum">
              <a:rPr lang="en-US" altLang="zh-TW" sz="1200" dirty="0">
                <a:latin typeface="Arial" panose="020B0604020202020204" pitchFamily="34" charset="0"/>
                <a:ea typeface="PMingLiU" pitchFamily="18" charset="-120"/>
              </a:rPr>
              <a:t>8</a:t>
            </a:fld>
            <a:endParaRPr lang="en-US" altLang="zh-TW" sz="1200" dirty="0">
              <a:latin typeface="Arial" panose="020B0604020202020204" pitchFamily="34" charset="0"/>
              <a:ea typeface="PMingLiU" pitchFamily="18" charset="-120"/>
            </a:endParaRPr>
          </a:p>
        </p:txBody>
      </p:sp>
      <p:sp>
        <p:nvSpPr>
          <p:cNvPr id="41987" name="Rectangle 2"/>
          <p:cNvSpPr>
            <a:spLocks noGrp="1" noRot="1" noChangeAspect="1" noTextEdit="1"/>
          </p:cNvSpPr>
          <p:nvPr>
            <p:ph type="sldImg"/>
          </p:nvPr>
        </p:nvSpPr>
        <p:spPr>
          <a:ln/>
        </p:spPr>
      </p:sp>
      <p:sp>
        <p:nvSpPr>
          <p:cNvPr id="41988" name="Rectangle 3"/>
          <p:cNvSpPr>
            <a:spLocks noGrp="1"/>
          </p:cNvSpPr>
          <p:nvPr>
            <p:ph type="body" idx="1"/>
          </p:nvPr>
        </p:nvSpPr>
        <p:spPr>
          <a:ln/>
        </p:spPr>
        <p:txBody>
          <a:bodyPr wrap="square" lIns="91440" tIns="45720" rIns="91440" bIns="45720" anchor="t"/>
          <a:lstStyle/>
          <a:p>
            <a:pPr lvl="0" eaLnBrk="1" hangingPunct="1"/>
            <a:endParaRPr lang="zh-TW" altLang="zh-TW"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eaLnBrk="1" hangingPunct="1"/>
            <a:fld id="{9A0DB2DC-4C9A-4742-B13C-FB6460FD3503}" type="slidenum">
              <a:rPr lang="en-US" altLang="zh-TW" sz="1200" dirty="0">
                <a:latin typeface="Arial" panose="020B0604020202020204" pitchFamily="34" charset="0"/>
                <a:ea typeface="PMingLiU" pitchFamily="18" charset="-120"/>
              </a:rPr>
              <a:t>10</a:t>
            </a:fld>
            <a:endParaRPr lang="en-US" altLang="zh-TW" sz="1200" dirty="0">
              <a:latin typeface="Arial" panose="020B0604020202020204" pitchFamily="34" charset="0"/>
              <a:ea typeface="PMingLiU" pitchFamily="18" charset="-120"/>
            </a:endParaRPr>
          </a:p>
        </p:txBody>
      </p:sp>
      <p:sp>
        <p:nvSpPr>
          <p:cNvPr id="44035" name="Rectangle 2"/>
          <p:cNvSpPr>
            <a:spLocks noGrp="1" noRot="1" noChangeAspect="1" noTextEdit="1"/>
          </p:cNvSpPr>
          <p:nvPr>
            <p:ph type="sldImg"/>
          </p:nvPr>
        </p:nvSpPr>
        <p:spPr>
          <a:ln/>
        </p:spPr>
      </p:sp>
      <p:sp>
        <p:nvSpPr>
          <p:cNvPr id="44036" name="Rectangle 3"/>
          <p:cNvSpPr>
            <a:spLocks noGrp="1"/>
          </p:cNvSpPr>
          <p:nvPr>
            <p:ph type="body" idx="1"/>
          </p:nvPr>
        </p:nvSpPr>
        <p:spPr>
          <a:ln/>
        </p:spPr>
        <p:txBody>
          <a:bodyPr wrap="square" lIns="91440" tIns="45720" rIns="91440" bIns="45720" anchor="t"/>
          <a:lstStyle/>
          <a:p>
            <a:pPr lvl="0" eaLnBrk="1" hangingPunct="1"/>
            <a:endParaRPr lang="zh-TW" altLang="zh-TW"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eaLnBrk="1" hangingPunct="1"/>
            <a:fld id="{9A0DB2DC-4C9A-4742-B13C-FB6460FD3503}" type="slidenum">
              <a:rPr lang="en-US" altLang="zh-TW" sz="1200" dirty="0">
                <a:latin typeface="Arial" panose="020B0604020202020204" pitchFamily="34" charset="0"/>
                <a:ea typeface="PMingLiU" pitchFamily="18" charset="-120"/>
              </a:rPr>
              <a:t>11</a:t>
            </a:fld>
            <a:endParaRPr lang="en-US" altLang="zh-TW" sz="1200" dirty="0">
              <a:latin typeface="Arial" panose="020B0604020202020204" pitchFamily="34" charset="0"/>
              <a:ea typeface="PMingLiU" pitchFamily="18" charset="-120"/>
            </a:endParaRPr>
          </a:p>
        </p:txBody>
      </p:sp>
      <p:sp>
        <p:nvSpPr>
          <p:cNvPr id="43011" name="Rectangle 2"/>
          <p:cNvSpPr>
            <a:spLocks noGrp="1" noRot="1" noChangeAspect="1" noTextEdit="1"/>
          </p:cNvSpPr>
          <p:nvPr>
            <p:ph type="sldImg"/>
          </p:nvPr>
        </p:nvSpPr>
        <p:spPr>
          <a:ln/>
        </p:spPr>
      </p:sp>
      <p:sp>
        <p:nvSpPr>
          <p:cNvPr id="43012" name="Rectangle 3"/>
          <p:cNvSpPr>
            <a:spLocks noGrp="1"/>
          </p:cNvSpPr>
          <p:nvPr>
            <p:ph type="body" idx="1"/>
          </p:nvPr>
        </p:nvSpPr>
        <p:spPr>
          <a:ln/>
        </p:spPr>
        <p:txBody>
          <a:bodyPr wrap="square" lIns="91440" tIns="45720" rIns="91440" bIns="45720" anchor="t"/>
          <a:lstStyle/>
          <a:p>
            <a:pPr lvl="0" eaLnBrk="1" hangingPunct="1"/>
            <a:endParaRPr lang="zh-TW" altLang="zh-TW"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4" name="Group 13"/>
          <p:cNvGrpSpPr/>
          <p:nvPr/>
        </p:nvGrpSpPr>
        <p:grpSpPr>
          <a:xfrm>
            <a:off x="-1588" y="0"/>
            <a:ext cx="12193588" cy="6861555"/>
            <a:chOff x="-1588" y="0"/>
            <a:chExt cx="12193588" cy="6861555"/>
          </a:xfrm>
        </p:grpSpPr>
        <p:sp>
          <p:nvSpPr>
            <p:cNvPr id="9" name="Rectangle 8"/>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a:prstGeom prst="rect">
            <a:avLst/>
          </a:prstGeo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tx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rot="5400000">
            <a:off x="10158984" y="1792224"/>
            <a:ext cx="990599" cy="304799"/>
          </a:xfrm>
        </p:spPr>
        <p:txBody>
          <a:bodyPr/>
          <a:lstStyle>
            <a:lvl1pPr algn="l">
              <a:defRPr b="0">
                <a:solidFill>
                  <a:schemeClr val="bg1"/>
                </a:solidFill>
              </a:defRPr>
            </a:lvl1pPr>
          </a:lstStyle>
          <a:p>
            <a:fld id="{311852A0-97E9-4C92-BEDC-AEB57D11FD2E}" type="datetimeFigureOut">
              <a:rPr lang="en-CA" smtClean="0"/>
              <a:t>2026-02-10</a:t>
            </a:fld>
            <a:endParaRPr lang="en-CA"/>
          </a:p>
        </p:txBody>
      </p:sp>
      <p:sp>
        <p:nvSpPr>
          <p:cNvPr id="5" name="Footer Placeholder 4"/>
          <p:cNvSpPr>
            <a:spLocks noGrp="1"/>
          </p:cNvSpPr>
          <p:nvPr>
            <p:ph type="ftr" sz="quarter" idx="11"/>
          </p:nvPr>
        </p:nvSpPr>
        <p:spPr>
          <a:xfrm rot="5400000">
            <a:off x="8951976" y="3227832"/>
            <a:ext cx="3867912" cy="310896"/>
          </a:xfrm>
        </p:spPr>
        <p:txBody>
          <a:bodyPr/>
          <a:lstStyle>
            <a:lvl1pPr>
              <a:defRPr sz="1000" b="0">
                <a:solidFill>
                  <a:schemeClr val="bg1"/>
                </a:solidFill>
              </a:defRPr>
            </a:lvl1pPr>
          </a:lstStyle>
          <a:p>
            <a:endParaRPr lang="en-CA"/>
          </a:p>
        </p:txBody>
      </p:sp>
      <p:sp>
        <p:nvSpPr>
          <p:cNvPr id="8" name="Rectangle 7"/>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10351008" y="292608"/>
            <a:ext cx="838199" cy="767687"/>
          </a:xfrm>
        </p:spPr>
        <p:txBody>
          <a:bodyPr/>
          <a:lstStyle>
            <a:lvl1pPr>
              <a:defRPr sz="2800" b="0" i="0">
                <a:latin typeface="+mj-lt"/>
              </a:defRPr>
            </a:lvl1pPr>
          </a:lstStyle>
          <a:p>
            <a:fld id="{DF97E3CB-53E1-4ABC-90C5-9D4625ACDC20}" type="slidenum">
              <a:rPr lang="en-CA" smtClean="0"/>
              <a:t>‹#›</a:t>
            </a:fld>
            <a:endParaRPr lang="en-CA"/>
          </a:p>
        </p:txBody>
      </p:sp>
    </p:spTree>
    <p:extLst>
      <p:ext uri="{BB962C8B-B14F-4D97-AF65-F5344CB8AC3E}">
        <p14:creationId xmlns:p14="http://schemas.microsoft.com/office/powerpoint/2010/main" val="33480044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9"/>
            <a:ext cx="8825659" cy="706964"/>
          </a:xfrm>
          <a:prstGeom prst="rect">
            <a:avLst/>
          </a:prstGeom>
        </p:spPr>
        <p:txBody>
          <a:bodyPr anchor="ct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1852A0-97E9-4C92-BEDC-AEB57D11FD2E}" type="datetimeFigureOut">
              <a:rPr lang="en-CA" smtClean="0"/>
              <a:t>2026-02-10</a:t>
            </a:fld>
            <a:endParaRPr lang="en-CA"/>
          </a:p>
        </p:txBody>
      </p:sp>
      <p:sp>
        <p:nvSpPr>
          <p:cNvPr id="5" name="Footer Placeholder 4"/>
          <p:cNvSpPr>
            <a:spLocks noGrp="1"/>
          </p:cNvSpPr>
          <p:nvPr>
            <p:ph type="ftr" sz="quarter" idx="11"/>
          </p:nvPr>
        </p:nvSpPr>
        <p:spPr/>
        <p:txBody>
          <a:bodyPr/>
          <a:lstStyle>
            <a:lvl1pPr>
              <a:defRPr sz="1000" b="1"/>
            </a:lvl1pPr>
          </a:lstStyle>
          <a:p>
            <a:endParaRPr lang="en-CA"/>
          </a:p>
        </p:txBody>
      </p:sp>
      <p:sp>
        <p:nvSpPr>
          <p:cNvPr id="6" name="Slide Number Placeholder 5"/>
          <p:cNvSpPr>
            <a:spLocks noGrp="1"/>
          </p:cNvSpPr>
          <p:nvPr>
            <p:ph type="sldNum" sz="quarter" idx="12"/>
          </p:nvPr>
        </p:nvSpPr>
        <p:spPr/>
        <p:txBody>
          <a:bodyPr/>
          <a:lstStyle/>
          <a:p>
            <a:fld id="{DF97E3CB-53E1-4ABC-90C5-9D4625ACDC20}" type="slidenum">
              <a:rPr lang="en-CA" smtClean="0"/>
              <a:t>‹#›</a:t>
            </a:fld>
            <a:endParaRPr lang="en-CA"/>
          </a:p>
        </p:txBody>
      </p:sp>
    </p:spTree>
    <p:extLst>
      <p:ext uri="{BB962C8B-B14F-4D97-AF65-F5344CB8AC3E}">
        <p14:creationId xmlns:p14="http://schemas.microsoft.com/office/powerpoint/2010/main" val="11453775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17" name="Group 16"/>
          <p:cNvGrpSpPr/>
          <p:nvPr/>
        </p:nvGrpSpPr>
        <p:grpSpPr>
          <a:xfrm>
            <a:off x="-1588" y="0"/>
            <a:ext cx="12193588" cy="6861555"/>
            <a:chOff x="-1588" y="0"/>
            <a:chExt cx="12193588" cy="6861555"/>
          </a:xfrm>
        </p:grpSpPr>
        <p:sp>
          <p:nvSpPr>
            <p:cNvPr id="12" name="Rectangle 11"/>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Rectangle 8"/>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7"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2679192"/>
            <a:ext cx="4343400" cy="2286000"/>
          </a:xfrm>
          <a:prstGeom prst="rect">
            <a:avLst/>
          </a:prstGeom>
        </p:spPr>
        <p:txBody>
          <a:bodyPr anchor="ctr" anchorCtr="0"/>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4576" y="2679192"/>
            <a:ext cx="3758184" cy="2286000"/>
          </a:xfrm>
        </p:spPr>
        <p:txBody>
          <a:bodyPr anchor="ctr" anchorCtr="0"/>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11852A0-97E9-4C92-BEDC-AEB57D11FD2E}" type="datetimeFigureOut">
              <a:rPr lang="en-CA" smtClean="0"/>
              <a:t>2026-02-10</a:t>
            </a:fld>
            <a:endParaRPr lang="en-CA"/>
          </a:p>
        </p:txBody>
      </p:sp>
      <p:sp>
        <p:nvSpPr>
          <p:cNvPr id="5" name="Footer Placeholder 4"/>
          <p:cNvSpPr>
            <a:spLocks noGrp="1"/>
          </p:cNvSpPr>
          <p:nvPr>
            <p:ph type="ftr" sz="quarter" idx="11"/>
          </p:nvPr>
        </p:nvSpPr>
        <p:spPr/>
        <p:txBody>
          <a:bodyPr/>
          <a:lstStyle>
            <a:lvl1pPr>
              <a:defRPr sz="1000" b="1"/>
            </a:lvl1pPr>
          </a:lstStyle>
          <a:p>
            <a:endParaRPr lang="en-CA"/>
          </a:p>
        </p:txBody>
      </p:sp>
      <p:sp>
        <p:nvSpPr>
          <p:cNvPr id="10" name="Rectangle 9"/>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F97E3CB-53E1-4ABC-90C5-9D4625ACDC20}" type="slidenum">
              <a:rPr lang="en-CA" smtClean="0"/>
              <a:t>‹#›</a:t>
            </a:fld>
            <a:endParaRPr lang="en-CA"/>
          </a:p>
        </p:txBody>
      </p:sp>
    </p:spTree>
    <p:extLst>
      <p:ext uri="{BB962C8B-B14F-4D97-AF65-F5344CB8AC3E}">
        <p14:creationId xmlns:p14="http://schemas.microsoft.com/office/powerpoint/2010/main" val="1102234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154953" y="969264"/>
            <a:ext cx="8825659" cy="704088"/>
          </a:xfrm>
          <a:prstGeom prst="rect">
            <a:avLst/>
          </a:prstGeom>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8032" cy="3416301"/>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76" y="2603500"/>
            <a:ext cx="4828032" cy="341630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11852A0-97E9-4C92-BEDC-AEB57D11FD2E}" type="datetimeFigureOut">
              <a:rPr lang="en-CA" smtClean="0"/>
              <a:t>2026-02-10</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DF97E3CB-53E1-4ABC-90C5-9D4625ACDC20}" type="slidenum">
              <a:rPr lang="en-CA" smtClean="0"/>
              <a:t>‹#›</a:t>
            </a:fld>
            <a:endParaRPr lang="en-CA"/>
          </a:p>
        </p:txBody>
      </p:sp>
    </p:spTree>
    <p:extLst>
      <p:ext uri="{BB962C8B-B14F-4D97-AF65-F5344CB8AC3E}">
        <p14:creationId xmlns:p14="http://schemas.microsoft.com/office/powerpoint/2010/main" val="38793265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54954" y="969264"/>
            <a:ext cx="8825659" cy="704088"/>
          </a:xfrm>
          <a:prstGeom prst="rect">
            <a:avLst/>
          </a:prstGeo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6040"/>
            <a:ext cx="4828032"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54954" y="3198448"/>
            <a:ext cx="4828032" cy="2843784"/>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76" y="2606040"/>
            <a:ext cx="4828032"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08711" y="3187921"/>
            <a:ext cx="4825160" cy="2854311"/>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11852A0-97E9-4C92-BEDC-AEB57D11FD2E}" type="datetimeFigureOut">
              <a:rPr lang="en-CA" smtClean="0"/>
              <a:t>2026-02-10</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DF97E3CB-53E1-4ABC-90C5-9D4625ACDC20}" type="slidenum">
              <a:rPr lang="en-CA" smtClean="0"/>
              <a:t>‹#›</a:t>
            </a:fld>
            <a:endParaRPr lang="en-CA"/>
          </a:p>
        </p:txBody>
      </p:sp>
    </p:spTree>
    <p:extLst>
      <p:ext uri="{BB962C8B-B14F-4D97-AF65-F5344CB8AC3E}">
        <p14:creationId xmlns:p14="http://schemas.microsoft.com/office/powerpoint/2010/main" val="25779797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152144" y="969264"/>
            <a:ext cx="8825659" cy="704088"/>
          </a:xfrm>
          <a:prstGeom prst="rect">
            <a:avLst/>
          </a:prstGeo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11852A0-97E9-4C92-BEDC-AEB57D11FD2E}" type="datetimeFigureOut">
              <a:rPr lang="en-CA" smtClean="0"/>
              <a:t>2026-02-10</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DF97E3CB-53E1-4ABC-90C5-9D4625ACDC20}" type="slidenum">
              <a:rPr lang="en-CA" smtClean="0"/>
              <a:t>‹#›</a:t>
            </a:fld>
            <a:endParaRPr lang="en-CA"/>
          </a:p>
        </p:txBody>
      </p:sp>
    </p:spTree>
    <p:extLst>
      <p:ext uri="{BB962C8B-B14F-4D97-AF65-F5344CB8AC3E}">
        <p14:creationId xmlns:p14="http://schemas.microsoft.com/office/powerpoint/2010/main" val="7896459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11852A0-97E9-4C92-BEDC-AEB57D11FD2E}" type="datetimeFigureOut">
              <a:rPr lang="en-CA" smtClean="0"/>
              <a:t>2026-02-10</a:t>
            </a:fld>
            <a:endParaRPr lang="en-CA"/>
          </a:p>
        </p:txBody>
      </p:sp>
      <p:sp>
        <p:nvSpPr>
          <p:cNvPr id="3" name="Footer Placeholder 2"/>
          <p:cNvSpPr>
            <a:spLocks noGrp="1"/>
          </p:cNvSpPr>
          <p:nvPr>
            <p:ph type="ftr" sz="quarter" idx="11"/>
          </p:nvPr>
        </p:nvSpPr>
        <p:spPr/>
        <p:txBody>
          <a:bodyPr/>
          <a:lstStyle/>
          <a:p>
            <a:endParaRPr lang="en-CA"/>
          </a:p>
        </p:txBody>
      </p:sp>
      <p:sp>
        <p:nvSpPr>
          <p:cNvPr id="6" name="Rectangle 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F97E3CB-53E1-4ABC-90C5-9D4625ACDC20}" type="slidenum">
              <a:rPr lang="en-CA" smtClean="0"/>
              <a:t>‹#›</a:t>
            </a:fld>
            <a:endParaRPr lang="en-CA"/>
          </a:p>
        </p:txBody>
      </p:sp>
    </p:spTree>
    <p:extLst>
      <p:ext uri="{BB962C8B-B14F-4D97-AF65-F5344CB8AC3E}">
        <p14:creationId xmlns:p14="http://schemas.microsoft.com/office/powerpoint/2010/main" val="9668976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18" name="Group 17"/>
          <p:cNvGrpSpPr/>
          <p:nvPr/>
        </p:nvGrpSpPr>
        <p:grpSpPr>
          <a:xfrm>
            <a:off x="-1588" y="0"/>
            <a:ext cx="12193588" cy="6861555"/>
            <a:chOff x="-1588" y="0"/>
            <a:chExt cx="12193588" cy="6861555"/>
          </a:xfrm>
        </p:grpSpPr>
        <p:sp>
          <p:nvSpPr>
            <p:cNvPr id="12" name="Rectangle 11"/>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0"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3" y="1298448"/>
            <a:ext cx="2793159" cy="1597152"/>
          </a:xfrm>
          <a:prstGeom prst="rect">
            <a:avLst/>
          </a:prstGeo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79008" y="1447800"/>
            <a:ext cx="5195997" cy="4572000"/>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3" y="3129280"/>
            <a:ext cx="2793159" cy="2895599"/>
          </a:xfrm>
        </p:spPr>
        <p:txBody>
          <a:bodyPr/>
          <a:lstStyle>
            <a:lvl1pPr marL="0" indent="0">
              <a:buNone/>
              <a:defRPr sz="1400">
                <a:solidFill>
                  <a:schemeClr val="tx2">
                    <a:lumMod val="40000"/>
                    <a:lumOff val="6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11852A0-97E9-4C92-BEDC-AEB57D11FD2E}" type="datetimeFigureOut">
              <a:rPr lang="en-CA" smtClean="0"/>
              <a:t>2026-02-10</a:t>
            </a:fld>
            <a:endParaRPr lang="en-CA"/>
          </a:p>
        </p:txBody>
      </p:sp>
      <p:sp>
        <p:nvSpPr>
          <p:cNvPr id="6" name="Footer Placeholder 5"/>
          <p:cNvSpPr>
            <a:spLocks noGrp="1"/>
          </p:cNvSpPr>
          <p:nvPr>
            <p:ph type="ftr" sz="quarter" idx="11"/>
          </p:nvPr>
        </p:nvSpPr>
        <p:spPr/>
        <p:txBody>
          <a:bodyPr/>
          <a:lstStyle/>
          <a:p>
            <a:endParaRPr lang="en-CA"/>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F97E3CB-53E1-4ABC-90C5-9D4625ACDC20}" type="slidenum">
              <a:rPr lang="en-CA" smtClean="0"/>
              <a:t>‹#›</a:t>
            </a:fld>
            <a:endParaRPr lang="en-CA"/>
          </a:p>
        </p:txBody>
      </p:sp>
    </p:spTree>
    <p:extLst>
      <p:ext uri="{BB962C8B-B14F-4D97-AF65-F5344CB8AC3E}">
        <p14:creationId xmlns:p14="http://schemas.microsoft.com/office/powerpoint/2010/main" val="3760109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18" name="Group 17"/>
          <p:cNvGrpSpPr/>
          <p:nvPr/>
        </p:nvGrpSpPr>
        <p:grpSpPr>
          <a:xfrm>
            <a:off x="-1588" y="0"/>
            <a:ext cx="12193588" cy="6861555"/>
            <a:chOff x="-1588" y="0"/>
            <a:chExt cx="12193588" cy="6861555"/>
          </a:xfrm>
        </p:grpSpPr>
        <p:sp>
          <p:nvSpPr>
            <p:cNvPr id="12" name="Rectangle 11"/>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0"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3907" y="1693332"/>
            <a:ext cx="3860259" cy="1735668"/>
          </a:xfrm>
          <a:prstGeom prst="rect">
            <a:avLst/>
          </a:prstGeo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1154955" y="3657600"/>
            <a:ext cx="3859212" cy="1371600"/>
          </a:xfrm>
        </p:spPr>
        <p:txBody>
          <a:bodyPr>
            <a:normAutofit/>
          </a:bodyPr>
          <a:lstStyle>
            <a:lvl1pPr marL="0" indent="0">
              <a:buNone/>
              <a:defRPr sz="1400">
                <a:solidFill>
                  <a:schemeClr val="tx2">
                    <a:lumMod val="40000"/>
                    <a:lumOff val="6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11852A0-97E9-4C92-BEDC-AEB57D11FD2E}" type="datetimeFigureOut">
              <a:rPr lang="en-CA" smtClean="0"/>
              <a:t>2026-02-10</a:t>
            </a:fld>
            <a:endParaRPr lang="en-CA"/>
          </a:p>
        </p:txBody>
      </p:sp>
      <p:sp>
        <p:nvSpPr>
          <p:cNvPr id="6" name="Footer Placeholder 5"/>
          <p:cNvSpPr>
            <a:spLocks noGrp="1"/>
          </p:cNvSpPr>
          <p:nvPr>
            <p:ph type="ftr" sz="quarter" idx="11"/>
          </p:nvPr>
        </p:nvSpPr>
        <p:spPr/>
        <p:txBody>
          <a:bodyPr/>
          <a:lstStyle/>
          <a:p>
            <a:endParaRPr lang="en-CA"/>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F97E3CB-53E1-4ABC-90C5-9D4625ACDC20}" type="slidenum">
              <a:rPr lang="en-CA" smtClean="0"/>
              <a:t>‹#›</a:t>
            </a:fld>
            <a:endParaRPr lang="en-CA"/>
          </a:p>
        </p:txBody>
      </p:sp>
    </p:spTree>
    <p:extLst>
      <p:ext uri="{BB962C8B-B14F-4D97-AF65-F5344CB8AC3E}">
        <p14:creationId xmlns:p14="http://schemas.microsoft.com/office/powerpoint/2010/main" val="12258471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Panoramic Picture with Caption">
    <p:spTree>
      <p:nvGrpSpPr>
        <p:cNvPr id="1" name=""/>
        <p:cNvGrpSpPr/>
        <p:nvPr/>
      </p:nvGrpSpPr>
      <p:grpSpPr>
        <a:xfrm>
          <a:off x="0" y="0"/>
          <a:ext cx="0" cy="0"/>
          <a:chOff x="0" y="0"/>
          <a:chExt cx="0" cy="0"/>
        </a:xfrm>
      </p:grpSpPr>
      <p:grpSp>
        <p:nvGrpSpPr>
          <p:cNvPr id="17" name="Group 16"/>
          <p:cNvGrpSpPr/>
          <p:nvPr/>
        </p:nvGrpSpPr>
        <p:grpSpPr>
          <a:xfrm>
            <a:off x="-1588" y="0"/>
            <a:ext cx="12193588" cy="6861555"/>
            <a:chOff x="-1588" y="0"/>
            <a:chExt cx="12193588" cy="6861555"/>
          </a:xfrm>
        </p:grpSpPr>
        <p:sp>
          <p:nvSpPr>
            <p:cNvPr id="11" name="Rectangle 10"/>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7" y="4969927"/>
            <a:ext cx="8825657" cy="566738"/>
          </a:xfrm>
          <a:prstGeom prst="rect">
            <a:avLst/>
          </a:prstGeo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1154957" y="5536665"/>
            <a:ext cx="8825656" cy="493712"/>
          </a:xfrm>
        </p:spPr>
        <p:txBody>
          <a:bodyPr>
            <a:normAutofit/>
          </a:bodyPr>
          <a:lstStyle>
            <a:lvl1pPr marL="0" indent="0">
              <a:buNone/>
              <a:defRPr sz="1200">
                <a:solidFill>
                  <a:schemeClr val="tx2">
                    <a:lumMod val="40000"/>
                    <a:lumOff val="6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11852A0-97E9-4C92-BEDC-AEB57D11FD2E}" type="datetimeFigureOut">
              <a:rPr lang="en-CA" smtClean="0"/>
              <a:t>2026-02-10</a:t>
            </a:fld>
            <a:endParaRPr lang="en-CA"/>
          </a:p>
        </p:txBody>
      </p:sp>
      <p:sp>
        <p:nvSpPr>
          <p:cNvPr id="6" name="Footer Placeholder 5"/>
          <p:cNvSpPr>
            <a:spLocks noGrp="1"/>
          </p:cNvSpPr>
          <p:nvPr>
            <p:ph type="ftr" sz="quarter" idx="11"/>
          </p:nvPr>
        </p:nvSpPr>
        <p:spPr/>
        <p:txBody>
          <a:bodyPr/>
          <a:lstStyle/>
          <a:p>
            <a:endParaRPr lang="en-CA"/>
          </a:p>
        </p:txBody>
      </p:sp>
      <p:sp>
        <p:nvSpPr>
          <p:cNvPr id="12" name="Rectangle 1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F97E3CB-53E1-4ABC-90C5-9D4625ACDC20}" type="slidenum">
              <a:rPr lang="en-CA" smtClean="0"/>
              <a:t>‹#›</a:t>
            </a:fld>
            <a:endParaRPr lang="en-CA"/>
          </a:p>
        </p:txBody>
      </p:sp>
    </p:spTree>
    <p:extLst>
      <p:ext uri="{BB962C8B-B14F-4D97-AF65-F5344CB8AC3E}">
        <p14:creationId xmlns:p14="http://schemas.microsoft.com/office/powerpoint/2010/main" val="42031262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16" name="Group 15"/>
          <p:cNvGrpSpPr/>
          <p:nvPr/>
        </p:nvGrpSpPr>
        <p:grpSpPr>
          <a:xfrm>
            <a:off x="-1588" y="0"/>
            <a:ext cx="12193588" cy="6861555"/>
            <a:chOff x="-1588" y="0"/>
            <a:chExt cx="12193588" cy="6861555"/>
          </a:xfrm>
        </p:grpSpPr>
        <p:sp>
          <p:nvSpPr>
            <p:cNvPr id="10" name="Rectangle 9"/>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9"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060704"/>
            <a:ext cx="8833104" cy="1371600"/>
          </a:xfrm>
          <a:prstGeom prst="rect">
            <a:avLst/>
          </a:prstGeom>
        </p:spPr>
        <p:txBody>
          <a:bodyPr anchor="ctr" anchorCtr="0"/>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2144" y="3547872"/>
            <a:ext cx="8825659" cy="2478024"/>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311852A0-97E9-4C92-BEDC-AEB57D11FD2E}" type="datetimeFigureOut">
              <a:rPr lang="en-CA" smtClean="0"/>
              <a:t>2026-02-10</a:t>
            </a:fld>
            <a:endParaRPr lang="en-CA"/>
          </a:p>
        </p:txBody>
      </p:sp>
      <p:sp>
        <p:nvSpPr>
          <p:cNvPr id="5" name="Footer Placeholder 4"/>
          <p:cNvSpPr>
            <a:spLocks noGrp="1"/>
          </p:cNvSpPr>
          <p:nvPr>
            <p:ph type="ftr" sz="quarter" idx="11"/>
          </p:nvPr>
        </p:nvSpPr>
        <p:spPr/>
        <p:txBody>
          <a:bodyPr/>
          <a:lstStyle/>
          <a:p>
            <a:endParaRPr lang="en-CA"/>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F97E3CB-53E1-4ABC-90C5-9D4625ACDC20}" type="slidenum">
              <a:rPr lang="en-CA" smtClean="0"/>
              <a:t>‹#›</a:t>
            </a:fld>
            <a:endParaRPr lang="en-CA"/>
          </a:p>
        </p:txBody>
      </p:sp>
    </p:spTree>
    <p:extLst>
      <p:ext uri="{BB962C8B-B14F-4D97-AF65-F5344CB8AC3E}">
        <p14:creationId xmlns:p14="http://schemas.microsoft.com/office/powerpoint/2010/main" val="18973012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7" name="Group 6"/>
          <p:cNvGrpSpPr/>
          <p:nvPr/>
        </p:nvGrpSpPr>
        <p:grpSpPr>
          <a:xfrm>
            <a:off x="-1588" y="0"/>
            <a:ext cx="12193588" cy="6861555"/>
            <a:chOff x="-1588" y="0"/>
            <a:chExt cx="12193588" cy="6861555"/>
          </a:xfrm>
        </p:grpSpPr>
        <p:sp>
          <p:nvSpPr>
            <p:cNvPr id="16" name="Rectangle 15"/>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Oval 17"/>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4"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7"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2" name="TextBox 11"/>
          <p:cNvSpPr txBox="1"/>
          <p:nvPr/>
        </p:nvSpPr>
        <p:spPr bwMode="gray">
          <a:xfrm>
            <a:off x="898295" y="596767"/>
            <a:ext cx="801912" cy="156966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cs typeface="Arial"/>
              </a:defRPr>
            </a:lvl1pPr>
          </a:lstStyle>
          <a:p>
            <a:pPr lvl="0"/>
            <a:r>
              <a:rPr lang="en-US" sz="9600" dirty="0">
                <a:solidFill>
                  <a:schemeClr val="tx2">
                    <a:lumMod val="40000"/>
                    <a:lumOff val="60000"/>
                  </a:schemeClr>
                </a:solidFill>
              </a:rPr>
              <a:t>“</a:t>
            </a:r>
          </a:p>
        </p:txBody>
      </p:sp>
      <p:sp>
        <p:nvSpPr>
          <p:cNvPr id="15" name="TextBox 14"/>
          <p:cNvSpPr txBox="1"/>
          <p:nvPr/>
        </p:nvSpPr>
        <p:spPr bwMode="gray">
          <a:xfrm>
            <a:off x="9715063" y="2629300"/>
            <a:ext cx="801912" cy="156966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cs typeface="Arial"/>
              </a:defRPr>
            </a:lvl1pPr>
          </a:lstStyle>
          <a:p>
            <a:pPr lvl="0"/>
            <a:r>
              <a:rPr lang="en-US" sz="9600" dirty="0">
                <a:solidFill>
                  <a:schemeClr val="tx2">
                    <a:lumMod val="40000"/>
                    <a:lumOff val="60000"/>
                  </a:schemeClr>
                </a:solidFill>
              </a:rPr>
              <a:t>”</a:t>
            </a:r>
          </a:p>
        </p:txBody>
      </p:sp>
      <p:sp>
        <p:nvSpPr>
          <p:cNvPr id="2" name="Title 1"/>
          <p:cNvSpPr>
            <a:spLocks noGrp="1"/>
          </p:cNvSpPr>
          <p:nvPr>
            <p:ph type="title"/>
          </p:nvPr>
        </p:nvSpPr>
        <p:spPr>
          <a:xfrm>
            <a:off x="1574801" y="980517"/>
            <a:ext cx="8460983" cy="2698249"/>
          </a:xfrm>
          <a:prstGeom prst="rect">
            <a:avLst/>
          </a:prstGeom>
        </p:spPr>
        <p:txBody>
          <a:bodyPr anchor="ctr" anchorCtr="0"/>
          <a:lstStyle>
            <a:lvl1pPr>
              <a:defRPr sz="4000"/>
            </a:lvl1pPr>
          </a:lstStyle>
          <a:p>
            <a:r>
              <a:rPr lang="en-US"/>
              <a:t>Click to edit Master title style</a:t>
            </a:r>
            <a:endParaRPr lang="en-US" dirty="0"/>
          </a:p>
        </p:txBody>
      </p:sp>
      <p:sp>
        <p:nvSpPr>
          <p:cNvPr id="11" name="Text Placeholder 3"/>
          <p:cNvSpPr>
            <a:spLocks noGrp="1"/>
          </p:cNvSpPr>
          <p:nvPr>
            <p:ph type="body" sz="half" idx="14"/>
          </p:nvPr>
        </p:nvSpPr>
        <p:spPr bwMode="gray">
          <a:xfrm>
            <a:off x="1945945" y="3679987"/>
            <a:ext cx="7725772" cy="342174"/>
          </a:xfrm>
        </p:spPr>
        <p:txBody>
          <a:bodyPr vert="horz" lIns="91440" tIns="45720" rIns="91440" bIns="45720" rtlCol="0" anchor="t">
            <a:normAutofit/>
          </a:bodyPr>
          <a:lstStyle>
            <a:lvl1pPr>
              <a:buNone/>
              <a:defRPr lang="en-US" sz="1400" cap="small" dirty="0">
                <a:solidFill>
                  <a:schemeClr val="tx2">
                    <a:lumMod val="40000"/>
                    <a:lumOff val="60000"/>
                  </a:schemeClr>
                </a:solidFill>
                <a:latin typeface="+mn-lt"/>
              </a:defRPr>
            </a:lvl1pPr>
          </a:lstStyle>
          <a:p>
            <a:pPr marL="0" lvl="0" indent="0">
              <a:buNone/>
            </a:pPr>
            <a:r>
              <a:rPr lang="en-US"/>
              <a:t>Edit Master text styles</a:t>
            </a:r>
          </a:p>
        </p:txBody>
      </p:sp>
      <p:sp>
        <p:nvSpPr>
          <p:cNvPr id="10" name="Text Placeholder 3"/>
          <p:cNvSpPr>
            <a:spLocks noGrp="1"/>
          </p:cNvSpPr>
          <p:nvPr>
            <p:ph type="body" sz="half" idx="2"/>
          </p:nvPr>
        </p:nvSpPr>
        <p:spPr>
          <a:xfrm>
            <a:off x="1154954" y="5029198"/>
            <a:ext cx="8825659" cy="997858"/>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311852A0-97E9-4C92-BEDC-AEB57D11FD2E}" type="datetimeFigureOut">
              <a:rPr lang="en-CA" smtClean="0"/>
              <a:t>2026-02-10</a:t>
            </a:fld>
            <a:endParaRPr lang="en-CA"/>
          </a:p>
        </p:txBody>
      </p:sp>
      <p:sp>
        <p:nvSpPr>
          <p:cNvPr id="5" name="Footer Placeholder 4"/>
          <p:cNvSpPr>
            <a:spLocks noGrp="1"/>
          </p:cNvSpPr>
          <p:nvPr>
            <p:ph type="ftr" sz="quarter" idx="11"/>
          </p:nvPr>
        </p:nvSpPr>
        <p:spPr/>
        <p:txBody>
          <a:bodyPr/>
          <a:lstStyle/>
          <a:p>
            <a:endParaRPr lang="en-CA"/>
          </a:p>
        </p:txBody>
      </p:sp>
      <p:sp>
        <p:nvSpPr>
          <p:cNvPr id="23" name="Rectangle 2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F97E3CB-53E1-4ABC-90C5-9D4625ACDC20}" type="slidenum">
              <a:rPr lang="en-CA" smtClean="0"/>
              <a:t>‹#›</a:t>
            </a:fld>
            <a:endParaRPr lang="en-CA"/>
          </a:p>
        </p:txBody>
      </p:sp>
    </p:spTree>
    <p:extLst>
      <p:ext uri="{BB962C8B-B14F-4D97-AF65-F5344CB8AC3E}">
        <p14:creationId xmlns:p14="http://schemas.microsoft.com/office/powerpoint/2010/main" val="34289996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16" name="Group 15"/>
          <p:cNvGrpSpPr/>
          <p:nvPr/>
        </p:nvGrpSpPr>
        <p:grpSpPr>
          <a:xfrm>
            <a:off x="-1588" y="0"/>
            <a:ext cx="12193588" cy="6861555"/>
            <a:chOff x="-1588" y="0"/>
            <a:chExt cx="12193588" cy="6861555"/>
          </a:xfrm>
        </p:grpSpPr>
        <p:sp>
          <p:nvSpPr>
            <p:cNvPr id="11" name="Rectangle 10"/>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3525"/>
            <a:ext cx="8865623" cy="1819656"/>
          </a:xfrm>
          <a:prstGeom prst="rect">
            <a:avLst/>
          </a:prstGeo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9200"/>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11852A0-97E9-4C92-BEDC-AEB57D11FD2E}" type="datetimeFigureOut">
              <a:rPr lang="en-CA" smtClean="0"/>
              <a:t>2026-02-10</a:t>
            </a:fld>
            <a:endParaRPr lang="en-CA"/>
          </a:p>
        </p:txBody>
      </p:sp>
      <p:sp>
        <p:nvSpPr>
          <p:cNvPr id="5" name="Footer Placeholder 4"/>
          <p:cNvSpPr>
            <a:spLocks noGrp="1"/>
          </p:cNvSpPr>
          <p:nvPr>
            <p:ph type="ftr" sz="quarter" idx="11"/>
          </p:nvPr>
        </p:nvSpPr>
        <p:spPr/>
        <p:txBody>
          <a:bodyPr/>
          <a:lstStyle/>
          <a:p>
            <a:endParaRPr lang="en-CA"/>
          </a:p>
        </p:txBody>
      </p:sp>
      <p:sp>
        <p:nvSpPr>
          <p:cNvPr id="10" name="Rectangle 9"/>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F97E3CB-53E1-4ABC-90C5-9D4625ACDC20}" type="slidenum">
              <a:rPr lang="en-CA" smtClean="0"/>
              <a:t>‹#›</a:t>
            </a:fld>
            <a:endParaRPr lang="en-CA"/>
          </a:p>
        </p:txBody>
      </p:sp>
    </p:spTree>
    <p:extLst>
      <p:ext uri="{BB962C8B-B14F-4D97-AF65-F5344CB8AC3E}">
        <p14:creationId xmlns:p14="http://schemas.microsoft.com/office/powerpoint/2010/main" val="8415855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a:prstGeom prst="rect">
            <a:avLst/>
          </a:prstGeo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3129168" cy="576261"/>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6" name="Text Placeholder 3"/>
          <p:cNvSpPr>
            <a:spLocks noGrp="1"/>
          </p:cNvSpPr>
          <p:nvPr>
            <p:ph type="body" sz="half" idx="15"/>
          </p:nvPr>
        </p:nvSpPr>
        <p:spPr>
          <a:xfrm>
            <a:off x="1154954" y="3179764"/>
            <a:ext cx="3129168" cy="2847290"/>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4512721" y="2603500"/>
            <a:ext cx="3145380" cy="576261"/>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Text Placeholder 3"/>
          <p:cNvSpPr>
            <a:spLocks noGrp="1"/>
          </p:cNvSpPr>
          <p:nvPr>
            <p:ph type="body" sz="half" idx="16"/>
          </p:nvPr>
        </p:nvSpPr>
        <p:spPr>
          <a:xfrm>
            <a:off x="4512721" y="3179764"/>
            <a:ext cx="3145380" cy="2847290"/>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886700" y="2595032"/>
            <a:ext cx="3161029" cy="58473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Text Placeholder 3"/>
          <p:cNvSpPr>
            <a:spLocks noGrp="1"/>
          </p:cNvSpPr>
          <p:nvPr>
            <p:ph type="body" sz="half" idx="17"/>
          </p:nvPr>
        </p:nvSpPr>
        <p:spPr>
          <a:xfrm>
            <a:off x="7886700" y="3179764"/>
            <a:ext cx="3161029" cy="2847290"/>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7" name="Straight Connector 16"/>
          <p:cNvCxnSpPr/>
          <p:nvPr/>
        </p:nvCxnSpPr>
        <p:spPr>
          <a:xfrm>
            <a:off x="4384991" y="2603500"/>
            <a:ext cx="32564" cy="3423554"/>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5824" y="2603500"/>
            <a:ext cx="0" cy="3423554"/>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311852A0-97E9-4C92-BEDC-AEB57D11FD2E}" type="datetimeFigureOut">
              <a:rPr lang="en-CA" smtClean="0"/>
              <a:t>2026-02-10</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DF97E3CB-53E1-4ABC-90C5-9D4625ACDC20}" type="slidenum">
              <a:rPr lang="en-CA" smtClean="0"/>
              <a:t>‹#›</a:t>
            </a:fld>
            <a:endParaRPr lang="en-CA"/>
          </a:p>
        </p:txBody>
      </p:sp>
    </p:spTree>
    <p:extLst>
      <p:ext uri="{BB962C8B-B14F-4D97-AF65-F5344CB8AC3E}">
        <p14:creationId xmlns:p14="http://schemas.microsoft.com/office/powerpoint/2010/main" val="9229760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a:prstGeom prst="rect">
            <a:avLst/>
          </a:prstGeom>
        </p:spPr>
        <p:txBody>
          <a:bodyPr anchor="ctr" anchorCtr="0"/>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5"/>
            <a:ext cx="3050438" cy="576260"/>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9" name="Picture Placeholder 2"/>
          <p:cNvSpPr>
            <a:spLocks noGrp="1" noChangeAspect="1"/>
          </p:cNvSpPr>
          <p:nvPr>
            <p:ph type="pic" idx="15"/>
          </p:nvPr>
        </p:nvSpPr>
        <p:spPr>
          <a:xfrm>
            <a:off x="1334552" y="2610916"/>
            <a:ext cx="2691242" cy="1584094"/>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7"/>
            <a:ext cx="3050438" cy="91794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4568865" y="4532842"/>
            <a:ext cx="30504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0" name="Picture Placeholder 2"/>
          <p:cNvSpPr>
            <a:spLocks noGrp="1" noChangeAspect="1"/>
          </p:cNvSpPr>
          <p:nvPr>
            <p:ph type="pic" idx="21"/>
          </p:nvPr>
        </p:nvSpPr>
        <p:spPr>
          <a:xfrm>
            <a:off x="474846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68865" y="5109108"/>
            <a:ext cx="3050438" cy="91257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983433" y="4532842"/>
            <a:ext cx="30504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1"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3433" y="5109107"/>
            <a:ext cx="3050438" cy="91794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7" name="Straight Connector 16"/>
          <p:cNvCxnSpPr/>
          <p:nvPr/>
        </p:nvCxnSpPr>
        <p:spPr>
          <a:xfrm>
            <a:off x="4384245" y="2603500"/>
            <a:ext cx="1" cy="3461811"/>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807352" y="2603500"/>
            <a:ext cx="0" cy="3461811"/>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311852A0-97E9-4C92-BEDC-AEB57D11FD2E}" type="datetimeFigureOut">
              <a:rPr lang="en-CA" smtClean="0"/>
              <a:t>2026-02-10</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DF97E3CB-53E1-4ABC-90C5-9D4625ACDC20}" type="slidenum">
              <a:rPr lang="en-CA" smtClean="0"/>
              <a:t>‹#›</a:t>
            </a:fld>
            <a:endParaRPr lang="en-CA"/>
          </a:p>
        </p:txBody>
      </p:sp>
    </p:spTree>
    <p:extLst>
      <p:ext uri="{BB962C8B-B14F-4D97-AF65-F5344CB8AC3E}">
        <p14:creationId xmlns:p14="http://schemas.microsoft.com/office/powerpoint/2010/main" val="8083715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a:prstGeom prst="rect">
            <a:avLst/>
          </a:prstGeo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595033"/>
            <a:ext cx="8825659" cy="3424768"/>
          </a:xfrm>
        </p:spPr>
        <p:txBody>
          <a:bodyPr vert="eaVert" anchor="t" anchorCtr="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1852A0-97E9-4C92-BEDC-AEB57D11FD2E}" type="datetimeFigureOut">
              <a:rPr lang="en-CA" smtClean="0"/>
              <a:t>2026-02-10</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DF97E3CB-53E1-4ABC-90C5-9D4625ACDC20}" type="slidenum">
              <a:rPr lang="en-CA" smtClean="0"/>
              <a:t>‹#›</a:t>
            </a:fld>
            <a:endParaRPr lang="en-CA"/>
          </a:p>
        </p:txBody>
      </p:sp>
    </p:spTree>
    <p:extLst>
      <p:ext uri="{BB962C8B-B14F-4D97-AF65-F5344CB8AC3E}">
        <p14:creationId xmlns:p14="http://schemas.microsoft.com/office/powerpoint/2010/main" val="120311703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8" name="Group 7"/>
          <p:cNvGrpSpPr/>
          <p:nvPr/>
        </p:nvGrpSpPr>
        <p:grpSpPr>
          <a:xfrm>
            <a:off x="-1588" y="0"/>
            <a:ext cx="12193588" cy="6861555"/>
            <a:chOff x="-1588" y="0"/>
            <a:chExt cx="12193588" cy="6861555"/>
          </a:xfrm>
        </p:grpSpPr>
        <p:sp>
          <p:nvSpPr>
            <p:cNvPr id="15" name="Rectangle 14"/>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3" name="Rectangle 12"/>
            <p:cNvSpPr/>
            <p:nvPr/>
          </p:nvSpPr>
          <p:spPr>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6"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76756" y="1278466"/>
            <a:ext cx="1441567" cy="4748591"/>
          </a:xfrm>
          <a:prstGeom prst="rect">
            <a:avLst/>
          </a:prstGeo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5"/>
            <a:ext cx="6256025" cy="4748591"/>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1852A0-97E9-4C92-BEDC-AEB57D11FD2E}" type="datetimeFigureOut">
              <a:rPr lang="en-CA" smtClean="0"/>
              <a:t>2026-02-10</a:t>
            </a:fld>
            <a:endParaRPr lang="en-CA"/>
          </a:p>
        </p:txBody>
      </p:sp>
      <p:sp>
        <p:nvSpPr>
          <p:cNvPr id="5" name="Footer Placeholder 4"/>
          <p:cNvSpPr>
            <a:spLocks noGrp="1"/>
          </p:cNvSpPr>
          <p:nvPr>
            <p:ph type="ftr" sz="quarter" idx="11"/>
          </p:nvPr>
        </p:nvSpPr>
        <p:spPr/>
        <p:txBody>
          <a:bodyPr/>
          <a:lstStyle/>
          <a:p>
            <a:endParaRPr lang="en-CA"/>
          </a:p>
        </p:txBody>
      </p:sp>
      <p:sp>
        <p:nvSpPr>
          <p:cNvPr id="20" name="Rectangle 19"/>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F97E3CB-53E1-4ABC-90C5-9D4625ACDC20}" type="slidenum">
              <a:rPr lang="en-CA" smtClean="0"/>
              <a:t>‹#›</a:t>
            </a:fld>
            <a:endParaRPr lang="en-CA"/>
          </a:p>
        </p:txBody>
      </p:sp>
    </p:spTree>
    <p:extLst>
      <p:ext uri="{BB962C8B-B14F-4D97-AF65-F5344CB8AC3E}">
        <p14:creationId xmlns:p14="http://schemas.microsoft.com/office/powerpoint/2010/main" val="6807899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bl">
  <p:cSld name="標題及表格">
    <p:spTree>
      <p:nvGrpSpPr>
        <p:cNvPr id="1" name=""/>
        <p:cNvGrpSpPr/>
        <p:nvPr/>
      </p:nvGrpSpPr>
      <p:grpSpPr>
        <a:xfrm>
          <a:off x="0" y="0"/>
          <a:ext cx="0" cy="0"/>
          <a:chOff x="0" y="0"/>
          <a:chExt cx="0" cy="0"/>
        </a:xfrm>
      </p:grpSpPr>
      <p:sp>
        <p:nvSpPr>
          <p:cNvPr id="2" name="標題 1"/>
          <p:cNvSpPr>
            <a:spLocks noGrp="1"/>
          </p:cNvSpPr>
          <p:nvPr>
            <p:ph type="title"/>
          </p:nvPr>
        </p:nvSpPr>
        <p:spPr>
          <a:xfrm>
            <a:off x="609600" y="76200"/>
            <a:ext cx="10972800" cy="1143000"/>
          </a:xfrm>
        </p:spPr>
        <p:txBody>
          <a:bodyPr/>
          <a:lstStyle/>
          <a:p>
            <a:r>
              <a:rPr lang="zh-TW" altLang="en-US"/>
              <a:t>按一下以編輯母片標題樣式</a:t>
            </a:r>
          </a:p>
        </p:txBody>
      </p:sp>
      <p:sp>
        <p:nvSpPr>
          <p:cNvPr id="3" name="表格版面配置區 2"/>
          <p:cNvSpPr>
            <a:spLocks noGrp="1"/>
          </p:cNvSpPr>
          <p:nvPr>
            <p:ph type="tbl" idx="1"/>
          </p:nvPr>
        </p:nvSpPr>
        <p:spPr>
          <a:xfrm>
            <a:off x="609600" y="1600201"/>
            <a:ext cx="10972800" cy="4530725"/>
          </a:xfrm>
        </p:spPr>
        <p:txBody>
          <a:bodyPr>
            <a:normAutofit/>
          </a:bodyPr>
          <a:lstStyle/>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panose="05020102010507070707"/>
              <a:buChar char=""/>
              <a:defRPr/>
            </a:pPr>
            <a:endParaRPr kumimoji="0" lang="zh-TW" altLang="en-US" sz="2600" b="0" i="0" u="none" strike="noStrike" kern="1200" cap="none" spc="0" normalizeH="0" baseline="0" noProof="0">
              <a:ln>
                <a:noFill/>
              </a:ln>
              <a:solidFill>
                <a:schemeClr val="tx1"/>
              </a:solidFill>
              <a:effectLst/>
              <a:uLnTx/>
              <a:uFillTx/>
              <a:latin typeface="+mn-lt"/>
              <a:ea typeface="+mn-ea"/>
              <a:cs typeface="+mn-cs"/>
            </a:endParaRPr>
          </a:p>
        </p:txBody>
      </p:sp>
      <p:sp>
        <p:nvSpPr>
          <p:cNvPr id="10" name="Footer Placeholder 9"/>
          <p:cNvSpPr>
            <a:spLocks noGrp="1" noChangeArrowheads="1"/>
          </p:cNvSpPr>
          <p:nvPr>
            <p:ph type="ftr" sz="quarter" idx="3"/>
          </p:nvPr>
        </p:nvSpPr>
        <p:spPr>
          <a:xfrm>
            <a:off x="1219200" y="6172200"/>
            <a:ext cx="5283200" cy="457200"/>
          </a:xfrm>
          <a:prstGeom prst="rect">
            <a:avLst/>
          </a:prstGeom>
        </p:spPr>
        <p:txBody>
          <a:bodyPr anchor="ctr" anchorCtr="0"/>
          <a:lstStyle/>
          <a:p>
            <a:pPr>
              <a:buNone/>
            </a:pPr>
            <a:endParaRPr lang="en-US" altLang="zh-TW" dirty="0"/>
          </a:p>
        </p:txBody>
      </p:sp>
      <p:sp>
        <p:nvSpPr>
          <p:cNvPr id="4" name="Date Placeholder 3"/>
          <p:cNvSpPr>
            <a:spLocks noGrp="1"/>
          </p:cNvSpPr>
          <p:nvPr>
            <p:ph type="dt" sz="half" idx="10"/>
          </p:nvPr>
        </p:nvSpPr>
        <p:spPr/>
        <p:txBody>
          <a:bodyPr/>
          <a:lstStyle/>
          <a:p>
            <a:pPr lvl="0" eaLnBrk="1" hangingPunct="1">
              <a:buNone/>
            </a:pPr>
            <a:fld id="{BB962C8B-B14F-4D97-AF65-F5344CB8AC3E}" type="datetimeFigureOut">
              <a:rPr lang="en-US" altLang="x-none" dirty="0">
                <a:latin typeface="Times New Roman" panose="02020603050405020304" pitchFamily="18" charset="0"/>
              </a:rPr>
              <a:t>2/10/2026</a:t>
            </a:fld>
            <a:endParaRPr lang="en-US" altLang="x-none" dirty="0">
              <a:latin typeface="Times New Roman" panose="02020603050405020304" pitchFamily="18" charset="0"/>
            </a:endParaRPr>
          </a:p>
        </p:txBody>
      </p:sp>
      <p:sp>
        <p:nvSpPr>
          <p:cNvPr id="5" name="Slide Number Placeholder 4"/>
          <p:cNvSpPr>
            <a:spLocks noGrp="1"/>
          </p:cNvSpPr>
          <p:nvPr>
            <p:ph type="sldNum" sz="quarter" idx="11"/>
          </p:nvPr>
        </p:nvSpPr>
        <p:spPr/>
        <p:txBody>
          <a:bodyPr/>
          <a:lstStyle/>
          <a:p>
            <a:pPr lvl="0" eaLnBrk="1" hangingPunct="1">
              <a:buNone/>
            </a:pPr>
            <a:fld id="{9A0DB2DC-4C9A-4742-B13C-FB6460FD3503}" type="slidenum">
              <a:rPr lang="en-US" altLang="x-none" dirty="0"/>
              <a:t>‹#›</a:t>
            </a:fld>
            <a:endParaRPr lang="en-US" altLang="x-none" dirty="0">
              <a:latin typeface="Times New Roman" panose="02020603050405020304" pitchFamily="18" charset="0"/>
            </a:endParaRPr>
          </a:p>
        </p:txBody>
      </p:sp>
    </p:spTree>
    <p:extLst>
      <p:ext uri="{BB962C8B-B14F-4D97-AF65-F5344CB8AC3E}">
        <p14:creationId xmlns:p14="http://schemas.microsoft.com/office/powerpoint/2010/main" val="4257091865"/>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 name="Group 1"/>
          <p:cNvGrpSpPr/>
          <p:nvPr/>
        </p:nvGrpSpPr>
        <p:grpSpPr>
          <a:xfrm>
            <a:off x="-1588" y="0"/>
            <a:ext cx="12193588" cy="6861555"/>
            <a:chOff x="-1588" y="0"/>
            <a:chExt cx="12193588" cy="6861555"/>
          </a:xfrm>
        </p:grpSpPr>
        <p:sp>
          <p:nvSpPr>
            <p:cNvPr id="12" name="Rectangle 11"/>
            <p:cNvSpPr/>
            <p:nvPr/>
          </p:nvSpPr>
          <p:spPr>
            <a:xfrm>
              <a:off x="0" y="0"/>
              <a:ext cx="12192000" cy="6858000"/>
            </a:xfrm>
            <a:prstGeom prst="rect">
              <a:avLst/>
            </a:prstGeom>
            <a:blipFill>
              <a:blip r:embed="rId20">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Oval 20"/>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34"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7"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2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30"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2760" y="6391656"/>
            <a:ext cx="990599" cy="304799"/>
          </a:xfrm>
          <a:prstGeom prst="rect">
            <a:avLst/>
          </a:prstGeom>
        </p:spPr>
        <p:txBody>
          <a:bodyPr vert="horz" lIns="91440" tIns="45720" rIns="91440" bIns="45720" rtlCol="0" anchor="ctr" anchorCtr="0"/>
          <a:lstStyle>
            <a:lvl1pPr algn="r">
              <a:defRPr sz="1000" b="1" i="0">
                <a:solidFill>
                  <a:schemeClr val="accent1"/>
                </a:solidFill>
              </a:defRPr>
            </a:lvl1pPr>
          </a:lstStyle>
          <a:p>
            <a:fld id="{311852A0-97E9-4C92-BEDC-AEB57D11FD2E}" type="datetimeFigureOut">
              <a:rPr lang="en-CA" smtClean="0"/>
              <a:t>2026-02-10</a:t>
            </a:fld>
            <a:endParaRPr lang="en-CA"/>
          </a:p>
        </p:txBody>
      </p:sp>
      <p:sp>
        <p:nvSpPr>
          <p:cNvPr id="5" name="Footer Placeholder 4"/>
          <p:cNvSpPr>
            <a:spLocks noGrp="1"/>
          </p:cNvSpPr>
          <p:nvPr>
            <p:ph type="ftr" sz="quarter" idx="3"/>
          </p:nvPr>
        </p:nvSpPr>
        <p:spPr>
          <a:xfrm>
            <a:off x="557784" y="6391656"/>
            <a:ext cx="3867912" cy="310896"/>
          </a:xfrm>
          <a:prstGeom prst="rect">
            <a:avLst/>
          </a:prstGeom>
        </p:spPr>
        <p:txBody>
          <a:bodyPr vert="horz" lIns="91440" tIns="45720" rIns="91440" bIns="45720" rtlCol="0" anchor="ctr" anchorCtr="0"/>
          <a:lstStyle>
            <a:lvl1pPr algn="l">
              <a:defRPr sz="1000" b="1" i="0">
                <a:solidFill>
                  <a:schemeClr val="accent1"/>
                </a:solidFill>
              </a:defRPr>
            </a:lvl1pPr>
          </a:lstStyle>
          <a:p>
            <a:endParaRPr lang="en-CA"/>
          </a:p>
        </p:txBody>
      </p:sp>
      <p:sp>
        <p:nvSpPr>
          <p:cNvPr id="29" name="Rectangle 2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F97E3CB-53E1-4ABC-90C5-9D4625ACDC20}" type="slidenum">
              <a:rPr lang="en-CA" smtClean="0"/>
              <a:t>‹#›</a:t>
            </a:fld>
            <a:endParaRPr lang="en-CA"/>
          </a:p>
        </p:txBody>
      </p:sp>
    </p:spTree>
    <p:extLst>
      <p:ext uri="{BB962C8B-B14F-4D97-AF65-F5344CB8AC3E}">
        <p14:creationId xmlns:p14="http://schemas.microsoft.com/office/powerpoint/2010/main" val="574092712"/>
      </p:ext>
    </p:extLst>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 id="2147483780" r:id="rId12"/>
    <p:sldLayoutId id="2147483781" r:id="rId13"/>
    <p:sldLayoutId id="2147483782" r:id="rId14"/>
    <p:sldLayoutId id="2147483783" r:id="rId15"/>
    <p:sldLayoutId id="2147483784" r:id="rId16"/>
    <p:sldLayoutId id="2147483785" r:id="rId17"/>
    <p:sldLayoutId id="2147483786" r:id="rId18"/>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https://www.ripe.net/" TargetMode="External"/><Relationship Id="rId2" Type="http://schemas.openxmlformats.org/officeDocument/2006/relationships/hyperlink" Target="https://www.arin.net/" TargetMode="External"/><Relationship Id="rId1" Type="http://schemas.openxmlformats.org/officeDocument/2006/relationships/slideLayout" Target="../slideLayouts/slideLayout2.xml"/><Relationship Id="rId6" Type="http://schemas.openxmlformats.org/officeDocument/2006/relationships/hyperlink" Target="https://www.afrinic.net/" TargetMode="External"/><Relationship Id="rId5" Type="http://schemas.openxmlformats.org/officeDocument/2006/relationships/hyperlink" Target="https://www.lacnic.net/" TargetMode="External"/><Relationship Id="rId4" Type="http://schemas.openxmlformats.org/officeDocument/2006/relationships/hyperlink" Target="https://www.apnic.net/" TargetMode="External"/></Relationships>
</file>

<file path=ppt/slides/_rels/slide34.xml.rels><?xml version="1.0" encoding="UTF-8" standalone="yes"?>
<Relationships xmlns="http://schemas.openxmlformats.org/package/2006/relationships"><Relationship Id="rId3" Type="http://schemas.openxmlformats.org/officeDocument/2006/relationships/hyperlink" Target="https://www.maxmind.com/" TargetMode="External"/><Relationship Id="rId2" Type="http://schemas.openxmlformats.org/officeDocument/2006/relationships/hyperlink" Target="https://ipinfo.io/" TargetMode="External"/><Relationship Id="rId1" Type="http://schemas.openxmlformats.org/officeDocument/2006/relationships/slideLayout" Target="../slideLayouts/slideLayout2.xml"/><Relationship Id="rId4" Type="http://schemas.openxmlformats.org/officeDocument/2006/relationships/hyperlink" Target="https://www.iplocation.net/"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11AD49-BE16-4C27-BDF2-3F5E3A0FCCC2}"/>
              </a:ext>
            </a:extLst>
          </p:cNvPr>
          <p:cNvSpPr>
            <a:spLocks noGrp="1"/>
          </p:cNvSpPr>
          <p:nvPr>
            <p:ph type="ctrTitle"/>
          </p:nvPr>
        </p:nvSpPr>
        <p:spPr/>
        <p:txBody>
          <a:bodyPr/>
          <a:lstStyle/>
          <a:p>
            <a:r>
              <a:rPr lang="en-CA" dirty="0"/>
              <a:t>Unit-2 Network Security and Forensics</a:t>
            </a:r>
          </a:p>
        </p:txBody>
      </p:sp>
      <p:sp>
        <p:nvSpPr>
          <p:cNvPr id="3" name="Subtitle 2">
            <a:extLst>
              <a:ext uri="{FF2B5EF4-FFF2-40B4-BE49-F238E27FC236}">
                <a16:creationId xmlns:a16="http://schemas.microsoft.com/office/drawing/2014/main" id="{1C454C95-DDD0-443F-8965-BDE37A5724C5}"/>
              </a:ext>
            </a:extLst>
          </p:cNvPr>
          <p:cNvSpPr>
            <a:spLocks noGrp="1"/>
          </p:cNvSpPr>
          <p:nvPr>
            <p:ph type="subTitle" idx="1"/>
          </p:nvPr>
        </p:nvSpPr>
        <p:spPr/>
        <p:txBody>
          <a:bodyPr/>
          <a:lstStyle/>
          <a:p>
            <a:endParaRPr lang="en-CA" dirty="0"/>
          </a:p>
          <a:p>
            <a:r>
              <a:rPr lang="en-CA" dirty="0"/>
              <a:t>Dr. Vijeta Khare</a:t>
            </a:r>
          </a:p>
        </p:txBody>
      </p:sp>
    </p:spTree>
    <p:extLst>
      <p:ext uri="{BB962C8B-B14F-4D97-AF65-F5344CB8AC3E}">
        <p14:creationId xmlns:p14="http://schemas.microsoft.com/office/powerpoint/2010/main" val="19719959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1306AB0-9F10-47E4-A736-22431DA6B02F}"/>
              </a:ext>
            </a:extLst>
          </p:cNvPr>
          <p:cNvSpPr/>
          <p:nvPr/>
        </p:nvSpPr>
        <p:spPr>
          <a:xfrm>
            <a:off x="1334278" y="1501386"/>
            <a:ext cx="9190653" cy="1846659"/>
          </a:xfrm>
          <a:prstGeom prst="rect">
            <a:avLst/>
          </a:prstGeom>
        </p:spPr>
        <p:txBody>
          <a:bodyPr wrap="square">
            <a:spAutoFit/>
          </a:bodyPr>
          <a:lstStyle/>
          <a:p>
            <a:pPr algn="ctr">
              <a:defRPr/>
            </a:pPr>
            <a:r>
              <a:rPr lang="en-US" altLang="en-US" sz="2400" b="1" u="sng" dirty="0">
                <a:solidFill>
                  <a:schemeClr val="bg1"/>
                </a:solidFill>
                <a:latin typeface="Arial" charset="0"/>
                <a:ea typeface="ＭＳ Ｐゴシック" panose="020B0600070205080204" pitchFamily="34" charset="-128"/>
                <a:cs typeface="Arial" charset="0"/>
              </a:rPr>
              <a:t>Penetration Testing or Pen Test</a:t>
            </a:r>
          </a:p>
          <a:p>
            <a:pPr algn="ctr">
              <a:defRPr/>
            </a:pPr>
            <a:endParaRPr lang="en-US" altLang="en-US" b="1" u="sng" dirty="0">
              <a:latin typeface="Arial" charset="0"/>
              <a:ea typeface="ＭＳ Ｐゴシック" panose="020B0600070205080204" pitchFamily="34" charset="-128"/>
              <a:cs typeface="Arial" charset="0"/>
            </a:endParaRPr>
          </a:p>
          <a:p>
            <a:pPr algn="ctr">
              <a:defRPr/>
            </a:pPr>
            <a:endParaRPr lang="en-US" altLang="en-US" b="1" dirty="0">
              <a:latin typeface="Arial" charset="0"/>
              <a:ea typeface="ＭＳ Ｐゴシック" panose="020B0600070205080204" pitchFamily="34" charset="-128"/>
              <a:cs typeface="Arial" charset="0"/>
            </a:endParaRPr>
          </a:p>
          <a:p>
            <a:pPr marL="214313" indent="-214313">
              <a:buFont typeface="Wingdings" panose="05000000000000000000" pitchFamily="2" charset="2"/>
              <a:buChar char="ü"/>
              <a:defRPr/>
            </a:pPr>
            <a:r>
              <a:rPr lang="en-US" dirty="0"/>
              <a:t>Penetration Testing (Pen Testing) is an </a:t>
            </a:r>
            <a:r>
              <a:rPr lang="en-US" b="1" dirty="0"/>
              <a:t>authorized security assessment</a:t>
            </a:r>
            <a:r>
              <a:rPr lang="en-US" dirty="0"/>
              <a:t> that simulates real-world cyberattacks to identify and validate vulnerabilities in systems, networks, or applications.</a:t>
            </a:r>
            <a:endParaRPr lang="en-US" altLang="en-US" dirty="0">
              <a:latin typeface="Arial" charset="0"/>
              <a:ea typeface="ＭＳ Ｐゴシック" panose="020B0600070205080204" pitchFamily="34" charset="-128"/>
              <a:cs typeface="Arial"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A50156D-8627-467D-96D7-41A58961A74A}"/>
              </a:ext>
            </a:extLst>
          </p:cNvPr>
          <p:cNvSpPr/>
          <p:nvPr/>
        </p:nvSpPr>
        <p:spPr>
          <a:xfrm>
            <a:off x="709606" y="2133460"/>
            <a:ext cx="7875037" cy="3693319"/>
          </a:xfrm>
          <a:prstGeom prst="rect">
            <a:avLst/>
          </a:prstGeom>
        </p:spPr>
        <p:txBody>
          <a:bodyPr wrap="square">
            <a:spAutoFit/>
          </a:bodyPr>
          <a:lstStyle/>
          <a:p>
            <a:pPr algn="ctr">
              <a:defRPr/>
            </a:pPr>
            <a:endParaRPr lang="en-GB" b="1" u="sng" dirty="0">
              <a:ea typeface="ＭＳ Ｐゴシック" panose="020B0600070205080204" pitchFamily="34" charset="-128"/>
            </a:endParaRPr>
          </a:p>
          <a:p>
            <a:r>
              <a:rPr lang="en-CA" b="1" dirty="0"/>
              <a:t>1. Planning &amp; Scoping</a:t>
            </a:r>
          </a:p>
          <a:p>
            <a:r>
              <a:rPr lang="en-CA" dirty="0"/>
              <a:t>Define objectives, scope, timeline, and rules of engagement</a:t>
            </a:r>
          </a:p>
          <a:p>
            <a:r>
              <a:rPr lang="en-CA" dirty="0"/>
              <a:t>Decide testing type: </a:t>
            </a:r>
            <a:r>
              <a:rPr lang="en-CA" b="1" dirty="0"/>
              <a:t>Black Box, White Box, Grey Box</a:t>
            </a:r>
            <a:endParaRPr lang="en-CA" dirty="0"/>
          </a:p>
          <a:p>
            <a:r>
              <a:rPr lang="en-CA" dirty="0"/>
              <a:t>Obtain </a:t>
            </a:r>
            <a:r>
              <a:rPr lang="en-CA" b="1" dirty="0"/>
              <a:t>written legal authorization</a:t>
            </a:r>
            <a:br>
              <a:rPr lang="en-CA" dirty="0"/>
            </a:br>
            <a:r>
              <a:rPr lang="en-CA" b="1" dirty="0"/>
              <a:t>Tools/Artifacts:</a:t>
            </a:r>
            <a:r>
              <a:rPr lang="en-CA" dirty="0"/>
              <a:t> Scope document, SOW, approval emails</a:t>
            </a:r>
          </a:p>
          <a:p>
            <a:endParaRPr lang="en-CA" dirty="0"/>
          </a:p>
          <a:p>
            <a:r>
              <a:rPr lang="en-CA" b="1" dirty="0"/>
              <a:t>2. Reconnaissance (Information Gathering)</a:t>
            </a:r>
          </a:p>
          <a:p>
            <a:r>
              <a:rPr lang="en-CA" dirty="0"/>
              <a:t>Collect target information to understand the attack surface</a:t>
            </a:r>
          </a:p>
          <a:p>
            <a:r>
              <a:rPr lang="en-CA" b="1" dirty="0"/>
              <a:t>Passive:</a:t>
            </a:r>
            <a:r>
              <a:rPr lang="en-CA" dirty="0"/>
              <a:t> Google </a:t>
            </a:r>
            <a:r>
              <a:rPr lang="en-CA" dirty="0" err="1"/>
              <a:t>dorking</a:t>
            </a:r>
            <a:r>
              <a:rPr lang="en-CA" dirty="0"/>
              <a:t>, WHOIS, social media</a:t>
            </a:r>
          </a:p>
          <a:p>
            <a:r>
              <a:rPr lang="en-CA" b="1" dirty="0"/>
              <a:t>Active:</a:t>
            </a:r>
            <a:r>
              <a:rPr lang="en-CA" dirty="0"/>
              <a:t> DNS queries, ping sweeps</a:t>
            </a:r>
          </a:p>
          <a:p>
            <a:r>
              <a:rPr lang="en-CA" b="1" dirty="0"/>
              <a:t>Tools:</a:t>
            </a:r>
            <a:r>
              <a:rPr lang="en-CA" dirty="0"/>
              <a:t> WHOIS, </a:t>
            </a:r>
            <a:r>
              <a:rPr lang="en-CA" dirty="0" err="1"/>
              <a:t>Maltego</a:t>
            </a:r>
            <a:r>
              <a:rPr lang="en-CA" dirty="0"/>
              <a:t>, </a:t>
            </a:r>
            <a:r>
              <a:rPr lang="en-CA" dirty="0" err="1"/>
              <a:t>theHarvester</a:t>
            </a:r>
            <a:br>
              <a:rPr lang="en-CA" dirty="0"/>
            </a:br>
            <a:endParaRPr lang="en-CA" dirty="0"/>
          </a:p>
        </p:txBody>
      </p:sp>
      <p:sp>
        <p:nvSpPr>
          <p:cNvPr id="2" name="Rectangle 1">
            <a:extLst>
              <a:ext uri="{FF2B5EF4-FFF2-40B4-BE49-F238E27FC236}">
                <a16:creationId xmlns:a16="http://schemas.microsoft.com/office/drawing/2014/main" id="{7941E813-2E05-4670-8D7A-DDDF8C516B52}"/>
              </a:ext>
            </a:extLst>
          </p:cNvPr>
          <p:cNvSpPr/>
          <p:nvPr/>
        </p:nvSpPr>
        <p:spPr>
          <a:xfrm>
            <a:off x="3163947" y="902351"/>
            <a:ext cx="5864106" cy="461665"/>
          </a:xfrm>
          <a:prstGeom prst="rect">
            <a:avLst/>
          </a:prstGeom>
        </p:spPr>
        <p:txBody>
          <a:bodyPr wrap="none">
            <a:spAutoFit/>
          </a:bodyPr>
          <a:lstStyle/>
          <a:p>
            <a:pPr algn="ctr">
              <a:defRPr/>
            </a:pPr>
            <a:r>
              <a:rPr lang="en-GB" sz="2400" b="1" u="sng" dirty="0">
                <a:solidFill>
                  <a:schemeClr val="bg1"/>
                </a:solidFill>
                <a:ea typeface="ＭＳ Ｐゴシック" panose="020B0600070205080204" pitchFamily="34" charset="-128"/>
              </a:rPr>
              <a:t>Penetration Testing Life Cycle-  Phases</a:t>
            </a:r>
          </a:p>
        </p:txBody>
      </p:sp>
      <p:pic>
        <p:nvPicPr>
          <p:cNvPr id="7" name="Picture 6">
            <a:extLst>
              <a:ext uri="{FF2B5EF4-FFF2-40B4-BE49-F238E27FC236}">
                <a16:creationId xmlns:a16="http://schemas.microsoft.com/office/drawing/2014/main" id="{B05D609E-8F92-4135-8431-B81D9535C781}"/>
              </a:ext>
            </a:extLst>
          </p:cNvPr>
          <p:cNvPicPr>
            <a:picLocks noChangeAspect="1"/>
          </p:cNvPicPr>
          <p:nvPr/>
        </p:nvPicPr>
        <p:blipFill>
          <a:blip r:embed="rId2"/>
          <a:stretch>
            <a:fillRect/>
          </a:stretch>
        </p:blipFill>
        <p:spPr>
          <a:xfrm>
            <a:off x="8271462" y="2528037"/>
            <a:ext cx="3760282" cy="326944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B858B2-693D-4C07-A6A3-308619494559}"/>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37E5BA67-ABF3-4B09-A42B-88E2BBFF99F7}"/>
              </a:ext>
            </a:extLst>
          </p:cNvPr>
          <p:cNvSpPr>
            <a:spLocks noGrp="1"/>
          </p:cNvSpPr>
          <p:nvPr>
            <p:ph idx="1"/>
          </p:nvPr>
        </p:nvSpPr>
        <p:spPr>
          <a:xfrm>
            <a:off x="1154954" y="2196445"/>
            <a:ext cx="10411735" cy="4440025"/>
          </a:xfrm>
        </p:spPr>
        <p:txBody>
          <a:bodyPr>
            <a:normAutofit fontScale="85000" lnSpcReduction="20000"/>
          </a:bodyPr>
          <a:lstStyle/>
          <a:p>
            <a:pPr marL="0" indent="0">
              <a:buNone/>
            </a:pPr>
            <a:r>
              <a:rPr lang="en-US" b="1" dirty="0"/>
              <a:t>3. Scanning &amp; Enumeration</a:t>
            </a:r>
          </a:p>
          <a:p>
            <a:r>
              <a:rPr lang="en-US" dirty="0"/>
              <a:t>Identify live hosts, open ports, services, and OS</a:t>
            </a:r>
          </a:p>
          <a:p>
            <a:r>
              <a:rPr lang="en-US" dirty="0"/>
              <a:t>Enumeration extracts detailed system information</a:t>
            </a:r>
          </a:p>
          <a:p>
            <a:r>
              <a:rPr lang="en-US" b="1" dirty="0"/>
              <a:t>Tools:</a:t>
            </a:r>
            <a:r>
              <a:rPr lang="en-US" dirty="0"/>
              <a:t> Nmap, </a:t>
            </a:r>
            <a:r>
              <a:rPr lang="en-US" dirty="0" err="1"/>
              <a:t>Masscan</a:t>
            </a:r>
            <a:endParaRPr lang="en-US" dirty="0"/>
          </a:p>
          <a:p>
            <a:pPr marL="0" indent="0">
              <a:buNone/>
            </a:pPr>
            <a:br>
              <a:rPr lang="en-US" dirty="0"/>
            </a:br>
            <a:r>
              <a:rPr lang="en-CA" b="1" dirty="0"/>
              <a:t>4. Vulnerability Analysis</a:t>
            </a:r>
          </a:p>
          <a:p>
            <a:r>
              <a:rPr lang="en-CA" dirty="0"/>
              <a:t>Identify known vulnerabilities</a:t>
            </a:r>
          </a:p>
          <a:p>
            <a:r>
              <a:rPr lang="en-CA" dirty="0"/>
              <a:t>Map services to </a:t>
            </a:r>
            <a:r>
              <a:rPr lang="en-CA" b="1" dirty="0"/>
              <a:t>CVE</a:t>
            </a:r>
            <a:r>
              <a:rPr lang="en-CA" dirty="0"/>
              <a:t> (Common Vulnerabilities and Exposures)band assess risk using </a:t>
            </a:r>
            <a:r>
              <a:rPr lang="en-CA" b="1" dirty="0"/>
              <a:t>CVSS (</a:t>
            </a:r>
            <a:r>
              <a:rPr lang="en-CA" dirty="0"/>
              <a:t>Common Vulnerability Scoring System)</a:t>
            </a:r>
          </a:p>
          <a:p>
            <a:r>
              <a:rPr lang="en-CA" b="1" dirty="0"/>
              <a:t>Tools:</a:t>
            </a:r>
            <a:r>
              <a:rPr lang="en-CA" dirty="0"/>
              <a:t> Nessus, OpenVAS</a:t>
            </a:r>
            <a:br>
              <a:rPr lang="en-CA" dirty="0"/>
            </a:br>
            <a:endParaRPr lang="en-CA" dirty="0"/>
          </a:p>
          <a:p>
            <a:pPr marL="0" indent="0">
              <a:buNone/>
            </a:pPr>
            <a:r>
              <a:rPr lang="en-CA" b="1" dirty="0"/>
              <a:t>5. Exploitation</a:t>
            </a:r>
          </a:p>
          <a:p>
            <a:r>
              <a:rPr lang="en-CA" dirty="0"/>
              <a:t>Exploit vulnerabilities to gain access</a:t>
            </a:r>
          </a:p>
          <a:p>
            <a:r>
              <a:rPr lang="en-CA" dirty="0"/>
              <a:t>Perform privilege escalation if possible</a:t>
            </a:r>
          </a:p>
          <a:p>
            <a:r>
              <a:rPr lang="en-CA" b="1" dirty="0"/>
              <a:t>Tools:</a:t>
            </a:r>
            <a:r>
              <a:rPr lang="en-CA" dirty="0"/>
              <a:t> Metasploit, </a:t>
            </a:r>
            <a:r>
              <a:rPr lang="en-CA" dirty="0" err="1"/>
              <a:t>SQLmap</a:t>
            </a:r>
            <a:r>
              <a:rPr lang="en-CA" dirty="0"/>
              <a:t>, Burp Suite</a:t>
            </a:r>
            <a:br>
              <a:rPr lang="en-CA" dirty="0"/>
            </a:br>
            <a:endParaRPr lang="en-CA" dirty="0"/>
          </a:p>
        </p:txBody>
      </p:sp>
    </p:spTree>
    <p:extLst>
      <p:ext uri="{BB962C8B-B14F-4D97-AF65-F5344CB8AC3E}">
        <p14:creationId xmlns:p14="http://schemas.microsoft.com/office/powerpoint/2010/main" val="13065566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006DB3-1C37-4834-BF0E-B742971FC853}"/>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53F94704-72BD-46C7-9788-26FA62B6991E}"/>
              </a:ext>
            </a:extLst>
          </p:cNvPr>
          <p:cNvSpPr>
            <a:spLocks noGrp="1"/>
          </p:cNvSpPr>
          <p:nvPr>
            <p:ph idx="1"/>
          </p:nvPr>
        </p:nvSpPr>
        <p:spPr>
          <a:xfrm>
            <a:off x="1154954" y="2337847"/>
            <a:ext cx="9987528" cy="4194927"/>
          </a:xfrm>
        </p:spPr>
        <p:txBody>
          <a:bodyPr>
            <a:normAutofit fontScale="92500" lnSpcReduction="10000"/>
          </a:bodyPr>
          <a:lstStyle/>
          <a:p>
            <a:pPr marL="0" indent="0">
              <a:buNone/>
            </a:pPr>
            <a:r>
              <a:rPr lang="en-US" b="1" dirty="0"/>
              <a:t>6. Post-Exploitation</a:t>
            </a:r>
          </a:p>
          <a:p>
            <a:r>
              <a:rPr lang="en-US" dirty="0"/>
              <a:t>Assess impact of compromise</a:t>
            </a:r>
          </a:p>
          <a:p>
            <a:r>
              <a:rPr lang="en-US" dirty="0"/>
              <a:t>Data access, lateral movement, persistence testing</a:t>
            </a:r>
          </a:p>
          <a:p>
            <a:r>
              <a:rPr lang="en-US" b="1" dirty="0"/>
              <a:t>Examples:</a:t>
            </a:r>
            <a:r>
              <a:rPr lang="en-US" dirty="0"/>
              <a:t> Credential dumping, pivoting</a:t>
            </a:r>
            <a:br>
              <a:rPr lang="en-US" dirty="0"/>
            </a:br>
            <a:r>
              <a:rPr lang="en-US" b="1" dirty="0"/>
              <a:t>Goal:</a:t>
            </a:r>
            <a:r>
              <a:rPr lang="en-US" dirty="0"/>
              <a:t> Impact assessment, not system damage</a:t>
            </a:r>
          </a:p>
          <a:p>
            <a:pPr marL="0" indent="0">
              <a:buNone/>
            </a:pPr>
            <a:r>
              <a:rPr lang="en-US" b="1" dirty="0"/>
              <a:t>7. Reporting</a:t>
            </a:r>
          </a:p>
          <a:p>
            <a:r>
              <a:rPr lang="en-US" dirty="0"/>
              <a:t>Document vulnerabilities, evidence, impact, and remediation</a:t>
            </a:r>
          </a:p>
          <a:p>
            <a:r>
              <a:rPr lang="en-US" dirty="0"/>
              <a:t>Include </a:t>
            </a:r>
            <a:r>
              <a:rPr lang="en-US" b="1" dirty="0"/>
              <a:t>Executive Summary</a:t>
            </a:r>
            <a:r>
              <a:rPr lang="en-US" dirty="0"/>
              <a:t> and </a:t>
            </a:r>
            <a:r>
              <a:rPr lang="en-US" b="1" dirty="0"/>
              <a:t>Technical Report</a:t>
            </a:r>
            <a:endParaRPr lang="en-US" dirty="0"/>
          </a:p>
          <a:p>
            <a:pPr marL="0" indent="0">
              <a:buNone/>
            </a:pPr>
            <a:r>
              <a:rPr lang="en-US" b="1" dirty="0"/>
              <a:t>8. Cleanup &amp; Retesting</a:t>
            </a:r>
          </a:p>
          <a:p>
            <a:r>
              <a:rPr lang="en-US" dirty="0"/>
              <a:t>Remove test artifacts and restore systems</a:t>
            </a:r>
          </a:p>
          <a:p>
            <a:r>
              <a:rPr lang="en-US" dirty="0"/>
              <a:t>Retest to verify fixes</a:t>
            </a:r>
          </a:p>
          <a:p>
            <a:r>
              <a:rPr lang="en-US" b="1" dirty="0"/>
              <a:t>Also called:</a:t>
            </a:r>
            <a:r>
              <a:rPr lang="en-US" dirty="0"/>
              <a:t> Validation testing</a:t>
            </a:r>
          </a:p>
          <a:p>
            <a:endParaRPr lang="en-CA" dirty="0"/>
          </a:p>
        </p:txBody>
      </p:sp>
    </p:spTree>
    <p:extLst>
      <p:ext uri="{BB962C8B-B14F-4D97-AF65-F5344CB8AC3E}">
        <p14:creationId xmlns:p14="http://schemas.microsoft.com/office/powerpoint/2010/main" val="3694815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Rectangle 4"/>
          <p:cNvSpPr>
            <a:spLocks noGrp="1"/>
          </p:cNvSpPr>
          <p:nvPr>
            <p:ph type="ctrTitle"/>
          </p:nvPr>
        </p:nvSpPr>
        <p:spPr>
          <a:xfrm>
            <a:off x="1981200" y="1506539"/>
            <a:ext cx="8229600" cy="1470025"/>
          </a:xfrm>
          <a:ln/>
        </p:spPr>
        <p:txBody>
          <a:bodyPr vert="horz" wrap="square" lIns="91440" tIns="45720" rIns="91440" bIns="91440" rtlCol="0" anchor="ctr">
            <a:noAutofit/>
          </a:bodyPr>
          <a:lstStyle/>
          <a:p>
            <a:pPr>
              <a:buClrTx/>
              <a:buSzTx/>
              <a:buFontTx/>
            </a:pPr>
            <a:r>
              <a:rPr kumimoji="0" lang="en-US" altLang="zh-TW" kern="1200" dirty="0">
                <a:solidFill>
                  <a:srgbClr val="FFFFFF"/>
                </a:solidFill>
                <a:latin typeface="+mj-lt"/>
                <a:ea typeface="+mj-ea"/>
                <a:cs typeface="+mj-cs"/>
              </a:rPr>
              <a:t>Network </a:t>
            </a:r>
            <a:r>
              <a:rPr kumimoji="0" lang="en-IN" altLang="en-US" kern="1200" dirty="0">
                <a:solidFill>
                  <a:srgbClr val="FFFFFF"/>
                </a:solidFill>
                <a:latin typeface="+mj-lt"/>
                <a:ea typeface="+mj-ea"/>
                <a:cs typeface="+mj-cs"/>
              </a:rPr>
              <a:t>Scanning</a:t>
            </a:r>
            <a:r>
              <a:rPr kumimoji="0" lang="en-US" altLang="zh-TW" kern="1200" dirty="0">
                <a:solidFill>
                  <a:srgbClr val="FFFFFF"/>
                </a:solidFill>
                <a:latin typeface="+mj-lt"/>
                <a:ea typeface="+mj-ea"/>
                <a:cs typeface="+mj-cs"/>
              </a:rPr>
              <a:t>  with Nmap</a:t>
            </a:r>
            <a:endParaRPr kumimoji="0" lang="en-IN" altLang="en-US" kern="1200" dirty="0">
              <a:solidFill>
                <a:srgbClr val="FFFFFF"/>
              </a:solidFill>
              <a:latin typeface="+mj-lt"/>
              <a:ea typeface="+mj-ea"/>
              <a:cs typeface="+mj-cs"/>
            </a:endParaRPr>
          </a:p>
        </p:txBody>
      </p:sp>
      <p:sp>
        <p:nvSpPr>
          <p:cNvPr id="3" name="Subtitle 2">
            <a:extLst>
              <a:ext uri="{FF2B5EF4-FFF2-40B4-BE49-F238E27FC236}">
                <a16:creationId xmlns:a16="http://schemas.microsoft.com/office/drawing/2014/main" id="{3C4EB367-D932-4685-AE76-59E61025738B}"/>
              </a:ext>
            </a:extLst>
          </p:cNvPr>
          <p:cNvSpPr>
            <a:spLocks noGrp="1"/>
          </p:cNvSpPr>
          <p:nvPr>
            <p:ph type="subTitle" idx="1"/>
          </p:nvPr>
        </p:nvSpPr>
        <p:spPr/>
        <p:txBody>
          <a:bodyPr/>
          <a:lstStyle/>
          <a:p>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p:cNvSpPr>
          <p:nvPr>
            <p:ph type="title"/>
          </p:nvPr>
        </p:nvSpPr>
        <p:spPr>
          <a:ln/>
        </p:spPr>
        <p:txBody>
          <a:bodyPr vert="horz" wrap="square" lIns="91440" tIns="45720" rIns="91440" bIns="91440" rtlCol="0" anchor="b">
            <a:noAutofit/>
          </a:bodyPr>
          <a:lstStyle/>
          <a:p>
            <a:r>
              <a:rPr lang="en-US" altLang="zh-TW" u="sng" dirty="0">
                <a:solidFill>
                  <a:srgbClr val="FF3300"/>
                </a:solidFill>
                <a:latin typeface="Times New Roman" panose="02020603050405020304" pitchFamily="18" charset="0"/>
                <a:cs typeface="Times New Roman" panose="02020603050405020304" pitchFamily="18" charset="0"/>
              </a:rPr>
              <a:t>Introduction</a:t>
            </a:r>
          </a:p>
        </p:txBody>
      </p:sp>
      <p:sp>
        <p:nvSpPr>
          <p:cNvPr id="71683" name="Rectangle 3"/>
          <p:cNvSpPr>
            <a:spLocks noGrp="1"/>
          </p:cNvSpPr>
          <p:nvPr>
            <p:ph sz="quarter" idx="1"/>
          </p:nvPr>
        </p:nvSpPr>
        <p:spPr>
          <a:xfrm>
            <a:off x="1312844" y="2014059"/>
            <a:ext cx="8338120" cy="4285456"/>
          </a:xfrm>
          <a:ln/>
        </p:spPr>
        <p:txBody>
          <a:bodyPr wrap="square" anchor="t"/>
          <a:lstStyle/>
          <a:p>
            <a:pPr>
              <a:buClr>
                <a:schemeClr val="accent1"/>
              </a:buClr>
              <a:buSzPct val="85000"/>
              <a:buFont typeface="Wingdings 2" panose="05020102010507070707" pitchFamily="18" charset="2"/>
            </a:pPr>
            <a:endParaRPr lang="en-US" altLang="zh-TW" dirty="0"/>
          </a:p>
          <a:p>
            <a:pPr>
              <a:buClr>
                <a:schemeClr val="accent1"/>
              </a:buClr>
              <a:buSzPct val="85000"/>
              <a:buFont typeface="Wingdings 2" panose="05020102010507070707" pitchFamily="18" charset="2"/>
            </a:pPr>
            <a:r>
              <a:rPr lang="en-US" altLang="zh-TW" sz="2400" b="1" dirty="0"/>
              <a:t>The first step is Information Gathering in Penetration Testing</a:t>
            </a:r>
          </a:p>
          <a:p>
            <a:pPr marL="0" indent="0">
              <a:buSzPct val="85000"/>
              <a:buNone/>
            </a:pPr>
            <a:endParaRPr lang="en-US" altLang="zh-TW" dirty="0"/>
          </a:p>
          <a:p>
            <a:r>
              <a:rPr lang="en-US" altLang="zh-TW" sz="2400" dirty="0"/>
              <a:t>Discover the services which are open or closed</a:t>
            </a:r>
          </a:p>
          <a:p>
            <a:r>
              <a:rPr lang="en-US" altLang="zh-TW" sz="2400" dirty="0"/>
              <a:t>Version label</a:t>
            </a:r>
          </a:p>
          <a:p>
            <a:r>
              <a:rPr lang="en-US" altLang="zh-TW" sz="2400" dirty="0"/>
              <a:t>Operation System and its types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7168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168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168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1683">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xit" presetSubtype="4" fill="hold" nodeType="clickEffect">
                                  <p:stCondLst>
                                    <p:cond delay="0"/>
                                  </p:stCondLst>
                                  <p:childTnLst>
                                    <p:anim calcmode="lin" valueType="num">
                                      <p:cBhvr additive="base">
                                        <p:cTn id="16" dur="500"/>
                                        <p:tgtEl>
                                          <p:spTgt spid="71683">
                                            <p:txEl>
                                              <p:pRg st="1" end="1"/>
                                            </p:txEl>
                                          </p:spTgt>
                                        </p:tgtEl>
                                        <p:attrNameLst>
                                          <p:attrName>ppt_x</p:attrName>
                                        </p:attrNameLst>
                                      </p:cBhvr>
                                      <p:tavLst>
                                        <p:tav tm="0">
                                          <p:val>
                                            <p:strVal val="ppt_x"/>
                                          </p:val>
                                        </p:tav>
                                        <p:tav tm="100000">
                                          <p:val>
                                            <p:strVal val="ppt_x"/>
                                          </p:val>
                                        </p:tav>
                                      </p:tavLst>
                                    </p:anim>
                                    <p:anim calcmode="lin" valueType="num">
                                      <p:cBhvr additive="base">
                                        <p:cTn id="17" dur="500"/>
                                        <p:tgtEl>
                                          <p:spTgt spid="71683">
                                            <p:txEl>
                                              <p:pRg st="1" end="1"/>
                                            </p:txEl>
                                          </p:spTgt>
                                        </p:tgtEl>
                                        <p:attrNameLst>
                                          <p:attrName>ppt_y</p:attrName>
                                        </p:attrNameLst>
                                      </p:cBhvr>
                                      <p:tavLst>
                                        <p:tav tm="0">
                                          <p:val>
                                            <p:strVal val="ppt_y"/>
                                          </p:val>
                                        </p:tav>
                                        <p:tav tm="100000">
                                          <p:val>
                                            <p:strVal val="1+ppt_h/2"/>
                                          </p:val>
                                        </p:tav>
                                      </p:tavLst>
                                    </p:anim>
                                    <p:set>
                                      <p:cBhvr>
                                        <p:cTn id="18" dur="1" fill="hold">
                                          <p:stCondLst>
                                            <p:cond delay="499"/>
                                          </p:stCondLst>
                                        </p:cTn>
                                        <p:tgtEl>
                                          <p:spTgt spid="71683">
                                            <p:txEl>
                                              <p:pRg st="1" end="1"/>
                                            </p:txEl>
                                          </p:spTgt>
                                        </p:tgtEl>
                                        <p:attrNameLst>
                                          <p:attrName>style.visibility</p:attrName>
                                        </p:attrNameLst>
                                      </p:cBhvr>
                                      <p:to>
                                        <p:strVal val="hidden"/>
                                      </p:to>
                                    </p:set>
                                  </p:childTnLst>
                                </p:cTn>
                              </p:par>
                              <p:par>
                                <p:cTn id="19" presetID="2" presetClass="exit" presetSubtype="4" fill="hold" nodeType="withEffect">
                                  <p:stCondLst>
                                    <p:cond delay="0"/>
                                  </p:stCondLst>
                                  <p:childTnLst>
                                    <p:anim calcmode="lin" valueType="num">
                                      <p:cBhvr additive="base">
                                        <p:cTn id="20" dur="500"/>
                                        <p:tgtEl>
                                          <p:spTgt spid="71683">
                                            <p:txEl>
                                              <p:pRg st="3" end="3"/>
                                            </p:txEl>
                                          </p:spTgt>
                                        </p:tgtEl>
                                        <p:attrNameLst>
                                          <p:attrName>ppt_x</p:attrName>
                                        </p:attrNameLst>
                                      </p:cBhvr>
                                      <p:tavLst>
                                        <p:tav tm="0">
                                          <p:val>
                                            <p:strVal val="ppt_x"/>
                                          </p:val>
                                        </p:tav>
                                        <p:tav tm="100000">
                                          <p:val>
                                            <p:strVal val="ppt_x"/>
                                          </p:val>
                                        </p:tav>
                                      </p:tavLst>
                                    </p:anim>
                                    <p:anim calcmode="lin" valueType="num">
                                      <p:cBhvr additive="base">
                                        <p:cTn id="21" dur="500"/>
                                        <p:tgtEl>
                                          <p:spTgt spid="71683">
                                            <p:txEl>
                                              <p:pRg st="3" end="3"/>
                                            </p:txEl>
                                          </p:spTgt>
                                        </p:tgtEl>
                                        <p:attrNameLst>
                                          <p:attrName>ppt_y</p:attrName>
                                        </p:attrNameLst>
                                      </p:cBhvr>
                                      <p:tavLst>
                                        <p:tav tm="0">
                                          <p:val>
                                            <p:strVal val="ppt_y"/>
                                          </p:val>
                                        </p:tav>
                                        <p:tav tm="100000">
                                          <p:val>
                                            <p:strVal val="1+ppt_h/2"/>
                                          </p:val>
                                        </p:tav>
                                      </p:tavLst>
                                    </p:anim>
                                    <p:set>
                                      <p:cBhvr>
                                        <p:cTn id="22" dur="1" fill="hold">
                                          <p:stCondLst>
                                            <p:cond delay="499"/>
                                          </p:stCondLst>
                                        </p:cTn>
                                        <p:tgtEl>
                                          <p:spTgt spid="71683">
                                            <p:txEl>
                                              <p:pRg st="3" end="3"/>
                                            </p:txEl>
                                          </p:spTgt>
                                        </p:tgtEl>
                                        <p:attrNameLst>
                                          <p:attrName>style.visibility</p:attrName>
                                        </p:attrNameLst>
                                      </p:cBhvr>
                                      <p:to>
                                        <p:strVal val="hidden"/>
                                      </p:to>
                                    </p:set>
                                  </p:childTnLst>
                                </p:cTn>
                              </p:par>
                              <p:par>
                                <p:cTn id="23" presetID="2" presetClass="exit" presetSubtype="4" fill="hold" nodeType="withEffect">
                                  <p:stCondLst>
                                    <p:cond delay="0"/>
                                  </p:stCondLst>
                                  <p:childTnLst>
                                    <p:anim calcmode="lin" valueType="num">
                                      <p:cBhvr additive="base">
                                        <p:cTn id="24" dur="500"/>
                                        <p:tgtEl>
                                          <p:spTgt spid="71683">
                                            <p:txEl>
                                              <p:pRg st="4" end="4"/>
                                            </p:txEl>
                                          </p:spTgt>
                                        </p:tgtEl>
                                        <p:attrNameLst>
                                          <p:attrName>ppt_x</p:attrName>
                                        </p:attrNameLst>
                                      </p:cBhvr>
                                      <p:tavLst>
                                        <p:tav tm="0">
                                          <p:val>
                                            <p:strVal val="ppt_x"/>
                                          </p:val>
                                        </p:tav>
                                        <p:tav tm="100000">
                                          <p:val>
                                            <p:strVal val="ppt_x"/>
                                          </p:val>
                                        </p:tav>
                                      </p:tavLst>
                                    </p:anim>
                                    <p:anim calcmode="lin" valueType="num">
                                      <p:cBhvr additive="base">
                                        <p:cTn id="25" dur="500"/>
                                        <p:tgtEl>
                                          <p:spTgt spid="71683">
                                            <p:txEl>
                                              <p:pRg st="4" end="4"/>
                                            </p:txEl>
                                          </p:spTgt>
                                        </p:tgtEl>
                                        <p:attrNameLst>
                                          <p:attrName>ppt_y</p:attrName>
                                        </p:attrNameLst>
                                      </p:cBhvr>
                                      <p:tavLst>
                                        <p:tav tm="0">
                                          <p:val>
                                            <p:strVal val="ppt_y"/>
                                          </p:val>
                                        </p:tav>
                                        <p:tav tm="100000">
                                          <p:val>
                                            <p:strVal val="1+ppt_h/2"/>
                                          </p:val>
                                        </p:tav>
                                      </p:tavLst>
                                    </p:anim>
                                    <p:set>
                                      <p:cBhvr>
                                        <p:cTn id="26" dur="1" fill="hold">
                                          <p:stCondLst>
                                            <p:cond delay="499"/>
                                          </p:stCondLst>
                                        </p:cTn>
                                        <p:tgtEl>
                                          <p:spTgt spid="71683">
                                            <p:txEl>
                                              <p:pRg st="4" end="4"/>
                                            </p:txEl>
                                          </p:spTgt>
                                        </p:tgtEl>
                                        <p:attrNameLst>
                                          <p:attrName>style.visibility</p:attrName>
                                        </p:attrNameLst>
                                      </p:cBhvr>
                                      <p:to>
                                        <p:strVal val="hidden"/>
                                      </p:to>
                                    </p:set>
                                  </p:childTnLst>
                                </p:cTn>
                              </p:par>
                              <p:par>
                                <p:cTn id="27" presetID="2" presetClass="exit" presetSubtype="4" fill="hold" nodeType="withEffect">
                                  <p:stCondLst>
                                    <p:cond delay="0"/>
                                  </p:stCondLst>
                                  <p:childTnLst>
                                    <p:anim calcmode="lin" valueType="num">
                                      <p:cBhvr additive="base">
                                        <p:cTn id="28" dur="500"/>
                                        <p:tgtEl>
                                          <p:spTgt spid="71683">
                                            <p:txEl>
                                              <p:pRg st="5" end="5"/>
                                            </p:txEl>
                                          </p:spTgt>
                                        </p:tgtEl>
                                        <p:attrNameLst>
                                          <p:attrName>ppt_x</p:attrName>
                                        </p:attrNameLst>
                                      </p:cBhvr>
                                      <p:tavLst>
                                        <p:tav tm="0">
                                          <p:val>
                                            <p:strVal val="ppt_x"/>
                                          </p:val>
                                        </p:tav>
                                        <p:tav tm="100000">
                                          <p:val>
                                            <p:strVal val="ppt_x"/>
                                          </p:val>
                                        </p:tav>
                                      </p:tavLst>
                                    </p:anim>
                                    <p:anim calcmode="lin" valueType="num">
                                      <p:cBhvr additive="base">
                                        <p:cTn id="29" dur="500"/>
                                        <p:tgtEl>
                                          <p:spTgt spid="71683">
                                            <p:txEl>
                                              <p:pRg st="5" end="5"/>
                                            </p:txEl>
                                          </p:spTgt>
                                        </p:tgtEl>
                                        <p:attrNameLst>
                                          <p:attrName>ppt_y</p:attrName>
                                        </p:attrNameLst>
                                      </p:cBhvr>
                                      <p:tavLst>
                                        <p:tav tm="0">
                                          <p:val>
                                            <p:strVal val="ppt_y"/>
                                          </p:val>
                                        </p:tav>
                                        <p:tav tm="100000">
                                          <p:val>
                                            <p:strVal val="1+ppt_h/2"/>
                                          </p:val>
                                        </p:tav>
                                      </p:tavLst>
                                    </p:anim>
                                    <p:set>
                                      <p:cBhvr>
                                        <p:cTn id="30" dur="1" fill="hold">
                                          <p:stCondLst>
                                            <p:cond delay="499"/>
                                          </p:stCondLst>
                                        </p:cTn>
                                        <p:tgtEl>
                                          <p:spTgt spid="71683">
                                            <p:txEl>
                                              <p:pRg st="5" end="5"/>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p:cNvSpPr>
          <p:nvPr>
            <p:ph type="title"/>
          </p:nvPr>
        </p:nvSpPr>
        <p:spPr>
          <a:xfrm>
            <a:off x="2438400" y="188640"/>
            <a:ext cx="7772400" cy="1143000"/>
          </a:xfrm>
          <a:ln/>
        </p:spPr>
        <p:txBody>
          <a:bodyPr vert="horz" wrap="square" lIns="91440" tIns="45720" rIns="91440" bIns="91440" rtlCol="0" anchor="b">
            <a:noAutofit/>
          </a:bodyPr>
          <a:lstStyle/>
          <a:p>
            <a:r>
              <a:rPr lang="en-US" altLang="zh-TW" b="1" u="sng" dirty="0">
                <a:latin typeface="Times New Roman" panose="02020603050405020304" pitchFamily="18" charset="0"/>
                <a:cs typeface="Times New Roman" panose="02020603050405020304" pitchFamily="18" charset="0"/>
              </a:rPr>
              <a:t>Pre Study</a:t>
            </a:r>
          </a:p>
        </p:txBody>
      </p:sp>
      <p:sp>
        <p:nvSpPr>
          <p:cNvPr id="19459" name="Rectangle 3"/>
          <p:cNvSpPr>
            <a:spLocks noGrp="1"/>
          </p:cNvSpPr>
          <p:nvPr>
            <p:ph sz="quarter" idx="1"/>
          </p:nvPr>
        </p:nvSpPr>
        <p:spPr>
          <a:xfrm>
            <a:off x="1117632" y="2379565"/>
            <a:ext cx="4828032" cy="3416301"/>
          </a:xfrm>
          <a:ln/>
        </p:spPr>
        <p:txBody>
          <a:bodyPr wrap="square" anchor="t"/>
          <a:lstStyle/>
          <a:p>
            <a:pPr>
              <a:buClr>
                <a:schemeClr val="accent1"/>
              </a:buClr>
              <a:buSzPct val="85000"/>
              <a:buFont typeface="Wingdings 2" panose="05020102010507070707" pitchFamily="18" charset="2"/>
            </a:pPr>
            <a:r>
              <a:rPr lang="en-US" altLang="zh-TW" b="1" dirty="0">
                <a:solidFill>
                  <a:schemeClr val="tx2"/>
                </a:solidFill>
              </a:rPr>
              <a:t>TCP Packet Header</a:t>
            </a:r>
          </a:p>
        </p:txBody>
      </p:sp>
      <p:pic>
        <p:nvPicPr>
          <p:cNvPr id="2" name="Picture 2"/>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2461333" y="2928595"/>
            <a:ext cx="7495366" cy="3649044"/>
          </a:xfrm>
          <a:prstGeom prst="rect">
            <a:avLst/>
          </a:prstGeom>
          <a:noFill/>
          <a:ln>
            <a:noFill/>
          </a:ln>
        </p:spPr>
      </p:pic>
      <p:sp>
        <p:nvSpPr>
          <p:cNvPr id="5" name="TextBox 4">
            <a:extLst>
              <a:ext uri="{FF2B5EF4-FFF2-40B4-BE49-F238E27FC236}">
                <a16:creationId xmlns:a16="http://schemas.microsoft.com/office/drawing/2014/main" id="{2C4A5A17-13B0-44B0-B95F-7B68CDA71312}"/>
              </a:ext>
            </a:extLst>
          </p:cNvPr>
          <p:cNvSpPr txBox="1"/>
          <p:nvPr/>
        </p:nvSpPr>
        <p:spPr>
          <a:xfrm>
            <a:off x="10668000" y="1447800"/>
            <a:ext cx="3204864" cy="4801314"/>
          </a:xfrm>
          <a:prstGeom prst="rect">
            <a:avLst/>
          </a:prstGeom>
          <a:noFill/>
        </p:spPr>
        <p:txBody>
          <a:bodyPr wrap="square" rtlCol="0">
            <a:spAutoFit/>
          </a:bodyPr>
          <a:lstStyle/>
          <a:p>
            <a:r>
              <a:rPr lang="en-IN" dirty="0">
                <a:solidFill>
                  <a:schemeClr val="bg1"/>
                </a:solidFill>
              </a:rPr>
              <a:t>SIZE OF HEADER</a:t>
            </a:r>
          </a:p>
          <a:p>
            <a:r>
              <a:rPr lang="en-IN" dirty="0">
                <a:solidFill>
                  <a:schemeClr val="bg1"/>
                </a:solidFill>
              </a:rPr>
              <a:t>20-60 BYTE</a:t>
            </a:r>
          </a:p>
          <a:p>
            <a:endParaRPr lang="en-IN" dirty="0">
              <a:solidFill>
                <a:schemeClr val="bg1"/>
              </a:solidFill>
            </a:endParaRPr>
          </a:p>
          <a:p>
            <a:r>
              <a:rPr lang="en-IN" dirty="0">
                <a:solidFill>
                  <a:schemeClr val="bg1"/>
                </a:solidFill>
              </a:rPr>
              <a:t>SOURCE PORT 16 </a:t>
            </a:r>
          </a:p>
          <a:p>
            <a:r>
              <a:rPr lang="en-IN" dirty="0">
                <a:solidFill>
                  <a:schemeClr val="bg1"/>
                </a:solidFill>
              </a:rPr>
              <a:t>0-65535</a:t>
            </a:r>
          </a:p>
          <a:p>
            <a:r>
              <a:rPr lang="en-IN" dirty="0">
                <a:solidFill>
                  <a:schemeClr val="bg1"/>
                </a:solidFill>
              </a:rPr>
              <a:t>0-1023 WELL KNOWN PORTS</a:t>
            </a:r>
          </a:p>
          <a:p>
            <a:endParaRPr lang="en-IN" dirty="0">
              <a:solidFill>
                <a:schemeClr val="bg1"/>
              </a:solidFill>
            </a:endParaRPr>
          </a:p>
          <a:p>
            <a:r>
              <a:rPr lang="en-IN" dirty="0">
                <a:solidFill>
                  <a:schemeClr val="bg1"/>
                </a:solidFill>
              </a:rPr>
              <a:t>RANDOM 60001</a:t>
            </a:r>
          </a:p>
          <a:p>
            <a:r>
              <a:rPr lang="en-IN" dirty="0">
                <a:solidFill>
                  <a:schemeClr val="bg1"/>
                </a:solidFill>
              </a:rPr>
              <a:t>DESTINATION  80</a:t>
            </a:r>
          </a:p>
          <a:p>
            <a:endParaRPr lang="en-IN" dirty="0">
              <a:solidFill>
                <a:schemeClr val="bg1"/>
              </a:solidFill>
            </a:endParaRPr>
          </a:p>
          <a:p>
            <a:r>
              <a:rPr lang="en-IN" dirty="0">
                <a:solidFill>
                  <a:schemeClr val="bg1"/>
                </a:solidFill>
              </a:rPr>
              <a:t>TCP</a:t>
            </a:r>
          </a:p>
          <a:p>
            <a:r>
              <a:rPr lang="en-IN" dirty="0">
                <a:solidFill>
                  <a:schemeClr val="bg1"/>
                </a:solidFill>
              </a:rPr>
              <a:t>CONVERT BITS INTO BYTES</a:t>
            </a:r>
          </a:p>
          <a:p>
            <a:r>
              <a:rPr lang="en-IN" dirty="0">
                <a:solidFill>
                  <a:schemeClr val="bg1"/>
                </a:solidFill>
              </a:rPr>
              <a:t>SEGMENT </a:t>
            </a:r>
          </a:p>
          <a:p>
            <a:r>
              <a:rPr lang="en-IN" dirty="0">
                <a:solidFill>
                  <a:schemeClr val="bg1"/>
                </a:solidFill>
              </a:rPr>
              <a:t> 1 1003 1 1002  1  1001</a:t>
            </a:r>
          </a:p>
          <a:p>
            <a:r>
              <a:rPr lang="en-IN" dirty="0">
                <a:solidFill>
                  <a:schemeClr val="bg1"/>
                </a:solidFill>
              </a:rPr>
              <a:t>ACK NUM </a:t>
            </a:r>
          </a:p>
          <a:p>
            <a:r>
              <a:rPr lang="en-IN" dirty="0">
                <a:solidFill>
                  <a:schemeClr val="bg1"/>
                </a:solidFill>
              </a:rPr>
              <a:t>1 1006 1 1005 1 1004</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a:t>
            </a:r>
          </a:p>
        </p:txBody>
      </p:sp>
      <p:sp>
        <p:nvSpPr>
          <p:cNvPr id="4" name="Content Placeholder 3"/>
          <p:cNvSpPr>
            <a:spLocks noGrp="1"/>
          </p:cNvSpPr>
          <p:nvPr>
            <p:ph sz="quarter" idx="2"/>
          </p:nvPr>
        </p:nvSpPr>
        <p:spPr>
          <a:xfrm>
            <a:off x="1766596" y="2519264"/>
            <a:ext cx="7768590" cy="3472543"/>
          </a:xfrm>
        </p:spPr>
        <p:txBody>
          <a:bodyPr/>
          <a:lstStyle/>
          <a:p>
            <a:r>
              <a:rPr lang="en-IN" altLang="en-US" sz="2400" b="1" dirty="0">
                <a:latin typeface="Times New Roman" panose="02020603050405020304" pitchFamily="18" charset="0"/>
                <a:cs typeface="Times New Roman" panose="02020603050405020304" pitchFamily="18" charset="0"/>
              </a:rPr>
              <a:t>Source and Destination Ports</a:t>
            </a:r>
          </a:p>
          <a:p>
            <a:r>
              <a:rPr lang="en-IN" altLang="en-US" sz="2400" b="1" dirty="0">
                <a:latin typeface="Times New Roman" panose="02020603050405020304" pitchFamily="18" charset="0"/>
                <a:cs typeface="Times New Roman" panose="02020603050405020304" pitchFamily="18" charset="0"/>
              </a:rPr>
              <a:t>Sequence Number and Acknowledgment Number </a:t>
            </a:r>
          </a:p>
          <a:p>
            <a:r>
              <a:rPr lang="en-IN" altLang="en-US" sz="2400" b="1" dirty="0">
                <a:latin typeface="Times New Roman" panose="02020603050405020304" pitchFamily="18" charset="0"/>
                <a:cs typeface="Times New Roman" panose="02020603050405020304" pitchFamily="18" charset="0"/>
              </a:rPr>
              <a:t>Data Offset ,Reserve , Control flag, Window</a:t>
            </a:r>
          </a:p>
          <a:p>
            <a:r>
              <a:rPr lang="en-IN" altLang="en-US" sz="2400" b="1" dirty="0">
                <a:latin typeface="Times New Roman" panose="02020603050405020304" pitchFamily="18" charset="0"/>
                <a:cs typeface="Times New Roman" panose="02020603050405020304" pitchFamily="18" charset="0"/>
              </a:rPr>
              <a:t>Checksum, Urgent Pointer </a:t>
            </a:r>
          </a:p>
          <a:p>
            <a:r>
              <a:rPr lang="en-IN" altLang="en-US" sz="2400" b="1" dirty="0">
                <a:latin typeface="Times New Roman" panose="02020603050405020304" pitchFamily="18" charset="0"/>
                <a:cs typeface="Times New Roman" panose="02020603050405020304" pitchFamily="18" charset="0"/>
              </a:rPr>
              <a:t>Options, Padding </a:t>
            </a:r>
          </a:p>
          <a:p>
            <a:r>
              <a:rPr lang="en-IN" altLang="en-US" sz="2400" b="1" dirty="0">
                <a:latin typeface="Times New Roman" panose="02020603050405020304" pitchFamily="18" charset="0"/>
                <a:cs typeface="Times New Roman" panose="02020603050405020304" pitchFamily="18" charset="0"/>
              </a:rPr>
              <a:t>Data</a:t>
            </a:r>
          </a:p>
          <a:p>
            <a:endParaRPr lang="en-IN" altLang="en-US" sz="24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p:cNvSpPr>
          <p:nvPr>
            <p:ph type="title"/>
          </p:nvPr>
        </p:nvSpPr>
        <p:spPr>
          <a:ln/>
        </p:spPr>
        <p:txBody>
          <a:bodyPr vert="horz" wrap="square" lIns="91440" tIns="45720" rIns="91440" bIns="91440" rtlCol="0" anchor="b">
            <a:noAutofit/>
          </a:bodyPr>
          <a:lstStyle/>
          <a:p>
            <a:r>
              <a:rPr lang="en-US" altLang="zh-TW" b="1" u="sng" dirty="0">
                <a:latin typeface="Times New Roman" panose="02020603050405020304" pitchFamily="18" charset="0"/>
                <a:cs typeface="Times New Roman" panose="02020603050405020304" pitchFamily="18" charset="0"/>
              </a:rPr>
              <a:t>TCP Flag Definitions</a:t>
            </a:r>
          </a:p>
        </p:txBody>
      </p:sp>
      <p:graphicFrame>
        <p:nvGraphicFramePr>
          <p:cNvPr id="21507" name="Table Placeholder 21506"/>
          <p:cNvGraphicFramePr>
            <a:graphicFrameLocks noGrp="1"/>
          </p:cNvGraphicFramePr>
          <p:nvPr>
            <p:ph type="tbl" idx="1"/>
            <p:extLst>
              <p:ext uri="{D42A27DB-BD31-4B8C-83A1-F6EECF244321}">
                <p14:modId xmlns:p14="http://schemas.microsoft.com/office/powerpoint/2010/main" val="3005122781"/>
              </p:ext>
            </p:extLst>
          </p:nvPr>
        </p:nvGraphicFramePr>
        <p:xfrm>
          <a:off x="1917668" y="2223322"/>
          <a:ext cx="8218488" cy="4297404"/>
        </p:xfrm>
        <a:graphic>
          <a:graphicData uri="http://schemas.openxmlformats.org/drawingml/2006/table">
            <a:tbl>
              <a:tblPr/>
              <a:tblGrid>
                <a:gridCol w="2016125">
                  <a:extLst>
                    <a:ext uri="{9D8B030D-6E8A-4147-A177-3AD203B41FA5}">
                      <a16:colId xmlns:a16="http://schemas.microsoft.com/office/drawing/2014/main" val="20000"/>
                    </a:ext>
                  </a:extLst>
                </a:gridCol>
                <a:gridCol w="6202363">
                  <a:extLst>
                    <a:ext uri="{9D8B030D-6E8A-4147-A177-3AD203B41FA5}">
                      <a16:colId xmlns:a16="http://schemas.microsoft.com/office/drawing/2014/main" val="20001"/>
                    </a:ext>
                  </a:extLst>
                </a:gridCol>
              </a:tblGrid>
              <a:tr h="692541">
                <a:tc>
                  <a:txBody>
                    <a:bodyPr/>
                    <a:lstStyle>
                      <a:lvl1pPr marL="0" lvl="0"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defRPr>
                      </a:lvl1pPr>
                      <a:lvl2pPr marL="457200" lvl="1"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2pPr>
                      <a:lvl3pPr marL="914400" lvl="2"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3pPr>
                      <a:lvl4pPr marL="1371600" lvl="3"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4pPr>
                      <a:lvl5pPr marL="1828800" lvl="4"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5pPr>
                    </a:lstStyle>
                    <a:p>
                      <a:pPr lvl="0" eaLnBrk="1" hangingPunct="1">
                        <a:spcBef>
                          <a:spcPct val="20000"/>
                        </a:spcBef>
                        <a:buClr>
                          <a:schemeClr val="accent1"/>
                        </a:buClr>
                        <a:buFont typeface="Wingdings" panose="05000000000000000000" pitchFamily="2" charset="2"/>
                        <a:buNone/>
                      </a:pPr>
                      <a:r>
                        <a:rPr lang="en-US" altLang="zh-TW" sz="2800" dirty="0">
                          <a:latin typeface="Times New Roman" panose="02020603050405020304" pitchFamily="18" charset="0"/>
                          <a:ea typeface="PMingLiU" pitchFamily="18" charset="-120"/>
                        </a:rPr>
                        <a:t>Flag</a:t>
                      </a:r>
                    </a:p>
                  </a:txBody>
                  <a:tcPr>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defRPr>
                      </a:lvl1pPr>
                      <a:lvl2pPr marL="457200" lvl="1"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2pPr>
                      <a:lvl3pPr marL="914400" lvl="2"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3pPr>
                      <a:lvl4pPr marL="1371600" lvl="3"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4pPr>
                      <a:lvl5pPr marL="1828800" lvl="4"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5pPr>
                    </a:lstStyle>
                    <a:p>
                      <a:pPr lvl="0" algn="l" eaLnBrk="1" hangingPunct="1">
                        <a:spcBef>
                          <a:spcPct val="20000"/>
                        </a:spcBef>
                        <a:buClr>
                          <a:schemeClr val="accent1"/>
                        </a:buClr>
                        <a:buFont typeface="Wingdings" panose="05000000000000000000" pitchFamily="2" charset="2"/>
                        <a:buNone/>
                      </a:pPr>
                      <a:endParaRPr lang="zh-TW" altLang="zh-TW" sz="2800" dirty="0">
                        <a:latin typeface="Times New Roman" panose="02020603050405020304" pitchFamily="18" charset="0"/>
                        <a:ea typeface="PMingLiU" pitchFamily="18" charset="-120"/>
                      </a:endParaRPr>
                    </a:p>
                  </a:txBody>
                  <a:tcPr>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80806">
                <a:tc>
                  <a:txBody>
                    <a:bodyPr/>
                    <a:lstStyle>
                      <a:lvl1pPr marL="0" lvl="0"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defRPr>
                      </a:lvl1pPr>
                      <a:lvl2pPr marL="457200" lvl="1"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2pPr>
                      <a:lvl3pPr marL="914400" lvl="2"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3pPr>
                      <a:lvl4pPr marL="1371600" lvl="3"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4pPr>
                      <a:lvl5pPr marL="1828800" lvl="4"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5pPr>
                    </a:lstStyle>
                    <a:p>
                      <a:pPr lvl="0" eaLnBrk="1" hangingPunct="1">
                        <a:spcBef>
                          <a:spcPct val="20000"/>
                        </a:spcBef>
                        <a:buClr>
                          <a:schemeClr val="accent1"/>
                        </a:buClr>
                        <a:buFont typeface="Wingdings" panose="05000000000000000000" pitchFamily="2" charset="2"/>
                        <a:buNone/>
                      </a:pPr>
                      <a:r>
                        <a:rPr lang="en-US" altLang="zh-TW" sz="2800" dirty="0">
                          <a:solidFill>
                            <a:srgbClr val="3333FF"/>
                          </a:solidFill>
                          <a:latin typeface="Times New Roman" panose="02020603050405020304" pitchFamily="18" charset="0"/>
                          <a:ea typeface="PMingLiU" pitchFamily="18" charset="-120"/>
                        </a:rPr>
                        <a:t>SYN</a:t>
                      </a:r>
                    </a:p>
                  </a:txBody>
                  <a:tcPr>
                    <a:lnL>
                      <a:noFill/>
                    </a:lnL>
                    <a:lnR>
                      <a:noFill/>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defRPr>
                      </a:lvl1pPr>
                      <a:lvl2pPr marL="457200" lvl="1"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2pPr>
                      <a:lvl3pPr marL="914400" lvl="2"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3pPr>
                      <a:lvl4pPr marL="1371600" lvl="3"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4pPr>
                      <a:lvl5pPr marL="1828800" lvl="4"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5pPr>
                    </a:lstStyle>
                    <a:p>
                      <a:pPr lvl="0" algn="l" eaLnBrk="1" hangingPunct="1">
                        <a:spcBef>
                          <a:spcPct val="20000"/>
                        </a:spcBef>
                        <a:buClr>
                          <a:schemeClr val="accent1"/>
                        </a:buClr>
                        <a:buFont typeface="Wingdings" panose="05000000000000000000" pitchFamily="2" charset="2"/>
                        <a:buNone/>
                      </a:pPr>
                      <a:r>
                        <a:rPr lang="en-US" altLang="zh-TW" sz="2800" dirty="0">
                          <a:solidFill>
                            <a:srgbClr val="3333FF"/>
                          </a:solidFill>
                          <a:latin typeface="Times New Roman" panose="02020603050405020304" pitchFamily="18" charset="0"/>
                          <a:ea typeface="PMingLiU" pitchFamily="18" charset="-120"/>
                        </a:rPr>
                        <a:t>The beginning of a connection</a:t>
                      </a:r>
                    </a:p>
                  </a:txBody>
                  <a:tcPr>
                    <a:lnL>
                      <a:noFill/>
                    </a:lnL>
                    <a:lnR>
                      <a:noFill/>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264566">
                <a:tc>
                  <a:txBody>
                    <a:bodyPr/>
                    <a:lstStyle>
                      <a:lvl1pPr marL="0" lvl="0"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defRPr>
                      </a:lvl1pPr>
                      <a:lvl2pPr marL="457200" lvl="1"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2pPr>
                      <a:lvl3pPr marL="914400" lvl="2"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3pPr>
                      <a:lvl4pPr marL="1371600" lvl="3"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4pPr>
                      <a:lvl5pPr marL="1828800" lvl="4"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5pPr>
                    </a:lstStyle>
                    <a:p>
                      <a:pPr lvl="0" eaLnBrk="1" hangingPunct="1">
                        <a:spcBef>
                          <a:spcPct val="20000"/>
                        </a:spcBef>
                        <a:buClr>
                          <a:schemeClr val="accent1"/>
                        </a:buClr>
                        <a:buFont typeface="Wingdings" panose="05000000000000000000" pitchFamily="2" charset="2"/>
                        <a:buNone/>
                      </a:pPr>
                      <a:r>
                        <a:rPr lang="en-US" altLang="zh-TW" sz="2800" dirty="0">
                          <a:solidFill>
                            <a:srgbClr val="33CC33"/>
                          </a:solidFill>
                          <a:latin typeface="Times New Roman" panose="02020603050405020304" pitchFamily="18" charset="0"/>
                          <a:ea typeface="PMingLiU" pitchFamily="18" charset="-120"/>
                        </a:rPr>
                        <a:t>ACK</a:t>
                      </a:r>
                    </a:p>
                  </a:txBody>
                  <a:tcPr>
                    <a:lnL>
                      <a:noFill/>
                    </a:lnL>
                    <a:lnR>
                      <a:noFill/>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defRPr>
                      </a:lvl1pPr>
                      <a:lvl2pPr marL="457200" lvl="1"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2pPr>
                      <a:lvl3pPr marL="914400" lvl="2"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3pPr>
                      <a:lvl4pPr marL="1371600" lvl="3"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4pPr>
                      <a:lvl5pPr marL="1828800" lvl="4"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5pPr>
                    </a:lstStyle>
                    <a:p>
                      <a:pPr lvl="0" algn="l" eaLnBrk="1" hangingPunct="1">
                        <a:spcBef>
                          <a:spcPct val="20000"/>
                        </a:spcBef>
                        <a:buClr>
                          <a:schemeClr val="accent1"/>
                        </a:buClr>
                        <a:buFont typeface="Wingdings" panose="05000000000000000000" pitchFamily="2" charset="2"/>
                        <a:buNone/>
                      </a:pPr>
                      <a:r>
                        <a:rPr lang="en-US" altLang="zh-TW" sz="2800" dirty="0">
                          <a:solidFill>
                            <a:srgbClr val="33CC33"/>
                          </a:solidFill>
                          <a:latin typeface="Times New Roman" panose="02020603050405020304" pitchFamily="18" charset="0"/>
                          <a:ea typeface="PMingLiU" pitchFamily="18" charset="-120"/>
                        </a:rPr>
                        <a:t>Acknowledge receipt of a previous packet or transmission</a:t>
                      </a:r>
                    </a:p>
                  </a:txBody>
                  <a:tcPr>
                    <a:lnL>
                      <a:noFill/>
                    </a:lnL>
                    <a:lnR>
                      <a:noFill/>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80806">
                <a:tc>
                  <a:txBody>
                    <a:bodyPr/>
                    <a:lstStyle>
                      <a:lvl1pPr marL="0" lvl="0"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defRPr>
                      </a:lvl1pPr>
                      <a:lvl2pPr marL="457200" lvl="1"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2pPr>
                      <a:lvl3pPr marL="914400" lvl="2"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3pPr>
                      <a:lvl4pPr marL="1371600" lvl="3"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4pPr>
                      <a:lvl5pPr marL="1828800" lvl="4"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5pPr>
                    </a:lstStyle>
                    <a:p>
                      <a:pPr lvl="0" eaLnBrk="1" hangingPunct="1">
                        <a:spcBef>
                          <a:spcPct val="20000"/>
                        </a:spcBef>
                        <a:buClr>
                          <a:schemeClr val="accent1"/>
                        </a:buClr>
                        <a:buFont typeface="Wingdings" panose="05000000000000000000" pitchFamily="2" charset="2"/>
                        <a:buNone/>
                      </a:pPr>
                      <a:r>
                        <a:rPr lang="en-US" altLang="zh-TW" sz="2800" dirty="0">
                          <a:solidFill>
                            <a:srgbClr val="FF0066"/>
                          </a:solidFill>
                          <a:latin typeface="Times New Roman" panose="02020603050405020304" pitchFamily="18" charset="0"/>
                          <a:ea typeface="PMingLiU" pitchFamily="18" charset="-120"/>
                        </a:rPr>
                        <a:t>FIN</a:t>
                      </a:r>
                    </a:p>
                  </a:txBody>
                  <a:tcPr>
                    <a:lnL>
                      <a:noFill/>
                    </a:lnL>
                    <a:lnR>
                      <a:noFill/>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defRPr>
                      </a:lvl1pPr>
                      <a:lvl2pPr marL="457200" lvl="1"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2pPr>
                      <a:lvl3pPr marL="914400" lvl="2"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3pPr>
                      <a:lvl4pPr marL="1371600" lvl="3"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4pPr>
                      <a:lvl5pPr marL="1828800" lvl="4"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5pPr>
                    </a:lstStyle>
                    <a:p>
                      <a:pPr lvl="0" algn="l" eaLnBrk="1" hangingPunct="1">
                        <a:spcBef>
                          <a:spcPct val="20000"/>
                        </a:spcBef>
                        <a:buClr>
                          <a:schemeClr val="accent1"/>
                        </a:buClr>
                        <a:buFont typeface="Wingdings" panose="05000000000000000000" pitchFamily="2" charset="2"/>
                        <a:buNone/>
                      </a:pPr>
                      <a:r>
                        <a:rPr lang="en-US" altLang="zh-TW" sz="2800" dirty="0">
                          <a:solidFill>
                            <a:srgbClr val="FF0066"/>
                          </a:solidFill>
                          <a:latin typeface="Times New Roman" panose="02020603050405020304" pitchFamily="18" charset="0"/>
                          <a:ea typeface="PMingLiU" pitchFamily="18" charset="-120"/>
                        </a:rPr>
                        <a:t>Close a TCP connection</a:t>
                      </a:r>
                    </a:p>
                  </a:txBody>
                  <a:tcPr>
                    <a:lnL>
                      <a:noFill/>
                    </a:lnL>
                    <a:lnR>
                      <a:noFill/>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778685">
                <a:tc>
                  <a:txBody>
                    <a:bodyPr/>
                    <a:lstStyle>
                      <a:lvl1pPr marL="0" lvl="0"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defRPr>
                      </a:lvl1pPr>
                      <a:lvl2pPr marL="457200" lvl="1"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2pPr>
                      <a:lvl3pPr marL="914400" lvl="2"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3pPr>
                      <a:lvl4pPr marL="1371600" lvl="3"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4pPr>
                      <a:lvl5pPr marL="1828800" lvl="4"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5pPr>
                    </a:lstStyle>
                    <a:p>
                      <a:pPr lvl="0" eaLnBrk="1" hangingPunct="1">
                        <a:spcBef>
                          <a:spcPct val="20000"/>
                        </a:spcBef>
                        <a:buClr>
                          <a:schemeClr val="accent1"/>
                        </a:buClr>
                        <a:buFont typeface="Wingdings" panose="05000000000000000000" pitchFamily="2" charset="2"/>
                        <a:buNone/>
                      </a:pPr>
                      <a:r>
                        <a:rPr lang="en-US" altLang="zh-TW" sz="2800" dirty="0">
                          <a:solidFill>
                            <a:srgbClr val="3333FF"/>
                          </a:solidFill>
                          <a:latin typeface="Times New Roman" panose="02020603050405020304" pitchFamily="18" charset="0"/>
                          <a:ea typeface="PMingLiU" pitchFamily="18" charset="-120"/>
                        </a:rPr>
                        <a:t>RST</a:t>
                      </a:r>
                    </a:p>
                  </a:txBody>
                  <a:tcPr>
                    <a:lnL>
                      <a:noFill/>
                    </a:lnL>
                    <a:lnR>
                      <a:noFill/>
                    </a:lnR>
                    <a:lnT w="12700" cap="flat" cmpd="sng">
                      <a:solidFill>
                        <a:schemeClr val="tx1"/>
                      </a:solidFill>
                      <a:prstDash val="solid"/>
                      <a:headEnd type="none" w="med" len="med"/>
                      <a:tailEnd type="none" w="med" len="med"/>
                    </a:lnT>
                    <a:lnB>
                      <a:noFill/>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defRPr>
                      </a:lvl1pPr>
                      <a:lvl2pPr marL="457200" lvl="1"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2pPr>
                      <a:lvl3pPr marL="914400" lvl="2"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3pPr>
                      <a:lvl4pPr marL="1371600" lvl="3"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4pPr>
                      <a:lvl5pPr marL="1828800" lvl="4" indent="0" algn="ctr" defTabSz="914400" rtl="0" eaLnBrk="1" fontAlgn="base" latinLnBrk="0" hangingPunct="1">
                        <a:lnSpc>
                          <a:spcPct val="100000"/>
                        </a:lnSpc>
                        <a:spcBef>
                          <a:spcPct val="0"/>
                        </a:spcBef>
                        <a:spcAft>
                          <a:spcPct val="0"/>
                        </a:spcAft>
                        <a:buNone/>
                        <a:defRPr sz="1600" b="0" i="0" u="none" kern="1200" baseline="0">
                          <a:solidFill>
                            <a:schemeClr val="tx1"/>
                          </a:solidFill>
                          <a:latin typeface="Times New Roman" panose="02020603050405020304" pitchFamily="18" charset="0"/>
                          <a:ea typeface="標楷體" pitchFamily="65" charset="-120"/>
                          <a:cs typeface="+mn-cs"/>
                        </a:defRPr>
                      </a:lvl5pPr>
                    </a:lstStyle>
                    <a:p>
                      <a:pPr lvl="0" algn="l" eaLnBrk="1" hangingPunct="1">
                        <a:spcBef>
                          <a:spcPct val="20000"/>
                        </a:spcBef>
                        <a:buClr>
                          <a:schemeClr val="accent1"/>
                        </a:buClr>
                        <a:buFont typeface="Wingdings" panose="05000000000000000000" pitchFamily="2" charset="2"/>
                        <a:buNone/>
                      </a:pPr>
                      <a:r>
                        <a:rPr lang="en-US" altLang="zh-TW" sz="2800" dirty="0">
                          <a:solidFill>
                            <a:srgbClr val="3333FF"/>
                          </a:solidFill>
                          <a:latin typeface="Times New Roman" panose="02020603050405020304" pitchFamily="18" charset="0"/>
                          <a:ea typeface="PMingLiU" pitchFamily="18" charset="-120"/>
                        </a:rPr>
                        <a:t>Abort a TCP connection</a:t>
                      </a:r>
                    </a:p>
                  </a:txBody>
                  <a:tcPr>
                    <a:lnL>
                      <a:noFill/>
                    </a:lnL>
                    <a:lnR>
                      <a:noFill/>
                    </a:lnR>
                    <a:lnT w="12700" cap="flat" cmpd="sng">
                      <a:solidFill>
                        <a:schemeClr val="tx1"/>
                      </a:solidFill>
                      <a:prstDash val="solid"/>
                      <a:headEnd type="none" w="med" len="med"/>
                      <a:tailEnd type="none" w="med" len="med"/>
                    </a:lnT>
                    <a:lnB>
                      <a:noFill/>
                    </a:lnB>
                    <a:lnTlToBr>
                      <a:noFill/>
                    </a:lnTlToBr>
                    <a:lnBlToTr>
                      <a:noFill/>
                    </a:lnBlToTr>
                    <a:noFill/>
                  </a:tcPr>
                </a:tc>
                <a:extLst>
                  <a:ext uri="{0D108BD9-81ED-4DB2-BD59-A6C34878D82A}">
                    <a16:rowId xmlns:a16="http://schemas.microsoft.com/office/drawing/2014/main" val="10004"/>
                  </a:ext>
                </a:extLst>
              </a:tr>
            </a:tbl>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21507"/>
                                        </p:tgtEl>
                                        <p:attrNameLst>
                                          <p:attrName>style.visibility</p:attrName>
                                        </p:attrNameLst>
                                      </p:cBhvr>
                                      <p:to>
                                        <p:strVal val="visible"/>
                                      </p:to>
                                    </p:set>
                                    <p:animEffect transition="in" filter="blinds(horizontal)">
                                      <p:cBhvr>
                                        <p:cTn id="7" dur="500"/>
                                        <p:tgtEl>
                                          <p:spTgt spid="215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4"/>
          <p:cNvSpPr>
            <a:spLocks noGrp="1"/>
          </p:cNvSpPr>
          <p:nvPr>
            <p:ph type="title"/>
          </p:nvPr>
        </p:nvSpPr>
        <p:spPr>
          <a:ln/>
        </p:spPr>
        <p:txBody>
          <a:bodyPr vert="horz" wrap="square" lIns="91440" tIns="45720" rIns="91440" bIns="91440" rtlCol="0" anchor="b">
            <a:noAutofit/>
          </a:bodyPr>
          <a:lstStyle/>
          <a:p>
            <a:r>
              <a:rPr lang="en-US" altLang="zh-TW" b="1" u="sng" dirty="0">
                <a:latin typeface="Times New Roman" panose="02020603050405020304" pitchFamily="18" charset="0"/>
                <a:cs typeface="Times New Roman" panose="02020603050405020304" pitchFamily="18" charset="0"/>
              </a:rPr>
              <a:t>TCP conversation</a:t>
            </a:r>
          </a:p>
        </p:txBody>
      </p:sp>
      <p:sp>
        <p:nvSpPr>
          <p:cNvPr id="20484" name="Line 8"/>
          <p:cNvSpPr/>
          <p:nvPr/>
        </p:nvSpPr>
        <p:spPr>
          <a:xfrm>
            <a:off x="2566988" y="2205039"/>
            <a:ext cx="0" cy="3887787"/>
          </a:xfrm>
          <a:prstGeom prst="line">
            <a:avLst/>
          </a:prstGeom>
          <a:ln w="19050" cap="flat" cmpd="sng">
            <a:solidFill>
              <a:schemeClr val="tx1"/>
            </a:solidFill>
            <a:prstDash val="solid"/>
            <a:headEnd type="none" w="med" len="med"/>
            <a:tailEnd type="triangle" w="med" len="med"/>
          </a:ln>
        </p:spPr>
      </p:sp>
      <p:sp>
        <p:nvSpPr>
          <p:cNvPr id="20485" name="Line 9"/>
          <p:cNvSpPr/>
          <p:nvPr/>
        </p:nvSpPr>
        <p:spPr>
          <a:xfrm>
            <a:off x="5375275" y="2205039"/>
            <a:ext cx="0" cy="3887787"/>
          </a:xfrm>
          <a:prstGeom prst="line">
            <a:avLst/>
          </a:prstGeom>
          <a:ln w="19050" cap="flat" cmpd="sng">
            <a:solidFill>
              <a:schemeClr val="tx1"/>
            </a:solidFill>
            <a:prstDash val="solid"/>
            <a:headEnd type="none" w="med" len="med"/>
            <a:tailEnd type="triangle" w="med" len="med"/>
          </a:ln>
        </p:spPr>
      </p:sp>
      <p:sp>
        <p:nvSpPr>
          <p:cNvPr id="2058" name="Line 10"/>
          <p:cNvSpPr/>
          <p:nvPr/>
        </p:nvSpPr>
        <p:spPr>
          <a:xfrm>
            <a:off x="2640014" y="2708275"/>
            <a:ext cx="2663825" cy="433388"/>
          </a:xfrm>
          <a:prstGeom prst="line">
            <a:avLst/>
          </a:prstGeom>
          <a:ln w="19050" cap="flat" cmpd="sng">
            <a:solidFill>
              <a:srgbClr val="3333FF"/>
            </a:solidFill>
            <a:prstDash val="solid"/>
            <a:headEnd type="none" w="med" len="med"/>
            <a:tailEnd type="triangle" w="med" len="med"/>
          </a:ln>
        </p:spPr>
      </p:sp>
      <p:sp>
        <p:nvSpPr>
          <p:cNvPr id="2059" name="Line 11"/>
          <p:cNvSpPr/>
          <p:nvPr/>
        </p:nvSpPr>
        <p:spPr>
          <a:xfrm flipH="1">
            <a:off x="2566989" y="3644901"/>
            <a:ext cx="2808287" cy="504825"/>
          </a:xfrm>
          <a:prstGeom prst="line">
            <a:avLst/>
          </a:prstGeom>
          <a:ln w="19050" cap="flat" cmpd="sng">
            <a:solidFill>
              <a:srgbClr val="33CC33"/>
            </a:solidFill>
            <a:prstDash val="solid"/>
            <a:headEnd type="none" w="med" len="med"/>
            <a:tailEnd type="triangle" w="med" len="med"/>
          </a:ln>
        </p:spPr>
      </p:sp>
      <p:sp>
        <p:nvSpPr>
          <p:cNvPr id="2060" name="Line 12"/>
          <p:cNvSpPr/>
          <p:nvPr/>
        </p:nvSpPr>
        <p:spPr>
          <a:xfrm>
            <a:off x="2566988" y="4508500"/>
            <a:ext cx="2736850" cy="503238"/>
          </a:xfrm>
          <a:prstGeom prst="line">
            <a:avLst/>
          </a:prstGeom>
          <a:ln w="19050" cap="flat" cmpd="sng">
            <a:solidFill>
              <a:srgbClr val="FF0066"/>
            </a:solidFill>
            <a:prstDash val="solid"/>
            <a:headEnd type="none" w="med" len="med"/>
            <a:tailEnd type="triangle" w="med" len="med"/>
          </a:ln>
        </p:spPr>
      </p:sp>
      <p:sp>
        <p:nvSpPr>
          <p:cNvPr id="2061" name="Line 13"/>
          <p:cNvSpPr/>
          <p:nvPr/>
        </p:nvSpPr>
        <p:spPr>
          <a:xfrm>
            <a:off x="2566989" y="5516563"/>
            <a:ext cx="2808287" cy="0"/>
          </a:xfrm>
          <a:prstGeom prst="line">
            <a:avLst/>
          </a:prstGeom>
          <a:ln w="19050" cap="flat" cmpd="sng">
            <a:solidFill>
              <a:srgbClr val="FFCC00"/>
            </a:solidFill>
            <a:prstDash val="solid"/>
            <a:headEnd type="triangle" w="med" len="med"/>
            <a:tailEnd type="triangle" w="med" len="med"/>
          </a:ln>
        </p:spPr>
      </p:sp>
      <p:sp>
        <p:nvSpPr>
          <p:cNvPr id="20490" name="Text Box 14"/>
          <p:cNvSpPr txBox="1"/>
          <p:nvPr/>
        </p:nvSpPr>
        <p:spPr>
          <a:xfrm>
            <a:off x="2135188" y="1844676"/>
            <a:ext cx="792162" cy="366713"/>
          </a:xfrm>
          <a:prstGeom prst="rect">
            <a:avLst/>
          </a:prstGeom>
          <a:noFill/>
          <a:ln w="9525">
            <a:noFill/>
          </a:ln>
        </p:spPr>
        <p:txBody>
          <a:bodyPr>
            <a:spAutoFit/>
          </a:bodyPr>
          <a:lstStyle/>
          <a:p>
            <a:pPr algn="l">
              <a:spcBef>
                <a:spcPct val="50000"/>
              </a:spcBef>
            </a:pPr>
            <a:r>
              <a:rPr lang="en-US" altLang="zh-TW" dirty="0">
                <a:latin typeface="Arial" panose="020B0604020202020204" pitchFamily="34" charset="0"/>
                <a:ea typeface="PMingLiU" pitchFamily="18" charset="-120"/>
              </a:rPr>
              <a:t>Client</a:t>
            </a:r>
          </a:p>
        </p:txBody>
      </p:sp>
      <p:sp>
        <p:nvSpPr>
          <p:cNvPr id="20491" name="Text Box 15"/>
          <p:cNvSpPr txBox="1"/>
          <p:nvPr/>
        </p:nvSpPr>
        <p:spPr>
          <a:xfrm>
            <a:off x="4943475" y="1844676"/>
            <a:ext cx="935038" cy="366713"/>
          </a:xfrm>
          <a:prstGeom prst="rect">
            <a:avLst/>
          </a:prstGeom>
          <a:noFill/>
          <a:ln w="9525">
            <a:noFill/>
          </a:ln>
        </p:spPr>
        <p:txBody>
          <a:bodyPr>
            <a:spAutoFit/>
          </a:bodyPr>
          <a:lstStyle/>
          <a:p>
            <a:pPr algn="l">
              <a:spcBef>
                <a:spcPct val="50000"/>
              </a:spcBef>
            </a:pPr>
            <a:r>
              <a:rPr lang="en-US" altLang="zh-TW" dirty="0">
                <a:latin typeface="Arial" panose="020B0604020202020204" pitchFamily="34" charset="0"/>
                <a:ea typeface="PMingLiU" pitchFamily="18" charset="-120"/>
              </a:rPr>
              <a:t>Server</a:t>
            </a:r>
          </a:p>
        </p:txBody>
      </p:sp>
      <p:sp>
        <p:nvSpPr>
          <p:cNvPr id="2064" name="Text Box 16"/>
          <p:cNvSpPr txBox="1"/>
          <p:nvPr/>
        </p:nvSpPr>
        <p:spPr>
          <a:xfrm>
            <a:off x="3719513" y="2565401"/>
            <a:ext cx="863600" cy="366713"/>
          </a:xfrm>
          <a:prstGeom prst="rect">
            <a:avLst/>
          </a:prstGeom>
          <a:noFill/>
          <a:ln w="9525">
            <a:noFill/>
          </a:ln>
        </p:spPr>
        <p:txBody>
          <a:bodyPr>
            <a:spAutoFit/>
          </a:bodyPr>
          <a:lstStyle/>
          <a:p>
            <a:pPr algn="l">
              <a:spcBef>
                <a:spcPct val="50000"/>
              </a:spcBef>
            </a:pPr>
            <a:r>
              <a:rPr lang="en-US" altLang="zh-TW" dirty="0">
                <a:latin typeface="Arial" panose="020B0604020202020204" pitchFamily="34" charset="0"/>
                <a:ea typeface="PMingLiU" pitchFamily="18" charset="-120"/>
              </a:rPr>
              <a:t>SYN</a:t>
            </a:r>
          </a:p>
        </p:txBody>
      </p:sp>
      <p:sp>
        <p:nvSpPr>
          <p:cNvPr id="2065" name="Text Box 17"/>
          <p:cNvSpPr txBox="1"/>
          <p:nvPr/>
        </p:nvSpPr>
        <p:spPr>
          <a:xfrm>
            <a:off x="3432176" y="3500438"/>
            <a:ext cx="1223963" cy="366712"/>
          </a:xfrm>
          <a:prstGeom prst="rect">
            <a:avLst/>
          </a:prstGeom>
          <a:noFill/>
          <a:ln w="9525">
            <a:noFill/>
          </a:ln>
        </p:spPr>
        <p:txBody>
          <a:bodyPr>
            <a:spAutoFit/>
          </a:bodyPr>
          <a:lstStyle/>
          <a:p>
            <a:pPr algn="l">
              <a:spcBef>
                <a:spcPct val="50000"/>
              </a:spcBef>
            </a:pPr>
            <a:r>
              <a:rPr lang="en-US" altLang="zh-TW" dirty="0">
                <a:latin typeface="Arial" panose="020B0604020202020204" pitchFamily="34" charset="0"/>
                <a:ea typeface="PMingLiU" pitchFamily="18" charset="-120"/>
              </a:rPr>
              <a:t>SYN/ACK</a:t>
            </a:r>
          </a:p>
        </p:txBody>
      </p:sp>
      <p:sp>
        <p:nvSpPr>
          <p:cNvPr id="2066" name="Text Box 18"/>
          <p:cNvSpPr txBox="1"/>
          <p:nvPr/>
        </p:nvSpPr>
        <p:spPr>
          <a:xfrm>
            <a:off x="3719513" y="4365626"/>
            <a:ext cx="863600" cy="366713"/>
          </a:xfrm>
          <a:prstGeom prst="rect">
            <a:avLst/>
          </a:prstGeom>
          <a:noFill/>
          <a:ln w="9525">
            <a:noFill/>
          </a:ln>
        </p:spPr>
        <p:txBody>
          <a:bodyPr>
            <a:spAutoFit/>
          </a:bodyPr>
          <a:lstStyle/>
          <a:p>
            <a:pPr algn="l">
              <a:spcBef>
                <a:spcPct val="50000"/>
              </a:spcBef>
            </a:pPr>
            <a:r>
              <a:rPr lang="en-US" altLang="zh-TW" dirty="0">
                <a:latin typeface="Arial" panose="020B0604020202020204" pitchFamily="34" charset="0"/>
                <a:ea typeface="PMingLiU" pitchFamily="18" charset="-120"/>
              </a:rPr>
              <a:t>ACK</a:t>
            </a:r>
          </a:p>
        </p:txBody>
      </p:sp>
      <p:sp>
        <p:nvSpPr>
          <p:cNvPr id="2067" name="Text Box 19"/>
          <p:cNvSpPr txBox="1"/>
          <p:nvPr/>
        </p:nvSpPr>
        <p:spPr>
          <a:xfrm>
            <a:off x="2711450" y="5157788"/>
            <a:ext cx="2592388" cy="366712"/>
          </a:xfrm>
          <a:prstGeom prst="rect">
            <a:avLst/>
          </a:prstGeom>
          <a:noFill/>
          <a:ln w="9525">
            <a:noFill/>
          </a:ln>
        </p:spPr>
        <p:txBody>
          <a:bodyPr>
            <a:spAutoFit/>
          </a:bodyPr>
          <a:lstStyle/>
          <a:p>
            <a:pPr algn="l">
              <a:spcBef>
                <a:spcPct val="50000"/>
              </a:spcBef>
            </a:pPr>
            <a:r>
              <a:rPr lang="en-US" altLang="zh-TW" dirty="0">
                <a:latin typeface="Arial" panose="020B0604020202020204" pitchFamily="34" charset="0"/>
                <a:ea typeface="PMingLiU" pitchFamily="18" charset="-120"/>
              </a:rPr>
              <a:t>Connection Established</a:t>
            </a:r>
          </a:p>
        </p:txBody>
      </p:sp>
      <p:sp>
        <p:nvSpPr>
          <p:cNvPr id="2070" name="Line 22"/>
          <p:cNvSpPr/>
          <p:nvPr/>
        </p:nvSpPr>
        <p:spPr>
          <a:xfrm>
            <a:off x="6743700" y="2205039"/>
            <a:ext cx="0" cy="3887787"/>
          </a:xfrm>
          <a:prstGeom prst="line">
            <a:avLst/>
          </a:prstGeom>
          <a:ln w="19050" cap="flat" cmpd="sng">
            <a:solidFill>
              <a:schemeClr val="tx1"/>
            </a:solidFill>
            <a:prstDash val="solid"/>
            <a:headEnd type="none" w="med" len="med"/>
            <a:tailEnd type="triangle" w="med" len="med"/>
          </a:ln>
        </p:spPr>
      </p:sp>
      <p:sp>
        <p:nvSpPr>
          <p:cNvPr id="2071" name="Line 23"/>
          <p:cNvSpPr/>
          <p:nvPr/>
        </p:nvSpPr>
        <p:spPr>
          <a:xfrm>
            <a:off x="9551988" y="2205039"/>
            <a:ext cx="0" cy="3887787"/>
          </a:xfrm>
          <a:prstGeom prst="line">
            <a:avLst/>
          </a:prstGeom>
          <a:ln w="19050" cap="flat" cmpd="sng">
            <a:solidFill>
              <a:schemeClr val="tx1"/>
            </a:solidFill>
            <a:prstDash val="solid"/>
            <a:headEnd type="none" w="med" len="med"/>
            <a:tailEnd type="triangle" w="med" len="med"/>
          </a:ln>
        </p:spPr>
      </p:sp>
      <p:sp>
        <p:nvSpPr>
          <p:cNvPr id="2072" name="Line 24"/>
          <p:cNvSpPr/>
          <p:nvPr/>
        </p:nvSpPr>
        <p:spPr>
          <a:xfrm>
            <a:off x="6816726" y="2708275"/>
            <a:ext cx="2663825" cy="433388"/>
          </a:xfrm>
          <a:prstGeom prst="line">
            <a:avLst/>
          </a:prstGeom>
          <a:ln w="19050" cap="flat" cmpd="sng">
            <a:solidFill>
              <a:srgbClr val="FF0066"/>
            </a:solidFill>
            <a:prstDash val="solid"/>
            <a:headEnd type="none" w="med" len="med"/>
            <a:tailEnd type="triangle" w="med" len="med"/>
          </a:ln>
        </p:spPr>
      </p:sp>
      <p:sp>
        <p:nvSpPr>
          <p:cNvPr id="2073" name="Line 25"/>
          <p:cNvSpPr/>
          <p:nvPr/>
        </p:nvSpPr>
        <p:spPr>
          <a:xfrm flipH="1">
            <a:off x="6743700" y="3644901"/>
            <a:ext cx="2808288" cy="504825"/>
          </a:xfrm>
          <a:prstGeom prst="line">
            <a:avLst/>
          </a:prstGeom>
          <a:ln w="19050" cap="flat" cmpd="sng">
            <a:solidFill>
              <a:srgbClr val="33CC33"/>
            </a:solidFill>
            <a:prstDash val="solid"/>
            <a:headEnd type="none" w="med" len="med"/>
            <a:tailEnd type="triangle" w="med" len="med"/>
          </a:ln>
        </p:spPr>
      </p:sp>
      <p:sp>
        <p:nvSpPr>
          <p:cNvPr id="2074" name="Line 26"/>
          <p:cNvSpPr/>
          <p:nvPr/>
        </p:nvSpPr>
        <p:spPr>
          <a:xfrm>
            <a:off x="6743700" y="4508500"/>
            <a:ext cx="2736850" cy="503238"/>
          </a:xfrm>
          <a:prstGeom prst="line">
            <a:avLst/>
          </a:prstGeom>
          <a:ln w="19050" cap="flat" cmpd="sng">
            <a:solidFill>
              <a:srgbClr val="3333FF"/>
            </a:solidFill>
            <a:prstDash val="solid"/>
            <a:headEnd type="none" w="med" len="med"/>
            <a:tailEnd type="triangle" w="med" len="med"/>
          </a:ln>
        </p:spPr>
      </p:sp>
      <p:sp>
        <p:nvSpPr>
          <p:cNvPr id="2075" name="Line 27"/>
          <p:cNvSpPr/>
          <p:nvPr/>
        </p:nvSpPr>
        <p:spPr>
          <a:xfrm>
            <a:off x="6743700" y="5516563"/>
            <a:ext cx="2808288" cy="0"/>
          </a:xfrm>
          <a:prstGeom prst="line">
            <a:avLst/>
          </a:prstGeom>
          <a:ln w="19050" cap="flat" cmpd="sng">
            <a:solidFill>
              <a:srgbClr val="FFCC00"/>
            </a:solidFill>
            <a:prstDash val="solid"/>
            <a:headEnd type="triangle" w="med" len="med"/>
            <a:tailEnd type="triangle" w="med" len="med"/>
          </a:ln>
        </p:spPr>
      </p:sp>
      <p:sp>
        <p:nvSpPr>
          <p:cNvPr id="2076" name="Text Box 28"/>
          <p:cNvSpPr txBox="1"/>
          <p:nvPr/>
        </p:nvSpPr>
        <p:spPr>
          <a:xfrm>
            <a:off x="6311901" y="1844676"/>
            <a:ext cx="792163" cy="366713"/>
          </a:xfrm>
          <a:prstGeom prst="rect">
            <a:avLst/>
          </a:prstGeom>
          <a:noFill/>
          <a:ln w="9525">
            <a:noFill/>
          </a:ln>
        </p:spPr>
        <p:txBody>
          <a:bodyPr>
            <a:spAutoFit/>
          </a:bodyPr>
          <a:lstStyle/>
          <a:p>
            <a:pPr algn="l">
              <a:spcBef>
                <a:spcPct val="50000"/>
              </a:spcBef>
            </a:pPr>
            <a:r>
              <a:rPr lang="en-US" altLang="zh-TW" dirty="0">
                <a:latin typeface="Arial" panose="020B0604020202020204" pitchFamily="34" charset="0"/>
                <a:ea typeface="PMingLiU" pitchFamily="18" charset="-120"/>
              </a:rPr>
              <a:t>Client</a:t>
            </a:r>
          </a:p>
        </p:txBody>
      </p:sp>
      <p:sp>
        <p:nvSpPr>
          <p:cNvPr id="2077" name="Text Box 29"/>
          <p:cNvSpPr txBox="1"/>
          <p:nvPr/>
        </p:nvSpPr>
        <p:spPr>
          <a:xfrm>
            <a:off x="9120189" y="1844676"/>
            <a:ext cx="935037" cy="366713"/>
          </a:xfrm>
          <a:prstGeom prst="rect">
            <a:avLst/>
          </a:prstGeom>
          <a:noFill/>
          <a:ln w="9525">
            <a:noFill/>
          </a:ln>
        </p:spPr>
        <p:txBody>
          <a:bodyPr>
            <a:spAutoFit/>
          </a:bodyPr>
          <a:lstStyle/>
          <a:p>
            <a:pPr algn="l">
              <a:spcBef>
                <a:spcPct val="50000"/>
              </a:spcBef>
            </a:pPr>
            <a:r>
              <a:rPr lang="en-US" altLang="zh-TW" dirty="0">
                <a:latin typeface="Arial" panose="020B0604020202020204" pitchFamily="34" charset="0"/>
                <a:ea typeface="PMingLiU" pitchFamily="18" charset="-120"/>
              </a:rPr>
              <a:t>Server</a:t>
            </a:r>
          </a:p>
        </p:txBody>
      </p:sp>
      <p:sp>
        <p:nvSpPr>
          <p:cNvPr id="2078" name="Text Box 30"/>
          <p:cNvSpPr txBox="1"/>
          <p:nvPr/>
        </p:nvSpPr>
        <p:spPr>
          <a:xfrm>
            <a:off x="7896225" y="2565401"/>
            <a:ext cx="863600" cy="366713"/>
          </a:xfrm>
          <a:prstGeom prst="rect">
            <a:avLst/>
          </a:prstGeom>
          <a:noFill/>
          <a:ln w="9525">
            <a:noFill/>
          </a:ln>
        </p:spPr>
        <p:txBody>
          <a:bodyPr>
            <a:spAutoFit/>
          </a:bodyPr>
          <a:lstStyle/>
          <a:p>
            <a:pPr algn="l">
              <a:spcBef>
                <a:spcPct val="50000"/>
              </a:spcBef>
            </a:pPr>
            <a:r>
              <a:rPr lang="en-US" altLang="zh-TW" dirty="0">
                <a:latin typeface="Arial" panose="020B0604020202020204" pitchFamily="34" charset="0"/>
                <a:ea typeface="PMingLiU" pitchFamily="18" charset="-120"/>
              </a:rPr>
              <a:t>FIN</a:t>
            </a:r>
          </a:p>
        </p:txBody>
      </p:sp>
      <p:sp>
        <p:nvSpPr>
          <p:cNvPr id="2079" name="Text Box 31"/>
          <p:cNvSpPr txBox="1"/>
          <p:nvPr/>
        </p:nvSpPr>
        <p:spPr>
          <a:xfrm>
            <a:off x="7608888" y="3500438"/>
            <a:ext cx="1223962" cy="366712"/>
          </a:xfrm>
          <a:prstGeom prst="rect">
            <a:avLst/>
          </a:prstGeom>
          <a:noFill/>
          <a:ln w="9525">
            <a:noFill/>
          </a:ln>
        </p:spPr>
        <p:txBody>
          <a:bodyPr>
            <a:spAutoFit/>
          </a:bodyPr>
          <a:lstStyle/>
          <a:p>
            <a:pPr algn="l">
              <a:spcBef>
                <a:spcPct val="50000"/>
              </a:spcBef>
            </a:pPr>
            <a:r>
              <a:rPr lang="en-US" altLang="zh-TW" dirty="0">
                <a:latin typeface="Arial" panose="020B0604020202020204" pitchFamily="34" charset="0"/>
                <a:ea typeface="PMingLiU" pitchFamily="18" charset="-120"/>
              </a:rPr>
              <a:t>ACK/FIN</a:t>
            </a:r>
          </a:p>
        </p:txBody>
      </p:sp>
      <p:sp>
        <p:nvSpPr>
          <p:cNvPr id="2080" name="Text Box 32"/>
          <p:cNvSpPr txBox="1"/>
          <p:nvPr/>
        </p:nvSpPr>
        <p:spPr>
          <a:xfrm>
            <a:off x="7896225" y="4365626"/>
            <a:ext cx="863600" cy="366713"/>
          </a:xfrm>
          <a:prstGeom prst="rect">
            <a:avLst/>
          </a:prstGeom>
          <a:noFill/>
          <a:ln w="9525">
            <a:noFill/>
          </a:ln>
        </p:spPr>
        <p:txBody>
          <a:bodyPr>
            <a:spAutoFit/>
          </a:bodyPr>
          <a:lstStyle/>
          <a:p>
            <a:pPr algn="l">
              <a:spcBef>
                <a:spcPct val="50000"/>
              </a:spcBef>
            </a:pPr>
            <a:r>
              <a:rPr lang="en-US" altLang="zh-TW" dirty="0">
                <a:latin typeface="Arial" panose="020B0604020202020204" pitchFamily="34" charset="0"/>
                <a:ea typeface="PMingLiU" pitchFamily="18" charset="-120"/>
              </a:rPr>
              <a:t>ACK</a:t>
            </a:r>
          </a:p>
        </p:txBody>
      </p:sp>
      <p:sp>
        <p:nvSpPr>
          <p:cNvPr id="2081" name="Text Box 33"/>
          <p:cNvSpPr txBox="1"/>
          <p:nvPr/>
        </p:nvSpPr>
        <p:spPr>
          <a:xfrm>
            <a:off x="7032625" y="5157788"/>
            <a:ext cx="1512888" cy="366712"/>
          </a:xfrm>
          <a:prstGeom prst="rect">
            <a:avLst/>
          </a:prstGeom>
          <a:noFill/>
          <a:ln w="9525">
            <a:noFill/>
          </a:ln>
        </p:spPr>
        <p:txBody>
          <a:bodyPr>
            <a:spAutoFit/>
          </a:bodyPr>
          <a:lstStyle/>
          <a:p>
            <a:pPr algn="l">
              <a:spcBef>
                <a:spcPct val="50000"/>
              </a:spcBef>
            </a:pPr>
            <a:r>
              <a:rPr lang="en-US" altLang="zh-TW" dirty="0">
                <a:latin typeface="Arial" panose="020B0604020202020204" pitchFamily="34" charset="0"/>
                <a:ea typeface="PMingLiU" pitchFamily="18" charset="-120"/>
              </a:rPr>
              <a:t>Connection</a:t>
            </a:r>
          </a:p>
        </p:txBody>
      </p:sp>
      <p:sp>
        <p:nvSpPr>
          <p:cNvPr id="2082" name="Text Box 34"/>
          <p:cNvSpPr txBox="1"/>
          <p:nvPr/>
        </p:nvSpPr>
        <p:spPr>
          <a:xfrm>
            <a:off x="8328026" y="5157788"/>
            <a:ext cx="936625" cy="366712"/>
          </a:xfrm>
          <a:prstGeom prst="rect">
            <a:avLst/>
          </a:prstGeom>
          <a:noFill/>
          <a:ln w="9525">
            <a:noFill/>
          </a:ln>
        </p:spPr>
        <p:txBody>
          <a:bodyPr>
            <a:spAutoFit/>
          </a:bodyPr>
          <a:lstStyle/>
          <a:p>
            <a:pPr algn="l">
              <a:spcBef>
                <a:spcPct val="50000"/>
              </a:spcBef>
            </a:pPr>
            <a:r>
              <a:rPr lang="en-US" altLang="zh-TW" dirty="0">
                <a:latin typeface="Arial" panose="020B0604020202020204" pitchFamily="34" charset="0"/>
                <a:ea typeface="PMingLiU" pitchFamily="18" charset="-120"/>
              </a:rPr>
              <a:t>Closed</a:t>
            </a:r>
          </a:p>
        </p:txBody>
      </p:sp>
      <p:sp>
        <p:nvSpPr>
          <p:cNvPr id="2083" name="Line 35"/>
          <p:cNvSpPr/>
          <p:nvPr/>
        </p:nvSpPr>
        <p:spPr>
          <a:xfrm>
            <a:off x="6743700" y="5516563"/>
            <a:ext cx="2808288" cy="0"/>
          </a:xfrm>
          <a:prstGeom prst="line">
            <a:avLst/>
          </a:prstGeom>
          <a:ln w="76200" cap="flat" cmpd="sng">
            <a:solidFill>
              <a:srgbClr val="FFFFFF"/>
            </a:solidFill>
            <a:prstDash val="solid"/>
            <a:headEnd type="triangle" w="med" len="med"/>
            <a:tailEnd type="triangle" w="med" len="med"/>
          </a:ln>
        </p:spPr>
      </p:sp>
      <p:sp>
        <p:nvSpPr>
          <p:cNvPr id="20510" name="Text Box 37"/>
          <p:cNvSpPr txBox="1"/>
          <p:nvPr/>
        </p:nvSpPr>
        <p:spPr>
          <a:xfrm>
            <a:off x="3432175" y="1557338"/>
            <a:ext cx="1150938" cy="406400"/>
          </a:xfrm>
          <a:prstGeom prst="rect">
            <a:avLst/>
          </a:prstGeom>
          <a:noFill/>
          <a:ln w="9525" cap="flat" cmpd="sng">
            <a:solidFill>
              <a:schemeClr val="bg1"/>
            </a:solidFill>
            <a:prstDash val="solid"/>
            <a:miter/>
            <a:headEnd type="none" w="med" len="med"/>
            <a:tailEnd type="none" w="med" len="med"/>
          </a:ln>
        </p:spPr>
        <p:txBody>
          <a:bodyPr>
            <a:spAutoFit/>
          </a:bodyPr>
          <a:lstStyle/>
          <a:p>
            <a:pPr algn="l">
              <a:spcBef>
                <a:spcPct val="50000"/>
              </a:spcBef>
            </a:pPr>
            <a:r>
              <a:rPr lang="en-US" altLang="zh-TW" sz="2000" dirty="0">
                <a:solidFill>
                  <a:srgbClr val="008000"/>
                </a:solidFill>
                <a:latin typeface="Arial" panose="020B0604020202020204" pitchFamily="34" charset="0"/>
                <a:ea typeface="PMingLiU" pitchFamily="18" charset="-120"/>
              </a:rPr>
              <a:t>Connect</a:t>
            </a:r>
          </a:p>
        </p:txBody>
      </p:sp>
      <p:sp>
        <p:nvSpPr>
          <p:cNvPr id="2086" name="Text Box 38"/>
          <p:cNvSpPr txBox="1"/>
          <p:nvPr/>
        </p:nvSpPr>
        <p:spPr>
          <a:xfrm>
            <a:off x="7464425" y="1557339"/>
            <a:ext cx="1512888" cy="396875"/>
          </a:xfrm>
          <a:prstGeom prst="rect">
            <a:avLst/>
          </a:prstGeom>
          <a:noFill/>
          <a:ln w="9525">
            <a:noFill/>
          </a:ln>
        </p:spPr>
        <p:txBody>
          <a:bodyPr>
            <a:spAutoFit/>
          </a:bodyPr>
          <a:lstStyle/>
          <a:p>
            <a:pPr algn="l">
              <a:spcBef>
                <a:spcPct val="50000"/>
              </a:spcBef>
            </a:pPr>
            <a:r>
              <a:rPr lang="en-US" altLang="zh-TW" sz="2000" dirty="0">
                <a:solidFill>
                  <a:srgbClr val="FF3300"/>
                </a:solidFill>
                <a:latin typeface="Arial" panose="020B0604020202020204" pitchFamily="34" charset="0"/>
                <a:ea typeface="PMingLiU" pitchFamily="18" charset="-120"/>
              </a:rPr>
              <a:t>Disconnect</a:t>
            </a:r>
          </a:p>
        </p:txBody>
      </p:sp>
      <p:sp>
        <p:nvSpPr>
          <p:cNvPr id="20512" name="Text Box 39"/>
          <p:cNvSpPr txBox="1"/>
          <p:nvPr/>
        </p:nvSpPr>
        <p:spPr>
          <a:xfrm>
            <a:off x="3287714" y="6092826"/>
            <a:ext cx="5976937" cy="519113"/>
          </a:xfrm>
          <a:prstGeom prst="rect">
            <a:avLst/>
          </a:prstGeom>
          <a:noFill/>
          <a:ln w="38100">
            <a:noFill/>
          </a:ln>
        </p:spPr>
        <p:txBody>
          <a:bodyPr>
            <a:spAutoFit/>
          </a:bodyPr>
          <a:lstStyle/>
          <a:p>
            <a:pPr>
              <a:spcBef>
                <a:spcPct val="50000"/>
              </a:spcBef>
            </a:pPr>
            <a:r>
              <a:rPr lang="en-US" altLang="zh-TW" sz="2800" u="sng" dirty="0">
                <a:latin typeface="Arial" panose="020B0604020202020204" pitchFamily="34" charset="0"/>
                <a:ea typeface="PMingLiU" pitchFamily="18" charset="-120"/>
              </a:rPr>
              <a:t>Three-way handshake</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064"/>
                                        </p:tgtEl>
                                        <p:attrNameLst>
                                          <p:attrName>style.visibility</p:attrName>
                                        </p:attrNameLst>
                                      </p:cBhvr>
                                      <p:to>
                                        <p:strVal val="visible"/>
                                      </p:to>
                                    </p:set>
                                    <p:animEffect transition="in" filter="blinds(horizontal)">
                                      <p:cBhvr>
                                        <p:cTn id="7" dur="500"/>
                                        <p:tgtEl>
                                          <p:spTgt spid="2064"/>
                                        </p:tgtEl>
                                      </p:cBhvr>
                                    </p:animEffect>
                                  </p:childTnLst>
                                </p:cTn>
                              </p:par>
                              <p:par>
                                <p:cTn id="8" presetID="3" presetClass="entr" presetSubtype="10" fill="hold" nodeType="withEffect">
                                  <p:stCondLst>
                                    <p:cond delay="0"/>
                                  </p:stCondLst>
                                  <p:childTnLst>
                                    <p:set>
                                      <p:cBhvr>
                                        <p:cTn id="9" dur="1" fill="hold">
                                          <p:stCondLst>
                                            <p:cond delay="0"/>
                                          </p:stCondLst>
                                        </p:cTn>
                                        <p:tgtEl>
                                          <p:spTgt spid="2058"/>
                                        </p:tgtEl>
                                        <p:attrNameLst>
                                          <p:attrName>style.visibility</p:attrName>
                                        </p:attrNameLst>
                                      </p:cBhvr>
                                      <p:to>
                                        <p:strVal val="visible"/>
                                      </p:to>
                                    </p:set>
                                    <p:animEffect transition="in" filter="blinds(horizontal)">
                                      <p:cBhvr>
                                        <p:cTn id="10" dur="500"/>
                                        <p:tgtEl>
                                          <p:spTgt spid="2058"/>
                                        </p:tgtEl>
                                      </p:cBhvr>
                                    </p:animEffect>
                                  </p:childTnLst>
                                </p:cTn>
                              </p:par>
                            </p:childTnLst>
                          </p:cTn>
                        </p:par>
                        <p:par>
                          <p:cTn id="11" fill="hold">
                            <p:stCondLst>
                              <p:cond delay="500"/>
                            </p:stCondLst>
                            <p:childTnLst>
                              <p:par>
                                <p:cTn id="12" presetID="3" presetClass="entr" presetSubtype="10" fill="hold" grpId="0" nodeType="afterEffect">
                                  <p:stCondLst>
                                    <p:cond delay="0"/>
                                  </p:stCondLst>
                                  <p:childTnLst>
                                    <p:set>
                                      <p:cBhvr>
                                        <p:cTn id="13" dur="1" fill="hold">
                                          <p:stCondLst>
                                            <p:cond delay="0"/>
                                          </p:stCondLst>
                                        </p:cTn>
                                        <p:tgtEl>
                                          <p:spTgt spid="2065"/>
                                        </p:tgtEl>
                                        <p:attrNameLst>
                                          <p:attrName>style.visibility</p:attrName>
                                        </p:attrNameLst>
                                      </p:cBhvr>
                                      <p:to>
                                        <p:strVal val="visible"/>
                                      </p:to>
                                    </p:set>
                                    <p:animEffect transition="in" filter="blinds(horizontal)">
                                      <p:cBhvr>
                                        <p:cTn id="14" dur="500"/>
                                        <p:tgtEl>
                                          <p:spTgt spid="2065"/>
                                        </p:tgtEl>
                                      </p:cBhvr>
                                    </p:animEffect>
                                  </p:childTnLst>
                                </p:cTn>
                              </p:par>
                              <p:par>
                                <p:cTn id="15" presetID="3" presetClass="entr" presetSubtype="10" fill="hold" nodeType="withEffect">
                                  <p:stCondLst>
                                    <p:cond delay="0"/>
                                  </p:stCondLst>
                                  <p:childTnLst>
                                    <p:set>
                                      <p:cBhvr>
                                        <p:cTn id="16" dur="1" fill="hold">
                                          <p:stCondLst>
                                            <p:cond delay="0"/>
                                          </p:stCondLst>
                                        </p:cTn>
                                        <p:tgtEl>
                                          <p:spTgt spid="2059"/>
                                        </p:tgtEl>
                                        <p:attrNameLst>
                                          <p:attrName>style.visibility</p:attrName>
                                        </p:attrNameLst>
                                      </p:cBhvr>
                                      <p:to>
                                        <p:strVal val="visible"/>
                                      </p:to>
                                    </p:set>
                                    <p:animEffect transition="in" filter="blinds(horizontal)">
                                      <p:cBhvr>
                                        <p:cTn id="17" dur="500"/>
                                        <p:tgtEl>
                                          <p:spTgt spid="2059"/>
                                        </p:tgtEl>
                                      </p:cBhvr>
                                    </p:animEffect>
                                  </p:childTnLst>
                                </p:cTn>
                              </p:par>
                            </p:childTnLst>
                          </p:cTn>
                        </p:par>
                        <p:par>
                          <p:cTn id="18" fill="hold">
                            <p:stCondLst>
                              <p:cond delay="1000"/>
                            </p:stCondLst>
                            <p:childTnLst>
                              <p:par>
                                <p:cTn id="19" presetID="3" presetClass="entr" presetSubtype="10" fill="hold" grpId="0" nodeType="afterEffect">
                                  <p:stCondLst>
                                    <p:cond delay="0"/>
                                  </p:stCondLst>
                                  <p:childTnLst>
                                    <p:set>
                                      <p:cBhvr>
                                        <p:cTn id="20" dur="1" fill="hold">
                                          <p:stCondLst>
                                            <p:cond delay="0"/>
                                          </p:stCondLst>
                                        </p:cTn>
                                        <p:tgtEl>
                                          <p:spTgt spid="2066"/>
                                        </p:tgtEl>
                                        <p:attrNameLst>
                                          <p:attrName>style.visibility</p:attrName>
                                        </p:attrNameLst>
                                      </p:cBhvr>
                                      <p:to>
                                        <p:strVal val="visible"/>
                                      </p:to>
                                    </p:set>
                                    <p:animEffect transition="in" filter="blinds(horizontal)">
                                      <p:cBhvr>
                                        <p:cTn id="21" dur="500"/>
                                        <p:tgtEl>
                                          <p:spTgt spid="2066"/>
                                        </p:tgtEl>
                                      </p:cBhvr>
                                    </p:animEffect>
                                  </p:childTnLst>
                                </p:cTn>
                              </p:par>
                              <p:par>
                                <p:cTn id="22" presetID="3" presetClass="entr" presetSubtype="10" fill="hold" nodeType="withEffect">
                                  <p:stCondLst>
                                    <p:cond delay="0"/>
                                  </p:stCondLst>
                                  <p:childTnLst>
                                    <p:set>
                                      <p:cBhvr>
                                        <p:cTn id="23" dur="1" fill="hold">
                                          <p:stCondLst>
                                            <p:cond delay="0"/>
                                          </p:stCondLst>
                                        </p:cTn>
                                        <p:tgtEl>
                                          <p:spTgt spid="2060"/>
                                        </p:tgtEl>
                                        <p:attrNameLst>
                                          <p:attrName>style.visibility</p:attrName>
                                        </p:attrNameLst>
                                      </p:cBhvr>
                                      <p:to>
                                        <p:strVal val="visible"/>
                                      </p:to>
                                    </p:set>
                                    <p:animEffect transition="in" filter="blinds(horizontal)">
                                      <p:cBhvr>
                                        <p:cTn id="24" dur="500"/>
                                        <p:tgtEl>
                                          <p:spTgt spid="2060"/>
                                        </p:tgtEl>
                                      </p:cBhvr>
                                    </p:animEffect>
                                  </p:childTnLst>
                                </p:cTn>
                              </p:par>
                            </p:childTnLst>
                          </p:cTn>
                        </p:par>
                        <p:par>
                          <p:cTn id="25" fill="hold">
                            <p:stCondLst>
                              <p:cond delay="1500"/>
                            </p:stCondLst>
                            <p:childTnLst>
                              <p:par>
                                <p:cTn id="26" presetID="8" presetClass="entr" presetSubtype="16" fill="hold" nodeType="afterEffect">
                                  <p:stCondLst>
                                    <p:cond delay="0"/>
                                  </p:stCondLst>
                                  <p:childTnLst>
                                    <p:set>
                                      <p:cBhvr>
                                        <p:cTn id="27" dur="1" fill="hold">
                                          <p:stCondLst>
                                            <p:cond delay="0"/>
                                          </p:stCondLst>
                                        </p:cTn>
                                        <p:tgtEl>
                                          <p:spTgt spid="2061"/>
                                        </p:tgtEl>
                                        <p:attrNameLst>
                                          <p:attrName>style.visibility</p:attrName>
                                        </p:attrNameLst>
                                      </p:cBhvr>
                                      <p:to>
                                        <p:strVal val="visible"/>
                                      </p:to>
                                    </p:set>
                                    <p:animEffect transition="in" filter="diamond(in)">
                                      <p:cBhvr>
                                        <p:cTn id="28" dur="2000"/>
                                        <p:tgtEl>
                                          <p:spTgt spid="2061"/>
                                        </p:tgtEl>
                                      </p:cBhvr>
                                    </p:animEffect>
                                  </p:childTnLst>
                                </p:cTn>
                              </p:par>
                              <p:par>
                                <p:cTn id="29" presetID="8" presetClass="entr" presetSubtype="16" fill="hold" grpId="0" nodeType="withEffect">
                                  <p:stCondLst>
                                    <p:cond delay="0"/>
                                  </p:stCondLst>
                                  <p:childTnLst>
                                    <p:set>
                                      <p:cBhvr>
                                        <p:cTn id="30" dur="1" fill="hold">
                                          <p:stCondLst>
                                            <p:cond delay="0"/>
                                          </p:stCondLst>
                                        </p:cTn>
                                        <p:tgtEl>
                                          <p:spTgt spid="2067"/>
                                        </p:tgtEl>
                                        <p:attrNameLst>
                                          <p:attrName>style.visibility</p:attrName>
                                        </p:attrNameLst>
                                      </p:cBhvr>
                                      <p:to>
                                        <p:strVal val="visible"/>
                                      </p:to>
                                    </p:set>
                                    <p:animEffect transition="in" filter="diamond(in)">
                                      <p:cBhvr>
                                        <p:cTn id="31" dur="2000"/>
                                        <p:tgtEl>
                                          <p:spTgt spid="2067"/>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2086"/>
                                        </p:tgtEl>
                                        <p:attrNameLst>
                                          <p:attrName>style.visibility</p:attrName>
                                        </p:attrNameLst>
                                      </p:cBhvr>
                                      <p:to>
                                        <p:strVal val="visible"/>
                                      </p:to>
                                    </p:set>
                                    <p:animEffect transition="in" filter="blinds(horizontal)">
                                      <p:cBhvr>
                                        <p:cTn id="36" dur="500"/>
                                        <p:tgtEl>
                                          <p:spTgt spid="2086"/>
                                        </p:tgtEl>
                                      </p:cBhvr>
                                    </p:animEffect>
                                  </p:childTnLst>
                                </p:cTn>
                              </p:par>
                              <p:par>
                                <p:cTn id="37" presetID="3" presetClass="entr" presetSubtype="10" fill="hold" nodeType="withEffect">
                                  <p:stCondLst>
                                    <p:cond delay="0"/>
                                  </p:stCondLst>
                                  <p:childTnLst>
                                    <p:set>
                                      <p:cBhvr>
                                        <p:cTn id="38" dur="1" fill="hold">
                                          <p:stCondLst>
                                            <p:cond delay="0"/>
                                          </p:stCondLst>
                                        </p:cTn>
                                        <p:tgtEl>
                                          <p:spTgt spid="2070"/>
                                        </p:tgtEl>
                                        <p:attrNameLst>
                                          <p:attrName>style.visibility</p:attrName>
                                        </p:attrNameLst>
                                      </p:cBhvr>
                                      <p:to>
                                        <p:strVal val="visible"/>
                                      </p:to>
                                    </p:set>
                                    <p:animEffect transition="in" filter="blinds(horizontal)">
                                      <p:cBhvr>
                                        <p:cTn id="39" dur="500"/>
                                        <p:tgtEl>
                                          <p:spTgt spid="2070"/>
                                        </p:tgtEl>
                                      </p:cBhvr>
                                    </p:animEffect>
                                  </p:childTnLst>
                                </p:cTn>
                              </p:par>
                              <p:par>
                                <p:cTn id="40" presetID="3" presetClass="entr" presetSubtype="10" fill="hold" nodeType="withEffect">
                                  <p:stCondLst>
                                    <p:cond delay="0"/>
                                  </p:stCondLst>
                                  <p:childTnLst>
                                    <p:set>
                                      <p:cBhvr>
                                        <p:cTn id="41" dur="1" fill="hold">
                                          <p:stCondLst>
                                            <p:cond delay="0"/>
                                          </p:stCondLst>
                                        </p:cTn>
                                        <p:tgtEl>
                                          <p:spTgt spid="2071"/>
                                        </p:tgtEl>
                                        <p:attrNameLst>
                                          <p:attrName>style.visibility</p:attrName>
                                        </p:attrNameLst>
                                      </p:cBhvr>
                                      <p:to>
                                        <p:strVal val="visible"/>
                                      </p:to>
                                    </p:set>
                                    <p:animEffect transition="in" filter="blinds(horizontal)">
                                      <p:cBhvr>
                                        <p:cTn id="42" dur="500"/>
                                        <p:tgtEl>
                                          <p:spTgt spid="2071"/>
                                        </p:tgtEl>
                                      </p:cBhvr>
                                    </p:animEffect>
                                  </p:childTnLst>
                                </p:cTn>
                              </p:par>
                              <p:par>
                                <p:cTn id="43" presetID="3" presetClass="entr" presetSubtype="10" fill="hold" grpId="0" nodeType="withEffect">
                                  <p:stCondLst>
                                    <p:cond delay="0"/>
                                  </p:stCondLst>
                                  <p:childTnLst>
                                    <p:set>
                                      <p:cBhvr>
                                        <p:cTn id="44" dur="1" fill="hold">
                                          <p:stCondLst>
                                            <p:cond delay="0"/>
                                          </p:stCondLst>
                                        </p:cTn>
                                        <p:tgtEl>
                                          <p:spTgt spid="2077"/>
                                        </p:tgtEl>
                                        <p:attrNameLst>
                                          <p:attrName>style.visibility</p:attrName>
                                        </p:attrNameLst>
                                      </p:cBhvr>
                                      <p:to>
                                        <p:strVal val="visible"/>
                                      </p:to>
                                    </p:set>
                                    <p:animEffect transition="in" filter="blinds(horizontal)">
                                      <p:cBhvr>
                                        <p:cTn id="45" dur="500"/>
                                        <p:tgtEl>
                                          <p:spTgt spid="2077"/>
                                        </p:tgtEl>
                                      </p:cBhvr>
                                    </p:animEffect>
                                  </p:childTnLst>
                                </p:cTn>
                              </p:par>
                              <p:par>
                                <p:cTn id="46" presetID="3" presetClass="entr" presetSubtype="10" fill="hold" grpId="0" nodeType="withEffect">
                                  <p:stCondLst>
                                    <p:cond delay="0"/>
                                  </p:stCondLst>
                                  <p:childTnLst>
                                    <p:set>
                                      <p:cBhvr>
                                        <p:cTn id="47" dur="1" fill="hold">
                                          <p:stCondLst>
                                            <p:cond delay="0"/>
                                          </p:stCondLst>
                                        </p:cTn>
                                        <p:tgtEl>
                                          <p:spTgt spid="2076"/>
                                        </p:tgtEl>
                                        <p:attrNameLst>
                                          <p:attrName>style.visibility</p:attrName>
                                        </p:attrNameLst>
                                      </p:cBhvr>
                                      <p:to>
                                        <p:strVal val="visible"/>
                                      </p:to>
                                    </p:set>
                                    <p:animEffect transition="in" filter="blinds(horizontal)">
                                      <p:cBhvr>
                                        <p:cTn id="48" dur="500"/>
                                        <p:tgtEl>
                                          <p:spTgt spid="2076"/>
                                        </p:tgtEl>
                                      </p:cBhvr>
                                    </p:animEffect>
                                  </p:childTnLst>
                                </p:cTn>
                              </p:par>
                              <p:par>
                                <p:cTn id="49" presetID="3" presetClass="entr" presetSubtype="10" fill="hold" nodeType="withEffect">
                                  <p:stCondLst>
                                    <p:cond delay="0"/>
                                  </p:stCondLst>
                                  <p:childTnLst>
                                    <p:set>
                                      <p:cBhvr>
                                        <p:cTn id="50" dur="1" fill="hold">
                                          <p:stCondLst>
                                            <p:cond delay="0"/>
                                          </p:stCondLst>
                                        </p:cTn>
                                        <p:tgtEl>
                                          <p:spTgt spid="2075"/>
                                        </p:tgtEl>
                                        <p:attrNameLst>
                                          <p:attrName>style.visibility</p:attrName>
                                        </p:attrNameLst>
                                      </p:cBhvr>
                                      <p:to>
                                        <p:strVal val="visible"/>
                                      </p:to>
                                    </p:set>
                                    <p:animEffect transition="in" filter="blinds(horizontal)">
                                      <p:cBhvr>
                                        <p:cTn id="51" dur="500"/>
                                        <p:tgtEl>
                                          <p:spTgt spid="2075"/>
                                        </p:tgtEl>
                                      </p:cBhvr>
                                    </p:animEffect>
                                  </p:childTnLst>
                                </p:cTn>
                              </p:par>
                            </p:childTnLst>
                          </p:cTn>
                        </p:par>
                        <p:par>
                          <p:cTn id="52" fill="hold">
                            <p:stCondLst>
                              <p:cond delay="500"/>
                            </p:stCondLst>
                            <p:childTnLst>
                              <p:par>
                                <p:cTn id="53" presetID="3" presetClass="entr" presetSubtype="10" fill="hold" grpId="0" nodeType="afterEffect">
                                  <p:stCondLst>
                                    <p:cond delay="0"/>
                                  </p:stCondLst>
                                  <p:childTnLst>
                                    <p:set>
                                      <p:cBhvr>
                                        <p:cTn id="54" dur="1" fill="hold">
                                          <p:stCondLst>
                                            <p:cond delay="0"/>
                                          </p:stCondLst>
                                        </p:cTn>
                                        <p:tgtEl>
                                          <p:spTgt spid="2078"/>
                                        </p:tgtEl>
                                        <p:attrNameLst>
                                          <p:attrName>style.visibility</p:attrName>
                                        </p:attrNameLst>
                                      </p:cBhvr>
                                      <p:to>
                                        <p:strVal val="visible"/>
                                      </p:to>
                                    </p:set>
                                    <p:animEffect transition="in" filter="blinds(horizontal)">
                                      <p:cBhvr>
                                        <p:cTn id="55" dur="500"/>
                                        <p:tgtEl>
                                          <p:spTgt spid="2078"/>
                                        </p:tgtEl>
                                      </p:cBhvr>
                                    </p:animEffect>
                                  </p:childTnLst>
                                </p:cTn>
                              </p:par>
                              <p:par>
                                <p:cTn id="56" presetID="3" presetClass="entr" presetSubtype="10" fill="hold" nodeType="withEffect">
                                  <p:stCondLst>
                                    <p:cond delay="0"/>
                                  </p:stCondLst>
                                  <p:childTnLst>
                                    <p:set>
                                      <p:cBhvr>
                                        <p:cTn id="57" dur="1" fill="hold">
                                          <p:stCondLst>
                                            <p:cond delay="0"/>
                                          </p:stCondLst>
                                        </p:cTn>
                                        <p:tgtEl>
                                          <p:spTgt spid="2072"/>
                                        </p:tgtEl>
                                        <p:attrNameLst>
                                          <p:attrName>style.visibility</p:attrName>
                                        </p:attrNameLst>
                                      </p:cBhvr>
                                      <p:to>
                                        <p:strVal val="visible"/>
                                      </p:to>
                                    </p:set>
                                    <p:animEffect transition="in" filter="blinds(horizontal)">
                                      <p:cBhvr>
                                        <p:cTn id="58" dur="500"/>
                                        <p:tgtEl>
                                          <p:spTgt spid="2072"/>
                                        </p:tgtEl>
                                      </p:cBhvr>
                                    </p:animEffect>
                                  </p:childTnLst>
                                </p:cTn>
                              </p:par>
                            </p:childTnLst>
                          </p:cTn>
                        </p:par>
                        <p:par>
                          <p:cTn id="59" fill="hold">
                            <p:stCondLst>
                              <p:cond delay="1000"/>
                            </p:stCondLst>
                            <p:childTnLst>
                              <p:par>
                                <p:cTn id="60" presetID="3" presetClass="entr" presetSubtype="10" fill="hold" grpId="0" nodeType="afterEffect">
                                  <p:stCondLst>
                                    <p:cond delay="0"/>
                                  </p:stCondLst>
                                  <p:childTnLst>
                                    <p:set>
                                      <p:cBhvr>
                                        <p:cTn id="61" dur="1" fill="hold">
                                          <p:stCondLst>
                                            <p:cond delay="0"/>
                                          </p:stCondLst>
                                        </p:cTn>
                                        <p:tgtEl>
                                          <p:spTgt spid="2079"/>
                                        </p:tgtEl>
                                        <p:attrNameLst>
                                          <p:attrName>style.visibility</p:attrName>
                                        </p:attrNameLst>
                                      </p:cBhvr>
                                      <p:to>
                                        <p:strVal val="visible"/>
                                      </p:to>
                                    </p:set>
                                    <p:animEffect transition="in" filter="blinds(horizontal)">
                                      <p:cBhvr>
                                        <p:cTn id="62" dur="500"/>
                                        <p:tgtEl>
                                          <p:spTgt spid="2079"/>
                                        </p:tgtEl>
                                      </p:cBhvr>
                                    </p:animEffect>
                                  </p:childTnLst>
                                </p:cTn>
                              </p:par>
                              <p:par>
                                <p:cTn id="63" presetID="3" presetClass="entr" presetSubtype="10" fill="hold" nodeType="withEffect">
                                  <p:stCondLst>
                                    <p:cond delay="0"/>
                                  </p:stCondLst>
                                  <p:childTnLst>
                                    <p:set>
                                      <p:cBhvr>
                                        <p:cTn id="64" dur="1" fill="hold">
                                          <p:stCondLst>
                                            <p:cond delay="0"/>
                                          </p:stCondLst>
                                        </p:cTn>
                                        <p:tgtEl>
                                          <p:spTgt spid="2073"/>
                                        </p:tgtEl>
                                        <p:attrNameLst>
                                          <p:attrName>style.visibility</p:attrName>
                                        </p:attrNameLst>
                                      </p:cBhvr>
                                      <p:to>
                                        <p:strVal val="visible"/>
                                      </p:to>
                                    </p:set>
                                    <p:animEffect transition="in" filter="blinds(horizontal)">
                                      <p:cBhvr>
                                        <p:cTn id="65" dur="500"/>
                                        <p:tgtEl>
                                          <p:spTgt spid="2073"/>
                                        </p:tgtEl>
                                      </p:cBhvr>
                                    </p:animEffect>
                                  </p:childTnLst>
                                </p:cTn>
                              </p:par>
                            </p:childTnLst>
                          </p:cTn>
                        </p:par>
                        <p:par>
                          <p:cTn id="66" fill="hold">
                            <p:stCondLst>
                              <p:cond delay="1500"/>
                            </p:stCondLst>
                            <p:childTnLst>
                              <p:par>
                                <p:cTn id="67" presetID="3" presetClass="entr" presetSubtype="10" fill="hold" grpId="0" nodeType="afterEffect">
                                  <p:stCondLst>
                                    <p:cond delay="0"/>
                                  </p:stCondLst>
                                  <p:childTnLst>
                                    <p:set>
                                      <p:cBhvr>
                                        <p:cTn id="68" dur="1" fill="hold">
                                          <p:stCondLst>
                                            <p:cond delay="0"/>
                                          </p:stCondLst>
                                        </p:cTn>
                                        <p:tgtEl>
                                          <p:spTgt spid="2080"/>
                                        </p:tgtEl>
                                        <p:attrNameLst>
                                          <p:attrName>style.visibility</p:attrName>
                                        </p:attrNameLst>
                                      </p:cBhvr>
                                      <p:to>
                                        <p:strVal val="visible"/>
                                      </p:to>
                                    </p:set>
                                    <p:animEffect transition="in" filter="blinds(horizontal)">
                                      <p:cBhvr>
                                        <p:cTn id="69" dur="500"/>
                                        <p:tgtEl>
                                          <p:spTgt spid="2080"/>
                                        </p:tgtEl>
                                      </p:cBhvr>
                                    </p:animEffect>
                                  </p:childTnLst>
                                </p:cTn>
                              </p:par>
                              <p:par>
                                <p:cTn id="70" presetID="3" presetClass="entr" presetSubtype="10" fill="hold" nodeType="withEffect">
                                  <p:stCondLst>
                                    <p:cond delay="0"/>
                                  </p:stCondLst>
                                  <p:childTnLst>
                                    <p:set>
                                      <p:cBhvr>
                                        <p:cTn id="71" dur="1" fill="hold">
                                          <p:stCondLst>
                                            <p:cond delay="0"/>
                                          </p:stCondLst>
                                        </p:cTn>
                                        <p:tgtEl>
                                          <p:spTgt spid="2074"/>
                                        </p:tgtEl>
                                        <p:attrNameLst>
                                          <p:attrName>style.visibility</p:attrName>
                                        </p:attrNameLst>
                                      </p:cBhvr>
                                      <p:to>
                                        <p:strVal val="visible"/>
                                      </p:to>
                                    </p:set>
                                    <p:animEffect transition="in" filter="blinds(horizontal)">
                                      <p:cBhvr>
                                        <p:cTn id="72" dur="500"/>
                                        <p:tgtEl>
                                          <p:spTgt spid="2074"/>
                                        </p:tgtEl>
                                      </p:cBhvr>
                                    </p:animEffect>
                                  </p:childTnLst>
                                </p:cTn>
                              </p:par>
                            </p:childTnLst>
                          </p:cTn>
                        </p:par>
                        <p:par>
                          <p:cTn id="73" fill="hold">
                            <p:stCondLst>
                              <p:cond delay="2000"/>
                            </p:stCondLst>
                            <p:childTnLst>
                              <p:par>
                                <p:cTn id="74" presetID="3" presetClass="entr" presetSubtype="10" fill="hold" grpId="0" nodeType="afterEffect">
                                  <p:stCondLst>
                                    <p:cond delay="0"/>
                                  </p:stCondLst>
                                  <p:childTnLst>
                                    <p:set>
                                      <p:cBhvr>
                                        <p:cTn id="75" dur="1" fill="hold">
                                          <p:stCondLst>
                                            <p:cond delay="0"/>
                                          </p:stCondLst>
                                        </p:cTn>
                                        <p:tgtEl>
                                          <p:spTgt spid="2081"/>
                                        </p:tgtEl>
                                        <p:attrNameLst>
                                          <p:attrName>style.visibility</p:attrName>
                                        </p:attrNameLst>
                                      </p:cBhvr>
                                      <p:to>
                                        <p:strVal val="visible"/>
                                      </p:to>
                                    </p:set>
                                    <p:animEffect transition="in" filter="blinds(horizontal)">
                                      <p:cBhvr>
                                        <p:cTn id="76" dur="500"/>
                                        <p:tgtEl>
                                          <p:spTgt spid="2081"/>
                                        </p:tgtEl>
                                      </p:cBhvr>
                                    </p:animEffect>
                                  </p:childTnLst>
                                </p:cTn>
                              </p:par>
                              <p:par>
                                <p:cTn id="77" presetID="3" presetClass="entr" presetSubtype="10" fill="hold" grpId="0" nodeType="withEffect">
                                  <p:stCondLst>
                                    <p:cond delay="0"/>
                                  </p:stCondLst>
                                  <p:childTnLst>
                                    <p:set>
                                      <p:cBhvr>
                                        <p:cTn id="78" dur="1" fill="hold">
                                          <p:stCondLst>
                                            <p:cond delay="0"/>
                                          </p:stCondLst>
                                        </p:cTn>
                                        <p:tgtEl>
                                          <p:spTgt spid="2082"/>
                                        </p:tgtEl>
                                        <p:attrNameLst>
                                          <p:attrName>style.visibility</p:attrName>
                                        </p:attrNameLst>
                                      </p:cBhvr>
                                      <p:to>
                                        <p:strVal val="visible"/>
                                      </p:to>
                                    </p:set>
                                    <p:animEffect transition="in" filter="blinds(horizontal)">
                                      <p:cBhvr>
                                        <p:cTn id="79" dur="500"/>
                                        <p:tgtEl>
                                          <p:spTgt spid="2082"/>
                                        </p:tgtEl>
                                      </p:cBhvr>
                                    </p:animEffect>
                                  </p:childTnLst>
                                </p:cTn>
                              </p:par>
                              <p:par>
                                <p:cTn id="80" presetID="10" presetClass="entr" presetSubtype="0" fill="hold" nodeType="withEffect">
                                  <p:stCondLst>
                                    <p:cond delay="0"/>
                                  </p:stCondLst>
                                  <p:childTnLst>
                                    <p:set>
                                      <p:cBhvr>
                                        <p:cTn id="81" dur="1" fill="hold">
                                          <p:stCondLst>
                                            <p:cond delay="0"/>
                                          </p:stCondLst>
                                        </p:cTn>
                                        <p:tgtEl>
                                          <p:spTgt spid="2083"/>
                                        </p:tgtEl>
                                        <p:attrNameLst>
                                          <p:attrName>style.visibility</p:attrName>
                                        </p:attrNameLst>
                                      </p:cBhvr>
                                      <p:to>
                                        <p:strVal val="visible"/>
                                      </p:to>
                                    </p:set>
                                    <p:animEffect transition="in" filter="fade">
                                      <p:cBhvr>
                                        <p:cTn id="82" dur="2000"/>
                                        <p:tgtEl>
                                          <p:spTgt spid="20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4" grpId="0"/>
      <p:bldP spid="2065" grpId="0"/>
      <p:bldP spid="2066" grpId="0"/>
      <p:bldP spid="2067" grpId="0"/>
      <p:bldP spid="2076" grpId="0"/>
      <p:bldP spid="2077" grpId="0"/>
      <p:bldP spid="2078" grpId="0"/>
      <p:bldP spid="2079" grpId="0"/>
      <p:bldP spid="2080" grpId="0"/>
      <p:bldP spid="2081" grpId="0"/>
      <p:bldP spid="2082" grpId="0"/>
      <p:bldP spid="208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latin typeface="Times New Roman" panose="02020603050405020304" pitchFamily="18" charset="0"/>
                <a:cs typeface="Times New Roman" panose="02020603050405020304" pitchFamily="18" charset="0"/>
                <a:sym typeface="+mn-ea"/>
              </a:rPr>
              <a:t>What is </a:t>
            </a:r>
            <a:r>
              <a:rPr lang="en-US" b="1" u="sng" dirty="0" err="1">
                <a:latin typeface="Times New Roman" panose="02020603050405020304" pitchFamily="18" charset="0"/>
                <a:cs typeface="Times New Roman" panose="02020603050405020304" pitchFamily="18" charset="0"/>
                <a:sym typeface="+mn-ea"/>
              </a:rPr>
              <a:t>nmap</a:t>
            </a:r>
            <a:r>
              <a:rPr lang="en-US" b="1" u="sng" dirty="0">
                <a:latin typeface="Times New Roman" panose="02020603050405020304" pitchFamily="18" charset="0"/>
                <a:cs typeface="Times New Roman" panose="02020603050405020304" pitchFamily="18" charset="0"/>
                <a:sym typeface="+mn-ea"/>
              </a:rPr>
              <a:t>?</a:t>
            </a:r>
            <a:endParaRPr lang="en-US" b="1" u="sng"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quarter" idx="1"/>
          </p:nvPr>
        </p:nvSpPr>
        <p:spPr>
          <a:xfrm>
            <a:off x="1225421" y="2575249"/>
            <a:ext cx="7922260" cy="3877065"/>
          </a:xfrm>
        </p:spPr>
        <p:txBody>
          <a:bodyPr/>
          <a:lstStyle/>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NMAP is a free and open source utility for network discovery and security auditing. Like there are too many devices connected to the network and a </a:t>
            </a:r>
            <a:r>
              <a:rPr lang="en-US" dirty="0" err="1">
                <a:latin typeface="Times New Roman" panose="02020603050405020304" pitchFamily="18" charset="0"/>
                <a:cs typeface="Times New Roman" panose="02020603050405020304" pitchFamily="18" charset="0"/>
              </a:rPr>
              <a:t>pentester</a:t>
            </a:r>
            <a:r>
              <a:rPr lang="en-US" dirty="0">
                <a:latin typeface="Times New Roman" panose="02020603050405020304" pitchFamily="18" charset="0"/>
                <a:cs typeface="Times New Roman" panose="02020603050405020304" pitchFamily="18" charset="0"/>
              </a:rPr>
              <a:t> or network administrators will gather a information like which type of devices, their services uptimes, live systems, which kind of services are running their with the help of this utility.</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ZENMAP :-GUI</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tLang="en-US" b="1" u="sng" dirty="0">
                <a:latin typeface="Times New Roman" panose="02020603050405020304" pitchFamily="18" charset="0"/>
                <a:cs typeface="Times New Roman" panose="02020603050405020304" pitchFamily="18" charset="0"/>
                <a:sym typeface="+mn-ea"/>
              </a:rPr>
              <a:t>Quick Start </a:t>
            </a:r>
            <a:r>
              <a:rPr lang="en-US" b="1" u="sng" dirty="0">
                <a:latin typeface="Times New Roman" panose="02020603050405020304" pitchFamily="18" charset="0"/>
                <a:cs typeface="Times New Roman" panose="02020603050405020304" pitchFamily="18" charset="0"/>
                <a:sym typeface="+mn-ea"/>
              </a:rPr>
              <a:t>Cheat-sheet</a:t>
            </a:r>
            <a:endParaRPr lang="en-US" b="1" u="sng"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quarter" idx="1"/>
          </p:nvPr>
        </p:nvSpPr>
        <p:spPr>
          <a:xfrm>
            <a:off x="1847528" y="2500604"/>
            <a:ext cx="8363272" cy="3808716"/>
          </a:xfrm>
        </p:spPr>
        <p:txBody>
          <a:bodyPr>
            <a:normAutofit lnSpcReduction="10000"/>
          </a:bodyPr>
          <a:lstStyle/>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  Switch      Description                          Example </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sS</a:t>
            </a:r>
            <a:r>
              <a:rPr lang="en-US" dirty="0">
                <a:latin typeface="Times New Roman" panose="02020603050405020304" pitchFamily="18" charset="0"/>
                <a:cs typeface="Times New Roman" panose="02020603050405020304" pitchFamily="18" charset="0"/>
              </a:rPr>
              <a:t>          TCP SYN port scan.         </a:t>
            </a:r>
            <a:r>
              <a:rPr lang="en-US" dirty="0" err="1">
                <a:latin typeface="Times New Roman" panose="02020603050405020304" pitchFamily="18" charset="0"/>
                <a:cs typeface="Times New Roman" panose="02020603050405020304" pitchFamily="18" charset="0"/>
              </a:rPr>
              <a:t>nmap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sS</a:t>
            </a:r>
            <a:r>
              <a:rPr lang="en-US" dirty="0">
                <a:latin typeface="Times New Roman" panose="02020603050405020304" pitchFamily="18" charset="0"/>
                <a:cs typeface="Times New Roman" panose="02020603050405020304" pitchFamily="18" charset="0"/>
              </a:rPr>
              <a:t> 192.168.1.1 </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sT</a:t>
            </a:r>
            <a:r>
              <a:rPr lang="en-US" dirty="0">
                <a:latin typeface="Times New Roman" panose="02020603050405020304" pitchFamily="18" charset="0"/>
                <a:cs typeface="Times New Roman" panose="02020603050405020304" pitchFamily="18" charset="0"/>
              </a:rPr>
              <a:t>          TCP Connect port scan     </a:t>
            </a:r>
            <a:r>
              <a:rPr lang="en-US" dirty="0" err="1">
                <a:latin typeface="Times New Roman" panose="02020603050405020304" pitchFamily="18" charset="0"/>
                <a:cs typeface="Times New Roman" panose="02020603050405020304" pitchFamily="18" charset="0"/>
              </a:rPr>
              <a:t>nmap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sT</a:t>
            </a:r>
            <a:r>
              <a:rPr lang="en-US" dirty="0">
                <a:latin typeface="Times New Roman" panose="02020603050405020304" pitchFamily="18" charset="0"/>
                <a:cs typeface="Times New Roman" panose="02020603050405020304" pitchFamily="18" charset="0"/>
              </a:rPr>
              <a:t> 192.168.1.1 </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sU</a:t>
            </a:r>
            <a:r>
              <a:rPr lang="en-US" dirty="0">
                <a:latin typeface="Times New Roman" panose="02020603050405020304" pitchFamily="18" charset="0"/>
                <a:cs typeface="Times New Roman" panose="02020603050405020304" pitchFamily="18" charset="0"/>
              </a:rPr>
              <a:t>          UDP port scan.                 </a:t>
            </a:r>
            <a:r>
              <a:rPr lang="en-US" dirty="0" err="1">
                <a:latin typeface="Times New Roman" panose="02020603050405020304" pitchFamily="18" charset="0"/>
                <a:cs typeface="Times New Roman" panose="02020603050405020304" pitchFamily="18" charset="0"/>
              </a:rPr>
              <a:t>nmap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sU</a:t>
            </a:r>
            <a:r>
              <a:rPr lang="en-US" dirty="0">
                <a:latin typeface="Times New Roman" panose="02020603050405020304" pitchFamily="18" charset="0"/>
                <a:cs typeface="Times New Roman" panose="02020603050405020304" pitchFamily="18" charset="0"/>
              </a:rPr>
              <a:t> 192.168.1.1 </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sA</a:t>
            </a:r>
            <a:r>
              <a:rPr lang="en-US" dirty="0">
                <a:latin typeface="Times New Roman" panose="02020603050405020304" pitchFamily="18" charset="0"/>
                <a:cs typeface="Times New Roman" panose="02020603050405020304" pitchFamily="18" charset="0"/>
              </a:rPr>
              <a:t>          TCP ACK port scan.         </a:t>
            </a:r>
            <a:r>
              <a:rPr lang="en-US" dirty="0" err="1">
                <a:latin typeface="Times New Roman" panose="02020603050405020304" pitchFamily="18" charset="0"/>
                <a:cs typeface="Times New Roman" panose="02020603050405020304" pitchFamily="18" charset="0"/>
              </a:rPr>
              <a:t>nmap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sA</a:t>
            </a:r>
            <a:r>
              <a:rPr lang="en-US" dirty="0">
                <a:latin typeface="Times New Roman" panose="02020603050405020304" pitchFamily="18" charset="0"/>
                <a:cs typeface="Times New Roman" panose="02020603050405020304" pitchFamily="18" charset="0"/>
              </a:rPr>
              <a:t> 192.168.1.1</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tLang="en-US" dirty="0">
                <a:latin typeface="Times New Roman" panose="02020603050405020304" pitchFamily="18" charset="0"/>
                <a:cs typeface="Times New Roman" panose="02020603050405020304" pitchFamily="18" charset="0"/>
              </a:rPr>
              <a:t>Conti......</a:t>
            </a:r>
          </a:p>
        </p:txBody>
      </p:sp>
      <p:sp>
        <p:nvSpPr>
          <p:cNvPr id="3" name="Content Placeholder 2"/>
          <p:cNvSpPr>
            <a:spLocks noGrp="1"/>
          </p:cNvSpPr>
          <p:nvPr>
            <p:ph sz="quarter" idx="1"/>
          </p:nvPr>
        </p:nvSpPr>
        <p:spPr>
          <a:xfrm>
            <a:off x="1451428" y="2677885"/>
            <a:ext cx="8325296" cy="3806079"/>
          </a:xfrm>
        </p:spPr>
        <p:txBody>
          <a:bodyPr/>
          <a:lstStyle/>
          <a:p>
            <a:r>
              <a:rPr lang="en-US" b="1" dirty="0">
                <a:latin typeface="Times New Roman" panose="02020603050405020304" pitchFamily="18" charset="0"/>
                <a:cs typeface="Times New Roman" panose="02020603050405020304" pitchFamily="18" charset="0"/>
              </a:rPr>
              <a:t>Switch             Description                          Example </a:t>
            </a:r>
          </a:p>
          <a:p>
            <a:endParaRPr lang="en-US"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Pn</a:t>
            </a:r>
            <a:r>
              <a:rPr lang="en-US" sz="2400" dirty="0">
                <a:latin typeface="Times New Roman" panose="02020603050405020304" pitchFamily="18" charset="0"/>
                <a:cs typeface="Times New Roman" panose="02020603050405020304" pitchFamily="18" charset="0"/>
              </a:rPr>
              <a:t>      Only port scan.                        </a:t>
            </a:r>
            <a:r>
              <a:rPr lang="en-US" sz="2400" dirty="0" err="1">
                <a:latin typeface="Times New Roman" panose="02020603050405020304" pitchFamily="18" charset="0"/>
                <a:cs typeface="Times New Roman" panose="02020603050405020304" pitchFamily="18" charset="0"/>
              </a:rPr>
              <a:t>nmap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Pn</a:t>
            </a:r>
            <a:r>
              <a:rPr lang="en-US" sz="2400" dirty="0">
                <a:latin typeface="Times New Roman" panose="02020603050405020304" pitchFamily="18" charset="0"/>
                <a:cs typeface="Times New Roman" panose="02020603050405020304" pitchFamily="18" charset="0"/>
              </a:rPr>
              <a:t> 192.168.1.1 </a:t>
            </a:r>
          </a:p>
          <a:p>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sn</a:t>
            </a:r>
            <a:r>
              <a:rPr lang="en-US" sz="2400" dirty="0">
                <a:latin typeface="Times New Roman" panose="02020603050405020304" pitchFamily="18" charset="0"/>
                <a:cs typeface="Times New Roman" panose="02020603050405020304" pitchFamily="18" charset="0"/>
              </a:rPr>
              <a:t>      Only host discovery.                 </a:t>
            </a:r>
            <a:r>
              <a:rPr lang="en-US" sz="2400" dirty="0" err="1">
                <a:latin typeface="Times New Roman" panose="02020603050405020304" pitchFamily="18" charset="0"/>
                <a:cs typeface="Times New Roman" panose="02020603050405020304" pitchFamily="18" charset="0"/>
              </a:rPr>
              <a:t>nmap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sn</a:t>
            </a:r>
            <a:r>
              <a:rPr lang="en-US" sz="2400" dirty="0">
                <a:latin typeface="Times New Roman" panose="02020603050405020304" pitchFamily="18" charset="0"/>
                <a:cs typeface="Times New Roman" panose="02020603050405020304" pitchFamily="18" charset="0"/>
              </a:rPr>
              <a:t> 192.168.1.1</a:t>
            </a:r>
          </a:p>
          <a:p>
            <a:r>
              <a:rPr lang="en-US" sz="2400" dirty="0">
                <a:latin typeface="Times New Roman" panose="02020603050405020304" pitchFamily="18" charset="0"/>
                <a:cs typeface="Times New Roman" panose="02020603050405020304" pitchFamily="18" charset="0"/>
              </a:rPr>
              <a:t>-PR     ARP discovery                         </a:t>
            </a:r>
            <a:r>
              <a:rPr lang="en-US" sz="2400" dirty="0" err="1">
                <a:latin typeface="Times New Roman" panose="02020603050405020304" pitchFamily="18" charset="0"/>
                <a:cs typeface="Times New Roman" panose="02020603050405020304" pitchFamily="18" charset="0"/>
              </a:rPr>
              <a:t>nmap</a:t>
            </a:r>
            <a:r>
              <a:rPr lang="en-US" sz="2400" dirty="0">
                <a:latin typeface="Times New Roman" panose="02020603050405020304" pitchFamily="18" charset="0"/>
                <a:cs typeface="Times New Roman" panose="02020603050405020304" pitchFamily="18" charset="0"/>
              </a:rPr>
              <a:t> -PR 192.168.1.1 </a:t>
            </a:r>
          </a:p>
          <a:p>
            <a:r>
              <a:rPr lang="en-US" sz="2400" dirty="0">
                <a:latin typeface="Times New Roman" panose="02020603050405020304" pitchFamily="18" charset="0"/>
                <a:cs typeface="Times New Roman" panose="02020603050405020304" pitchFamily="18" charset="0"/>
              </a:rPr>
              <a:t>  -n      Disable DNS resolution.          </a:t>
            </a:r>
            <a:r>
              <a:rPr lang="en-US" sz="2400" dirty="0" err="1">
                <a:latin typeface="Times New Roman" panose="02020603050405020304" pitchFamily="18" charset="0"/>
                <a:cs typeface="Times New Roman" panose="02020603050405020304" pitchFamily="18" charset="0"/>
              </a:rPr>
              <a:t>nmap</a:t>
            </a:r>
            <a:r>
              <a:rPr lang="en-US" sz="2400" dirty="0">
                <a:latin typeface="Times New Roman" panose="02020603050405020304" pitchFamily="18" charset="0"/>
                <a:cs typeface="Times New Roman" panose="02020603050405020304" pitchFamily="18" charset="0"/>
              </a:rPr>
              <a:t> -n 192.168.1.1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sng" dirty="0">
                <a:latin typeface="Times New Roman" panose="02020603050405020304" pitchFamily="18" charset="0"/>
                <a:cs typeface="Times New Roman" panose="02020603050405020304" pitchFamily="18" charset="0"/>
                <a:sym typeface="+mn-ea"/>
              </a:rPr>
              <a:t>HOST Scan</a:t>
            </a:r>
            <a:endParaRPr lang="en-US" u="sng"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quarter" idx="1"/>
          </p:nvPr>
        </p:nvSpPr>
        <p:spPr>
          <a:xfrm>
            <a:off x="1154953" y="2397967"/>
            <a:ext cx="7672705" cy="3855098"/>
          </a:xfrm>
        </p:spPr>
        <p:txBody>
          <a:bodyPr/>
          <a:lstStyle/>
          <a:p>
            <a:pPr marL="0" indent="0">
              <a:buNone/>
            </a:pPr>
            <a:r>
              <a:rPr lang="en-US" dirty="0">
                <a:latin typeface="Times New Roman" panose="02020603050405020304" pitchFamily="18" charset="0"/>
                <a:cs typeface="Times New Roman" panose="02020603050405020304" pitchFamily="18" charset="0"/>
              </a:rPr>
              <a:t> This Scan is used to find or identify active host in the network by sending ARP request packets to all system in that network. And in result it will show a message “Host is up” by Receiving MAC address from Each active host</a:t>
            </a:r>
            <a:r>
              <a:rPr lang="en-IN" altLang="en-US" dirty="0">
                <a:latin typeface="Times New Roman" panose="02020603050405020304" pitchFamily="18" charset="0"/>
                <a:cs typeface="Times New Roman" panose="02020603050405020304" pitchFamily="18" charset="0"/>
              </a:rPr>
              <a:t>.</a:t>
            </a:r>
          </a:p>
          <a:p>
            <a:pPr marL="0" indent="0">
              <a:buNone/>
            </a:pPr>
            <a:endParaRPr lang="en-IN" altLang="en-US" dirty="0">
              <a:latin typeface="Times New Roman" panose="02020603050405020304" pitchFamily="18" charset="0"/>
              <a:cs typeface="Times New Roman" panose="02020603050405020304" pitchFamily="18" charset="0"/>
            </a:endParaRPr>
          </a:p>
          <a:p>
            <a:pPr marL="0" indent="0">
              <a:buNone/>
            </a:pPr>
            <a:r>
              <a:rPr lang="en-IN" altLang="en-US" dirty="0">
                <a:latin typeface="Times New Roman" panose="02020603050405020304" pitchFamily="18" charset="0"/>
                <a:cs typeface="Times New Roman" panose="02020603050405020304" pitchFamily="18" charset="0"/>
              </a:rPr>
              <a:t>Syntax: - </a:t>
            </a:r>
            <a:r>
              <a:rPr lang="en-IN" altLang="en-US" dirty="0" err="1">
                <a:latin typeface="Times New Roman" panose="02020603050405020304" pitchFamily="18" charset="0"/>
                <a:cs typeface="Times New Roman" panose="02020603050405020304" pitchFamily="18" charset="0"/>
              </a:rPr>
              <a:t>nmap</a:t>
            </a:r>
            <a:r>
              <a:rPr lang="en-IN" altLang="en-US" dirty="0">
                <a:latin typeface="Times New Roman" panose="02020603050405020304" pitchFamily="18" charset="0"/>
                <a:cs typeface="Times New Roman" panose="02020603050405020304" pitchFamily="18" charset="0"/>
              </a:rPr>
              <a:t> -</a:t>
            </a:r>
            <a:r>
              <a:rPr lang="en-IN" altLang="en-US" dirty="0" err="1">
                <a:latin typeface="Times New Roman" panose="02020603050405020304" pitchFamily="18" charset="0"/>
                <a:cs typeface="Times New Roman" panose="02020603050405020304" pitchFamily="18" charset="0"/>
              </a:rPr>
              <a:t>sP</a:t>
            </a:r>
            <a:r>
              <a:rPr lang="en-IN" altLang="en-US" dirty="0">
                <a:latin typeface="Times New Roman" panose="02020603050405020304" pitchFamily="18" charset="0"/>
                <a:cs typeface="Times New Roman" panose="02020603050405020304" pitchFamily="18" charset="0"/>
              </a:rPr>
              <a:t> </a:t>
            </a:r>
            <a:r>
              <a:rPr lang="en-IN" altLang="en-US" dirty="0" err="1">
                <a:latin typeface="Times New Roman" panose="02020603050405020304" pitchFamily="18" charset="0"/>
                <a:cs typeface="Times New Roman" panose="02020603050405020304" pitchFamily="18" charset="0"/>
              </a:rPr>
              <a:t>target_ip_range</a:t>
            </a:r>
            <a:endParaRPr lang="en-IN" altLang="en-US" dirty="0">
              <a:latin typeface="Times New Roman" panose="02020603050405020304" pitchFamily="18" charset="0"/>
              <a:cs typeface="Times New Roman" panose="02020603050405020304" pitchFamily="18" charset="0"/>
            </a:endParaRPr>
          </a:p>
          <a:p>
            <a:pPr marL="0" indent="0">
              <a:buNone/>
            </a:pPr>
            <a:r>
              <a:rPr lang="en-IN" altLang="en-US" dirty="0">
                <a:latin typeface="Times New Roman" panose="02020603050405020304" pitchFamily="18" charset="0"/>
                <a:cs typeface="Times New Roman" panose="02020603050405020304" pitchFamily="18" charset="0"/>
              </a:rPr>
              <a:t>               </a:t>
            </a:r>
            <a:r>
              <a:rPr lang="en-IN" altLang="en-US" dirty="0" err="1">
                <a:latin typeface="Times New Roman" panose="02020603050405020304" pitchFamily="18" charset="0"/>
                <a:cs typeface="Times New Roman" panose="02020603050405020304" pitchFamily="18" charset="0"/>
              </a:rPr>
              <a:t>nmap</a:t>
            </a:r>
            <a:r>
              <a:rPr lang="en-IN" altLang="en-US" dirty="0">
                <a:latin typeface="Times New Roman" panose="02020603050405020304" pitchFamily="18" charset="0"/>
                <a:cs typeface="Times New Roman" panose="02020603050405020304" pitchFamily="18" charset="0"/>
              </a:rPr>
              <a:t> -</a:t>
            </a:r>
            <a:r>
              <a:rPr lang="en-IN" altLang="en-US" dirty="0" err="1">
                <a:latin typeface="Times New Roman" panose="02020603050405020304" pitchFamily="18" charset="0"/>
                <a:cs typeface="Times New Roman" panose="02020603050405020304" pitchFamily="18" charset="0"/>
              </a:rPr>
              <a:t>sn</a:t>
            </a:r>
            <a:r>
              <a:rPr lang="en-IN" altLang="en-US" dirty="0">
                <a:latin typeface="Times New Roman" panose="02020603050405020304" pitchFamily="18" charset="0"/>
                <a:cs typeface="Times New Roman" panose="02020603050405020304" pitchFamily="18" charset="0"/>
              </a:rPr>
              <a:t> </a:t>
            </a:r>
            <a:r>
              <a:rPr lang="en-IN" altLang="en-US" dirty="0" err="1">
                <a:latin typeface="Times New Roman" panose="02020603050405020304" pitchFamily="18" charset="0"/>
                <a:cs typeface="Times New Roman" panose="02020603050405020304" pitchFamily="18" charset="0"/>
              </a:rPr>
              <a:t>target_ip_range</a:t>
            </a:r>
            <a:endParaRPr lang="en-IN"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4" name="Content Placeholder 3"/>
          <p:cNvSpPr>
            <a:spLocks noGrp="1"/>
          </p:cNvSpPr>
          <p:nvPr>
            <p:ph sz="quarter" idx="2"/>
          </p:nvPr>
        </p:nvSpPr>
        <p:spPr/>
        <p:txBody>
          <a:bodyPr/>
          <a:lstStyle/>
          <a:p>
            <a:endParaRPr lang="en-US"/>
          </a:p>
        </p:txBody>
      </p:sp>
      <p:pic>
        <p:nvPicPr>
          <p:cNvPr id="6" name="Picture 6"/>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2098930" y="2025967"/>
            <a:ext cx="7768590" cy="457136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latin typeface="Times New Roman" panose="02020603050405020304" pitchFamily="18" charset="0"/>
                <a:cs typeface="Times New Roman" panose="02020603050405020304" pitchFamily="18" charset="0"/>
              </a:rPr>
              <a:t>Port Scan/TCP Scan/Stealth Scan</a:t>
            </a:r>
          </a:p>
        </p:txBody>
      </p:sp>
      <p:sp>
        <p:nvSpPr>
          <p:cNvPr id="3" name="Content Placeholder 2"/>
          <p:cNvSpPr>
            <a:spLocks noGrp="1"/>
          </p:cNvSpPr>
          <p:nvPr>
            <p:ph sz="quarter" idx="1"/>
          </p:nvPr>
        </p:nvSpPr>
        <p:spPr>
          <a:xfrm>
            <a:off x="1757265" y="2640562"/>
            <a:ext cx="7339330" cy="4013719"/>
          </a:xfrm>
        </p:spPr>
        <p:txBody>
          <a:bodyPr/>
          <a:lstStyle/>
          <a:p>
            <a:r>
              <a:rPr lang="en-US" dirty="0">
                <a:latin typeface="Times New Roman" panose="02020603050405020304" pitchFamily="18" charset="0"/>
                <a:cs typeface="Times New Roman" panose="02020603050405020304" pitchFamily="18" charset="0"/>
              </a:rPr>
              <a:t>With the help of this scan, User can Identify open or close state of a particular port on target machine.</a:t>
            </a:r>
          </a:p>
          <a:p>
            <a:pPr marL="274320" lvl="1" indent="0">
              <a:buNone/>
            </a:pPr>
            <a:endParaRPr lang="en-IN" altLang="en-US" dirty="0">
              <a:latin typeface="Times New Roman" panose="02020603050405020304" pitchFamily="18" charset="0"/>
              <a:cs typeface="Times New Roman" panose="02020603050405020304" pitchFamily="18" charset="0"/>
            </a:endParaRPr>
          </a:p>
          <a:p>
            <a:pPr marL="274320" lvl="1" indent="0">
              <a:buNone/>
            </a:pPr>
            <a:r>
              <a:rPr lang="en-IN" altLang="en-US" dirty="0">
                <a:latin typeface="Times New Roman" panose="02020603050405020304" pitchFamily="18" charset="0"/>
                <a:cs typeface="Times New Roman" panose="02020603050405020304" pitchFamily="18" charset="0"/>
              </a:rPr>
              <a:t> </a:t>
            </a:r>
            <a:r>
              <a:rPr lang="en-IN" altLang="en-US" b="1" dirty="0">
                <a:latin typeface="Times New Roman" panose="02020603050405020304" pitchFamily="18" charset="0"/>
                <a:cs typeface="Times New Roman" panose="02020603050405020304" pitchFamily="18" charset="0"/>
              </a:rPr>
              <a:t>Six Types of Port status</a:t>
            </a:r>
            <a:endParaRPr lang="en-US" dirty="0">
              <a:latin typeface="Times New Roman" panose="02020603050405020304" pitchFamily="18" charset="0"/>
              <a:cs typeface="Times New Roman" panose="02020603050405020304" pitchFamily="18" charset="0"/>
            </a:endParaRPr>
          </a:p>
          <a:p>
            <a:pPr lvl="1"/>
            <a:r>
              <a:rPr lang="en-IN" altLang="en-US" dirty="0">
                <a:latin typeface="Times New Roman" panose="02020603050405020304" pitchFamily="18" charset="0"/>
                <a:cs typeface="Times New Roman" panose="02020603050405020304" pitchFamily="18" charset="0"/>
              </a:rPr>
              <a:t>Open</a:t>
            </a:r>
          </a:p>
          <a:p>
            <a:pPr lvl="1"/>
            <a:r>
              <a:rPr lang="en-IN" altLang="en-US" dirty="0">
                <a:latin typeface="Times New Roman" panose="02020603050405020304" pitchFamily="18" charset="0"/>
                <a:cs typeface="Times New Roman" panose="02020603050405020304" pitchFamily="18" charset="0"/>
              </a:rPr>
              <a:t>Closed</a:t>
            </a:r>
          </a:p>
          <a:p>
            <a:pPr lvl="1"/>
            <a:r>
              <a:rPr lang="en-IN" altLang="en-US" dirty="0">
                <a:latin typeface="Times New Roman" panose="02020603050405020304" pitchFamily="18" charset="0"/>
                <a:cs typeface="Times New Roman" panose="02020603050405020304" pitchFamily="18" charset="0"/>
              </a:rPr>
              <a:t>Filtered</a:t>
            </a:r>
          </a:p>
          <a:p>
            <a:pPr lvl="1"/>
            <a:r>
              <a:rPr lang="en-IN" altLang="en-US" dirty="0">
                <a:latin typeface="Times New Roman" panose="02020603050405020304" pitchFamily="18" charset="0"/>
                <a:cs typeface="Times New Roman" panose="02020603050405020304" pitchFamily="18" charset="0"/>
              </a:rPr>
              <a:t>Unfiltered</a:t>
            </a:r>
          </a:p>
          <a:p>
            <a:pPr lvl="1"/>
            <a:r>
              <a:rPr lang="en-IN" altLang="en-US" dirty="0">
                <a:latin typeface="Times New Roman" panose="02020603050405020304" pitchFamily="18" charset="0"/>
                <a:cs typeface="Times New Roman" panose="02020603050405020304" pitchFamily="18" charset="0"/>
              </a:rPr>
              <a:t>Open/Filtered</a:t>
            </a:r>
          </a:p>
          <a:p>
            <a:pPr lvl="1"/>
            <a:r>
              <a:rPr lang="en-IN" altLang="en-US" dirty="0">
                <a:latin typeface="Times New Roman" panose="02020603050405020304" pitchFamily="18" charset="0"/>
                <a:cs typeface="Times New Roman" panose="02020603050405020304" pitchFamily="18" charset="0"/>
              </a:rPr>
              <a:t>Closed/Filtered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171430" y="2001072"/>
            <a:ext cx="7960360" cy="1801495"/>
          </a:xfrm>
        </p:spPr>
        <p:txBody>
          <a:bodyPr/>
          <a:lstStyle/>
          <a:p>
            <a:r>
              <a:rPr lang="en-US" b="1" dirty="0"/>
              <a:t>Syntax</a:t>
            </a:r>
            <a:r>
              <a:rPr lang="en-US" dirty="0"/>
              <a:t> :-  </a:t>
            </a:r>
          </a:p>
          <a:p>
            <a:pPr marL="0" indent="0">
              <a:buNone/>
            </a:pPr>
            <a:r>
              <a:rPr lang="en-US" dirty="0"/>
              <a:t>      </a:t>
            </a:r>
            <a:r>
              <a:rPr lang="en-US" dirty="0" err="1">
                <a:latin typeface="Times New Roman" panose="02020603050405020304" pitchFamily="18" charset="0"/>
                <a:cs typeface="Times New Roman" panose="02020603050405020304" pitchFamily="18" charset="0"/>
              </a:rPr>
              <a:t>nmap</a:t>
            </a:r>
            <a:r>
              <a:rPr lang="en-US" dirty="0">
                <a:latin typeface="Times New Roman" panose="02020603050405020304" pitchFamily="18" charset="0"/>
                <a:cs typeface="Times New Roman" panose="02020603050405020304" pitchFamily="18" charset="0"/>
              </a:rPr>
              <a:t> -p </a:t>
            </a:r>
            <a:r>
              <a:rPr lang="en-US" dirty="0" err="1">
                <a:latin typeface="Times New Roman" panose="02020603050405020304" pitchFamily="18" charset="0"/>
                <a:cs typeface="Times New Roman" panose="02020603050405020304" pitchFamily="18" charset="0"/>
              </a:rPr>
              <a:t>port_number</a:t>
            </a:r>
            <a:r>
              <a:rPr lang="en-US" dirty="0">
                <a:latin typeface="Times New Roman" panose="02020603050405020304" pitchFamily="18" charset="0"/>
                <a:cs typeface="Times New Roman" panose="02020603050405020304" pitchFamily="18" charset="0"/>
              </a:rPr>
              <a:t> or </a:t>
            </a:r>
            <a:r>
              <a:rPr lang="en-US" dirty="0" err="1">
                <a:latin typeface="Times New Roman" panose="02020603050405020304" pitchFamily="18" charset="0"/>
                <a:cs typeface="Times New Roman" panose="02020603050405020304" pitchFamily="18" charset="0"/>
              </a:rPr>
              <a:t>service_name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target_IP_range</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nmap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port_number</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target_IP_range</a:t>
            </a:r>
            <a:endParaRPr lang="en-US" dirty="0">
              <a:latin typeface="Times New Roman" panose="02020603050405020304" pitchFamily="18" charset="0"/>
              <a:cs typeface="Times New Roman" panose="02020603050405020304" pitchFamily="18" charset="0"/>
            </a:endParaRPr>
          </a:p>
          <a:p>
            <a:pPr marL="0" indent="0">
              <a:buNone/>
            </a:pPr>
            <a:endParaRPr lang="en-US" dirty="0"/>
          </a:p>
        </p:txBody>
      </p:sp>
      <p:pic>
        <p:nvPicPr>
          <p:cNvPr id="9" name="Picture 9"/>
          <p:cNvPicPr>
            <a:picLocks noGrp="1" noChangeAspect="1" noChangeArrowheads="1"/>
          </p:cNvPicPr>
          <p:nvPr>
            <p:ph sz="quarter" idx="2"/>
          </p:nvPr>
        </p:nvPicPr>
        <p:blipFill>
          <a:blip r:embed="rId2">
            <a:extLst>
              <a:ext uri="{28A0092B-C50C-407E-A947-70E740481C1C}">
                <a14:useLocalDpi xmlns:a14="http://schemas.microsoft.com/office/drawing/2010/main" val="0"/>
              </a:ext>
            </a:extLst>
          </a:blip>
          <a:srcRect/>
          <a:stretch>
            <a:fillRect/>
          </a:stretch>
        </p:blipFill>
        <p:spPr>
          <a:xfrm>
            <a:off x="4656997" y="2901820"/>
            <a:ext cx="6949586" cy="3635006"/>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latin typeface="Times New Roman" panose="02020603050405020304" pitchFamily="18" charset="0"/>
                <a:cs typeface="Times New Roman" panose="02020603050405020304" pitchFamily="18" charset="0"/>
              </a:rPr>
              <a:t>UDP Scan</a:t>
            </a:r>
          </a:p>
        </p:txBody>
      </p:sp>
      <p:sp>
        <p:nvSpPr>
          <p:cNvPr id="3" name="Content Placeholder 2"/>
          <p:cNvSpPr>
            <a:spLocks noGrp="1"/>
          </p:cNvSpPr>
          <p:nvPr>
            <p:ph sz="quarter" idx="1"/>
          </p:nvPr>
        </p:nvSpPr>
        <p:spPr>
          <a:xfrm>
            <a:off x="1154953" y="2418184"/>
            <a:ext cx="7772400" cy="4572000"/>
          </a:xfrm>
        </p:spPr>
        <p:txBody>
          <a:bodyPr/>
          <a:lstStyle/>
          <a:p>
            <a:r>
              <a:rPr lang="en-US" dirty="0">
                <a:latin typeface="Times New Roman" panose="02020603050405020304" pitchFamily="18" charset="0"/>
                <a:cs typeface="Times New Roman" panose="02020603050405020304" pitchFamily="18" charset="0"/>
              </a:rPr>
              <a:t>This method is used to list all open UDP ports on a </a:t>
            </a:r>
            <a:r>
              <a:rPr lang="en-US" dirty="0" err="1">
                <a:latin typeface="Times New Roman" panose="02020603050405020304" pitchFamily="18" charset="0"/>
                <a:cs typeface="Times New Roman" panose="02020603050405020304" pitchFamily="18" charset="0"/>
              </a:rPr>
              <a:t>host.With</a:t>
            </a:r>
            <a:r>
              <a:rPr lang="en-US" dirty="0">
                <a:latin typeface="Times New Roman" panose="02020603050405020304" pitchFamily="18" charset="0"/>
                <a:cs typeface="Times New Roman" panose="02020603050405020304" pitchFamily="18" charset="0"/>
              </a:rPr>
              <a:t> the help of this scan penetration testers know that they often expose host essential information or can even be vulnerable moreover used to compromise a host.</a:t>
            </a:r>
          </a:p>
          <a:p>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r>
              <a:rPr lang="en-US" b="1" dirty="0" err="1">
                <a:latin typeface="Times New Roman" panose="02020603050405020304" pitchFamily="18" charset="0"/>
                <a:cs typeface="Times New Roman" panose="02020603050405020304" pitchFamily="18" charset="0"/>
              </a:rPr>
              <a:t>Synt</a:t>
            </a:r>
            <a:r>
              <a:rPr lang="en-IN" altLang="en-US" b="1" dirty="0">
                <a:latin typeface="Times New Roman" panose="02020603050405020304" pitchFamily="18" charset="0"/>
                <a:cs typeface="Times New Roman" panose="02020603050405020304" pitchFamily="18" charset="0"/>
              </a:rPr>
              <a:t>a</a:t>
            </a:r>
            <a:r>
              <a:rPr lang="en-US" b="1" dirty="0">
                <a:latin typeface="Times New Roman" panose="02020603050405020304" pitchFamily="18" charset="0"/>
                <a:cs typeface="Times New Roman" panose="02020603050405020304" pitchFamily="18" charset="0"/>
              </a:rPr>
              <a:t>x</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nmap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target_IP</a:t>
            </a: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latin typeface="Times New Roman" panose="02020603050405020304" pitchFamily="18" charset="0"/>
                <a:cs typeface="Times New Roman" panose="02020603050405020304" pitchFamily="18" charset="0"/>
              </a:rPr>
              <a:t>XMAS SCAN</a:t>
            </a:r>
          </a:p>
        </p:txBody>
      </p:sp>
      <p:sp>
        <p:nvSpPr>
          <p:cNvPr id="3" name="Content Placeholder 2"/>
          <p:cNvSpPr>
            <a:spLocks noGrp="1"/>
          </p:cNvSpPr>
          <p:nvPr>
            <p:ph sz="quarter" idx="1"/>
          </p:nvPr>
        </p:nvSpPr>
        <p:spPr>
          <a:xfrm>
            <a:off x="1154953" y="2425959"/>
            <a:ext cx="7884795" cy="4572000"/>
          </a:xfrm>
        </p:spPr>
        <p:txBody>
          <a:bodyPr/>
          <a:lstStyle/>
          <a:p>
            <a:r>
              <a:rPr lang="en-US" dirty="0">
                <a:latin typeface="Times New Roman" panose="02020603050405020304" pitchFamily="18" charset="0"/>
                <a:cs typeface="Times New Roman" panose="02020603050405020304" pitchFamily="18" charset="0"/>
              </a:rPr>
              <a:t>This scan is accomplished by sending packets with the FIN, URG and PUSH flags, if the server sends RST’s regardless of the port state, then that is not vulnerable to this type of scan. If the client didn’t get any response, then the port is considered as open.  </a:t>
            </a:r>
          </a:p>
          <a:p>
            <a:r>
              <a:rPr lang="en-US" dirty="0">
                <a:latin typeface="Times New Roman" panose="02020603050405020304" pitchFamily="18" charset="0"/>
                <a:cs typeface="Times New Roman" panose="02020603050405020304" pitchFamily="18" charset="0"/>
              </a:rPr>
              <a:t>Xmas Scan is only workable in Linux machines and does not work on the latest version of windows</a:t>
            </a:r>
          </a:p>
          <a:p>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981200" y="76200"/>
            <a:ext cx="8229600" cy="1480592"/>
          </a:xfrm>
        </p:spPr>
        <p:txBody>
          <a:bodyPr/>
          <a:lstStyle/>
          <a:p>
            <a:r>
              <a:rPr lang="en-IN" altLang="en-US" sz="2600" b="1" dirty="0">
                <a:latin typeface="Times New Roman" panose="02020603050405020304" pitchFamily="18" charset="0"/>
                <a:cs typeface="Times New Roman" panose="02020603050405020304" pitchFamily="18" charset="0"/>
                <a:sym typeface="+mn-ea"/>
              </a:rPr>
              <a:t>      </a:t>
            </a:r>
            <a:br>
              <a:rPr lang="en-IN" altLang="en-US" sz="2600" b="1" dirty="0">
                <a:latin typeface="Times New Roman" panose="02020603050405020304" pitchFamily="18" charset="0"/>
                <a:cs typeface="Times New Roman" panose="02020603050405020304" pitchFamily="18" charset="0"/>
                <a:sym typeface="+mn-ea"/>
              </a:rPr>
            </a:br>
            <a:br>
              <a:rPr lang="en-IN" altLang="en-US" sz="2600" b="1" dirty="0">
                <a:latin typeface="Times New Roman" panose="02020603050405020304" pitchFamily="18" charset="0"/>
                <a:cs typeface="Times New Roman" panose="02020603050405020304" pitchFamily="18" charset="0"/>
                <a:sym typeface="+mn-ea"/>
              </a:rPr>
            </a:br>
            <a:br>
              <a:rPr lang="en-IN" altLang="en-US" sz="2600" b="1" dirty="0">
                <a:latin typeface="Times New Roman" panose="02020603050405020304" pitchFamily="18" charset="0"/>
                <a:cs typeface="Times New Roman" panose="02020603050405020304" pitchFamily="18" charset="0"/>
                <a:sym typeface="+mn-ea"/>
              </a:rPr>
            </a:br>
            <a:r>
              <a:rPr lang="en-IN" altLang="en-US" sz="2600" b="1" dirty="0">
                <a:latin typeface="Times New Roman" panose="02020603050405020304" pitchFamily="18" charset="0"/>
                <a:cs typeface="Times New Roman" panose="02020603050405020304" pitchFamily="18" charset="0"/>
                <a:sym typeface="+mn-ea"/>
              </a:rPr>
              <a:t>  </a:t>
            </a:r>
            <a:r>
              <a:rPr lang="en-US" sz="2600" b="1" dirty="0">
                <a:latin typeface="Times New Roman" panose="02020603050405020304" pitchFamily="18" charset="0"/>
                <a:cs typeface="Times New Roman" panose="02020603050405020304" pitchFamily="18" charset="0"/>
                <a:sym typeface="+mn-ea"/>
              </a:rPr>
              <a:t>Syntax</a:t>
            </a:r>
            <a:r>
              <a:rPr lang="en-US" sz="2600" dirty="0">
                <a:latin typeface="Times New Roman" panose="02020603050405020304" pitchFamily="18" charset="0"/>
                <a:cs typeface="Times New Roman" panose="02020603050405020304" pitchFamily="18" charset="0"/>
                <a:sym typeface="+mn-ea"/>
              </a:rPr>
              <a:t> :-  </a:t>
            </a:r>
            <a:r>
              <a:rPr lang="en-US" sz="2600" dirty="0" err="1">
                <a:latin typeface="Times New Roman" panose="02020603050405020304" pitchFamily="18" charset="0"/>
                <a:cs typeface="Times New Roman" panose="02020603050405020304" pitchFamily="18" charset="0"/>
                <a:sym typeface="+mn-ea"/>
              </a:rPr>
              <a:t>nmap</a:t>
            </a:r>
            <a:r>
              <a:rPr lang="en-US" sz="2600" dirty="0">
                <a:latin typeface="Times New Roman" panose="02020603050405020304" pitchFamily="18" charset="0"/>
                <a:cs typeface="Times New Roman" panose="02020603050405020304" pitchFamily="18" charset="0"/>
                <a:sym typeface="+mn-ea"/>
              </a:rPr>
              <a:t> -</a:t>
            </a:r>
            <a:r>
              <a:rPr lang="en-US" sz="2600" dirty="0" err="1">
                <a:latin typeface="Times New Roman" panose="02020603050405020304" pitchFamily="18" charset="0"/>
                <a:cs typeface="Times New Roman" panose="02020603050405020304" pitchFamily="18" charset="0"/>
                <a:sym typeface="+mn-ea"/>
              </a:rPr>
              <a:t>sX</a:t>
            </a:r>
            <a:r>
              <a:rPr lang="en-US" sz="2600" dirty="0">
                <a:latin typeface="Times New Roman" panose="02020603050405020304" pitchFamily="18" charset="0"/>
                <a:cs typeface="Times New Roman" panose="02020603050405020304" pitchFamily="18" charset="0"/>
                <a:sym typeface="+mn-ea"/>
              </a:rPr>
              <a:t>   </a:t>
            </a:r>
            <a:r>
              <a:rPr lang="en-US" sz="2600" dirty="0" err="1">
                <a:latin typeface="Times New Roman" panose="02020603050405020304" pitchFamily="18" charset="0"/>
                <a:cs typeface="Times New Roman" panose="02020603050405020304" pitchFamily="18" charset="0"/>
                <a:sym typeface="+mn-ea"/>
              </a:rPr>
              <a:t>target_IP</a:t>
            </a:r>
            <a:br>
              <a:rPr lang="en-US" sz="2600" dirty="0">
                <a:latin typeface="Times New Roman" panose="02020603050405020304" pitchFamily="18" charset="0"/>
                <a:cs typeface="Times New Roman" panose="02020603050405020304" pitchFamily="18" charset="0"/>
              </a:rPr>
            </a:br>
            <a:endParaRPr lang="en-US" sz="2600" dirty="0">
              <a:latin typeface="Times New Roman" panose="02020603050405020304" pitchFamily="18" charset="0"/>
              <a:cs typeface="Times New Roman" panose="02020603050405020304" pitchFamily="18" charset="0"/>
            </a:endParaRPr>
          </a:p>
        </p:txBody>
      </p:sp>
      <p:pic>
        <p:nvPicPr>
          <p:cNvPr id="12" name="Picture 12"/>
          <p:cNvPicPr>
            <a:picLocks noGrp="1" noChangeAspect="1" noChangeArrowheads="1"/>
          </p:cNvPicPr>
          <p:nvPr>
            <p:ph type="tbl" idx="1"/>
          </p:nvPr>
        </p:nvPicPr>
        <p:blipFill>
          <a:blip r:embed="rId2">
            <a:extLst>
              <a:ext uri="{28A0092B-C50C-407E-A947-70E740481C1C}">
                <a14:useLocalDpi xmlns:a14="http://schemas.microsoft.com/office/drawing/2010/main" val="0"/>
              </a:ext>
            </a:extLst>
          </a:blip>
          <a:srcRect/>
          <a:stretch>
            <a:fillRect/>
          </a:stretch>
        </p:blipFill>
        <p:spPr>
          <a:xfrm>
            <a:off x="2212186" y="2248004"/>
            <a:ext cx="7014845" cy="3792855"/>
          </a:xfrm>
          <a:prstGeom prst="rect">
            <a:avLst/>
          </a:prstGeom>
          <a:noFill/>
          <a:ln>
            <a:noFill/>
          </a:ln>
        </p:spPr>
      </p:pic>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CA20AF-02A7-4A9D-8BD6-306D483F285F}"/>
              </a:ext>
            </a:extLst>
          </p:cNvPr>
          <p:cNvSpPr>
            <a:spLocks noGrp="1"/>
          </p:cNvSpPr>
          <p:nvPr>
            <p:ph type="title"/>
          </p:nvPr>
        </p:nvSpPr>
        <p:spPr/>
        <p:txBody>
          <a:bodyPr/>
          <a:lstStyle/>
          <a:p>
            <a:r>
              <a:rPr lang="en-US" b="1" u="sng" dirty="0">
                <a:latin typeface="Times New Roman" panose="02020603050405020304" pitchFamily="18" charset="0"/>
                <a:cs typeface="Times New Roman" panose="02020603050405020304" pitchFamily="18" charset="0"/>
              </a:rPr>
              <a:t>NULL Scan </a:t>
            </a:r>
            <a:endParaRPr lang="en-IN" u="sn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5D8A3A0-419A-4C16-989C-CD827A8FC7E1}"/>
              </a:ext>
            </a:extLst>
          </p:cNvPr>
          <p:cNvSpPr>
            <a:spLocks noGrp="1"/>
          </p:cNvSpPr>
          <p:nvPr>
            <p:ph sz="quarter" idx="1"/>
          </p:nvPr>
        </p:nvSpPr>
        <p:spPr>
          <a:xfrm>
            <a:off x="1154953" y="2469975"/>
            <a:ext cx="7834064" cy="4572000"/>
          </a:xfrm>
        </p:spPr>
        <p:txBody>
          <a:bodyPr/>
          <a:lstStyle/>
          <a:p>
            <a:r>
              <a:rPr lang="en-US" dirty="0">
                <a:latin typeface="Times New Roman" panose="02020603050405020304" pitchFamily="18" charset="0"/>
                <a:cs typeface="Times New Roman" panose="02020603050405020304" pitchFamily="18" charset="0"/>
              </a:rPr>
              <a:t>Null scan sends a packet with no flags switched on, if the server sends RST’S regardless of the port state, them that is not vulnerable to this type of scan. If the client didn’t get any response, them the port is considered as open.</a:t>
            </a:r>
          </a:p>
          <a:p>
            <a:pPr marL="0" indent="0">
              <a:buNone/>
            </a:pPr>
            <a:endParaRPr lang="en-US"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Syntax :- </a:t>
            </a:r>
            <a:r>
              <a:rPr lang="en-IN" dirty="0" err="1">
                <a:latin typeface="Times New Roman" panose="02020603050405020304" pitchFamily="18" charset="0"/>
                <a:cs typeface="Times New Roman" panose="02020603050405020304" pitchFamily="18" charset="0"/>
              </a:rPr>
              <a:t>nmap</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nS</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target_IP</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524560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D6D770-E1B6-44E2-984F-51BEF7A8C47B}"/>
              </a:ext>
            </a:extLst>
          </p:cNvPr>
          <p:cNvSpPr>
            <a:spLocks noGrp="1"/>
          </p:cNvSpPr>
          <p:nvPr>
            <p:ph type="title"/>
          </p:nvPr>
        </p:nvSpPr>
        <p:spPr>
          <a:xfrm>
            <a:off x="1192276" y="325451"/>
            <a:ext cx="8825659" cy="467651"/>
          </a:xfrm>
        </p:spPr>
        <p:txBody>
          <a:bodyPr/>
          <a:lstStyle/>
          <a:p>
            <a:br>
              <a:rPr lang="en-IN" b="1" dirty="0"/>
            </a:br>
            <a:br>
              <a:rPr lang="en-IN" b="1" dirty="0"/>
            </a:br>
            <a:br>
              <a:rPr lang="en-IN" b="1" dirty="0"/>
            </a:br>
            <a:br>
              <a:rPr lang="en-IN" b="1" dirty="0"/>
            </a:br>
            <a:r>
              <a:rPr lang="en-IN" b="1" u="sng" dirty="0">
                <a:latin typeface="Times New Roman" panose="02020603050405020304" pitchFamily="18" charset="0"/>
                <a:cs typeface="Times New Roman" panose="02020603050405020304" pitchFamily="18" charset="0"/>
              </a:rPr>
              <a:t>FIN Scan</a:t>
            </a:r>
            <a:br>
              <a:rPr lang="en-IN" dirty="0"/>
            </a:br>
            <a:endParaRPr lang="en-IN" dirty="0"/>
          </a:p>
        </p:txBody>
      </p:sp>
      <p:sp>
        <p:nvSpPr>
          <p:cNvPr id="3" name="Content Placeholder 2">
            <a:extLst>
              <a:ext uri="{FF2B5EF4-FFF2-40B4-BE49-F238E27FC236}">
                <a16:creationId xmlns:a16="http://schemas.microsoft.com/office/drawing/2014/main" id="{51AA21DF-E0BE-46F1-84CD-0D4919CA465C}"/>
              </a:ext>
            </a:extLst>
          </p:cNvPr>
          <p:cNvSpPr>
            <a:spLocks noGrp="1"/>
          </p:cNvSpPr>
          <p:nvPr>
            <p:ph sz="quarter" idx="1"/>
          </p:nvPr>
        </p:nvSpPr>
        <p:spPr>
          <a:xfrm>
            <a:off x="1402702" y="2651449"/>
            <a:ext cx="8050088" cy="4572000"/>
          </a:xfrm>
        </p:spPr>
        <p:txBody>
          <a:bodyPr/>
          <a:lstStyle/>
          <a:p>
            <a:r>
              <a:rPr lang="en-US" dirty="0">
                <a:latin typeface="Times New Roman" panose="02020603050405020304" pitchFamily="18" charset="0"/>
                <a:cs typeface="Times New Roman" panose="02020603050405020304" pitchFamily="18" charset="0"/>
              </a:rPr>
              <a:t>A FIN packet is used to terminate the </a:t>
            </a:r>
            <a:r>
              <a:rPr lang="en-US" dirty="0" err="1">
                <a:latin typeface="Times New Roman" panose="02020603050405020304" pitchFamily="18" charset="0"/>
                <a:cs typeface="Times New Roman" panose="02020603050405020304" pitchFamily="18" charset="0"/>
              </a:rPr>
              <a:t>tcp</a:t>
            </a:r>
            <a:r>
              <a:rPr lang="en-US" dirty="0">
                <a:latin typeface="Times New Roman" panose="02020603050405020304" pitchFamily="18" charset="0"/>
                <a:cs typeface="Times New Roman" panose="02020603050405020304" pitchFamily="18" charset="0"/>
              </a:rPr>
              <a:t> connection between source and destination port typically after the data transfer is complete.  In the place of SYN packet, Nmap starts a FIN scan by using a FIN packet. If the port is open then no response will come from destination port when FIN packet is send through source port.</a:t>
            </a:r>
          </a:p>
          <a:p>
            <a:pPr marL="0" indent="0">
              <a:buNone/>
            </a:pPr>
            <a:endParaRPr lang="en-US"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Syntax: -  </a:t>
            </a:r>
            <a:r>
              <a:rPr lang="en-IN" dirty="0" err="1">
                <a:latin typeface="Times New Roman" panose="02020603050405020304" pitchFamily="18" charset="0"/>
                <a:cs typeface="Times New Roman" panose="02020603050405020304" pitchFamily="18" charset="0"/>
              </a:rPr>
              <a:t>nmap</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sF</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target_IP</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803852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FF4F3-321D-4D1D-B744-E2423816E32A}"/>
              </a:ext>
            </a:extLst>
          </p:cNvPr>
          <p:cNvSpPr>
            <a:spLocks noGrp="1"/>
          </p:cNvSpPr>
          <p:nvPr>
            <p:ph type="title"/>
          </p:nvPr>
        </p:nvSpPr>
        <p:spPr>
          <a:xfrm>
            <a:off x="1906555" y="834090"/>
            <a:ext cx="7772400" cy="1143000"/>
          </a:xfrm>
        </p:spPr>
        <p:txBody>
          <a:bodyPr/>
          <a:lstStyle/>
          <a:p>
            <a:r>
              <a:rPr lang="en-IN" b="1" u="sng" dirty="0">
                <a:latin typeface="Times New Roman" panose="02020603050405020304" pitchFamily="18" charset="0"/>
                <a:cs typeface="Times New Roman" panose="02020603050405020304" pitchFamily="18" charset="0"/>
              </a:rPr>
              <a:t>OS Detection Scan</a:t>
            </a:r>
            <a:endParaRPr lang="en-IN" u="sn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21C2C12-5C2E-4EDC-A633-6F7D6ED6EF5B}"/>
              </a:ext>
            </a:extLst>
          </p:cNvPr>
          <p:cNvSpPr>
            <a:spLocks noGrp="1"/>
          </p:cNvSpPr>
          <p:nvPr>
            <p:ph sz="quarter" idx="1"/>
          </p:nvPr>
        </p:nvSpPr>
        <p:spPr>
          <a:xfrm>
            <a:off x="1597022" y="2573829"/>
            <a:ext cx="7690048" cy="4572000"/>
          </a:xfrm>
        </p:spPr>
        <p:txBody>
          <a:bodyPr/>
          <a:lstStyle/>
          <a:p>
            <a:r>
              <a:rPr lang="en-US" dirty="0">
                <a:latin typeface="Times New Roman" panose="02020603050405020304" pitchFamily="18" charset="0"/>
                <a:cs typeface="Times New Roman" panose="02020603050405020304" pitchFamily="18" charset="0"/>
              </a:rPr>
              <a:t>Apart from open port enumeration </a:t>
            </a:r>
            <a:r>
              <a:rPr lang="en-US" dirty="0" err="1">
                <a:latin typeface="Times New Roman" panose="02020603050405020304" pitchFamily="18" charset="0"/>
                <a:cs typeface="Times New Roman" panose="02020603050405020304" pitchFamily="18" charset="0"/>
              </a:rPr>
              <a:t>nmap</a:t>
            </a:r>
            <a:r>
              <a:rPr lang="en-US" dirty="0">
                <a:latin typeface="Times New Roman" panose="02020603050405020304" pitchFamily="18" charset="0"/>
                <a:cs typeface="Times New Roman" panose="02020603050405020304" pitchFamily="18" charset="0"/>
              </a:rPr>
              <a:t> is quite useful in OS fingerprinting. This scan very helpful to penetration tester in order to conclude possible security vulnerabilities and determining the available system calls to set the specific exploit payloads.</a:t>
            </a:r>
          </a:p>
          <a:p>
            <a:endParaRPr lang="en-US" dirty="0">
              <a:latin typeface="Times New Roman" panose="02020603050405020304" pitchFamily="18" charset="0"/>
              <a:cs typeface="Times New Roman" panose="02020603050405020304" pitchFamily="18" charset="0"/>
            </a:endParaRPr>
          </a:p>
          <a:p>
            <a:pPr lvl="1"/>
            <a:r>
              <a:rPr lang="en-IN" b="1" dirty="0">
                <a:latin typeface="Times New Roman" panose="02020603050405020304" pitchFamily="18" charset="0"/>
                <a:cs typeface="Times New Roman" panose="02020603050405020304" pitchFamily="18" charset="0"/>
              </a:rPr>
              <a:t>Device type</a:t>
            </a:r>
          </a:p>
          <a:p>
            <a:pPr lvl="1"/>
            <a:r>
              <a:rPr lang="en-IN" b="1" dirty="0">
                <a:latin typeface="Times New Roman" panose="02020603050405020304" pitchFamily="18" charset="0"/>
                <a:cs typeface="Times New Roman" panose="02020603050405020304" pitchFamily="18" charset="0"/>
              </a:rPr>
              <a:t>Running</a:t>
            </a:r>
            <a:endParaRPr lang="en-IN" dirty="0">
              <a:latin typeface="Times New Roman" panose="02020603050405020304" pitchFamily="18" charset="0"/>
              <a:cs typeface="Times New Roman" panose="02020603050405020304" pitchFamily="18" charset="0"/>
            </a:endParaRPr>
          </a:p>
          <a:p>
            <a:pPr lvl="1"/>
            <a:r>
              <a:rPr lang="en-IN" b="1" dirty="0">
                <a:latin typeface="Times New Roman" panose="02020603050405020304" pitchFamily="18" charset="0"/>
                <a:cs typeface="Times New Roman" panose="02020603050405020304" pitchFamily="18" charset="0"/>
              </a:rPr>
              <a:t>OS CPE</a:t>
            </a:r>
          </a:p>
          <a:p>
            <a:pPr lvl="1"/>
            <a:r>
              <a:rPr lang="en-IN" b="1" dirty="0">
                <a:latin typeface="Times New Roman" panose="02020603050405020304" pitchFamily="18" charset="0"/>
                <a:cs typeface="Times New Roman" panose="02020603050405020304" pitchFamily="18" charset="0"/>
              </a:rPr>
              <a:t>OS details</a:t>
            </a:r>
            <a:endParaRPr lang="en-IN" dirty="0">
              <a:latin typeface="Times New Roman" panose="02020603050405020304" pitchFamily="18" charset="0"/>
              <a:cs typeface="Times New Roman" panose="02020603050405020304" pitchFamily="18" charset="0"/>
            </a:endParaRPr>
          </a:p>
          <a:p>
            <a:pPr lvl="1"/>
            <a:endParaRPr lang="en-US"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750259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02C7C-1B22-4CC2-83AA-AD6A33774C1F}"/>
              </a:ext>
            </a:extLst>
          </p:cNvPr>
          <p:cNvSpPr>
            <a:spLocks noGrp="1"/>
          </p:cNvSpPr>
          <p:nvPr>
            <p:ph type="title"/>
          </p:nvPr>
        </p:nvSpPr>
        <p:spPr>
          <a:xfrm>
            <a:off x="2500064" y="236931"/>
            <a:ext cx="7772400" cy="1143000"/>
          </a:xfrm>
        </p:spPr>
        <p:txBody>
          <a:bodyPr/>
          <a:lstStyle/>
          <a:p>
            <a:r>
              <a:rPr lang="en-IN" dirty="0"/>
              <a:t>Cont..</a:t>
            </a:r>
          </a:p>
        </p:txBody>
      </p:sp>
      <p:sp>
        <p:nvSpPr>
          <p:cNvPr id="3" name="Content Placeholder 2">
            <a:extLst>
              <a:ext uri="{FF2B5EF4-FFF2-40B4-BE49-F238E27FC236}">
                <a16:creationId xmlns:a16="http://schemas.microsoft.com/office/drawing/2014/main" id="{CA723F97-3094-427C-9717-E85511C857DB}"/>
              </a:ext>
            </a:extLst>
          </p:cNvPr>
          <p:cNvSpPr>
            <a:spLocks noGrp="1"/>
          </p:cNvSpPr>
          <p:nvPr>
            <p:ph sz="quarter" idx="1"/>
          </p:nvPr>
        </p:nvSpPr>
        <p:spPr/>
        <p:txBody>
          <a:bodyPr/>
          <a:lstStyle/>
          <a:p>
            <a:endParaRPr lang="en-IN" dirty="0"/>
          </a:p>
          <a:p>
            <a:endParaRPr lang="en-IN" dirty="0"/>
          </a:p>
          <a:p>
            <a:endParaRPr lang="en-IN" dirty="0"/>
          </a:p>
        </p:txBody>
      </p:sp>
      <p:sp>
        <p:nvSpPr>
          <p:cNvPr id="4" name="Content Placeholder 3">
            <a:extLst>
              <a:ext uri="{FF2B5EF4-FFF2-40B4-BE49-F238E27FC236}">
                <a16:creationId xmlns:a16="http://schemas.microsoft.com/office/drawing/2014/main" id="{B0537B16-4F15-448E-B190-514F36BCA5B6}"/>
              </a:ext>
            </a:extLst>
          </p:cNvPr>
          <p:cNvSpPr>
            <a:spLocks noGrp="1"/>
          </p:cNvSpPr>
          <p:nvPr>
            <p:ph sz="quarter" idx="2"/>
          </p:nvPr>
        </p:nvSpPr>
        <p:spPr>
          <a:xfrm>
            <a:off x="1343068" y="2399907"/>
            <a:ext cx="7772400" cy="4572000"/>
          </a:xfrm>
        </p:spPr>
        <p:txBody>
          <a:bodyPr/>
          <a:lstStyle/>
          <a:p>
            <a:r>
              <a:rPr lang="en-IN" b="1" dirty="0">
                <a:latin typeface="Times New Roman" panose="02020603050405020304" pitchFamily="18" charset="0"/>
                <a:cs typeface="Times New Roman" panose="02020603050405020304" pitchFamily="18" charset="0"/>
              </a:rPr>
              <a:t>Syntax</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nmap</a:t>
            </a:r>
            <a:r>
              <a:rPr lang="en-IN" dirty="0">
                <a:latin typeface="Times New Roman" panose="02020603050405020304" pitchFamily="18" charset="0"/>
                <a:cs typeface="Times New Roman" panose="02020603050405020304" pitchFamily="18" charset="0"/>
              </a:rPr>
              <a:t> -O </a:t>
            </a:r>
            <a:r>
              <a:rPr lang="en-IN" dirty="0" err="1">
                <a:latin typeface="Times New Roman" panose="02020603050405020304" pitchFamily="18" charset="0"/>
                <a:cs typeface="Times New Roman" panose="02020603050405020304" pitchFamily="18" charset="0"/>
              </a:rPr>
              <a:t>target_ip</a:t>
            </a:r>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Syntax: </a:t>
            </a:r>
            <a:r>
              <a:rPr lang="en-IN" dirty="0" err="1">
                <a:latin typeface="Times New Roman" panose="02020603050405020304" pitchFamily="18" charset="0"/>
                <a:cs typeface="Times New Roman" panose="02020603050405020304" pitchFamily="18" charset="0"/>
              </a:rPr>
              <a:t>nmap</a:t>
            </a:r>
            <a:r>
              <a:rPr lang="en-IN" dirty="0">
                <a:latin typeface="Times New Roman" panose="02020603050405020304" pitchFamily="18" charset="0"/>
                <a:cs typeface="Times New Roman" panose="02020603050405020304" pitchFamily="18" charset="0"/>
              </a:rPr>
              <a:t> -O -p- –</a:t>
            </a:r>
            <a:r>
              <a:rPr lang="en-IN" dirty="0" err="1">
                <a:latin typeface="Times New Roman" panose="02020603050405020304" pitchFamily="18" charset="0"/>
                <a:cs typeface="Times New Roman" panose="02020603050405020304" pitchFamily="18" charset="0"/>
              </a:rPr>
              <a:t>osscan</a:t>
            </a:r>
            <a:r>
              <a:rPr lang="en-IN" dirty="0">
                <a:latin typeface="Times New Roman" panose="02020603050405020304" pitchFamily="18" charset="0"/>
                <a:cs typeface="Times New Roman" panose="02020603050405020304" pitchFamily="18" charset="0"/>
              </a:rPr>
              <a:t>-guess &lt;target&gt;</a:t>
            </a:r>
          </a:p>
          <a:p>
            <a:r>
              <a:rPr lang="en-IN" b="1" dirty="0">
                <a:latin typeface="Times New Roman" panose="02020603050405020304" pitchFamily="18" charset="0"/>
                <a:cs typeface="Times New Roman" panose="02020603050405020304" pitchFamily="18" charset="0"/>
              </a:rPr>
              <a:t>Syntax: </a:t>
            </a:r>
            <a:r>
              <a:rPr lang="en-IN" dirty="0" err="1">
                <a:latin typeface="Times New Roman" panose="02020603050405020304" pitchFamily="18" charset="0"/>
                <a:cs typeface="Times New Roman" panose="02020603050405020304" pitchFamily="18" charset="0"/>
              </a:rPr>
              <a:t>nmap</a:t>
            </a:r>
            <a:r>
              <a:rPr lang="en-IN" dirty="0">
                <a:latin typeface="Times New Roman" panose="02020603050405020304" pitchFamily="18" charset="0"/>
                <a:cs typeface="Times New Roman" panose="02020603050405020304" pitchFamily="18" charset="0"/>
              </a:rPr>
              <a:t> -O –</a:t>
            </a:r>
            <a:r>
              <a:rPr lang="en-IN" dirty="0" err="1">
                <a:latin typeface="Times New Roman" panose="02020603050405020304" pitchFamily="18" charset="0"/>
                <a:cs typeface="Times New Roman" panose="02020603050405020304" pitchFamily="18" charset="0"/>
              </a:rPr>
              <a:t>osscan</a:t>
            </a:r>
            <a:r>
              <a:rPr lang="en-IN" dirty="0">
                <a:latin typeface="Times New Roman" panose="02020603050405020304" pitchFamily="18" charset="0"/>
                <a:cs typeface="Times New Roman" panose="02020603050405020304" pitchFamily="18" charset="0"/>
              </a:rPr>
              <a:t>-limit &lt;target&gt;</a:t>
            </a: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442715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C09F63-3719-40C6-B45B-161F47341503}"/>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E308BC77-20A4-489E-BF6B-932A46CC0C4D}"/>
              </a:ext>
            </a:extLst>
          </p:cNvPr>
          <p:cNvSpPr>
            <a:spLocks noGrp="1"/>
          </p:cNvSpPr>
          <p:nvPr>
            <p:ph idx="1"/>
          </p:nvPr>
        </p:nvSpPr>
        <p:spPr/>
        <p:txBody>
          <a:bodyPr/>
          <a:lstStyle/>
          <a:p>
            <a:pPr marL="0" indent="0" algn="ctr">
              <a:buNone/>
            </a:pPr>
            <a:r>
              <a:rPr lang="en-CA" b="1" dirty="0"/>
              <a:t>****Complete </a:t>
            </a:r>
            <a:r>
              <a:rPr lang="en-CA" b="1" dirty="0" err="1"/>
              <a:t>nmap</a:t>
            </a:r>
            <a:r>
              <a:rPr lang="en-CA" b="1" dirty="0"/>
              <a:t> through practical's****</a:t>
            </a:r>
          </a:p>
        </p:txBody>
      </p:sp>
    </p:spTree>
    <p:extLst>
      <p:ext uri="{BB962C8B-B14F-4D97-AF65-F5344CB8AC3E}">
        <p14:creationId xmlns:p14="http://schemas.microsoft.com/office/powerpoint/2010/main" val="7157495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954B2-3DAD-41D3-A5B5-31589CA036C9}"/>
              </a:ext>
            </a:extLst>
          </p:cNvPr>
          <p:cNvSpPr>
            <a:spLocks noGrp="1"/>
          </p:cNvSpPr>
          <p:nvPr>
            <p:ph type="title"/>
          </p:nvPr>
        </p:nvSpPr>
        <p:spPr/>
        <p:txBody>
          <a:bodyPr/>
          <a:lstStyle/>
          <a:p>
            <a:r>
              <a:rPr lang="en-CA" dirty="0"/>
              <a:t>Dumpster diving</a:t>
            </a:r>
          </a:p>
        </p:txBody>
      </p:sp>
      <p:sp>
        <p:nvSpPr>
          <p:cNvPr id="3" name="Content Placeholder 2">
            <a:extLst>
              <a:ext uri="{FF2B5EF4-FFF2-40B4-BE49-F238E27FC236}">
                <a16:creationId xmlns:a16="http://schemas.microsoft.com/office/drawing/2014/main" id="{540DA2D6-F575-4B02-9E80-1F388AC34E64}"/>
              </a:ext>
            </a:extLst>
          </p:cNvPr>
          <p:cNvSpPr>
            <a:spLocks noGrp="1"/>
          </p:cNvSpPr>
          <p:nvPr>
            <p:ph idx="1"/>
          </p:nvPr>
        </p:nvSpPr>
        <p:spPr>
          <a:xfrm>
            <a:off x="1046376" y="2422689"/>
            <a:ext cx="10454326" cy="4100659"/>
          </a:xfrm>
        </p:spPr>
        <p:txBody>
          <a:bodyPr>
            <a:normAutofit fontScale="77500" lnSpcReduction="20000"/>
          </a:bodyPr>
          <a:lstStyle/>
          <a:p>
            <a:pPr marL="0" indent="0">
              <a:buNone/>
            </a:pPr>
            <a:r>
              <a:rPr lang="en-US" b="1" dirty="0"/>
              <a:t>Dumpster diving</a:t>
            </a:r>
            <a:r>
              <a:rPr lang="en-US" dirty="0"/>
              <a:t> in the context of </a:t>
            </a:r>
            <a:r>
              <a:rPr lang="en-US" b="1" dirty="0"/>
              <a:t>network security and forensics</a:t>
            </a:r>
            <a:r>
              <a:rPr lang="en-US" dirty="0"/>
              <a:t> refers to the practice of </a:t>
            </a:r>
            <a:r>
              <a:rPr lang="en-US" b="1" dirty="0"/>
              <a:t>retrieving discarded information</a:t>
            </a:r>
            <a:r>
              <a:rPr lang="en-US" dirty="0"/>
              <a:t> from physical or digital trash bins to gain unauthorized access to sensitive data. It is often used by hackers, cybercriminals, or security professionals conducting penetration testing or forensic investigations.</a:t>
            </a:r>
          </a:p>
          <a:p>
            <a:pPr marL="0" indent="0">
              <a:buNone/>
            </a:pPr>
            <a:r>
              <a:rPr lang="en-US" b="1" dirty="0"/>
              <a:t>How Dumpster Diving Works</a:t>
            </a:r>
          </a:p>
          <a:p>
            <a:r>
              <a:rPr lang="en-US" dirty="0"/>
              <a:t>Attackers search for discarded documents, storage devices, or digital files that contain valuable data, such as:</a:t>
            </a:r>
          </a:p>
          <a:p>
            <a:r>
              <a:rPr lang="en-US" b="1" dirty="0"/>
              <a:t>Login credentials</a:t>
            </a:r>
            <a:r>
              <a:rPr lang="en-US" dirty="0"/>
              <a:t> (usernames, passwords)</a:t>
            </a:r>
          </a:p>
          <a:p>
            <a:r>
              <a:rPr lang="en-US" b="1" dirty="0"/>
              <a:t>Network configurations</a:t>
            </a:r>
            <a:r>
              <a:rPr lang="en-US" dirty="0"/>
              <a:t> (IP addresses, firewall settings)</a:t>
            </a:r>
          </a:p>
          <a:p>
            <a:r>
              <a:rPr lang="en-US" b="1" dirty="0"/>
              <a:t>Personal Identifiable Information (PII)</a:t>
            </a:r>
            <a:r>
              <a:rPr lang="en-US" dirty="0"/>
              <a:t> (names, addresses, phone numbers)</a:t>
            </a:r>
          </a:p>
          <a:p>
            <a:r>
              <a:rPr lang="en-US" b="1" dirty="0"/>
              <a:t>Financial records</a:t>
            </a:r>
            <a:r>
              <a:rPr lang="en-US" dirty="0"/>
              <a:t> (credit card info, banking details)</a:t>
            </a:r>
          </a:p>
          <a:p>
            <a:r>
              <a:rPr lang="en-US" b="1" dirty="0"/>
              <a:t>Source code or intellectual property</a:t>
            </a:r>
            <a:endParaRPr lang="en-US" dirty="0"/>
          </a:p>
          <a:p>
            <a:pPr marL="0" indent="0">
              <a:buNone/>
            </a:pPr>
            <a:r>
              <a:rPr lang="en-US" b="1" dirty="0"/>
              <a:t>Types of Dumpster Diving</a:t>
            </a:r>
          </a:p>
          <a:p>
            <a:r>
              <a:rPr lang="en-US" b="1" dirty="0"/>
              <a:t>Physical Dumpster Diving</a:t>
            </a:r>
            <a:r>
              <a:rPr lang="en-US" dirty="0"/>
              <a:t> – Searching through </a:t>
            </a:r>
            <a:r>
              <a:rPr lang="en-US" b="1" dirty="0"/>
              <a:t>physical trash bins</a:t>
            </a:r>
            <a:r>
              <a:rPr lang="en-US" dirty="0"/>
              <a:t> for paper records, USB drives, CDs, or printed credentials.</a:t>
            </a:r>
          </a:p>
          <a:p>
            <a:r>
              <a:rPr lang="en-US" b="1" dirty="0"/>
              <a:t>Digital Dumpster Diving</a:t>
            </a:r>
            <a:r>
              <a:rPr lang="en-US" dirty="0"/>
              <a:t> – Searching through </a:t>
            </a:r>
            <a:r>
              <a:rPr lang="en-US" b="1" dirty="0"/>
              <a:t>deleted but recoverable files</a:t>
            </a:r>
            <a:r>
              <a:rPr lang="en-US" dirty="0"/>
              <a:t>, system logs, or temporary storage locations in computers, networks, or cloud systems.</a:t>
            </a:r>
          </a:p>
          <a:p>
            <a:endParaRPr lang="en-CA" dirty="0"/>
          </a:p>
        </p:txBody>
      </p:sp>
    </p:spTree>
    <p:extLst>
      <p:ext uri="{BB962C8B-B14F-4D97-AF65-F5344CB8AC3E}">
        <p14:creationId xmlns:p14="http://schemas.microsoft.com/office/powerpoint/2010/main" val="19908337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E9B22-5E4C-451B-AD48-A2EB60E0A7F0}"/>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65833C79-B8AC-41C5-B11D-46C9DDD126A6}"/>
              </a:ext>
            </a:extLst>
          </p:cNvPr>
          <p:cNvSpPr>
            <a:spLocks noGrp="1"/>
          </p:cNvSpPr>
          <p:nvPr>
            <p:ph idx="1"/>
          </p:nvPr>
        </p:nvSpPr>
        <p:spPr>
          <a:xfrm>
            <a:off x="1154954" y="2318994"/>
            <a:ext cx="10015809" cy="3959258"/>
          </a:xfrm>
        </p:spPr>
        <p:txBody>
          <a:bodyPr>
            <a:normAutofit fontScale="92500" lnSpcReduction="20000"/>
          </a:bodyPr>
          <a:lstStyle/>
          <a:p>
            <a:pPr marL="0" indent="0">
              <a:buNone/>
            </a:pPr>
            <a:r>
              <a:rPr lang="en-US" b="1" dirty="0"/>
              <a:t>How Dumpster Diving Is Used in Forensics</a:t>
            </a:r>
          </a:p>
          <a:p>
            <a:r>
              <a:rPr lang="en-US" b="1" dirty="0"/>
              <a:t>Cybercrime Investigations</a:t>
            </a:r>
            <a:r>
              <a:rPr lang="en-US" dirty="0"/>
              <a:t> – Digital forensics teams recover deleted or discarded files to trace criminal activities.</a:t>
            </a:r>
          </a:p>
          <a:p>
            <a:r>
              <a:rPr lang="en-US" b="1" dirty="0"/>
              <a:t>Data Recovery</a:t>
            </a:r>
            <a:r>
              <a:rPr lang="en-US" dirty="0"/>
              <a:t> – Investigators attempt to reconstruct shredded or deleted files.</a:t>
            </a:r>
          </a:p>
          <a:p>
            <a:r>
              <a:rPr lang="en-US" b="1" dirty="0"/>
              <a:t>Evidence Collection</a:t>
            </a:r>
            <a:r>
              <a:rPr lang="en-US" dirty="0"/>
              <a:t> – Security teams analyze discarded devices or documents to find leads on breaches or fraud.</a:t>
            </a:r>
          </a:p>
          <a:p>
            <a:pPr marL="0" indent="0">
              <a:buNone/>
            </a:pPr>
            <a:r>
              <a:rPr lang="en-US" b="1" dirty="0"/>
              <a:t>How to Prevent Dumpster Diving Attacks</a:t>
            </a:r>
          </a:p>
          <a:p>
            <a:r>
              <a:rPr lang="en-US" b="1" dirty="0"/>
              <a:t>Shred documents before disposal</a:t>
            </a:r>
            <a:endParaRPr lang="en-US" dirty="0"/>
          </a:p>
          <a:p>
            <a:r>
              <a:rPr lang="en-US" b="1" dirty="0"/>
              <a:t>Use secure file deletion methods (e.g., wiping software)</a:t>
            </a:r>
            <a:endParaRPr lang="en-US" dirty="0"/>
          </a:p>
          <a:p>
            <a:r>
              <a:rPr lang="en-US" b="1" dirty="0"/>
              <a:t>Destroy storage devices (e.g., hard drives, USBs) before discarding</a:t>
            </a:r>
            <a:endParaRPr lang="en-US" dirty="0"/>
          </a:p>
          <a:p>
            <a:r>
              <a:rPr lang="en-US" b="1" dirty="0"/>
              <a:t>Implement data retention and disposal policies</a:t>
            </a:r>
            <a:endParaRPr lang="en-US" dirty="0"/>
          </a:p>
          <a:p>
            <a:r>
              <a:rPr lang="en-US" b="1" dirty="0"/>
              <a:t>Educate employees about security best practices</a:t>
            </a:r>
            <a:endParaRPr lang="en-US" dirty="0"/>
          </a:p>
          <a:p>
            <a:endParaRPr lang="en-CA" dirty="0"/>
          </a:p>
        </p:txBody>
      </p:sp>
    </p:spTree>
    <p:extLst>
      <p:ext uri="{BB962C8B-B14F-4D97-AF65-F5344CB8AC3E}">
        <p14:creationId xmlns:p14="http://schemas.microsoft.com/office/powerpoint/2010/main" val="23669091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2742A-3D61-472C-BFEA-B951002D9E44}"/>
              </a:ext>
            </a:extLst>
          </p:cNvPr>
          <p:cNvSpPr>
            <a:spLocks noGrp="1"/>
          </p:cNvSpPr>
          <p:nvPr>
            <p:ph type="title"/>
          </p:nvPr>
        </p:nvSpPr>
        <p:spPr/>
        <p:txBody>
          <a:bodyPr/>
          <a:lstStyle/>
          <a:p>
            <a:r>
              <a:rPr lang="en-CA" dirty="0"/>
              <a:t>War driving</a:t>
            </a:r>
          </a:p>
        </p:txBody>
      </p:sp>
      <p:sp>
        <p:nvSpPr>
          <p:cNvPr id="3" name="Content Placeholder 2">
            <a:extLst>
              <a:ext uri="{FF2B5EF4-FFF2-40B4-BE49-F238E27FC236}">
                <a16:creationId xmlns:a16="http://schemas.microsoft.com/office/drawing/2014/main" id="{CDF8E26A-3034-410D-97FB-74D0FBDF41A8}"/>
              </a:ext>
            </a:extLst>
          </p:cNvPr>
          <p:cNvSpPr>
            <a:spLocks noGrp="1"/>
          </p:cNvSpPr>
          <p:nvPr>
            <p:ph idx="1"/>
          </p:nvPr>
        </p:nvSpPr>
        <p:spPr>
          <a:xfrm>
            <a:off x="801278" y="2413263"/>
            <a:ext cx="10916240" cy="3959257"/>
          </a:xfrm>
        </p:spPr>
        <p:txBody>
          <a:bodyPr>
            <a:normAutofit fontScale="85000" lnSpcReduction="10000"/>
          </a:bodyPr>
          <a:lstStyle/>
          <a:p>
            <a:r>
              <a:rPr lang="en-US" b="1" dirty="0"/>
              <a:t>War driving</a:t>
            </a:r>
            <a:r>
              <a:rPr lang="en-US" dirty="0"/>
              <a:t> is the practice of </a:t>
            </a:r>
            <a:r>
              <a:rPr lang="en-US" b="1" dirty="0"/>
              <a:t>searching for Wi-Fi networks</a:t>
            </a:r>
            <a:r>
              <a:rPr lang="en-US" dirty="0"/>
              <a:t> by driving around in a vehicle equipped with a laptop, smartphone, or specialized hardware. Attackers or security researchers use this technique to locate, map, and potentially exploit wireless networks.</a:t>
            </a:r>
          </a:p>
          <a:p>
            <a:r>
              <a:rPr lang="en-CA" dirty="0"/>
              <a:t>Scanning for Networks – Using tools like Kismet, </a:t>
            </a:r>
            <a:r>
              <a:rPr lang="en-CA" dirty="0" err="1"/>
              <a:t>NetStumbler</a:t>
            </a:r>
            <a:r>
              <a:rPr lang="en-CA" dirty="0"/>
              <a:t>, or Wireshark, attackers scan for Wi-Fi signals.</a:t>
            </a:r>
          </a:p>
          <a:p>
            <a:r>
              <a:rPr lang="en-CA" dirty="0"/>
              <a:t>Logging Network Details – Capturing details such as:</a:t>
            </a:r>
          </a:p>
          <a:p>
            <a:pPr lvl="1"/>
            <a:r>
              <a:rPr lang="en-CA" dirty="0"/>
              <a:t>SSID (Wi-Fi network name)</a:t>
            </a:r>
          </a:p>
          <a:p>
            <a:pPr lvl="1"/>
            <a:r>
              <a:rPr lang="en-CA" dirty="0"/>
              <a:t>BSSID (MAC address of the access point)</a:t>
            </a:r>
          </a:p>
          <a:p>
            <a:pPr lvl="1"/>
            <a:r>
              <a:rPr lang="en-CA" dirty="0"/>
              <a:t>Signal strength (RSSI)</a:t>
            </a:r>
          </a:p>
          <a:p>
            <a:pPr lvl="1"/>
            <a:r>
              <a:rPr lang="en-CA" dirty="0"/>
              <a:t>Security protocols (WEP, WPA, WPA2, WPA3)</a:t>
            </a:r>
          </a:p>
          <a:p>
            <a:r>
              <a:rPr lang="en-CA" dirty="0"/>
              <a:t>Exploiting Weak Networks – If a network is unsecured or uses weak encryption (e.g., WEP), an attacker can:</a:t>
            </a:r>
          </a:p>
          <a:p>
            <a:pPr lvl="1"/>
            <a:r>
              <a:rPr lang="en-CA" dirty="0"/>
              <a:t>Gain unauthorized access</a:t>
            </a:r>
          </a:p>
          <a:p>
            <a:pPr lvl="1"/>
            <a:r>
              <a:rPr lang="en-CA" dirty="0"/>
              <a:t>Capture sensitive data</a:t>
            </a:r>
          </a:p>
          <a:p>
            <a:pPr lvl="1"/>
            <a:r>
              <a:rPr lang="en-CA" dirty="0"/>
              <a:t>Deploy further attacks, like man-in-the-middle (MITM)</a:t>
            </a:r>
          </a:p>
        </p:txBody>
      </p:sp>
    </p:spTree>
    <p:extLst>
      <p:ext uri="{BB962C8B-B14F-4D97-AF65-F5344CB8AC3E}">
        <p14:creationId xmlns:p14="http://schemas.microsoft.com/office/powerpoint/2010/main" val="36918661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6608A5-9D6B-4941-911D-8783D526D9C3}"/>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032D4D66-51F1-41CF-A21D-6548405FB910}"/>
              </a:ext>
            </a:extLst>
          </p:cNvPr>
          <p:cNvSpPr>
            <a:spLocks noGrp="1"/>
          </p:cNvSpPr>
          <p:nvPr>
            <p:ph idx="1"/>
          </p:nvPr>
        </p:nvSpPr>
        <p:spPr/>
        <p:txBody>
          <a:bodyPr/>
          <a:lstStyle/>
          <a:p>
            <a:pPr marL="0" indent="0">
              <a:buNone/>
            </a:pPr>
            <a:r>
              <a:rPr lang="en-US" b="1" dirty="0"/>
              <a:t>How to Prevent War Driving Attacks</a:t>
            </a:r>
          </a:p>
          <a:p>
            <a:r>
              <a:rPr lang="en-US" b="1" dirty="0"/>
              <a:t>Use strong encryption (WPA3/WPA2 instead of WEP).</a:t>
            </a:r>
            <a:endParaRPr lang="en-US" dirty="0"/>
          </a:p>
          <a:p>
            <a:r>
              <a:rPr lang="en-US" b="1" dirty="0"/>
              <a:t>Disable SSID broadcasting (hides your network name).</a:t>
            </a:r>
            <a:endParaRPr lang="en-US" dirty="0"/>
          </a:p>
          <a:p>
            <a:r>
              <a:rPr lang="en-US" b="1" dirty="0"/>
              <a:t>Enable MAC address filtering</a:t>
            </a:r>
            <a:r>
              <a:rPr lang="en-US" dirty="0"/>
              <a:t> (allows only trusted devices).</a:t>
            </a:r>
          </a:p>
          <a:p>
            <a:r>
              <a:rPr lang="en-US" b="1" dirty="0"/>
              <a:t>Use a strong, unique Wi-Fi password.</a:t>
            </a:r>
            <a:endParaRPr lang="en-US" dirty="0"/>
          </a:p>
          <a:p>
            <a:r>
              <a:rPr lang="en-US" b="1" dirty="0"/>
              <a:t>Monitor and audit network logs</a:t>
            </a:r>
            <a:r>
              <a:rPr lang="en-US" dirty="0"/>
              <a:t> for unauthorized connections.</a:t>
            </a:r>
          </a:p>
          <a:p>
            <a:endParaRPr lang="en-CA" dirty="0"/>
          </a:p>
        </p:txBody>
      </p:sp>
    </p:spTree>
    <p:extLst>
      <p:ext uri="{BB962C8B-B14F-4D97-AF65-F5344CB8AC3E}">
        <p14:creationId xmlns:p14="http://schemas.microsoft.com/office/powerpoint/2010/main" val="34514568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67E73-3204-42F7-B900-11A1EFB212DD}"/>
              </a:ext>
            </a:extLst>
          </p:cNvPr>
          <p:cNvSpPr>
            <a:spLocks noGrp="1"/>
          </p:cNvSpPr>
          <p:nvPr>
            <p:ph type="title"/>
          </p:nvPr>
        </p:nvSpPr>
        <p:spPr/>
        <p:txBody>
          <a:bodyPr/>
          <a:lstStyle/>
          <a:p>
            <a:r>
              <a:rPr lang="en-US" dirty="0"/>
              <a:t>Domain ownership- </a:t>
            </a:r>
            <a:r>
              <a:rPr lang="en-US" dirty="0" err="1"/>
              <a:t>whois</a:t>
            </a:r>
            <a:r>
              <a:rPr lang="en-US" dirty="0"/>
              <a:t>, Regional internet registries, server location </a:t>
            </a:r>
            <a:endParaRPr lang="en-CA" dirty="0"/>
          </a:p>
        </p:txBody>
      </p:sp>
      <p:sp>
        <p:nvSpPr>
          <p:cNvPr id="3" name="Content Placeholder 2">
            <a:extLst>
              <a:ext uri="{FF2B5EF4-FFF2-40B4-BE49-F238E27FC236}">
                <a16:creationId xmlns:a16="http://schemas.microsoft.com/office/drawing/2014/main" id="{DF6A62F0-4D20-4642-8C64-C713576DE036}"/>
              </a:ext>
            </a:extLst>
          </p:cNvPr>
          <p:cNvSpPr>
            <a:spLocks noGrp="1"/>
          </p:cNvSpPr>
          <p:nvPr>
            <p:ph idx="1"/>
          </p:nvPr>
        </p:nvSpPr>
        <p:spPr>
          <a:xfrm>
            <a:off x="1154954" y="2460397"/>
            <a:ext cx="10458869" cy="4044098"/>
          </a:xfrm>
        </p:spPr>
        <p:txBody>
          <a:bodyPr>
            <a:normAutofit lnSpcReduction="10000"/>
          </a:bodyPr>
          <a:lstStyle/>
          <a:p>
            <a:pPr marL="0" indent="0">
              <a:buNone/>
            </a:pPr>
            <a:r>
              <a:rPr lang="en-US" b="1" dirty="0"/>
              <a:t>1. WHOIS (Domain &amp; IP Lookup)</a:t>
            </a:r>
          </a:p>
          <a:p>
            <a:pPr lvl="1"/>
            <a:r>
              <a:rPr lang="en-US" b="1" dirty="0"/>
              <a:t>WHOIS</a:t>
            </a:r>
            <a:r>
              <a:rPr lang="en-US" dirty="0"/>
              <a:t> is a public database that stores </a:t>
            </a:r>
            <a:r>
              <a:rPr lang="en-US" b="1" dirty="0"/>
              <a:t>ownership details of domain names and IP addresses</a:t>
            </a:r>
            <a:r>
              <a:rPr lang="en-US" dirty="0"/>
              <a:t>. It helps in identifying:</a:t>
            </a:r>
          </a:p>
          <a:p>
            <a:pPr lvl="1"/>
            <a:r>
              <a:rPr lang="en-US" b="1" dirty="0"/>
              <a:t>Domain owner</a:t>
            </a:r>
            <a:r>
              <a:rPr lang="en-US" dirty="0"/>
              <a:t> (company, individual, or registrar)</a:t>
            </a:r>
          </a:p>
          <a:p>
            <a:pPr lvl="1"/>
            <a:r>
              <a:rPr lang="en-US" b="1" dirty="0"/>
              <a:t>Contact details</a:t>
            </a:r>
            <a:r>
              <a:rPr lang="en-US" dirty="0"/>
              <a:t> (email, phone, address – sometimes hidden for privacy)</a:t>
            </a:r>
          </a:p>
          <a:p>
            <a:pPr lvl="1"/>
            <a:r>
              <a:rPr lang="en-US" b="1" dirty="0"/>
              <a:t>Registration and expiration dates</a:t>
            </a:r>
            <a:endParaRPr lang="en-US" dirty="0"/>
          </a:p>
          <a:p>
            <a:pPr lvl="1"/>
            <a:r>
              <a:rPr lang="en-US" b="1" dirty="0"/>
              <a:t>Registrar information</a:t>
            </a:r>
            <a:r>
              <a:rPr lang="en-US" dirty="0"/>
              <a:t> (the company that registered the domain)</a:t>
            </a:r>
          </a:p>
          <a:p>
            <a:pPr lvl="1"/>
            <a:r>
              <a:rPr lang="en-US" b="1" dirty="0"/>
              <a:t>Name servers</a:t>
            </a:r>
            <a:r>
              <a:rPr lang="en-US" dirty="0"/>
              <a:t> (which servers host the domain)</a:t>
            </a:r>
          </a:p>
          <a:p>
            <a:pPr marL="0" indent="0">
              <a:buNone/>
            </a:pPr>
            <a:r>
              <a:rPr lang="en-US" b="1" dirty="0"/>
              <a:t>Why is WHOIS Important?</a:t>
            </a:r>
          </a:p>
          <a:p>
            <a:r>
              <a:rPr lang="en-US" dirty="0"/>
              <a:t>✅ Investigating cyber threats (phishing, spam, fraud)</a:t>
            </a:r>
            <a:br>
              <a:rPr lang="en-US" dirty="0"/>
            </a:br>
            <a:r>
              <a:rPr lang="en-US" dirty="0"/>
              <a:t>✅ Tracking domain history and ownership transfers</a:t>
            </a:r>
            <a:br>
              <a:rPr lang="en-US" dirty="0"/>
            </a:br>
            <a:r>
              <a:rPr lang="en-US" dirty="0"/>
              <a:t>✅ Identifying malicious websites</a:t>
            </a:r>
          </a:p>
          <a:p>
            <a:endParaRPr lang="en-US" dirty="0"/>
          </a:p>
          <a:p>
            <a:endParaRPr lang="en-CA" dirty="0"/>
          </a:p>
        </p:txBody>
      </p:sp>
    </p:spTree>
    <p:extLst>
      <p:ext uri="{BB962C8B-B14F-4D97-AF65-F5344CB8AC3E}">
        <p14:creationId xmlns:p14="http://schemas.microsoft.com/office/powerpoint/2010/main" val="35451044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04EB9-7568-4CB5-A581-EF1E065B4409}"/>
              </a:ext>
            </a:extLst>
          </p:cNvPr>
          <p:cNvSpPr>
            <a:spLocks noGrp="1"/>
          </p:cNvSpPr>
          <p:nvPr>
            <p:ph type="title"/>
          </p:nvPr>
        </p:nvSpPr>
        <p:spPr/>
        <p:txBody>
          <a:bodyPr/>
          <a:lstStyle/>
          <a:p>
            <a:r>
              <a:rPr lang="en-CA" dirty="0" err="1"/>
              <a:t>Whois</a:t>
            </a:r>
            <a:r>
              <a:rPr lang="en-CA" dirty="0"/>
              <a:t>?</a:t>
            </a:r>
          </a:p>
        </p:txBody>
      </p:sp>
      <p:sp>
        <p:nvSpPr>
          <p:cNvPr id="3" name="Content Placeholder 2">
            <a:extLst>
              <a:ext uri="{FF2B5EF4-FFF2-40B4-BE49-F238E27FC236}">
                <a16:creationId xmlns:a16="http://schemas.microsoft.com/office/drawing/2014/main" id="{57713A15-AA21-4A8D-909B-4ADBAD434584}"/>
              </a:ext>
            </a:extLst>
          </p:cNvPr>
          <p:cNvSpPr>
            <a:spLocks noGrp="1"/>
          </p:cNvSpPr>
          <p:nvPr>
            <p:ph idx="1"/>
          </p:nvPr>
        </p:nvSpPr>
        <p:spPr>
          <a:xfrm>
            <a:off x="1154954" y="2603500"/>
            <a:ext cx="9696548" cy="3713324"/>
          </a:xfrm>
        </p:spPr>
        <p:txBody>
          <a:bodyPr>
            <a:normAutofit lnSpcReduction="10000"/>
          </a:bodyPr>
          <a:lstStyle/>
          <a:p>
            <a:r>
              <a:rPr lang="en-US" dirty="0" err="1"/>
              <a:t>Whois</a:t>
            </a:r>
            <a:r>
              <a:rPr lang="en-US" dirty="0"/>
              <a:t> is a widely used Internet record listing that identifies who owns a domain and how to get in contact with them. The Internet Corporation for Assigned Names and Numbers (ICANN) regulates domain name registration and ownership.</a:t>
            </a:r>
          </a:p>
          <a:p>
            <a:r>
              <a:rPr lang="en-US" dirty="0"/>
              <a:t>A </a:t>
            </a:r>
            <a:r>
              <a:rPr lang="en-US" dirty="0" err="1"/>
              <a:t>Whois</a:t>
            </a:r>
            <a:r>
              <a:rPr lang="en-US" dirty="0"/>
              <a:t> record contains all of the contact information associated with the person, group, or company that registers a particular domain name. </a:t>
            </a:r>
          </a:p>
          <a:p>
            <a:r>
              <a:rPr lang="en-US" dirty="0"/>
              <a:t>Typically, each </a:t>
            </a:r>
            <a:r>
              <a:rPr lang="en-US" dirty="0" err="1"/>
              <a:t>Whois</a:t>
            </a:r>
            <a:r>
              <a:rPr lang="en-US" dirty="0"/>
              <a:t> record will contain information such as the name and contact information of the Registrant (who owns the domain), the name and contact information of the registrar </a:t>
            </a:r>
            <a:r>
              <a:rPr lang="en-US" dirty="0" err="1"/>
              <a:t>Registrar</a:t>
            </a:r>
            <a:r>
              <a:rPr lang="en-US" dirty="0"/>
              <a:t> (the organization or commercial entity that registered the domain name), the registration dates, the name servers, the most recent update, and the expiration date. </a:t>
            </a:r>
          </a:p>
          <a:p>
            <a:r>
              <a:rPr lang="en-US" dirty="0" err="1"/>
              <a:t>Whois</a:t>
            </a:r>
            <a:r>
              <a:rPr lang="en-US" dirty="0"/>
              <a:t> records may also provide the administrative and technical contact information (which is often, but not always, the registrant).</a:t>
            </a:r>
            <a:endParaRPr lang="en-CA" dirty="0"/>
          </a:p>
        </p:txBody>
      </p:sp>
    </p:spTree>
    <p:extLst>
      <p:ext uri="{BB962C8B-B14F-4D97-AF65-F5344CB8AC3E}">
        <p14:creationId xmlns:p14="http://schemas.microsoft.com/office/powerpoint/2010/main" val="1040640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9B26A-F760-4C89-A8A1-4D6BC1B4EC84}"/>
              </a:ext>
            </a:extLst>
          </p:cNvPr>
          <p:cNvSpPr>
            <a:spLocks noGrp="1"/>
          </p:cNvSpPr>
          <p:nvPr>
            <p:ph type="title"/>
          </p:nvPr>
        </p:nvSpPr>
        <p:spPr/>
        <p:txBody>
          <a:bodyPr/>
          <a:lstStyle/>
          <a:p>
            <a:r>
              <a:rPr lang="en-CA" dirty="0"/>
              <a:t>Regional Internet Registries (RIRs)</a:t>
            </a:r>
          </a:p>
        </p:txBody>
      </p:sp>
      <p:graphicFrame>
        <p:nvGraphicFramePr>
          <p:cNvPr id="4" name="Content Placeholder 3">
            <a:extLst>
              <a:ext uri="{FF2B5EF4-FFF2-40B4-BE49-F238E27FC236}">
                <a16:creationId xmlns:a16="http://schemas.microsoft.com/office/drawing/2014/main" id="{F5A2DA64-E457-4B7A-B632-E3D808ED2606}"/>
              </a:ext>
            </a:extLst>
          </p:cNvPr>
          <p:cNvGraphicFramePr>
            <a:graphicFrameLocks noGrp="1"/>
          </p:cNvGraphicFramePr>
          <p:nvPr>
            <p:ph idx="1"/>
            <p:extLst>
              <p:ext uri="{D42A27DB-BD31-4B8C-83A1-F6EECF244321}">
                <p14:modId xmlns:p14="http://schemas.microsoft.com/office/powerpoint/2010/main" val="780905761"/>
              </p:ext>
            </p:extLst>
          </p:nvPr>
        </p:nvGraphicFramePr>
        <p:xfrm>
          <a:off x="2234153" y="3195555"/>
          <a:ext cx="7009008" cy="2255520"/>
        </p:xfrm>
        <a:graphic>
          <a:graphicData uri="http://schemas.openxmlformats.org/drawingml/2006/table">
            <a:tbl>
              <a:tblPr/>
              <a:tblGrid>
                <a:gridCol w="2336336">
                  <a:extLst>
                    <a:ext uri="{9D8B030D-6E8A-4147-A177-3AD203B41FA5}">
                      <a16:colId xmlns:a16="http://schemas.microsoft.com/office/drawing/2014/main" val="1516926719"/>
                    </a:ext>
                  </a:extLst>
                </a:gridCol>
                <a:gridCol w="2336336">
                  <a:extLst>
                    <a:ext uri="{9D8B030D-6E8A-4147-A177-3AD203B41FA5}">
                      <a16:colId xmlns:a16="http://schemas.microsoft.com/office/drawing/2014/main" val="2803378467"/>
                    </a:ext>
                  </a:extLst>
                </a:gridCol>
                <a:gridCol w="2336336">
                  <a:extLst>
                    <a:ext uri="{9D8B030D-6E8A-4147-A177-3AD203B41FA5}">
                      <a16:colId xmlns:a16="http://schemas.microsoft.com/office/drawing/2014/main" val="3110599238"/>
                    </a:ext>
                  </a:extLst>
                </a:gridCol>
              </a:tblGrid>
              <a:tr h="289609">
                <a:tc>
                  <a:txBody>
                    <a:bodyPr/>
                    <a:lstStyle/>
                    <a:p>
                      <a:r>
                        <a:rPr lang="en-CA" sz="1400" b="1"/>
                        <a:t>RIR</a:t>
                      </a:r>
                      <a:endParaRPr lang="en-CA" sz="1400"/>
                    </a:p>
                  </a:txBody>
                  <a:tcPr anchor="ctr">
                    <a:lnL>
                      <a:noFill/>
                    </a:lnL>
                    <a:lnR>
                      <a:noFill/>
                    </a:lnR>
                    <a:lnT>
                      <a:noFill/>
                    </a:lnT>
                    <a:lnB>
                      <a:noFill/>
                    </a:lnB>
                  </a:tcPr>
                </a:tc>
                <a:tc>
                  <a:txBody>
                    <a:bodyPr/>
                    <a:lstStyle/>
                    <a:p>
                      <a:r>
                        <a:rPr lang="en-CA" sz="1400" b="1"/>
                        <a:t>Region Covered</a:t>
                      </a:r>
                      <a:endParaRPr lang="en-CA" sz="1400"/>
                    </a:p>
                  </a:txBody>
                  <a:tcPr anchor="ctr">
                    <a:lnL>
                      <a:noFill/>
                    </a:lnL>
                    <a:lnR>
                      <a:noFill/>
                    </a:lnR>
                    <a:lnT>
                      <a:noFill/>
                    </a:lnT>
                    <a:lnB>
                      <a:noFill/>
                    </a:lnB>
                  </a:tcPr>
                </a:tc>
                <a:tc>
                  <a:txBody>
                    <a:bodyPr/>
                    <a:lstStyle/>
                    <a:p>
                      <a:r>
                        <a:rPr lang="en-CA" sz="1400" b="1"/>
                        <a:t>Website</a:t>
                      </a:r>
                      <a:endParaRPr lang="en-CA" sz="1400"/>
                    </a:p>
                  </a:txBody>
                  <a:tcPr anchor="ctr">
                    <a:lnL>
                      <a:noFill/>
                    </a:lnL>
                    <a:lnR>
                      <a:noFill/>
                    </a:lnR>
                    <a:lnT>
                      <a:noFill/>
                    </a:lnT>
                    <a:lnB>
                      <a:noFill/>
                    </a:lnB>
                  </a:tcPr>
                </a:tc>
                <a:extLst>
                  <a:ext uri="{0D108BD9-81ED-4DB2-BD59-A6C34878D82A}">
                    <a16:rowId xmlns:a16="http://schemas.microsoft.com/office/drawing/2014/main" val="2595681702"/>
                  </a:ext>
                </a:extLst>
              </a:tr>
              <a:tr h="289609">
                <a:tc>
                  <a:txBody>
                    <a:bodyPr/>
                    <a:lstStyle/>
                    <a:p>
                      <a:r>
                        <a:rPr lang="en-CA" sz="1400" b="1"/>
                        <a:t>ARIN</a:t>
                      </a:r>
                      <a:endParaRPr lang="en-CA" sz="1400"/>
                    </a:p>
                  </a:txBody>
                  <a:tcPr anchor="ctr">
                    <a:lnL>
                      <a:noFill/>
                    </a:lnL>
                    <a:lnR>
                      <a:noFill/>
                    </a:lnR>
                    <a:lnT>
                      <a:noFill/>
                    </a:lnT>
                    <a:lnB>
                      <a:noFill/>
                    </a:lnB>
                  </a:tcPr>
                </a:tc>
                <a:tc>
                  <a:txBody>
                    <a:bodyPr/>
                    <a:lstStyle/>
                    <a:p>
                      <a:r>
                        <a:rPr lang="en-CA" sz="1400"/>
                        <a:t>North America</a:t>
                      </a:r>
                    </a:p>
                  </a:txBody>
                  <a:tcPr anchor="ctr">
                    <a:lnL>
                      <a:noFill/>
                    </a:lnL>
                    <a:lnR>
                      <a:noFill/>
                    </a:lnR>
                    <a:lnT>
                      <a:noFill/>
                    </a:lnT>
                    <a:lnB>
                      <a:noFill/>
                    </a:lnB>
                  </a:tcPr>
                </a:tc>
                <a:tc>
                  <a:txBody>
                    <a:bodyPr/>
                    <a:lstStyle/>
                    <a:p>
                      <a:r>
                        <a:rPr lang="en-CA" sz="1400">
                          <a:hlinkClick r:id="rId2"/>
                        </a:rPr>
                        <a:t>www.arin.net</a:t>
                      </a:r>
                      <a:endParaRPr lang="en-CA" sz="1400"/>
                    </a:p>
                  </a:txBody>
                  <a:tcPr anchor="ctr">
                    <a:lnL>
                      <a:noFill/>
                    </a:lnL>
                    <a:lnR>
                      <a:noFill/>
                    </a:lnR>
                    <a:lnT>
                      <a:noFill/>
                    </a:lnT>
                    <a:lnB>
                      <a:noFill/>
                    </a:lnB>
                  </a:tcPr>
                </a:tc>
                <a:extLst>
                  <a:ext uri="{0D108BD9-81ED-4DB2-BD59-A6C34878D82A}">
                    <a16:rowId xmlns:a16="http://schemas.microsoft.com/office/drawing/2014/main" val="1215678869"/>
                  </a:ext>
                </a:extLst>
              </a:tr>
              <a:tr h="506815">
                <a:tc>
                  <a:txBody>
                    <a:bodyPr/>
                    <a:lstStyle/>
                    <a:p>
                      <a:r>
                        <a:rPr lang="en-CA" sz="1400" b="1"/>
                        <a:t>RIPE NCC</a:t>
                      </a:r>
                      <a:endParaRPr lang="en-CA" sz="1400"/>
                    </a:p>
                  </a:txBody>
                  <a:tcPr anchor="ctr">
                    <a:lnL>
                      <a:noFill/>
                    </a:lnL>
                    <a:lnR>
                      <a:noFill/>
                    </a:lnR>
                    <a:lnT>
                      <a:noFill/>
                    </a:lnT>
                    <a:lnB>
                      <a:noFill/>
                    </a:lnB>
                  </a:tcPr>
                </a:tc>
                <a:tc>
                  <a:txBody>
                    <a:bodyPr/>
                    <a:lstStyle/>
                    <a:p>
                      <a:r>
                        <a:rPr lang="en-US" sz="1400" dirty="0"/>
                        <a:t>Europe, Middle East, Central Asia</a:t>
                      </a:r>
                    </a:p>
                  </a:txBody>
                  <a:tcPr anchor="ctr">
                    <a:lnL>
                      <a:noFill/>
                    </a:lnL>
                    <a:lnR>
                      <a:noFill/>
                    </a:lnR>
                    <a:lnT>
                      <a:noFill/>
                    </a:lnT>
                    <a:lnB>
                      <a:noFill/>
                    </a:lnB>
                  </a:tcPr>
                </a:tc>
                <a:tc>
                  <a:txBody>
                    <a:bodyPr/>
                    <a:lstStyle/>
                    <a:p>
                      <a:r>
                        <a:rPr lang="en-CA" sz="1400">
                          <a:hlinkClick r:id="rId3"/>
                        </a:rPr>
                        <a:t>www.ripe.net</a:t>
                      </a:r>
                      <a:endParaRPr lang="en-CA" sz="1400"/>
                    </a:p>
                  </a:txBody>
                  <a:tcPr anchor="ctr">
                    <a:lnL>
                      <a:noFill/>
                    </a:lnL>
                    <a:lnR>
                      <a:noFill/>
                    </a:lnR>
                    <a:lnT>
                      <a:noFill/>
                    </a:lnT>
                    <a:lnB>
                      <a:noFill/>
                    </a:lnB>
                  </a:tcPr>
                </a:tc>
                <a:extLst>
                  <a:ext uri="{0D108BD9-81ED-4DB2-BD59-A6C34878D82A}">
                    <a16:rowId xmlns:a16="http://schemas.microsoft.com/office/drawing/2014/main" val="679674574"/>
                  </a:ext>
                </a:extLst>
              </a:tr>
              <a:tr h="289609">
                <a:tc>
                  <a:txBody>
                    <a:bodyPr/>
                    <a:lstStyle/>
                    <a:p>
                      <a:r>
                        <a:rPr lang="en-CA" sz="1400" b="1"/>
                        <a:t>APNIC</a:t>
                      </a:r>
                      <a:endParaRPr lang="en-CA" sz="1400"/>
                    </a:p>
                  </a:txBody>
                  <a:tcPr anchor="ctr">
                    <a:lnL>
                      <a:noFill/>
                    </a:lnL>
                    <a:lnR>
                      <a:noFill/>
                    </a:lnR>
                    <a:lnT>
                      <a:noFill/>
                    </a:lnT>
                    <a:lnB>
                      <a:noFill/>
                    </a:lnB>
                  </a:tcPr>
                </a:tc>
                <a:tc>
                  <a:txBody>
                    <a:bodyPr/>
                    <a:lstStyle/>
                    <a:p>
                      <a:r>
                        <a:rPr lang="en-CA" sz="1400"/>
                        <a:t>Asia-Pacific</a:t>
                      </a:r>
                    </a:p>
                  </a:txBody>
                  <a:tcPr anchor="ctr">
                    <a:lnL>
                      <a:noFill/>
                    </a:lnL>
                    <a:lnR>
                      <a:noFill/>
                    </a:lnR>
                    <a:lnT>
                      <a:noFill/>
                    </a:lnT>
                    <a:lnB>
                      <a:noFill/>
                    </a:lnB>
                  </a:tcPr>
                </a:tc>
                <a:tc>
                  <a:txBody>
                    <a:bodyPr/>
                    <a:lstStyle/>
                    <a:p>
                      <a:r>
                        <a:rPr lang="en-CA" sz="1400">
                          <a:hlinkClick r:id="rId4"/>
                        </a:rPr>
                        <a:t>www.apnic.net</a:t>
                      </a:r>
                      <a:endParaRPr lang="en-CA" sz="1400"/>
                    </a:p>
                  </a:txBody>
                  <a:tcPr anchor="ctr">
                    <a:lnL>
                      <a:noFill/>
                    </a:lnL>
                    <a:lnR>
                      <a:noFill/>
                    </a:lnR>
                    <a:lnT>
                      <a:noFill/>
                    </a:lnT>
                    <a:lnB>
                      <a:noFill/>
                    </a:lnB>
                  </a:tcPr>
                </a:tc>
                <a:extLst>
                  <a:ext uri="{0D108BD9-81ED-4DB2-BD59-A6C34878D82A}">
                    <a16:rowId xmlns:a16="http://schemas.microsoft.com/office/drawing/2014/main" val="2964582305"/>
                  </a:ext>
                </a:extLst>
              </a:tr>
              <a:tr h="506815">
                <a:tc>
                  <a:txBody>
                    <a:bodyPr/>
                    <a:lstStyle/>
                    <a:p>
                      <a:r>
                        <a:rPr lang="en-CA" sz="1400" b="1"/>
                        <a:t>LACNIC</a:t>
                      </a:r>
                      <a:endParaRPr lang="en-CA" sz="1400"/>
                    </a:p>
                  </a:txBody>
                  <a:tcPr anchor="ctr">
                    <a:lnL>
                      <a:noFill/>
                    </a:lnL>
                    <a:lnR>
                      <a:noFill/>
                    </a:lnR>
                    <a:lnT>
                      <a:noFill/>
                    </a:lnT>
                    <a:lnB>
                      <a:noFill/>
                    </a:lnB>
                  </a:tcPr>
                </a:tc>
                <a:tc>
                  <a:txBody>
                    <a:bodyPr/>
                    <a:lstStyle/>
                    <a:p>
                      <a:r>
                        <a:rPr lang="en-CA" sz="1400"/>
                        <a:t>Latin America, Caribbean</a:t>
                      </a:r>
                    </a:p>
                  </a:txBody>
                  <a:tcPr anchor="ctr">
                    <a:lnL>
                      <a:noFill/>
                    </a:lnL>
                    <a:lnR>
                      <a:noFill/>
                    </a:lnR>
                    <a:lnT>
                      <a:noFill/>
                    </a:lnT>
                    <a:lnB>
                      <a:noFill/>
                    </a:lnB>
                  </a:tcPr>
                </a:tc>
                <a:tc>
                  <a:txBody>
                    <a:bodyPr/>
                    <a:lstStyle/>
                    <a:p>
                      <a:r>
                        <a:rPr lang="en-CA" sz="1400" dirty="0">
                          <a:hlinkClick r:id="rId5"/>
                        </a:rPr>
                        <a:t>www.lacnic.net</a:t>
                      </a:r>
                      <a:endParaRPr lang="en-CA" sz="1400" dirty="0"/>
                    </a:p>
                  </a:txBody>
                  <a:tcPr anchor="ctr">
                    <a:lnL>
                      <a:noFill/>
                    </a:lnL>
                    <a:lnR>
                      <a:noFill/>
                    </a:lnR>
                    <a:lnT>
                      <a:noFill/>
                    </a:lnT>
                    <a:lnB>
                      <a:noFill/>
                    </a:lnB>
                  </a:tcPr>
                </a:tc>
                <a:extLst>
                  <a:ext uri="{0D108BD9-81ED-4DB2-BD59-A6C34878D82A}">
                    <a16:rowId xmlns:a16="http://schemas.microsoft.com/office/drawing/2014/main" val="1022729262"/>
                  </a:ext>
                </a:extLst>
              </a:tr>
              <a:tr h="289609">
                <a:tc>
                  <a:txBody>
                    <a:bodyPr/>
                    <a:lstStyle/>
                    <a:p>
                      <a:r>
                        <a:rPr lang="en-CA" sz="1400" b="1"/>
                        <a:t>AFRINIC</a:t>
                      </a:r>
                      <a:endParaRPr lang="en-CA" sz="1400"/>
                    </a:p>
                  </a:txBody>
                  <a:tcPr anchor="ctr">
                    <a:lnL>
                      <a:noFill/>
                    </a:lnL>
                    <a:lnR>
                      <a:noFill/>
                    </a:lnR>
                    <a:lnT>
                      <a:noFill/>
                    </a:lnT>
                    <a:lnB>
                      <a:noFill/>
                    </a:lnB>
                  </a:tcPr>
                </a:tc>
                <a:tc>
                  <a:txBody>
                    <a:bodyPr/>
                    <a:lstStyle/>
                    <a:p>
                      <a:r>
                        <a:rPr lang="en-CA" sz="1400" dirty="0"/>
                        <a:t>Africa</a:t>
                      </a:r>
                    </a:p>
                  </a:txBody>
                  <a:tcPr anchor="ctr">
                    <a:lnL>
                      <a:noFill/>
                    </a:lnL>
                    <a:lnR>
                      <a:noFill/>
                    </a:lnR>
                    <a:lnT>
                      <a:noFill/>
                    </a:lnT>
                    <a:lnB>
                      <a:noFill/>
                    </a:lnB>
                  </a:tcPr>
                </a:tc>
                <a:tc>
                  <a:txBody>
                    <a:bodyPr/>
                    <a:lstStyle/>
                    <a:p>
                      <a:r>
                        <a:rPr lang="en-CA" sz="1400" dirty="0">
                          <a:hlinkClick r:id="rId6"/>
                        </a:rPr>
                        <a:t>www.afrinic.net</a:t>
                      </a:r>
                      <a:endParaRPr lang="en-CA" sz="1400" dirty="0"/>
                    </a:p>
                  </a:txBody>
                  <a:tcPr anchor="ctr">
                    <a:lnL>
                      <a:noFill/>
                    </a:lnL>
                    <a:lnR>
                      <a:noFill/>
                    </a:lnR>
                    <a:lnT>
                      <a:noFill/>
                    </a:lnT>
                    <a:lnB>
                      <a:noFill/>
                    </a:lnB>
                  </a:tcPr>
                </a:tc>
                <a:extLst>
                  <a:ext uri="{0D108BD9-81ED-4DB2-BD59-A6C34878D82A}">
                    <a16:rowId xmlns:a16="http://schemas.microsoft.com/office/drawing/2014/main" val="1709184505"/>
                  </a:ext>
                </a:extLst>
              </a:tr>
            </a:tbl>
          </a:graphicData>
        </a:graphic>
      </p:graphicFrame>
      <p:sp>
        <p:nvSpPr>
          <p:cNvPr id="5" name="Rectangle 1">
            <a:extLst>
              <a:ext uri="{FF2B5EF4-FFF2-40B4-BE49-F238E27FC236}">
                <a16:creationId xmlns:a16="http://schemas.microsoft.com/office/drawing/2014/main" id="{B9D2C569-50C7-4C8A-9691-C07B386790E7}"/>
              </a:ext>
            </a:extLst>
          </p:cNvPr>
          <p:cNvSpPr>
            <a:spLocks noChangeArrowheads="1"/>
          </p:cNvSpPr>
          <p:nvPr/>
        </p:nvSpPr>
        <p:spPr bwMode="auto">
          <a:xfrm>
            <a:off x="886121" y="2110546"/>
            <a:ext cx="9964131" cy="46935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RIRs</a:t>
            </a:r>
            <a:r>
              <a:rPr kumimoji="0" lang="en-US" altLang="en-US" sz="1800" b="0" i="0" u="none" strike="noStrike" cap="none" normalizeH="0" baseline="0" dirty="0">
                <a:ln>
                  <a:noFill/>
                </a:ln>
                <a:solidFill>
                  <a:schemeClr val="tx1"/>
                </a:solidFill>
                <a:effectLst/>
                <a:latin typeface="Arial" panose="020B0604020202020204" pitchFamily="34" charset="0"/>
              </a:rPr>
              <a:t> manage the allocation of </a:t>
            </a:r>
            <a:r>
              <a:rPr kumimoji="0" lang="en-US" altLang="en-US" sz="1800" b="1" i="0" u="none" strike="noStrike" cap="none" normalizeH="0" baseline="0" dirty="0">
                <a:ln>
                  <a:noFill/>
                </a:ln>
                <a:solidFill>
                  <a:schemeClr val="tx1"/>
                </a:solidFill>
                <a:effectLst/>
                <a:latin typeface="Arial" panose="020B0604020202020204" pitchFamily="34" charset="0"/>
              </a:rPr>
              <a:t>IP addresses and Autonomous System Numbers (ASNs)</a:t>
            </a:r>
            <a:r>
              <a:rPr kumimoji="0" lang="en-US" altLang="en-US" sz="1800" b="0" i="0" u="none" strike="noStrike" cap="none" normalizeH="0" baseline="0" dirty="0">
                <a:ln>
                  <a:noFill/>
                </a:ln>
                <a:solidFill>
                  <a:schemeClr val="tx1"/>
                </a:solidFill>
                <a:effectLst/>
                <a:latin typeface="Arial" panose="020B0604020202020204" pitchFamily="34" charset="0"/>
              </a:rPr>
              <a:t> globally.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There are </a:t>
            </a:r>
            <a:r>
              <a:rPr kumimoji="0" lang="en-US" altLang="en-US" sz="1800" b="1" i="0" u="none" strike="noStrike" cap="none" normalizeH="0" baseline="0" dirty="0">
                <a:ln>
                  <a:noFill/>
                </a:ln>
                <a:solidFill>
                  <a:schemeClr val="tx1"/>
                </a:solidFill>
                <a:effectLst/>
                <a:latin typeface="Arial" panose="020B0604020202020204" pitchFamily="34" charset="0"/>
              </a:rPr>
              <a:t>five major RIRs</a:t>
            </a:r>
            <a:r>
              <a:rPr kumimoji="0" lang="en-US" altLang="en-US" sz="1800" b="0" i="0" u="none" strike="noStrike" cap="none" normalizeH="0" baseline="0" dirty="0">
                <a:ln>
                  <a:noFill/>
                </a:ln>
                <a:solidFill>
                  <a:schemeClr val="tx1"/>
                </a:solidFill>
                <a:effectLst/>
                <a:latin typeface="Arial" panose="020B0604020202020204" pitchFamily="34" charset="0"/>
              </a:rPr>
              <a:t>:</a:t>
            </a: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900"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900"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900"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900"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900"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900"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900"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900"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900"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900"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anose="020B0604020202020204" pitchFamily="34" charset="0"/>
              </a:rPr>
              <a:t>How RIRs Are Used in Security?</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 Finding </a:t>
            </a:r>
            <a:r>
              <a:rPr kumimoji="0" lang="en-US" altLang="en-US" sz="1400" b="1" i="0" u="none" strike="noStrike" cap="none" normalizeH="0" baseline="0" dirty="0">
                <a:ln>
                  <a:noFill/>
                </a:ln>
                <a:solidFill>
                  <a:schemeClr val="tx1"/>
                </a:solidFill>
                <a:effectLst/>
                <a:latin typeface="Arial" panose="020B0604020202020204" pitchFamily="34" charset="0"/>
              </a:rPr>
              <a:t>IP address ownership</a:t>
            </a:r>
            <a:r>
              <a:rPr kumimoji="0" lang="en-US" altLang="en-US" sz="1400" b="0" i="0" u="none" strike="noStrike" cap="none" normalizeH="0" baseline="0" dirty="0">
                <a:ln>
                  <a:noFill/>
                </a:ln>
                <a:solidFill>
                  <a:schemeClr val="tx1"/>
                </a:solidFill>
                <a:effectLst/>
                <a:latin typeface="Arial" panose="020B0604020202020204" pitchFamily="34" charset="0"/>
              </a:rPr>
              <a:t> to track cyber threats</a:t>
            </a:r>
            <a:br>
              <a:rPr kumimoji="0" lang="en-US" altLang="en-US" sz="1400" b="0" i="0" u="none" strike="noStrike" cap="none" normalizeH="0" baseline="0" dirty="0">
                <a:ln>
                  <a:noFill/>
                </a:ln>
                <a:solidFill>
                  <a:schemeClr val="tx1"/>
                </a:solidFill>
                <a:effectLst/>
                <a:latin typeface="Arial" panose="020B0604020202020204" pitchFamily="34" charset="0"/>
              </a:rPr>
            </a:br>
            <a:r>
              <a:rPr kumimoji="0" lang="en-US" altLang="en-US" sz="1400" b="0" i="0" u="none" strike="noStrike" cap="none" normalizeH="0" baseline="0" dirty="0">
                <a:ln>
                  <a:noFill/>
                </a:ln>
                <a:solidFill>
                  <a:schemeClr val="tx1"/>
                </a:solidFill>
                <a:effectLst/>
                <a:latin typeface="Arial" panose="020B0604020202020204" pitchFamily="34" charset="0"/>
              </a:rPr>
              <a:t> Identifying </a:t>
            </a:r>
            <a:r>
              <a:rPr kumimoji="0" lang="en-US" altLang="en-US" sz="1400" b="1" i="0" u="none" strike="noStrike" cap="none" normalizeH="0" baseline="0" dirty="0">
                <a:ln>
                  <a:noFill/>
                </a:ln>
                <a:solidFill>
                  <a:schemeClr val="tx1"/>
                </a:solidFill>
                <a:effectLst/>
                <a:latin typeface="Arial" panose="020B0604020202020204" pitchFamily="34" charset="0"/>
              </a:rPr>
              <a:t>suspicious traffic sources</a:t>
            </a:r>
            <a:br>
              <a:rPr kumimoji="0" lang="en-US" altLang="en-US" sz="1400" b="0" i="0" u="none" strike="noStrike" cap="none" normalizeH="0" baseline="0" dirty="0">
                <a:ln>
                  <a:noFill/>
                </a:ln>
                <a:solidFill>
                  <a:schemeClr val="tx1"/>
                </a:solidFill>
                <a:effectLst/>
                <a:latin typeface="Arial" panose="020B0604020202020204" pitchFamily="34" charset="0"/>
              </a:rPr>
            </a:br>
            <a:r>
              <a:rPr kumimoji="0" lang="en-US" altLang="en-US" sz="1400" b="0" i="0" u="none" strike="noStrike" cap="none" normalizeH="0" baseline="0" dirty="0">
                <a:ln>
                  <a:noFill/>
                </a:ln>
                <a:solidFill>
                  <a:schemeClr val="tx1"/>
                </a:solidFill>
                <a:effectLst/>
                <a:latin typeface="Arial" panose="020B0604020202020204" pitchFamily="34" charset="0"/>
              </a:rPr>
              <a:t> Blocking malicious IP ranges</a:t>
            </a:r>
          </a:p>
        </p:txBody>
      </p:sp>
    </p:spTree>
    <p:extLst>
      <p:ext uri="{BB962C8B-B14F-4D97-AF65-F5344CB8AC3E}">
        <p14:creationId xmlns:p14="http://schemas.microsoft.com/office/powerpoint/2010/main" val="33344339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42B75-17D4-4175-96AE-E5B39C19026B}"/>
              </a:ext>
            </a:extLst>
          </p:cNvPr>
          <p:cNvSpPr>
            <a:spLocks noGrp="1"/>
          </p:cNvSpPr>
          <p:nvPr>
            <p:ph type="title"/>
          </p:nvPr>
        </p:nvSpPr>
        <p:spPr>
          <a:xfrm>
            <a:off x="1154954" y="973669"/>
            <a:ext cx="9930968" cy="706964"/>
          </a:xfrm>
        </p:spPr>
        <p:txBody>
          <a:bodyPr/>
          <a:lstStyle/>
          <a:p>
            <a:r>
              <a:rPr lang="en-CA" dirty="0"/>
              <a:t>3. Server Location (Geolocation of IPs &amp; Domains)</a:t>
            </a:r>
          </a:p>
        </p:txBody>
      </p:sp>
      <p:sp>
        <p:nvSpPr>
          <p:cNvPr id="4" name="Rectangle 1">
            <a:extLst>
              <a:ext uri="{FF2B5EF4-FFF2-40B4-BE49-F238E27FC236}">
                <a16:creationId xmlns:a16="http://schemas.microsoft.com/office/drawing/2014/main" id="{E961957D-8FC0-4ADA-8034-3B7450F34C83}"/>
              </a:ext>
            </a:extLst>
          </p:cNvPr>
          <p:cNvSpPr>
            <a:spLocks noGrp="1" noChangeArrowheads="1"/>
          </p:cNvSpPr>
          <p:nvPr>
            <p:ph idx="1"/>
          </p:nvPr>
        </p:nvSpPr>
        <p:spPr bwMode="auto">
          <a:xfrm>
            <a:off x="1154954" y="2252566"/>
            <a:ext cx="9091982" cy="449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Determining a </a:t>
            </a:r>
            <a:r>
              <a:rPr kumimoji="0" lang="en-US" altLang="en-US" sz="1800" b="1" i="0" u="none" strike="noStrike" cap="none" normalizeH="0" baseline="0" dirty="0">
                <a:ln>
                  <a:noFill/>
                </a:ln>
                <a:solidFill>
                  <a:schemeClr val="tx1"/>
                </a:solidFill>
                <a:effectLst/>
                <a:latin typeface="Arial" panose="020B0604020202020204" pitchFamily="34" charset="0"/>
              </a:rPr>
              <a:t>server’s location</a:t>
            </a:r>
            <a:r>
              <a:rPr kumimoji="0" lang="en-US" altLang="en-US" sz="1800" b="0" i="0" u="none" strike="noStrike" cap="none" normalizeH="0" baseline="0" dirty="0">
                <a:ln>
                  <a:noFill/>
                </a:ln>
                <a:solidFill>
                  <a:schemeClr val="tx1"/>
                </a:solidFill>
                <a:effectLst/>
                <a:latin typeface="Arial" panose="020B0604020202020204" pitchFamily="34" charset="0"/>
              </a:rPr>
              <a:t> helps in identifying: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Where a website is hosted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country or region of an IP address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Possible </a:t>
            </a:r>
            <a:r>
              <a:rPr kumimoji="0" lang="en-US" altLang="en-US" sz="1800" b="1" i="0" u="none" strike="noStrike" cap="none" normalizeH="0" baseline="0" dirty="0">
                <a:ln>
                  <a:noFill/>
                </a:ln>
                <a:solidFill>
                  <a:schemeClr val="tx1"/>
                </a:solidFill>
                <a:effectLst/>
                <a:latin typeface="Arial" panose="020B0604020202020204" pitchFamily="34" charset="0"/>
              </a:rPr>
              <a:t>jurisdiction for legal or cybersecurity actions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How to Find a Server's Location?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IP Geolocation Services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hlinkClick r:id="rId2"/>
              </a:rPr>
              <a:t>IPinfo.io</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err="1">
                <a:ln>
                  <a:noFill/>
                </a:ln>
                <a:solidFill>
                  <a:schemeClr val="tx1"/>
                </a:solidFill>
                <a:effectLst/>
                <a:latin typeface="Arial" panose="020B0604020202020204" pitchFamily="34" charset="0"/>
                <a:hlinkClick r:id="rId3"/>
              </a:rPr>
              <a:t>MaxMind</a:t>
            </a:r>
            <a:r>
              <a:rPr kumimoji="0" lang="en-US" altLang="en-US" sz="1800" b="0" i="0" u="none" strike="noStrike" cap="none" normalizeH="0" baseline="0" dirty="0">
                <a:ln>
                  <a:noFill/>
                </a:ln>
                <a:solidFill>
                  <a:schemeClr val="tx1"/>
                </a:solidFill>
                <a:effectLst/>
                <a:latin typeface="Arial" panose="020B0604020202020204" pitchFamily="34" charset="0"/>
                <a:hlinkClick r:id="rId3"/>
              </a:rPr>
              <a:t> </a:t>
            </a:r>
            <a:r>
              <a:rPr kumimoji="0" lang="en-US" altLang="en-US" sz="1800" b="0" i="0" u="none" strike="noStrike" cap="none" normalizeH="0" baseline="0" dirty="0" err="1">
                <a:ln>
                  <a:noFill/>
                </a:ln>
                <a:solidFill>
                  <a:schemeClr val="tx1"/>
                </a:solidFill>
                <a:effectLst/>
                <a:latin typeface="Arial" panose="020B0604020202020204" pitchFamily="34" charset="0"/>
                <a:hlinkClick r:id="rId3"/>
              </a:rPr>
              <a:t>GeoIP</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hlinkClick r:id="rId4"/>
              </a:rPr>
              <a:t>iplocation.net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Command Line Tools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Unicode MS" panose="020B0604020202020204" pitchFamily="34" charset="-128"/>
              </a:rPr>
              <a:t>traceroute &lt;domain&gt;</a:t>
            </a:r>
            <a:r>
              <a:rPr kumimoji="0" lang="en-US" altLang="en-US" b="0" i="0" u="none" strike="noStrike" cap="none" normalizeH="0" baseline="0" dirty="0">
                <a:ln>
                  <a:noFill/>
                </a:ln>
                <a:solidFill>
                  <a:schemeClr val="tx1"/>
                </a:solidFill>
                <a:effectLst/>
              </a:rPr>
              <a:t> (Linux/macOS) or </a:t>
            </a:r>
            <a:r>
              <a:rPr kumimoji="0" lang="en-US" altLang="en-US" b="0" i="0" u="none" strike="noStrike" cap="none" normalizeH="0" baseline="0" dirty="0">
                <a:ln>
                  <a:noFill/>
                </a:ln>
                <a:solidFill>
                  <a:schemeClr val="tx1"/>
                </a:solidFill>
                <a:effectLst/>
                <a:latin typeface="Arial Unicode MS" panose="020B0604020202020204" pitchFamily="34" charset="-128"/>
              </a:rPr>
              <a:t>tracert &lt;domain&gt;</a:t>
            </a:r>
            <a:r>
              <a:rPr kumimoji="0" lang="en-US" altLang="en-US" b="0" i="0" u="none" strike="noStrike" cap="none" normalizeH="0" baseline="0" dirty="0">
                <a:ln>
                  <a:noFill/>
                </a:ln>
                <a:solidFill>
                  <a:schemeClr val="tx1"/>
                </a:solidFill>
                <a:effectLst/>
              </a:rPr>
              <a:t> (Windows)</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Unicode MS" panose="020B0604020202020204" pitchFamily="34" charset="-128"/>
              </a:rPr>
              <a:t>ping &lt;domain&gt;</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err="1">
                <a:ln>
                  <a:noFill/>
                </a:ln>
                <a:solidFill>
                  <a:schemeClr val="tx1"/>
                </a:solidFill>
                <a:effectLst/>
                <a:latin typeface="Arial Unicode MS" panose="020B0604020202020204" pitchFamily="34" charset="-128"/>
              </a:rPr>
              <a:t>nslookup</a:t>
            </a:r>
            <a:r>
              <a:rPr kumimoji="0" lang="en-US" altLang="en-US" b="0" i="0" u="none" strike="noStrike" cap="none" normalizeH="0" baseline="0" dirty="0">
                <a:ln>
                  <a:noFill/>
                </a:ln>
                <a:solidFill>
                  <a:schemeClr val="tx1"/>
                </a:solidFill>
                <a:effectLst/>
                <a:latin typeface="Arial Unicode MS" panose="020B0604020202020204" pitchFamily="34" charset="-128"/>
              </a:rPr>
              <a:t> &lt;domain&gt;</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6106493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BE8BC4-AB17-448C-B6A1-89BAC86DCD88}"/>
              </a:ext>
            </a:extLst>
          </p:cNvPr>
          <p:cNvSpPr>
            <a:spLocks noGrp="1"/>
          </p:cNvSpPr>
          <p:nvPr>
            <p:ph type="title"/>
          </p:nvPr>
        </p:nvSpPr>
        <p:spPr/>
        <p:txBody>
          <a:bodyPr/>
          <a:lstStyle/>
          <a:p>
            <a:r>
              <a:rPr lang="en-US" dirty="0"/>
              <a:t>Routing devices enumeration and countermeasures. </a:t>
            </a:r>
            <a:endParaRPr lang="en-CA" dirty="0"/>
          </a:p>
        </p:txBody>
      </p:sp>
      <p:sp>
        <p:nvSpPr>
          <p:cNvPr id="3" name="Content Placeholder 2">
            <a:extLst>
              <a:ext uri="{FF2B5EF4-FFF2-40B4-BE49-F238E27FC236}">
                <a16:creationId xmlns:a16="http://schemas.microsoft.com/office/drawing/2014/main" id="{14B74CDC-D7D9-43E8-90F4-B58A703EF8ED}"/>
              </a:ext>
            </a:extLst>
          </p:cNvPr>
          <p:cNvSpPr>
            <a:spLocks noGrp="1"/>
          </p:cNvSpPr>
          <p:nvPr>
            <p:ph idx="1"/>
          </p:nvPr>
        </p:nvSpPr>
        <p:spPr>
          <a:xfrm>
            <a:off x="876693" y="2337847"/>
            <a:ext cx="10614581" cy="4326904"/>
          </a:xfrm>
        </p:spPr>
        <p:txBody>
          <a:bodyPr>
            <a:normAutofit lnSpcReduction="10000"/>
          </a:bodyPr>
          <a:lstStyle/>
          <a:p>
            <a:r>
              <a:rPr lang="en-CA" dirty="0"/>
              <a:t>A. SNMP Enumeration (Simple Network Management Protocol)</a:t>
            </a:r>
          </a:p>
          <a:p>
            <a:pPr lvl="1"/>
            <a:r>
              <a:rPr lang="en-CA" dirty="0"/>
              <a:t>Attackers exploit SNMP misconfigurations to gather:</a:t>
            </a:r>
          </a:p>
          <a:p>
            <a:pPr lvl="1"/>
            <a:r>
              <a:rPr lang="en-CA" dirty="0"/>
              <a:t>Router models and versions</a:t>
            </a:r>
          </a:p>
          <a:p>
            <a:pPr lvl="1"/>
            <a:r>
              <a:rPr lang="en-CA" dirty="0"/>
              <a:t>Network interfaces and configurations</a:t>
            </a:r>
          </a:p>
          <a:p>
            <a:pPr lvl="1"/>
            <a:r>
              <a:rPr lang="en-CA" dirty="0"/>
              <a:t>Routing tables and ARP caches</a:t>
            </a:r>
          </a:p>
          <a:p>
            <a:r>
              <a:rPr lang="en-CA" dirty="0"/>
              <a:t>Tools Used: </a:t>
            </a:r>
            <a:r>
              <a:rPr lang="en-CA" dirty="0" err="1"/>
              <a:t>Snmpwalk</a:t>
            </a:r>
            <a:r>
              <a:rPr lang="en-CA" dirty="0"/>
              <a:t>, </a:t>
            </a:r>
            <a:r>
              <a:rPr lang="en-CA" dirty="0" err="1"/>
              <a:t>SNMPCheck</a:t>
            </a:r>
            <a:r>
              <a:rPr lang="en-CA" dirty="0"/>
              <a:t>, SolarWinds SNMP Scanner</a:t>
            </a:r>
          </a:p>
          <a:p>
            <a:r>
              <a:rPr lang="en-CA" dirty="0"/>
              <a:t>B. Banner Grabbing &amp; Fingerprinting</a:t>
            </a:r>
          </a:p>
          <a:p>
            <a:pPr lvl="1"/>
            <a:r>
              <a:rPr lang="en-CA" dirty="0"/>
              <a:t>Attackers use banner grabbing to extract device details from open ports (Telnet, SSH, HTTP, etc.)</a:t>
            </a:r>
          </a:p>
          <a:p>
            <a:pPr lvl="1"/>
            <a:r>
              <a:rPr lang="en-CA" dirty="0"/>
              <a:t>Tools Used:</a:t>
            </a:r>
          </a:p>
          <a:p>
            <a:pPr lvl="2"/>
            <a:r>
              <a:rPr lang="en-CA" dirty="0" err="1"/>
              <a:t>Netcat</a:t>
            </a:r>
            <a:r>
              <a:rPr lang="en-CA" dirty="0"/>
              <a:t> (</a:t>
            </a:r>
            <a:r>
              <a:rPr lang="en-CA" dirty="0" err="1"/>
              <a:t>nc</a:t>
            </a:r>
            <a:r>
              <a:rPr lang="en-CA" dirty="0"/>
              <a:t>)</a:t>
            </a:r>
          </a:p>
          <a:p>
            <a:pPr lvl="2"/>
            <a:r>
              <a:rPr lang="en-CA" dirty="0"/>
              <a:t>Nmap –</a:t>
            </a:r>
            <a:r>
              <a:rPr lang="en-CA" dirty="0" err="1"/>
              <a:t>sV</a:t>
            </a:r>
            <a:endParaRPr lang="en-CA" dirty="0"/>
          </a:p>
          <a:p>
            <a:pPr lvl="2"/>
            <a:r>
              <a:rPr lang="en-CA" dirty="0"/>
              <a:t>Telnet / Curl commands</a:t>
            </a:r>
          </a:p>
          <a:p>
            <a:endParaRPr lang="en-CA" dirty="0"/>
          </a:p>
        </p:txBody>
      </p:sp>
    </p:spTree>
    <p:extLst>
      <p:ext uri="{BB962C8B-B14F-4D97-AF65-F5344CB8AC3E}">
        <p14:creationId xmlns:p14="http://schemas.microsoft.com/office/powerpoint/2010/main" val="89365502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EECC98-88FC-4731-A017-E7DD7136AF9F}"/>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FC6EAE96-A2EA-450C-ACE9-C0C8DE741F2B}"/>
              </a:ext>
            </a:extLst>
          </p:cNvPr>
          <p:cNvSpPr>
            <a:spLocks noGrp="1"/>
          </p:cNvSpPr>
          <p:nvPr>
            <p:ph idx="1"/>
          </p:nvPr>
        </p:nvSpPr>
        <p:spPr>
          <a:xfrm>
            <a:off x="1154954" y="2603499"/>
            <a:ext cx="9761285" cy="3787873"/>
          </a:xfrm>
        </p:spPr>
        <p:txBody>
          <a:bodyPr>
            <a:normAutofit/>
          </a:bodyPr>
          <a:lstStyle/>
          <a:p>
            <a:pPr lvl="1"/>
            <a:r>
              <a:rPr lang="en-CA" dirty="0"/>
              <a:t>C. Network Scanning &amp; Traceroute </a:t>
            </a:r>
          </a:p>
          <a:p>
            <a:pPr lvl="2"/>
            <a:r>
              <a:rPr lang="en-CA" dirty="0"/>
              <a:t>Identifies active routing devices using network mapping tools</a:t>
            </a:r>
          </a:p>
          <a:p>
            <a:pPr lvl="2"/>
            <a:r>
              <a:rPr lang="en-CA" dirty="0"/>
              <a:t>Tools Used:</a:t>
            </a:r>
          </a:p>
          <a:p>
            <a:pPr lvl="3"/>
            <a:r>
              <a:rPr lang="en-CA" dirty="0"/>
              <a:t>Nmap (</a:t>
            </a:r>
            <a:r>
              <a:rPr lang="en-CA" dirty="0" err="1"/>
              <a:t>nmap</a:t>
            </a:r>
            <a:r>
              <a:rPr lang="en-CA" dirty="0"/>
              <a:t> -</a:t>
            </a:r>
            <a:r>
              <a:rPr lang="en-CA" dirty="0" err="1"/>
              <a:t>sn</a:t>
            </a:r>
            <a:r>
              <a:rPr lang="en-CA" dirty="0"/>
              <a:t> &lt;network&gt; to detect active hosts)</a:t>
            </a:r>
          </a:p>
          <a:p>
            <a:pPr lvl="3"/>
            <a:r>
              <a:rPr lang="en-CA" dirty="0"/>
              <a:t>traceroute / tracert (identifies hops in the network path)</a:t>
            </a:r>
          </a:p>
          <a:p>
            <a:pPr lvl="1"/>
            <a:r>
              <a:rPr lang="en-CA" dirty="0"/>
              <a:t>D. BGP Enumeration (Border Gateway Protocol)</a:t>
            </a:r>
          </a:p>
          <a:p>
            <a:pPr lvl="2"/>
            <a:r>
              <a:rPr lang="en-CA" dirty="0"/>
              <a:t>Attackers query BGP tables to learn about AS (Autonomous Systems), IP prefixes, and routing policies</a:t>
            </a:r>
          </a:p>
          <a:p>
            <a:pPr lvl="2"/>
            <a:r>
              <a:rPr lang="en-CA" dirty="0"/>
              <a:t>Tools Used: </a:t>
            </a:r>
          </a:p>
          <a:p>
            <a:pPr lvl="3"/>
            <a:r>
              <a:rPr lang="en-CA" dirty="0"/>
              <a:t>bgp.he.net (Hurricane Electric’s BGP Toolkit)</a:t>
            </a:r>
          </a:p>
          <a:p>
            <a:pPr lvl="3"/>
            <a:r>
              <a:rPr lang="en-CA" dirty="0"/>
              <a:t>bgpview.io</a:t>
            </a:r>
          </a:p>
        </p:txBody>
      </p:sp>
    </p:spTree>
    <p:extLst>
      <p:ext uri="{BB962C8B-B14F-4D97-AF65-F5344CB8AC3E}">
        <p14:creationId xmlns:p14="http://schemas.microsoft.com/office/powerpoint/2010/main" val="34433492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7B797-878B-42E5-B34F-DE4272B299C2}"/>
              </a:ext>
            </a:extLst>
          </p:cNvPr>
          <p:cNvSpPr>
            <a:spLocks noGrp="1"/>
          </p:cNvSpPr>
          <p:nvPr>
            <p:ph type="title"/>
          </p:nvPr>
        </p:nvSpPr>
        <p:spPr/>
        <p:txBody>
          <a:bodyPr/>
          <a:lstStyle/>
          <a:p>
            <a:r>
              <a:rPr lang="en-US" dirty="0"/>
              <a:t>Countermeasures Against Routing Device Enumeration</a:t>
            </a:r>
            <a:endParaRPr lang="en-CA" dirty="0"/>
          </a:p>
        </p:txBody>
      </p:sp>
      <p:sp>
        <p:nvSpPr>
          <p:cNvPr id="5" name="Rectangle 2">
            <a:extLst>
              <a:ext uri="{FF2B5EF4-FFF2-40B4-BE49-F238E27FC236}">
                <a16:creationId xmlns:a16="http://schemas.microsoft.com/office/drawing/2014/main" id="{798B8552-0C3E-4270-843A-E15E3D836B88}"/>
              </a:ext>
            </a:extLst>
          </p:cNvPr>
          <p:cNvSpPr>
            <a:spLocks noGrp="1" noChangeArrowheads="1"/>
          </p:cNvSpPr>
          <p:nvPr>
            <p:ph idx="1"/>
          </p:nvPr>
        </p:nvSpPr>
        <p:spPr bwMode="auto">
          <a:xfrm>
            <a:off x="471340" y="2218770"/>
            <a:ext cx="11283885" cy="41857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anose="020B0604020202020204" pitchFamily="34" charset="0"/>
              </a:rPr>
              <a:t>A. Secure SNMP Configurations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anose="020B0604020202020204" pitchFamily="34" charset="0"/>
              </a:rPr>
              <a:t>	✅ </a:t>
            </a:r>
            <a:r>
              <a:rPr kumimoji="0" lang="en-US" altLang="en-US" sz="1400" b="1" i="0" u="none" strike="noStrike" cap="none" normalizeH="0" baseline="0" dirty="0">
                <a:ln>
                  <a:noFill/>
                </a:ln>
                <a:solidFill>
                  <a:schemeClr val="tx1"/>
                </a:solidFill>
                <a:effectLst/>
                <a:latin typeface="Arial" panose="020B0604020202020204" pitchFamily="34" charset="0"/>
              </a:rPr>
              <a:t>Disable SNMP if not needed</a:t>
            </a:r>
            <a:br>
              <a:rPr kumimoji="0" lang="en-US" altLang="en-US" sz="1400" b="0" i="0" u="none" strike="noStrike" cap="none" normalizeH="0" baseline="0" dirty="0">
                <a:ln>
                  <a:noFill/>
                </a:ln>
                <a:solidFill>
                  <a:schemeClr val="tx1"/>
                </a:solidFill>
                <a:effectLst/>
                <a:latin typeface="Arial" panose="020B0604020202020204" pitchFamily="34" charset="0"/>
              </a:rPr>
            </a:br>
            <a:r>
              <a:rPr kumimoji="0" lang="en-US" altLang="en-US" sz="1400" b="0" i="0" u="none" strike="noStrike" cap="none" normalizeH="0" baseline="0" dirty="0">
                <a:ln>
                  <a:noFill/>
                </a:ln>
                <a:solidFill>
                  <a:schemeClr val="tx1"/>
                </a:solidFill>
                <a:effectLst/>
                <a:latin typeface="Arial" panose="020B0604020202020204" pitchFamily="34" charset="0"/>
              </a:rPr>
              <a:t>	✅ </a:t>
            </a:r>
            <a:r>
              <a:rPr kumimoji="0" lang="en-US" altLang="en-US" sz="1400" b="1" i="0" u="none" strike="noStrike" cap="none" normalizeH="0" baseline="0" dirty="0">
                <a:ln>
                  <a:noFill/>
                </a:ln>
                <a:solidFill>
                  <a:schemeClr val="tx1"/>
                </a:solidFill>
                <a:effectLst/>
                <a:latin typeface="Arial" panose="020B0604020202020204" pitchFamily="34" charset="0"/>
              </a:rPr>
              <a:t>Use SNMPv3</a:t>
            </a:r>
            <a:r>
              <a:rPr kumimoji="0" lang="en-US" altLang="en-US" sz="1400" b="0" i="0" u="none" strike="noStrike" cap="none" normalizeH="0" baseline="0" dirty="0">
                <a:ln>
                  <a:noFill/>
                </a:ln>
                <a:solidFill>
                  <a:schemeClr val="tx1"/>
                </a:solidFill>
                <a:effectLst/>
                <a:latin typeface="Arial" panose="020B0604020202020204" pitchFamily="34" charset="0"/>
              </a:rPr>
              <a:t> (encrypted and authenticated)</a:t>
            </a:r>
            <a:br>
              <a:rPr kumimoji="0" lang="en-US" altLang="en-US" sz="1400" b="0" i="0" u="none" strike="noStrike" cap="none" normalizeH="0" baseline="0" dirty="0">
                <a:ln>
                  <a:noFill/>
                </a:ln>
                <a:solidFill>
                  <a:schemeClr val="tx1"/>
                </a:solidFill>
                <a:effectLst/>
                <a:latin typeface="Arial" panose="020B0604020202020204" pitchFamily="34" charset="0"/>
              </a:rPr>
            </a:br>
            <a:r>
              <a:rPr kumimoji="0" lang="en-US" altLang="en-US" sz="1400" b="0" i="0" u="none" strike="noStrike" cap="none" normalizeH="0" baseline="0" dirty="0">
                <a:ln>
                  <a:noFill/>
                </a:ln>
                <a:solidFill>
                  <a:schemeClr val="tx1"/>
                </a:solidFill>
                <a:effectLst/>
                <a:latin typeface="Arial" panose="020B0604020202020204" pitchFamily="34" charset="0"/>
              </a:rPr>
              <a:t>	✅ </a:t>
            </a:r>
            <a:r>
              <a:rPr kumimoji="0" lang="en-US" altLang="en-US" sz="1400" b="1" i="0" u="none" strike="noStrike" cap="none" normalizeH="0" baseline="0" dirty="0">
                <a:ln>
                  <a:noFill/>
                </a:ln>
                <a:solidFill>
                  <a:schemeClr val="tx1"/>
                </a:solidFill>
                <a:effectLst/>
                <a:latin typeface="Arial" panose="020B0604020202020204" pitchFamily="34" charset="0"/>
              </a:rPr>
              <a:t>Restrict SNMP access</a:t>
            </a:r>
            <a:r>
              <a:rPr kumimoji="0" lang="en-US" altLang="en-US" sz="1400" b="0" i="0" u="none" strike="noStrike" cap="none" normalizeH="0" baseline="0" dirty="0">
                <a:ln>
                  <a:noFill/>
                </a:ln>
                <a:solidFill>
                  <a:schemeClr val="tx1"/>
                </a:solidFill>
                <a:effectLst/>
                <a:latin typeface="Arial" panose="020B0604020202020204" pitchFamily="34" charset="0"/>
              </a:rPr>
              <a:t> using </a:t>
            </a:r>
            <a:r>
              <a:rPr kumimoji="0" lang="en-US" altLang="en-US" sz="1400" b="1" i="0" u="none" strike="noStrike" cap="none" normalizeH="0" baseline="0" dirty="0">
                <a:ln>
                  <a:noFill/>
                </a:ln>
                <a:solidFill>
                  <a:schemeClr val="tx1"/>
                </a:solidFill>
                <a:effectLst/>
                <a:latin typeface="Arial" panose="020B0604020202020204" pitchFamily="34" charset="0"/>
              </a:rPr>
              <a:t>ACLs (Access Control Lists)</a:t>
            </a:r>
            <a:br>
              <a:rPr kumimoji="0" lang="en-US" altLang="en-US" sz="1400" b="0" i="0" u="none" strike="noStrike" cap="none" normalizeH="0" baseline="0" dirty="0">
                <a:ln>
                  <a:noFill/>
                </a:ln>
                <a:solidFill>
                  <a:schemeClr val="tx1"/>
                </a:solidFill>
                <a:effectLst/>
                <a:latin typeface="Arial" panose="020B0604020202020204" pitchFamily="34" charset="0"/>
              </a:rPr>
            </a:br>
            <a:r>
              <a:rPr kumimoji="0" lang="en-US" altLang="en-US" sz="1400" b="0" i="0" u="none" strike="noStrike" cap="none" normalizeH="0" baseline="0" dirty="0">
                <a:ln>
                  <a:noFill/>
                </a:ln>
                <a:solidFill>
                  <a:schemeClr val="tx1"/>
                </a:solidFill>
                <a:effectLst/>
                <a:latin typeface="Arial" panose="020B0604020202020204" pitchFamily="34" charset="0"/>
              </a:rPr>
              <a:t>	✅ </a:t>
            </a:r>
            <a:r>
              <a:rPr kumimoji="0" lang="en-US" altLang="en-US" sz="1400" b="1" i="0" u="none" strike="noStrike" cap="none" normalizeH="0" baseline="0" dirty="0">
                <a:ln>
                  <a:noFill/>
                </a:ln>
                <a:solidFill>
                  <a:schemeClr val="tx1"/>
                </a:solidFill>
                <a:effectLst/>
                <a:latin typeface="Arial" panose="020B0604020202020204" pitchFamily="34" charset="0"/>
              </a:rPr>
              <a:t>Change default community strings</a:t>
            </a:r>
            <a:r>
              <a:rPr kumimoji="0" lang="en-US" altLang="en-US" sz="1400" b="0" i="0" u="none" strike="noStrike" cap="none" normalizeH="0" baseline="0" dirty="0">
                <a:ln>
                  <a:noFill/>
                </a:ln>
                <a:solidFill>
                  <a:schemeClr val="tx1"/>
                </a:solidFill>
                <a:effectLst/>
                <a:latin typeface="Arial" panose="020B0604020202020204" pitchFamily="34" charset="0"/>
              </a:rPr>
              <a:t> (e.g., </a:t>
            </a:r>
            <a:r>
              <a:rPr kumimoji="0" lang="en-US" altLang="en-US" sz="1400" b="0" i="0" u="none" strike="noStrike" cap="none" normalizeH="0" baseline="0" dirty="0">
                <a:ln>
                  <a:noFill/>
                </a:ln>
                <a:solidFill>
                  <a:schemeClr val="tx1"/>
                </a:solidFill>
                <a:effectLst/>
                <a:latin typeface="Arial Unicode MS" panose="020B0604020202020204" pitchFamily="34" charset="-128"/>
              </a:rPr>
              <a:t>"public"</a:t>
            </a:r>
            <a:r>
              <a:rPr kumimoji="0" lang="en-US" altLang="en-US" sz="1400" b="0" i="0" u="none" strike="noStrike" cap="none" normalizeH="0" baseline="0" dirty="0">
                <a:ln>
                  <a:noFill/>
                </a:ln>
                <a:solidFill>
                  <a:schemeClr val="tx1"/>
                </a:solidFill>
                <a:effectLst/>
              </a:rPr>
              <a:t> and </a:t>
            </a:r>
            <a:r>
              <a:rPr kumimoji="0" lang="en-US" altLang="en-US" sz="1400" b="0" i="0" u="none" strike="noStrike" cap="none" normalizeH="0" baseline="0" dirty="0">
                <a:ln>
                  <a:noFill/>
                </a:ln>
                <a:solidFill>
                  <a:schemeClr val="tx1"/>
                </a:solidFill>
                <a:effectLst/>
                <a:latin typeface="Arial Unicode MS" panose="020B0604020202020204" pitchFamily="34" charset="-128"/>
              </a:rPr>
              <a:t>"private"</a:t>
            </a:r>
            <a:r>
              <a:rPr kumimoji="0" lang="en-US" altLang="en-US" sz="1400" b="0" i="0" u="none" strike="noStrike" cap="none" normalizeH="0" baseline="0" dirty="0">
                <a:ln>
                  <a:noFill/>
                </a:ln>
                <a:solidFill>
                  <a:schemeClr val="tx1"/>
                </a:solidFill>
                <a:effectLst/>
              </a:rPr>
              <a:t>)</a:t>
            </a:r>
            <a:endParaRPr kumimoji="0" lang="en-US" altLang="en-US" sz="14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anose="020B0604020202020204" pitchFamily="34" charset="0"/>
              </a:rPr>
              <a:t>B. Harden Network Services (SSH, Telnet, HTTP/HTTPS)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anose="020B0604020202020204" pitchFamily="34" charset="0"/>
              </a:rPr>
              <a:t>	✅ </a:t>
            </a:r>
            <a:r>
              <a:rPr kumimoji="0" lang="en-US" altLang="en-US" sz="1400" b="1" i="0" u="none" strike="noStrike" cap="none" normalizeH="0" baseline="0" dirty="0">
                <a:ln>
                  <a:noFill/>
                </a:ln>
                <a:solidFill>
                  <a:schemeClr val="tx1"/>
                </a:solidFill>
                <a:effectLst/>
                <a:latin typeface="Arial" panose="020B0604020202020204" pitchFamily="34" charset="0"/>
              </a:rPr>
              <a:t>Disable Telnet</a:t>
            </a:r>
            <a:r>
              <a:rPr kumimoji="0" lang="en-US" altLang="en-US" sz="1400" b="0" i="0" u="none" strike="noStrike" cap="none" normalizeH="0" baseline="0" dirty="0">
                <a:ln>
                  <a:noFill/>
                </a:ln>
                <a:solidFill>
                  <a:schemeClr val="tx1"/>
                </a:solidFill>
                <a:effectLst/>
                <a:latin typeface="Arial" panose="020B0604020202020204" pitchFamily="34" charset="0"/>
              </a:rPr>
              <a:t> (use SSH instead)</a:t>
            </a:r>
            <a:br>
              <a:rPr kumimoji="0" lang="en-US" altLang="en-US" sz="1400" b="0" i="0" u="none" strike="noStrike" cap="none" normalizeH="0" baseline="0" dirty="0">
                <a:ln>
                  <a:noFill/>
                </a:ln>
                <a:solidFill>
                  <a:schemeClr val="tx1"/>
                </a:solidFill>
                <a:effectLst/>
                <a:latin typeface="Arial" panose="020B0604020202020204" pitchFamily="34" charset="0"/>
              </a:rPr>
            </a:br>
            <a:r>
              <a:rPr kumimoji="0" lang="en-US" altLang="en-US" sz="1400" b="0" i="0" u="none" strike="noStrike" cap="none" normalizeH="0" baseline="0" dirty="0">
                <a:ln>
                  <a:noFill/>
                </a:ln>
                <a:solidFill>
                  <a:schemeClr val="tx1"/>
                </a:solidFill>
                <a:effectLst/>
                <a:latin typeface="Arial" panose="020B0604020202020204" pitchFamily="34" charset="0"/>
              </a:rPr>
              <a:t>	✅ </a:t>
            </a:r>
            <a:r>
              <a:rPr kumimoji="0" lang="en-US" altLang="en-US" sz="1400" b="1" i="0" u="none" strike="noStrike" cap="none" normalizeH="0" baseline="0" dirty="0">
                <a:ln>
                  <a:noFill/>
                </a:ln>
                <a:solidFill>
                  <a:schemeClr val="tx1"/>
                </a:solidFill>
                <a:effectLst/>
                <a:latin typeface="Arial" panose="020B0604020202020204" pitchFamily="34" charset="0"/>
              </a:rPr>
              <a:t>Use strong authentication</a:t>
            </a:r>
            <a:r>
              <a:rPr kumimoji="0" lang="en-US" altLang="en-US" sz="1400" b="0" i="0" u="none" strike="noStrike" cap="none" normalizeH="0" baseline="0" dirty="0">
                <a:ln>
                  <a:noFill/>
                </a:ln>
                <a:solidFill>
                  <a:schemeClr val="tx1"/>
                </a:solidFill>
                <a:effectLst/>
                <a:latin typeface="Arial" panose="020B0604020202020204" pitchFamily="34" charset="0"/>
              </a:rPr>
              <a:t> (public key authentication for SSH)</a:t>
            </a:r>
            <a:br>
              <a:rPr kumimoji="0" lang="en-US" altLang="en-US" sz="1400" b="0" i="0" u="none" strike="noStrike" cap="none" normalizeH="0" baseline="0" dirty="0">
                <a:ln>
                  <a:noFill/>
                </a:ln>
                <a:solidFill>
                  <a:schemeClr val="tx1"/>
                </a:solidFill>
                <a:effectLst/>
                <a:latin typeface="Arial" panose="020B0604020202020204" pitchFamily="34" charset="0"/>
              </a:rPr>
            </a:br>
            <a:r>
              <a:rPr kumimoji="0" lang="en-US" altLang="en-US" sz="1400" b="0" i="0" u="none" strike="noStrike" cap="none" normalizeH="0" baseline="0" dirty="0">
                <a:ln>
                  <a:noFill/>
                </a:ln>
                <a:solidFill>
                  <a:schemeClr val="tx1"/>
                </a:solidFill>
                <a:effectLst/>
                <a:latin typeface="Arial" panose="020B0604020202020204" pitchFamily="34" charset="0"/>
              </a:rPr>
              <a:t>	✅ </a:t>
            </a:r>
            <a:r>
              <a:rPr kumimoji="0" lang="en-US" altLang="en-US" sz="1400" b="1" i="0" u="none" strike="noStrike" cap="none" normalizeH="0" baseline="0" dirty="0">
                <a:ln>
                  <a:noFill/>
                </a:ln>
                <a:solidFill>
                  <a:schemeClr val="tx1"/>
                </a:solidFill>
                <a:effectLst/>
                <a:latin typeface="Arial" panose="020B0604020202020204" pitchFamily="34" charset="0"/>
              </a:rPr>
              <a:t>Restrict remote management</a:t>
            </a:r>
            <a:r>
              <a:rPr kumimoji="0" lang="en-US" altLang="en-US" sz="1400" b="0" i="0" u="none" strike="noStrike" cap="none" normalizeH="0" baseline="0" dirty="0">
                <a:ln>
                  <a:noFill/>
                </a:ln>
                <a:solidFill>
                  <a:schemeClr val="tx1"/>
                </a:solidFill>
                <a:effectLst/>
                <a:latin typeface="Arial" panose="020B0604020202020204" pitchFamily="34" charset="0"/>
              </a:rPr>
              <a:t> to internal IPs</a:t>
            </a:r>
            <a:endParaRPr kumimoji="0" lang="en-US" altLang="en-US" sz="14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anose="020B0604020202020204" pitchFamily="34" charset="0"/>
              </a:rPr>
              <a:t>C. Firewall &amp; ACL Protections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anose="020B0604020202020204" pitchFamily="34" charset="0"/>
              </a:rPr>
              <a:t>	✅ </a:t>
            </a:r>
            <a:r>
              <a:rPr kumimoji="0" lang="en-US" altLang="en-US" sz="1400" b="1" i="0" u="none" strike="noStrike" cap="none" normalizeH="0" baseline="0" dirty="0">
                <a:ln>
                  <a:noFill/>
                </a:ln>
                <a:solidFill>
                  <a:schemeClr val="tx1"/>
                </a:solidFill>
                <a:effectLst/>
                <a:latin typeface="Arial" panose="020B0604020202020204" pitchFamily="34" charset="0"/>
              </a:rPr>
              <a:t>Block ICMP (ping/traceroute) from external sources</a:t>
            </a:r>
            <a:br>
              <a:rPr kumimoji="0" lang="en-US" altLang="en-US" sz="1400" b="0" i="0" u="none" strike="noStrike" cap="none" normalizeH="0" baseline="0" dirty="0">
                <a:ln>
                  <a:noFill/>
                </a:ln>
                <a:solidFill>
                  <a:schemeClr val="tx1"/>
                </a:solidFill>
                <a:effectLst/>
                <a:latin typeface="Arial" panose="020B0604020202020204" pitchFamily="34" charset="0"/>
              </a:rPr>
            </a:br>
            <a:r>
              <a:rPr kumimoji="0" lang="en-US" altLang="en-US" sz="1400" b="0" i="0" u="none" strike="noStrike" cap="none" normalizeH="0" baseline="0" dirty="0">
                <a:ln>
                  <a:noFill/>
                </a:ln>
                <a:solidFill>
                  <a:schemeClr val="tx1"/>
                </a:solidFill>
                <a:effectLst/>
                <a:latin typeface="Arial" panose="020B0604020202020204" pitchFamily="34" charset="0"/>
              </a:rPr>
              <a:t>	✅ </a:t>
            </a:r>
            <a:r>
              <a:rPr kumimoji="0" lang="en-US" altLang="en-US" sz="1400" b="1" i="0" u="none" strike="noStrike" cap="none" normalizeH="0" baseline="0" dirty="0">
                <a:ln>
                  <a:noFill/>
                </a:ln>
                <a:solidFill>
                  <a:schemeClr val="tx1"/>
                </a:solidFill>
                <a:effectLst/>
                <a:latin typeface="Arial" panose="020B0604020202020204" pitchFamily="34" charset="0"/>
              </a:rPr>
              <a:t>Use ACLs to limit router access</a:t>
            </a:r>
            <a:r>
              <a:rPr kumimoji="0" lang="en-US" altLang="en-US" sz="1400" b="0" i="0" u="none" strike="noStrike" cap="none" normalizeH="0" baseline="0" dirty="0">
                <a:ln>
                  <a:noFill/>
                </a:ln>
                <a:solidFill>
                  <a:schemeClr val="tx1"/>
                </a:solidFill>
                <a:effectLst/>
                <a:latin typeface="Arial" panose="020B0604020202020204" pitchFamily="34" charset="0"/>
              </a:rPr>
              <a:t> to trusted networks</a:t>
            </a:r>
            <a:endParaRPr kumimoji="0" lang="en-US" altLang="en-US" sz="14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anose="020B0604020202020204" pitchFamily="34" charset="0"/>
              </a:rPr>
              <a:t>D. Router &amp; Firmware Security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anose="020B0604020202020204" pitchFamily="34" charset="0"/>
              </a:rPr>
              <a:t>	✅ </a:t>
            </a:r>
            <a:r>
              <a:rPr kumimoji="0" lang="en-US" altLang="en-US" sz="1400" b="1" i="0" u="none" strike="noStrike" cap="none" normalizeH="0" baseline="0" dirty="0">
                <a:ln>
                  <a:noFill/>
                </a:ln>
                <a:solidFill>
                  <a:schemeClr val="tx1"/>
                </a:solidFill>
                <a:effectLst/>
                <a:latin typeface="Arial" panose="020B0604020202020204" pitchFamily="34" charset="0"/>
              </a:rPr>
              <a:t>Keep firmware updated</a:t>
            </a:r>
            <a:r>
              <a:rPr kumimoji="0" lang="en-US" altLang="en-US" sz="1400" b="0" i="0" u="none" strike="noStrike" cap="none" normalizeH="0" baseline="0" dirty="0">
                <a:ln>
                  <a:noFill/>
                </a:ln>
                <a:solidFill>
                  <a:schemeClr val="tx1"/>
                </a:solidFill>
                <a:effectLst/>
                <a:latin typeface="Arial" panose="020B0604020202020204" pitchFamily="34" charset="0"/>
              </a:rPr>
              <a:t> (patch known vulnerabilities)</a:t>
            </a:r>
            <a:br>
              <a:rPr kumimoji="0" lang="en-US" altLang="en-US" sz="1400" b="0" i="0" u="none" strike="noStrike" cap="none" normalizeH="0" baseline="0" dirty="0">
                <a:ln>
                  <a:noFill/>
                </a:ln>
                <a:solidFill>
                  <a:schemeClr val="tx1"/>
                </a:solidFill>
                <a:effectLst/>
                <a:latin typeface="Arial" panose="020B0604020202020204" pitchFamily="34" charset="0"/>
              </a:rPr>
            </a:br>
            <a:r>
              <a:rPr kumimoji="0" lang="en-US" altLang="en-US" sz="1400" b="0" i="0" u="none" strike="noStrike" cap="none" normalizeH="0" baseline="0" dirty="0">
                <a:ln>
                  <a:noFill/>
                </a:ln>
                <a:solidFill>
                  <a:schemeClr val="tx1"/>
                </a:solidFill>
                <a:effectLst/>
                <a:latin typeface="Arial" panose="020B0604020202020204" pitchFamily="34" charset="0"/>
              </a:rPr>
              <a:t>	✅ </a:t>
            </a:r>
            <a:r>
              <a:rPr kumimoji="0" lang="en-US" altLang="en-US" sz="1400" b="1" i="0" u="none" strike="noStrike" cap="none" normalizeH="0" baseline="0" dirty="0">
                <a:ln>
                  <a:noFill/>
                </a:ln>
                <a:solidFill>
                  <a:schemeClr val="tx1"/>
                </a:solidFill>
                <a:effectLst/>
                <a:latin typeface="Arial" panose="020B0604020202020204" pitchFamily="34" charset="0"/>
              </a:rPr>
              <a:t>Use strong passwords</a:t>
            </a:r>
            <a:r>
              <a:rPr kumimoji="0" lang="en-US" altLang="en-US" sz="1400" b="0" i="0" u="none" strike="noStrike" cap="none" normalizeH="0" baseline="0" dirty="0">
                <a:ln>
                  <a:noFill/>
                </a:ln>
                <a:solidFill>
                  <a:schemeClr val="tx1"/>
                </a:solidFill>
                <a:effectLst/>
                <a:latin typeface="Arial" panose="020B0604020202020204" pitchFamily="34" charset="0"/>
              </a:rPr>
              <a:t> for router access</a:t>
            </a:r>
            <a:br>
              <a:rPr kumimoji="0" lang="en-US" altLang="en-US" sz="1400" b="0" i="0" u="none" strike="noStrike" cap="none" normalizeH="0" baseline="0" dirty="0">
                <a:ln>
                  <a:noFill/>
                </a:ln>
                <a:solidFill>
                  <a:schemeClr val="tx1"/>
                </a:solidFill>
                <a:effectLst/>
                <a:latin typeface="Arial" panose="020B0604020202020204" pitchFamily="34" charset="0"/>
              </a:rPr>
            </a:br>
            <a:r>
              <a:rPr kumimoji="0" lang="en-US" altLang="en-US" sz="1400" b="0" i="0" u="none" strike="noStrike" cap="none" normalizeH="0" baseline="0" dirty="0">
                <a:ln>
                  <a:noFill/>
                </a:ln>
                <a:solidFill>
                  <a:schemeClr val="tx1"/>
                </a:solidFill>
                <a:effectLst/>
                <a:latin typeface="Arial" panose="020B0604020202020204" pitchFamily="34" charset="0"/>
              </a:rPr>
              <a:t>	✅ </a:t>
            </a:r>
            <a:r>
              <a:rPr kumimoji="0" lang="en-US" altLang="en-US" sz="1400" b="1" i="0" u="none" strike="noStrike" cap="none" normalizeH="0" baseline="0" dirty="0">
                <a:ln>
                  <a:noFill/>
                </a:ln>
                <a:solidFill>
                  <a:schemeClr val="tx1"/>
                </a:solidFill>
                <a:effectLst/>
                <a:latin typeface="Arial" panose="020B0604020202020204" pitchFamily="34" charset="0"/>
              </a:rPr>
              <a:t>Enable logging and monitoring</a:t>
            </a:r>
            <a:r>
              <a:rPr kumimoji="0" lang="en-US" altLang="en-US" sz="1400" b="0" i="0" u="none" strike="noStrike" cap="none" normalizeH="0" baseline="0" dirty="0">
                <a:ln>
                  <a:noFill/>
                </a:ln>
                <a:solidFill>
                  <a:schemeClr val="tx1"/>
                </a:solidFill>
                <a:effectLst/>
                <a:latin typeface="Arial" panose="020B0604020202020204" pitchFamily="34" charset="0"/>
              </a:rPr>
              <a:t> for suspicious activity</a:t>
            </a:r>
            <a:endParaRPr kumimoji="0" lang="en-US" altLang="en-US" sz="14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anose="020B0604020202020204" pitchFamily="34" charset="0"/>
              </a:rPr>
              <a:t>E. Secure BGP &amp; Routing Protocols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anose="020B0604020202020204" pitchFamily="34" charset="0"/>
              </a:rPr>
              <a:t>	✅ </a:t>
            </a:r>
            <a:r>
              <a:rPr kumimoji="0" lang="en-US" altLang="en-US" sz="1400" b="1" i="0" u="none" strike="noStrike" cap="none" normalizeH="0" baseline="0" dirty="0">
                <a:ln>
                  <a:noFill/>
                </a:ln>
                <a:solidFill>
                  <a:schemeClr val="tx1"/>
                </a:solidFill>
                <a:effectLst/>
                <a:latin typeface="Arial" panose="020B0604020202020204" pitchFamily="34" charset="0"/>
              </a:rPr>
              <a:t>Use BGP route filtering</a:t>
            </a:r>
            <a:r>
              <a:rPr kumimoji="0" lang="en-US" altLang="en-US" sz="1400" b="0" i="0" u="none" strike="noStrike" cap="none" normalizeH="0" baseline="0" dirty="0">
                <a:ln>
                  <a:noFill/>
                </a:ln>
                <a:solidFill>
                  <a:schemeClr val="tx1"/>
                </a:solidFill>
                <a:effectLst/>
                <a:latin typeface="Arial" panose="020B0604020202020204" pitchFamily="34" charset="0"/>
              </a:rPr>
              <a:t> (RPKI, prefix lists, AS path filters)</a:t>
            </a:r>
            <a:br>
              <a:rPr kumimoji="0" lang="en-US" altLang="en-US" sz="1400" b="0" i="0" u="none" strike="noStrike" cap="none" normalizeH="0" baseline="0" dirty="0">
                <a:ln>
                  <a:noFill/>
                </a:ln>
                <a:solidFill>
                  <a:schemeClr val="tx1"/>
                </a:solidFill>
                <a:effectLst/>
                <a:latin typeface="Arial" panose="020B0604020202020204" pitchFamily="34" charset="0"/>
              </a:rPr>
            </a:br>
            <a:r>
              <a:rPr kumimoji="0" lang="en-US" altLang="en-US" sz="1400" b="0" i="0" u="none" strike="noStrike" cap="none" normalizeH="0" baseline="0" dirty="0">
                <a:ln>
                  <a:noFill/>
                </a:ln>
                <a:solidFill>
                  <a:schemeClr val="tx1"/>
                </a:solidFill>
                <a:effectLst/>
                <a:latin typeface="Arial" panose="020B0604020202020204" pitchFamily="34" charset="0"/>
              </a:rPr>
              <a:t>	✅ </a:t>
            </a:r>
            <a:r>
              <a:rPr kumimoji="0" lang="en-US" altLang="en-US" sz="1400" b="1" i="0" u="none" strike="noStrike" cap="none" normalizeH="0" baseline="0" dirty="0">
                <a:ln>
                  <a:noFill/>
                </a:ln>
                <a:solidFill>
                  <a:schemeClr val="tx1"/>
                </a:solidFill>
                <a:effectLst/>
                <a:latin typeface="Arial" panose="020B0604020202020204" pitchFamily="34" charset="0"/>
              </a:rPr>
              <a:t>Enable authentication for dynamic routing protocols</a:t>
            </a:r>
            <a:r>
              <a:rPr kumimoji="0" lang="en-US" altLang="en-US" sz="1400" b="0" i="0" u="none" strike="noStrike" cap="none" normalizeH="0" baseline="0" dirty="0">
                <a:ln>
                  <a:noFill/>
                </a:ln>
                <a:solidFill>
                  <a:schemeClr val="tx1"/>
                </a:solidFill>
                <a:effectLst/>
                <a:latin typeface="Arial" panose="020B0604020202020204" pitchFamily="34" charset="0"/>
              </a:rPr>
              <a:t> (OSPF, BGP, EIGRP)</a:t>
            </a:r>
          </a:p>
        </p:txBody>
      </p:sp>
    </p:spTree>
    <p:extLst>
      <p:ext uri="{BB962C8B-B14F-4D97-AF65-F5344CB8AC3E}">
        <p14:creationId xmlns:p14="http://schemas.microsoft.com/office/powerpoint/2010/main" val="17831747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A09952-0046-4846-B400-37D2393630BD}"/>
              </a:ext>
            </a:extLst>
          </p:cNvPr>
          <p:cNvSpPr>
            <a:spLocks noGrp="1"/>
          </p:cNvSpPr>
          <p:nvPr>
            <p:ph type="title"/>
          </p:nvPr>
        </p:nvSpPr>
        <p:spPr/>
        <p:txBody>
          <a:bodyPr/>
          <a:lstStyle/>
          <a:p>
            <a:r>
              <a:rPr lang="en-CA" dirty="0"/>
              <a:t>1. Password Cracking</a:t>
            </a:r>
          </a:p>
        </p:txBody>
      </p:sp>
      <p:sp>
        <p:nvSpPr>
          <p:cNvPr id="4" name="Rectangle 1">
            <a:extLst>
              <a:ext uri="{FF2B5EF4-FFF2-40B4-BE49-F238E27FC236}">
                <a16:creationId xmlns:a16="http://schemas.microsoft.com/office/drawing/2014/main" id="{CC4B6C00-F35E-4907-9D1C-5387FF5F3F32}"/>
              </a:ext>
            </a:extLst>
          </p:cNvPr>
          <p:cNvSpPr>
            <a:spLocks noGrp="1" noChangeArrowheads="1"/>
          </p:cNvSpPr>
          <p:nvPr>
            <p:ph idx="1"/>
          </p:nvPr>
        </p:nvSpPr>
        <p:spPr bwMode="auto">
          <a:xfrm>
            <a:off x="700391" y="2218770"/>
            <a:ext cx="10611773" cy="41857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anose="020B0604020202020204" pitchFamily="34" charset="0"/>
              </a:rPr>
              <a:t>What is Password Cracking?</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anose="020B0604020202020204" pitchFamily="34" charset="0"/>
              </a:rPr>
              <a:t>Password cracking is the process of recovering </a:t>
            </a:r>
            <a:r>
              <a:rPr kumimoji="0" lang="en-US" altLang="en-US" sz="1400" b="1" i="0" u="none" strike="noStrike" cap="none" normalizeH="0" baseline="0" dirty="0">
                <a:ln>
                  <a:noFill/>
                </a:ln>
                <a:solidFill>
                  <a:schemeClr val="tx1"/>
                </a:solidFill>
                <a:effectLst/>
                <a:latin typeface="Arial" panose="020B0604020202020204" pitchFamily="34" charset="0"/>
              </a:rPr>
              <a:t>plaintext passwords</a:t>
            </a:r>
            <a:r>
              <a:rPr kumimoji="0" lang="en-US" altLang="en-US" sz="1400" b="0" i="0" u="none" strike="noStrike" cap="none" normalizeH="0" baseline="0" dirty="0">
                <a:ln>
                  <a:noFill/>
                </a:ln>
                <a:solidFill>
                  <a:schemeClr val="tx1"/>
                </a:solidFill>
                <a:effectLst/>
                <a:latin typeface="Arial" panose="020B0604020202020204" pitchFamily="34" charset="0"/>
              </a:rPr>
              <a:t> from </a:t>
            </a:r>
            <a:r>
              <a:rPr kumimoji="0" lang="en-US" altLang="en-US" sz="1400" b="1" i="0" u="none" strike="noStrike" cap="none" normalizeH="0" baseline="0" dirty="0">
                <a:ln>
                  <a:noFill/>
                </a:ln>
                <a:solidFill>
                  <a:schemeClr val="tx1"/>
                </a:solidFill>
                <a:effectLst/>
                <a:latin typeface="Arial" panose="020B0604020202020204" pitchFamily="34" charset="0"/>
              </a:rPr>
              <a:t>hashed</a:t>
            </a:r>
            <a:r>
              <a:rPr kumimoji="0" lang="en-US" altLang="en-US" sz="1400" b="0" i="0" u="none" strike="noStrike" cap="none" normalizeH="0" baseline="0" dirty="0">
                <a:ln>
                  <a:noFill/>
                </a:ln>
                <a:solidFill>
                  <a:schemeClr val="tx1"/>
                </a:solidFill>
                <a:effectLst/>
                <a:latin typeface="Arial" panose="020B0604020202020204" pitchFamily="34" charset="0"/>
              </a:rPr>
              <a:t> or </a:t>
            </a:r>
            <a:r>
              <a:rPr kumimoji="0" lang="en-US" altLang="en-US" sz="1400" b="1" i="0" u="none" strike="noStrike" cap="none" normalizeH="0" baseline="0" dirty="0">
                <a:ln>
                  <a:noFill/>
                </a:ln>
                <a:solidFill>
                  <a:schemeClr val="tx1"/>
                </a:solidFill>
                <a:effectLst/>
                <a:latin typeface="Arial" panose="020B0604020202020204" pitchFamily="34" charset="0"/>
              </a:rPr>
              <a:t>encrypted</a:t>
            </a:r>
            <a:r>
              <a:rPr kumimoji="0" lang="en-US" altLang="en-US" sz="1400" b="0" i="0" u="none" strike="noStrike" cap="none" normalizeH="0" baseline="0" dirty="0">
                <a:ln>
                  <a:noFill/>
                </a:ln>
                <a:solidFill>
                  <a:schemeClr val="tx1"/>
                </a:solidFill>
                <a:effectLst/>
                <a:latin typeface="Arial" panose="020B0604020202020204" pitchFamily="34" charset="0"/>
              </a:rPr>
              <a:t> credentials. Attackers or penetration testers use different techniques, such as </a:t>
            </a:r>
            <a:r>
              <a:rPr kumimoji="0" lang="en-US" altLang="en-US" sz="1400" b="1" i="0" u="none" strike="noStrike" cap="none" normalizeH="0" baseline="0" dirty="0">
                <a:ln>
                  <a:noFill/>
                </a:ln>
                <a:solidFill>
                  <a:schemeClr val="tx1"/>
                </a:solidFill>
                <a:effectLst/>
                <a:latin typeface="Arial" panose="020B0604020202020204" pitchFamily="34" charset="0"/>
              </a:rPr>
              <a:t>brute-force, dictionary attacks, and rainbow tables</a:t>
            </a:r>
            <a:r>
              <a:rPr kumimoji="0" lang="en-US" altLang="en-US" sz="14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anose="020B0604020202020204" pitchFamily="34" charset="0"/>
              </a:rPr>
              <a:t>Techniques Used</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400" b="1" i="0" u="none" strike="noStrike" cap="none" normalizeH="0" baseline="0" dirty="0">
                <a:ln>
                  <a:noFill/>
                </a:ln>
                <a:solidFill>
                  <a:schemeClr val="tx1"/>
                </a:solidFill>
                <a:effectLst/>
                <a:latin typeface="Arial" panose="020B0604020202020204" pitchFamily="34" charset="0"/>
              </a:rPr>
              <a:t>Brute-Force Attack</a:t>
            </a:r>
            <a:r>
              <a:rPr kumimoji="0" lang="en-US" altLang="en-US" sz="1400" b="0" i="0" u="none" strike="noStrike" cap="none" normalizeH="0" baseline="0" dirty="0">
                <a:ln>
                  <a:noFill/>
                </a:ln>
                <a:solidFill>
                  <a:schemeClr val="tx1"/>
                </a:solidFill>
                <a:effectLst/>
                <a:latin typeface="Arial" panose="020B0604020202020204" pitchFamily="34" charset="0"/>
              </a:rPr>
              <a:t> – Tries every possible password combination.</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400" b="1" i="0" u="none" strike="noStrike" cap="none" normalizeH="0" baseline="0" dirty="0">
                <a:ln>
                  <a:noFill/>
                </a:ln>
                <a:solidFill>
                  <a:schemeClr val="tx1"/>
                </a:solidFill>
                <a:effectLst/>
                <a:latin typeface="Arial" panose="020B0604020202020204" pitchFamily="34" charset="0"/>
              </a:rPr>
              <a:t>Dictionary Attack</a:t>
            </a:r>
            <a:r>
              <a:rPr kumimoji="0" lang="en-US" altLang="en-US" sz="1400" b="0" i="0" u="none" strike="noStrike" cap="none" normalizeH="0" baseline="0" dirty="0">
                <a:ln>
                  <a:noFill/>
                </a:ln>
                <a:solidFill>
                  <a:schemeClr val="tx1"/>
                </a:solidFill>
                <a:effectLst/>
                <a:latin typeface="Arial" panose="020B0604020202020204" pitchFamily="34" charset="0"/>
              </a:rPr>
              <a:t> – Uses a predefined list of common passwords.</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400" b="1" i="0" u="none" strike="noStrike" cap="none" normalizeH="0" baseline="0" dirty="0">
                <a:ln>
                  <a:noFill/>
                </a:ln>
                <a:solidFill>
                  <a:schemeClr val="tx1"/>
                </a:solidFill>
                <a:effectLst/>
                <a:latin typeface="Arial" panose="020B0604020202020204" pitchFamily="34" charset="0"/>
              </a:rPr>
              <a:t>Rainbow Table Attack</a:t>
            </a:r>
            <a:r>
              <a:rPr kumimoji="0" lang="en-US" altLang="en-US" sz="1400" b="0" i="0" u="none" strike="noStrike" cap="none" normalizeH="0" baseline="0" dirty="0">
                <a:ln>
                  <a:noFill/>
                </a:ln>
                <a:solidFill>
                  <a:schemeClr val="tx1"/>
                </a:solidFill>
                <a:effectLst/>
                <a:latin typeface="Arial" panose="020B0604020202020204" pitchFamily="34" charset="0"/>
              </a:rPr>
              <a:t> – Uses precomputed hash values to reverse engineer passwords.</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anose="020B0604020202020204" pitchFamily="34" charset="0"/>
              </a:rPr>
              <a:t>Tools Used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John the Ripper</a:t>
            </a:r>
            <a:r>
              <a:rPr kumimoji="0" lang="en-US" altLang="en-US" sz="1400" b="0" i="0" u="none" strike="noStrike" cap="none" normalizeH="0" baseline="0" dirty="0">
                <a:ln>
                  <a:noFill/>
                </a:ln>
                <a:solidFill>
                  <a:schemeClr val="tx1"/>
                </a:solidFill>
                <a:effectLst/>
                <a:latin typeface="Arial" panose="020B0604020202020204" pitchFamily="34" charset="0"/>
              </a:rPr>
              <a:t> – </a:t>
            </a:r>
            <a:r>
              <a:rPr kumimoji="0" lang="en-US" altLang="en-US" sz="1400" b="0" i="0" u="none" strike="noStrike" cap="none" normalizeH="0" baseline="0" dirty="0">
                <a:ln>
                  <a:noFill/>
                </a:ln>
                <a:solidFill>
                  <a:schemeClr val="tx1"/>
                </a:solidFill>
                <a:effectLst/>
                <a:latin typeface="Arial Unicode MS" panose="020B0604020202020204" pitchFamily="34" charset="-128"/>
              </a:rPr>
              <a:t>john --wordlist=&lt;file&gt; hashfile.txt</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err="1">
                <a:ln>
                  <a:noFill/>
                </a:ln>
                <a:solidFill>
                  <a:schemeClr val="tx1"/>
                </a:solidFill>
                <a:effectLst/>
                <a:latin typeface="Arial" panose="020B0604020202020204" pitchFamily="34" charset="0"/>
              </a:rPr>
              <a:t>Hashcat</a:t>
            </a:r>
            <a:r>
              <a:rPr kumimoji="0" lang="en-US" altLang="en-US" sz="1400" b="0" i="0" u="none" strike="noStrike" cap="none" normalizeH="0" baseline="0" dirty="0">
                <a:ln>
                  <a:noFill/>
                </a:ln>
                <a:solidFill>
                  <a:schemeClr val="tx1"/>
                </a:solidFill>
                <a:effectLst/>
                <a:latin typeface="Arial" panose="020B0604020202020204" pitchFamily="34" charset="0"/>
              </a:rPr>
              <a:t> – </a:t>
            </a:r>
            <a:r>
              <a:rPr kumimoji="0" lang="en-US" altLang="en-US" sz="1400" b="0" i="0" u="none" strike="noStrike" cap="none" normalizeH="0" baseline="0" dirty="0" err="1">
                <a:ln>
                  <a:noFill/>
                </a:ln>
                <a:solidFill>
                  <a:schemeClr val="tx1"/>
                </a:solidFill>
                <a:effectLst/>
                <a:latin typeface="Arial Unicode MS" panose="020B0604020202020204" pitchFamily="34" charset="-128"/>
              </a:rPr>
              <a:t>hashcat</a:t>
            </a:r>
            <a:r>
              <a:rPr kumimoji="0" lang="en-US" altLang="en-US" sz="1400" b="0" i="0" u="none" strike="noStrike" cap="none" normalizeH="0" baseline="0" dirty="0">
                <a:ln>
                  <a:noFill/>
                </a:ln>
                <a:solidFill>
                  <a:schemeClr val="tx1"/>
                </a:solidFill>
                <a:effectLst/>
                <a:latin typeface="Arial Unicode MS" panose="020B0604020202020204" pitchFamily="34" charset="-128"/>
              </a:rPr>
              <a:t> -m 0 hashfile.txt wordlist.txt</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Hydra</a:t>
            </a:r>
            <a:r>
              <a:rPr kumimoji="0" lang="en-US" altLang="en-US" sz="1400" b="0" i="0" u="none" strike="noStrike" cap="none" normalizeH="0" baseline="0" dirty="0">
                <a:ln>
                  <a:noFill/>
                </a:ln>
                <a:solidFill>
                  <a:schemeClr val="tx1"/>
                </a:solidFill>
                <a:effectLst/>
                <a:latin typeface="Arial" panose="020B0604020202020204" pitchFamily="34" charset="0"/>
              </a:rPr>
              <a:t> – </a:t>
            </a:r>
            <a:r>
              <a:rPr kumimoji="0" lang="en-US" altLang="en-US" sz="1400" b="0" i="0" u="none" strike="noStrike" cap="none" normalizeH="0" baseline="0" dirty="0">
                <a:ln>
                  <a:noFill/>
                </a:ln>
                <a:solidFill>
                  <a:schemeClr val="tx1"/>
                </a:solidFill>
                <a:effectLst/>
                <a:latin typeface="Arial Unicode MS" panose="020B0604020202020204" pitchFamily="34" charset="-128"/>
              </a:rPr>
              <a:t>hydra -L users.txt -P passwords.txt &lt;service&gt;://&lt;IP&gt;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anose="020B0604020202020204" pitchFamily="34" charset="0"/>
              </a:rPr>
              <a:t>How to Perform in VirtualBox?</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400" b="0" i="0" u="none" strike="noStrike" cap="none" normalizeH="0" baseline="0" dirty="0">
                <a:ln>
                  <a:noFill/>
                </a:ln>
                <a:solidFill>
                  <a:schemeClr val="tx1"/>
                </a:solidFill>
                <a:effectLst/>
                <a:latin typeface="Arial" panose="020B0604020202020204" pitchFamily="34" charset="0"/>
              </a:rPr>
              <a:t>Install </a:t>
            </a:r>
            <a:r>
              <a:rPr kumimoji="0" lang="en-US" altLang="en-US" sz="1400" b="1" i="0" u="none" strike="noStrike" cap="none" normalizeH="0" baseline="0" dirty="0">
                <a:ln>
                  <a:noFill/>
                </a:ln>
                <a:solidFill>
                  <a:schemeClr val="tx1"/>
                </a:solidFill>
                <a:effectLst/>
                <a:latin typeface="Arial" panose="020B0604020202020204" pitchFamily="34" charset="0"/>
              </a:rPr>
              <a:t>Kali Linux</a:t>
            </a:r>
            <a:r>
              <a:rPr kumimoji="0" lang="en-US" altLang="en-US" sz="1400" b="0" i="0" u="none" strike="noStrike" cap="none" normalizeH="0" baseline="0" dirty="0">
                <a:ln>
                  <a:noFill/>
                </a:ln>
                <a:solidFill>
                  <a:schemeClr val="tx1"/>
                </a:solidFill>
                <a:effectLst/>
                <a:latin typeface="Arial" panose="020B0604020202020204" pitchFamily="34" charset="0"/>
              </a:rPr>
              <a:t> or </a:t>
            </a:r>
            <a:r>
              <a:rPr kumimoji="0" lang="en-US" altLang="en-US" sz="1400" b="1" i="0" u="none" strike="noStrike" cap="none" normalizeH="0" baseline="0" dirty="0">
                <a:ln>
                  <a:noFill/>
                </a:ln>
                <a:solidFill>
                  <a:schemeClr val="tx1"/>
                </a:solidFill>
                <a:effectLst/>
                <a:latin typeface="Arial" panose="020B0604020202020204" pitchFamily="34" charset="0"/>
              </a:rPr>
              <a:t>Parrot OS</a:t>
            </a:r>
            <a:r>
              <a:rPr kumimoji="0" lang="en-US" altLang="en-US" sz="1400" b="0" i="0" u="none" strike="noStrike" cap="none" normalizeH="0" baseline="0" dirty="0">
                <a:ln>
                  <a:noFill/>
                </a:ln>
                <a:solidFill>
                  <a:schemeClr val="tx1"/>
                </a:solidFill>
                <a:effectLst/>
                <a:latin typeface="Arial" panose="020B0604020202020204" pitchFamily="34" charset="0"/>
              </a:rPr>
              <a:t> inside VirtualBox.</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400" b="0" i="0" u="none" strike="noStrike" cap="none" normalizeH="0" baseline="0" dirty="0">
                <a:ln>
                  <a:noFill/>
                </a:ln>
                <a:solidFill>
                  <a:schemeClr val="tx1"/>
                </a:solidFill>
                <a:effectLst/>
                <a:latin typeface="Arial" panose="020B0604020202020204" pitchFamily="34" charset="0"/>
              </a:rPr>
              <a:t>Obtain a </a:t>
            </a:r>
            <a:r>
              <a:rPr kumimoji="0" lang="en-US" altLang="en-US" sz="1400" b="1" i="0" u="none" strike="noStrike" cap="none" normalizeH="0" baseline="0" dirty="0">
                <a:ln>
                  <a:noFill/>
                </a:ln>
                <a:solidFill>
                  <a:schemeClr val="tx1"/>
                </a:solidFill>
                <a:effectLst/>
                <a:latin typeface="Arial" panose="020B0604020202020204" pitchFamily="34" charset="0"/>
              </a:rPr>
              <a:t>password hash file</a:t>
            </a:r>
            <a:r>
              <a:rPr kumimoji="0" lang="en-US" altLang="en-US" sz="1400" b="0" i="0" u="none" strike="noStrike" cap="none" normalizeH="0" baseline="0" dirty="0">
                <a:ln>
                  <a:noFill/>
                </a:ln>
                <a:solidFill>
                  <a:schemeClr val="tx1"/>
                </a:solidFill>
                <a:effectLst/>
                <a:latin typeface="Arial" panose="020B0604020202020204" pitchFamily="34" charset="0"/>
              </a:rPr>
              <a:t> from </a:t>
            </a:r>
            <a:r>
              <a:rPr kumimoji="0" lang="en-US" altLang="en-US" sz="1400" b="0" i="0" u="none" strike="noStrike" cap="none" normalizeH="0" baseline="0" dirty="0">
                <a:ln>
                  <a:noFill/>
                </a:ln>
                <a:solidFill>
                  <a:schemeClr val="tx1"/>
                </a:solidFill>
                <a:effectLst/>
                <a:latin typeface="Arial Unicode MS" panose="020B0604020202020204" pitchFamily="34" charset="-128"/>
              </a:rPr>
              <a:t>/</a:t>
            </a:r>
            <a:r>
              <a:rPr kumimoji="0" lang="en-US" altLang="en-US" sz="1400" b="0" i="0" u="none" strike="noStrike" cap="none" normalizeH="0" baseline="0" dirty="0" err="1">
                <a:ln>
                  <a:noFill/>
                </a:ln>
                <a:solidFill>
                  <a:schemeClr val="tx1"/>
                </a:solidFill>
                <a:effectLst/>
                <a:latin typeface="Arial Unicode MS" panose="020B0604020202020204" pitchFamily="34" charset="-128"/>
              </a:rPr>
              <a:t>etc</a:t>
            </a:r>
            <a:r>
              <a:rPr kumimoji="0" lang="en-US" altLang="en-US" sz="1400" b="0" i="0" u="none" strike="noStrike" cap="none" normalizeH="0" baseline="0" dirty="0">
                <a:ln>
                  <a:noFill/>
                </a:ln>
                <a:solidFill>
                  <a:schemeClr val="tx1"/>
                </a:solidFill>
                <a:effectLst/>
                <a:latin typeface="Arial Unicode MS" panose="020B0604020202020204" pitchFamily="34" charset="-128"/>
              </a:rPr>
              <a:t>/shadow</a:t>
            </a:r>
            <a:r>
              <a:rPr kumimoji="0" lang="en-US" altLang="en-US" sz="1400" b="0" i="0" u="none" strike="noStrike" cap="none" normalizeH="0" baseline="0" dirty="0">
                <a:ln>
                  <a:noFill/>
                </a:ln>
                <a:solidFill>
                  <a:schemeClr val="tx1"/>
                </a:solidFill>
                <a:effectLst/>
              </a:rPr>
              <a:t> (Linux) or SAM file (Windows).</a:t>
            </a: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400" b="0" i="0" u="none" strike="noStrike" cap="none" normalizeH="0" baseline="0" dirty="0">
                <a:ln>
                  <a:noFill/>
                </a:ln>
                <a:solidFill>
                  <a:schemeClr val="tx1"/>
                </a:solidFill>
                <a:effectLst/>
                <a:latin typeface="Arial" panose="020B0604020202020204" pitchFamily="34" charset="0"/>
              </a:rPr>
              <a:t>Use </a:t>
            </a:r>
            <a:r>
              <a:rPr kumimoji="0" lang="en-US" altLang="en-US" sz="1400" b="1" i="0" u="none" strike="noStrike" cap="none" normalizeH="0" baseline="0" dirty="0">
                <a:ln>
                  <a:noFill/>
                </a:ln>
                <a:solidFill>
                  <a:schemeClr val="tx1"/>
                </a:solidFill>
                <a:effectLst/>
                <a:latin typeface="Arial" panose="020B0604020202020204" pitchFamily="34" charset="0"/>
              </a:rPr>
              <a:t>John the Ripper</a:t>
            </a:r>
            <a:r>
              <a:rPr kumimoji="0" lang="en-US" altLang="en-US" sz="1400" b="0" i="0" u="none" strike="noStrike" cap="none" normalizeH="0" baseline="0" dirty="0">
                <a:ln>
                  <a:noFill/>
                </a:ln>
                <a:solidFill>
                  <a:schemeClr val="tx1"/>
                </a:solidFill>
                <a:effectLst/>
                <a:latin typeface="Arial" panose="020B0604020202020204" pitchFamily="34" charset="0"/>
              </a:rPr>
              <a:t> or </a:t>
            </a:r>
            <a:r>
              <a:rPr kumimoji="0" lang="en-US" altLang="en-US" sz="1400" b="1" i="0" u="none" strike="noStrike" cap="none" normalizeH="0" baseline="0" dirty="0" err="1">
                <a:ln>
                  <a:noFill/>
                </a:ln>
                <a:solidFill>
                  <a:schemeClr val="tx1"/>
                </a:solidFill>
                <a:effectLst/>
                <a:latin typeface="Arial" panose="020B0604020202020204" pitchFamily="34" charset="0"/>
              </a:rPr>
              <a:t>Hashcat</a:t>
            </a:r>
            <a:r>
              <a:rPr kumimoji="0" lang="en-US" altLang="en-US" sz="1400" b="0" i="0" u="none" strike="noStrike" cap="none" normalizeH="0" baseline="0" dirty="0">
                <a:ln>
                  <a:noFill/>
                </a:ln>
                <a:solidFill>
                  <a:schemeClr val="tx1"/>
                </a:solidFill>
                <a:effectLst/>
                <a:latin typeface="Arial" panose="020B0604020202020204" pitchFamily="34" charset="0"/>
              </a:rPr>
              <a:t> to crack hashes.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782178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E4E31-4DB2-43A6-BEE2-3E3F3ACEF6D9}"/>
              </a:ext>
            </a:extLst>
          </p:cNvPr>
          <p:cNvSpPr>
            <a:spLocks noGrp="1"/>
          </p:cNvSpPr>
          <p:nvPr>
            <p:ph type="title"/>
          </p:nvPr>
        </p:nvSpPr>
        <p:spPr/>
        <p:txBody>
          <a:bodyPr/>
          <a:lstStyle/>
          <a:p>
            <a:r>
              <a:rPr lang="en-US" dirty="0"/>
              <a:t>2. Sniffing (Packet Capture &amp; Analysis)</a:t>
            </a:r>
            <a:endParaRPr lang="en-CA" dirty="0"/>
          </a:p>
        </p:txBody>
      </p:sp>
      <p:sp>
        <p:nvSpPr>
          <p:cNvPr id="4" name="Rectangle 1">
            <a:extLst>
              <a:ext uri="{FF2B5EF4-FFF2-40B4-BE49-F238E27FC236}">
                <a16:creationId xmlns:a16="http://schemas.microsoft.com/office/drawing/2014/main" id="{F2700EAB-693F-4463-A130-77AC1FF1CD13}"/>
              </a:ext>
            </a:extLst>
          </p:cNvPr>
          <p:cNvSpPr>
            <a:spLocks noGrp="1" noChangeArrowheads="1"/>
          </p:cNvSpPr>
          <p:nvPr>
            <p:ph idx="1"/>
          </p:nvPr>
        </p:nvSpPr>
        <p:spPr bwMode="auto">
          <a:xfrm>
            <a:off x="1027522" y="2326491"/>
            <a:ext cx="10048973"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anose="020B0604020202020204" pitchFamily="34" charset="0"/>
              </a:rPr>
              <a:t>What is Sniffing?</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anose="020B0604020202020204" pitchFamily="34" charset="0"/>
              </a:rPr>
              <a:t>Sniffing is the process of capturing and analyzing </a:t>
            </a:r>
            <a:r>
              <a:rPr kumimoji="0" lang="en-US" altLang="en-US" sz="1400" b="1" i="0" u="none" strike="noStrike" cap="none" normalizeH="0" baseline="0" dirty="0">
                <a:ln>
                  <a:noFill/>
                </a:ln>
                <a:solidFill>
                  <a:schemeClr val="tx1"/>
                </a:solidFill>
                <a:effectLst/>
                <a:latin typeface="Arial" panose="020B0604020202020204" pitchFamily="34" charset="0"/>
              </a:rPr>
              <a:t>network traffic</a:t>
            </a:r>
            <a:r>
              <a:rPr kumimoji="0" lang="en-US" altLang="en-US" sz="1400" b="0" i="0" u="none" strike="noStrike" cap="none" normalizeH="0" baseline="0" dirty="0">
                <a:ln>
                  <a:noFill/>
                </a:ln>
                <a:solidFill>
                  <a:schemeClr val="tx1"/>
                </a:solidFill>
                <a:effectLst/>
                <a:latin typeface="Arial" panose="020B0604020202020204" pitchFamily="34" charset="0"/>
              </a:rPr>
              <a:t> to extract sensitive data, including </a:t>
            </a:r>
            <a:r>
              <a:rPr kumimoji="0" lang="en-US" altLang="en-US" sz="1400" b="1" i="0" u="none" strike="noStrike" cap="none" normalizeH="0" baseline="0" dirty="0">
                <a:ln>
                  <a:noFill/>
                </a:ln>
                <a:solidFill>
                  <a:schemeClr val="tx1"/>
                </a:solidFill>
                <a:effectLst/>
                <a:latin typeface="Arial" panose="020B0604020202020204" pitchFamily="34" charset="0"/>
              </a:rPr>
              <a:t>passwords, login credentials, and network packets</a:t>
            </a:r>
            <a:r>
              <a:rPr kumimoji="0" lang="en-US" altLang="en-US" sz="14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anose="020B0604020202020204" pitchFamily="34" charset="0"/>
              </a:rPr>
              <a:t>Techniques Used</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400" b="1" i="0" u="none" strike="noStrike" cap="none" normalizeH="0" baseline="0" dirty="0">
                <a:ln>
                  <a:noFill/>
                </a:ln>
                <a:solidFill>
                  <a:schemeClr val="tx1"/>
                </a:solidFill>
                <a:effectLst/>
                <a:latin typeface="Arial" panose="020B0604020202020204" pitchFamily="34" charset="0"/>
              </a:rPr>
              <a:t>Passive Sniffing</a:t>
            </a:r>
            <a:r>
              <a:rPr kumimoji="0" lang="en-US" altLang="en-US" sz="1400" b="0" i="0" u="none" strike="noStrike" cap="none" normalizeH="0" baseline="0" dirty="0">
                <a:ln>
                  <a:noFill/>
                </a:ln>
                <a:solidFill>
                  <a:schemeClr val="tx1"/>
                </a:solidFill>
                <a:effectLst/>
                <a:latin typeface="Arial" panose="020B0604020202020204" pitchFamily="34" charset="0"/>
              </a:rPr>
              <a:t> – Monitoring traffic without interfering.</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400" b="1" i="0" u="none" strike="noStrike" cap="none" normalizeH="0" baseline="0" dirty="0">
                <a:ln>
                  <a:noFill/>
                </a:ln>
                <a:solidFill>
                  <a:schemeClr val="tx1"/>
                </a:solidFill>
                <a:effectLst/>
                <a:latin typeface="Arial" panose="020B0604020202020204" pitchFamily="34" charset="0"/>
              </a:rPr>
              <a:t>Active Sniffing</a:t>
            </a:r>
            <a:r>
              <a:rPr kumimoji="0" lang="en-US" altLang="en-US" sz="1400" b="0" i="0" u="none" strike="noStrike" cap="none" normalizeH="0" baseline="0" dirty="0">
                <a:ln>
                  <a:noFill/>
                </a:ln>
                <a:solidFill>
                  <a:schemeClr val="tx1"/>
                </a:solidFill>
                <a:effectLst/>
                <a:latin typeface="Arial" panose="020B0604020202020204" pitchFamily="34" charset="0"/>
              </a:rPr>
              <a:t> – Injecting malicious packets (MITM attack).</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anose="020B0604020202020204" pitchFamily="34" charset="0"/>
              </a:rPr>
              <a:t>Tools Used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Wireshark</a:t>
            </a:r>
            <a:r>
              <a:rPr kumimoji="0" lang="en-US" altLang="en-US" sz="1400" b="0" i="0" u="none" strike="noStrike" cap="none" normalizeH="0" baseline="0" dirty="0">
                <a:ln>
                  <a:noFill/>
                </a:ln>
                <a:solidFill>
                  <a:schemeClr val="tx1"/>
                </a:solidFill>
                <a:effectLst/>
                <a:latin typeface="Arial" panose="020B0604020202020204" pitchFamily="34" charset="0"/>
              </a:rPr>
              <a:t> – GUI-based network packet analyzer.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err="1">
                <a:ln>
                  <a:noFill/>
                </a:ln>
                <a:solidFill>
                  <a:schemeClr val="tx1"/>
                </a:solidFill>
                <a:effectLst/>
                <a:latin typeface="Arial" panose="020B0604020202020204" pitchFamily="34" charset="0"/>
              </a:rPr>
              <a:t>Tcpdump</a:t>
            </a:r>
            <a:r>
              <a:rPr kumimoji="0" lang="en-US" altLang="en-US" sz="1400" b="0" i="0" u="none" strike="noStrike" cap="none" normalizeH="0" baseline="0" dirty="0">
                <a:ln>
                  <a:noFill/>
                </a:ln>
                <a:solidFill>
                  <a:schemeClr val="tx1"/>
                </a:solidFill>
                <a:effectLst/>
                <a:latin typeface="Arial" panose="020B0604020202020204" pitchFamily="34" charset="0"/>
              </a:rPr>
              <a:t> – Command-line network sniffer.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Ettercap</a:t>
            </a:r>
            <a:r>
              <a:rPr kumimoji="0" lang="en-US" altLang="en-US" sz="1400" b="0" i="0" u="none" strike="noStrike" cap="none" normalizeH="0" baseline="0" dirty="0">
                <a:ln>
                  <a:noFill/>
                </a:ln>
                <a:solidFill>
                  <a:schemeClr val="tx1"/>
                </a:solidFill>
                <a:effectLst/>
                <a:latin typeface="Arial" panose="020B0604020202020204" pitchFamily="34" charset="0"/>
              </a:rPr>
              <a:t> – Performs MITM attacks.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anose="020B0604020202020204" pitchFamily="34" charset="0"/>
              </a:rPr>
              <a:t>How to Perform in VirtualBox?</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400" b="0" i="0" u="none" strike="noStrike" cap="none" normalizeH="0" baseline="0" dirty="0">
                <a:ln>
                  <a:noFill/>
                </a:ln>
                <a:solidFill>
                  <a:schemeClr val="tx1"/>
                </a:solidFill>
                <a:effectLst/>
                <a:latin typeface="Arial" panose="020B0604020202020204" pitchFamily="34" charset="0"/>
              </a:rPr>
              <a:t>Set up </a:t>
            </a:r>
            <a:r>
              <a:rPr kumimoji="0" lang="en-US" altLang="en-US" sz="1400" b="1" i="0" u="none" strike="noStrike" cap="none" normalizeH="0" baseline="0" dirty="0">
                <a:ln>
                  <a:noFill/>
                </a:ln>
                <a:solidFill>
                  <a:schemeClr val="tx1"/>
                </a:solidFill>
                <a:effectLst/>
                <a:latin typeface="Arial" panose="020B0604020202020204" pitchFamily="34" charset="0"/>
              </a:rPr>
              <a:t>two virtual machines (one as a victim, one as an attacker)</a:t>
            </a:r>
            <a:r>
              <a:rPr kumimoji="0" lang="en-US" altLang="en-US" sz="14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400" b="0" i="0" u="none" strike="noStrike" cap="none" normalizeH="0" baseline="0" dirty="0">
                <a:ln>
                  <a:noFill/>
                </a:ln>
                <a:solidFill>
                  <a:schemeClr val="tx1"/>
                </a:solidFill>
                <a:effectLst/>
                <a:latin typeface="Arial" panose="020B0604020202020204" pitchFamily="34" charset="0"/>
              </a:rPr>
              <a:t>Use </a:t>
            </a:r>
            <a:r>
              <a:rPr kumimoji="0" lang="en-US" altLang="en-US" sz="1400" b="1" i="0" u="none" strike="noStrike" cap="none" normalizeH="0" baseline="0" dirty="0">
                <a:ln>
                  <a:noFill/>
                </a:ln>
                <a:solidFill>
                  <a:schemeClr val="tx1"/>
                </a:solidFill>
                <a:effectLst/>
                <a:latin typeface="Arial" panose="020B0604020202020204" pitchFamily="34" charset="0"/>
              </a:rPr>
              <a:t>Wireshark</a:t>
            </a:r>
            <a:r>
              <a:rPr kumimoji="0" lang="en-US" altLang="en-US" sz="1400" b="0" i="0" u="none" strike="noStrike" cap="none" normalizeH="0" baseline="0" dirty="0">
                <a:ln>
                  <a:noFill/>
                </a:ln>
                <a:solidFill>
                  <a:schemeClr val="tx1"/>
                </a:solidFill>
                <a:effectLst/>
                <a:latin typeface="Arial" panose="020B0604020202020204" pitchFamily="34" charset="0"/>
              </a:rPr>
              <a:t> to capture traffic on a shared network adapter.</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400" b="0" i="0" u="none" strike="noStrike" cap="none" normalizeH="0" baseline="0" dirty="0">
                <a:ln>
                  <a:noFill/>
                </a:ln>
                <a:solidFill>
                  <a:schemeClr val="tx1"/>
                </a:solidFill>
                <a:effectLst/>
                <a:latin typeface="Arial" panose="020B0604020202020204" pitchFamily="34" charset="0"/>
              </a:rPr>
              <a:t>Filter packets using </a:t>
            </a:r>
            <a:r>
              <a:rPr kumimoji="0" lang="en-US" altLang="en-US" sz="1400" b="0" i="0" u="none" strike="noStrike" cap="none" normalizeH="0" baseline="0" dirty="0" err="1">
                <a:ln>
                  <a:noFill/>
                </a:ln>
                <a:solidFill>
                  <a:schemeClr val="tx1"/>
                </a:solidFill>
                <a:effectLst/>
                <a:latin typeface="Arial Unicode MS" panose="020B0604020202020204" pitchFamily="34" charset="-128"/>
              </a:rPr>
              <a:t>http.request.method</a:t>
            </a:r>
            <a:r>
              <a:rPr kumimoji="0" lang="en-US" altLang="en-US" sz="1400" b="0" i="0" u="none" strike="noStrike" cap="none" normalizeH="0" baseline="0" dirty="0">
                <a:ln>
                  <a:noFill/>
                </a:ln>
                <a:solidFill>
                  <a:schemeClr val="tx1"/>
                </a:solidFill>
                <a:effectLst/>
                <a:latin typeface="Arial Unicode MS" panose="020B0604020202020204" pitchFamily="34" charset="-128"/>
              </a:rPr>
              <a:t> == "POST"</a:t>
            </a:r>
            <a:r>
              <a:rPr kumimoji="0" lang="en-US" altLang="en-US" sz="1400" b="0" i="0" u="none" strike="noStrike" cap="none" normalizeH="0" baseline="0" dirty="0">
                <a:ln>
                  <a:noFill/>
                </a:ln>
                <a:solidFill>
                  <a:schemeClr val="tx1"/>
                </a:solidFill>
                <a:effectLst/>
              </a:rPr>
              <a:t> to find credentials.</a:t>
            </a: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5504380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3CBF8B-8BDC-43F6-BD33-35A752F8B898}"/>
              </a:ext>
            </a:extLst>
          </p:cNvPr>
          <p:cNvSpPr>
            <a:spLocks noGrp="1"/>
          </p:cNvSpPr>
          <p:nvPr>
            <p:ph type="title"/>
          </p:nvPr>
        </p:nvSpPr>
        <p:spPr/>
        <p:txBody>
          <a:bodyPr/>
          <a:lstStyle/>
          <a:p>
            <a:r>
              <a:rPr lang="en-US" dirty="0"/>
              <a:t>3. Password Hashes and Extraction</a:t>
            </a:r>
            <a:endParaRPr lang="en-CA" dirty="0"/>
          </a:p>
        </p:txBody>
      </p:sp>
      <p:sp>
        <p:nvSpPr>
          <p:cNvPr id="4" name="Rectangle 1">
            <a:extLst>
              <a:ext uri="{FF2B5EF4-FFF2-40B4-BE49-F238E27FC236}">
                <a16:creationId xmlns:a16="http://schemas.microsoft.com/office/drawing/2014/main" id="{ACF960F0-B41F-4C19-BC51-CC5FD471EC65}"/>
              </a:ext>
            </a:extLst>
          </p:cNvPr>
          <p:cNvSpPr>
            <a:spLocks noGrp="1" noChangeArrowheads="1"/>
          </p:cNvSpPr>
          <p:nvPr>
            <p:ph idx="1"/>
          </p:nvPr>
        </p:nvSpPr>
        <p:spPr bwMode="auto">
          <a:xfrm>
            <a:off x="1154954" y="2541936"/>
            <a:ext cx="10034662"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What Are Password Hashes?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A </a:t>
            </a:r>
            <a:r>
              <a:rPr kumimoji="0" lang="en-US" altLang="en-US" sz="1600" b="1" i="0" u="none" strike="noStrike" cap="none" normalizeH="0" baseline="0" dirty="0">
                <a:ln>
                  <a:noFill/>
                </a:ln>
                <a:solidFill>
                  <a:schemeClr val="tx1"/>
                </a:solidFill>
                <a:effectLst/>
                <a:latin typeface="Arial" panose="020B0604020202020204" pitchFamily="34" charset="0"/>
              </a:rPr>
              <a:t>password hash</a:t>
            </a:r>
            <a:r>
              <a:rPr kumimoji="0" lang="en-US" altLang="en-US" sz="1600" b="0" i="0" u="none" strike="noStrike" cap="none" normalizeH="0" baseline="0" dirty="0">
                <a:ln>
                  <a:noFill/>
                </a:ln>
                <a:solidFill>
                  <a:schemeClr val="tx1"/>
                </a:solidFill>
                <a:effectLst/>
                <a:latin typeface="Arial" panose="020B0604020202020204" pitchFamily="34" charset="0"/>
              </a:rPr>
              <a:t> is an </a:t>
            </a:r>
            <a:r>
              <a:rPr kumimoji="0" lang="en-US" altLang="en-US" sz="1600" b="1" i="0" u="none" strike="noStrike" cap="none" normalizeH="0" baseline="0" dirty="0">
                <a:ln>
                  <a:noFill/>
                </a:ln>
                <a:solidFill>
                  <a:schemeClr val="tx1"/>
                </a:solidFill>
                <a:effectLst/>
                <a:latin typeface="Arial" panose="020B0604020202020204" pitchFamily="34" charset="0"/>
              </a:rPr>
              <a:t>encrypted version</a:t>
            </a:r>
            <a:r>
              <a:rPr kumimoji="0" lang="en-US" altLang="en-US" sz="1600" b="0" i="0" u="none" strike="noStrike" cap="none" normalizeH="0" baseline="0" dirty="0">
                <a:ln>
                  <a:noFill/>
                </a:ln>
                <a:solidFill>
                  <a:schemeClr val="tx1"/>
                </a:solidFill>
                <a:effectLst/>
                <a:latin typeface="Arial" panose="020B0604020202020204" pitchFamily="34" charset="0"/>
              </a:rPr>
              <a:t> of a password, often stored in system files like </a:t>
            </a:r>
            <a:r>
              <a:rPr kumimoji="0" lang="en-US" altLang="en-US" sz="1600" b="0" i="0" u="none" strike="noStrike" cap="none" normalizeH="0" baseline="0" dirty="0">
                <a:ln>
                  <a:noFill/>
                </a:ln>
                <a:solidFill>
                  <a:schemeClr val="tx1"/>
                </a:solidFill>
                <a:effectLst/>
                <a:latin typeface="Arial Unicode MS" panose="020B0604020202020204" pitchFamily="34" charset="-128"/>
              </a:rPr>
              <a:t>/</a:t>
            </a:r>
            <a:r>
              <a:rPr kumimoji="0" lang="en-US" altLang="en-US" sz="1600" b="0" i="0" u="none" strike="noStrike" cap="none" normalizeH="0" baseline="0" dirty="0" err="1">
                <a:ln>
                  <a:noFill/>
                </a:ln>
                <a:solidFill>
                  <a:schemeClr val="tx1"/>
                </a:solidFill>
                <a:effectLst/>
                <a:latin typeface="Arial Unicode MS" panose="020B0604020202020204" pitchFamily="34" charset="-128"/>
              </a:rPr>
              <a:t>etc</a:t>
            </a:r>
            <a:r>
              <a:rPr kumimoji="0" lang="en-US" altLang="en-US" sz="1600" b="0" i="0" u="none" strike="noStrike" cap="none" normalizeH="0" baseline="0" dirty="0">
                <a:ln>
                  <a:noFill/>
                </a:ln>
                <a:solidFill>
                  <a:schemeClr val="tx1"/>
                </a:solidFill>
                <a:effectLst/>
                <a:latin typeface="Arial Unicode MS" panose="020B0604020202020204" pitchFamily="34" charset="-128"/>
              </a:rPr>
              <a:t>/shadow</a:t>
            </a:r>
            <a:r>
              <a:rPr kumimoji="0" lang="en-US" altLang="en-US" sz="1600" b="0" i="0" u="none" strike="noStrike" cap="none" normalizeH="0" baseline="0" dirty="0">
                <a:ln>
                  <a:noFill/>
                </a:ln>
                <a:solidFill>
                  <a:schemeClr val="tx1"/>
                </a:solidFill>
                <a:effectLst/>
              </a:rPr>
              <a:t> (Linux) or </a:t>
            </a:r>
            <a:r>
              <a:rPr kumimoji="0" lang="en-US" altLang="en-US" sz="1600" b="0" i="0" u="none" strike="noStrike" cap="none" normalizeH="0" baseline="0" dirty="0">
                <a:ln>
                  <a:noFill/>
                </a:ln>
                <a:solidFill>
                  <a:schemeClr val="tx1"/>
                </a:solidFill>
                <a:effectLst/>
                <a:latin typeface="Arial Unicode MS" panose="020B0604020202020204" pitchFamily="34" charset="-128"/>
              </a:rPr>
              <a:t>SAM</a:t>
            </a:r>
            <a:r>
              <a:rPr kumimoji="0" lang="en-US" altLang="en-US" sz="1600" b="0" i="0" u="none" strike="noStrike" cap="none" normalizeH="0" baseline="0" dirty="0">
                <a:ln>
                  <a:noFill/>
                </a:ln>
                <a:solidFill>
                  <a:schemeClr val="tx1"/>
                </a:solidFill>
                <a:effectLst/>
              </a:rPr>
              <a:t> (Windows).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How to Extract Password Hashes?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Linux:</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a:ln>
                  <a:noFill/>
                </a:ln>
                <a:solidFill>
                  <a:schemeClr val="tx1"/>
                </a:solidFill>
                <a:effectLst/>
                <a:latin typeface="Arial Unicode MS" panose="020B0604020202020204" pitchFamily="34" charset="-128"/>
              </a:rPr>
              <a:t>cat /</a:t>
            </a:r>
            <a:r>
              <a:rPr kumimoji="0" lang="en-US" altLang="en-US" sz="1600" b="0" i="0" u="none" strike="noStrike" cap="none" normalizeH="0" baseline="0" dirty="0" err="1">
                <a:ln>
                  <a:noFill/>
                </a:ln>
                <a:solidFill>
                  <a:schemeClr val="tx1"/>
                </a:solidFill>
                <a:effectLst/>
                <a:latin typeface="Arial Unicode MS" panose="020B0604020202020204" pitchFamily="34" charset="-128"/>
              </a:rPr>
              <a:t>etc</a:t>
            </a:r>
            <a:r>
              <a:rPr kumimoji="0" lang="en-US" altLang="en-US" sz="1600" b="0" i="0" u="none" strike="noStrike" cap="none" normalizeH="0" baseline="0" dirty="0">
                <a:ln>
                  <a:noFill/>
                </a:ln>
                <a:solidFill>
                  <a:schemeClr val="tx1"/>
                </a:solidFill>
                <a:effectLst/>
                <a:latin typeface="Arial Unicode MS" panose="020B0604020202020204" pitchFamily="34" charset="-128"/>
              </a:rPr>
              <a:t>/shadow</a:t>
            </a:r>
            <a:r>
              <a:rPr kumimoji="0" lang="en-US" altLang="en-US" sz="1600" b="0" i="0" u="none" strike="noStrike" cap="none" normalizeH="0" baseline="0" dirty="0">
                <a:ln>
                  <a:noFill/>
                </a:ln>
                <a:solidFill>
                  <a:schemeClr val="tx1"/>
                </a:solidFill>
                <a:effectLst/>
              </a:rPr>
              <a:t> (root access required)</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Windows:</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a:ln>
                  <a:noFill/>
                </a:ln>
                <a:solidFill>
                  <a:schemeClr val="tx1"/>
                </a:solidFill>
                <a:effectLst/>
                <a:latin typeface="Arial Unicode MS" panose="020B0604020202020204" pitchFamily="34" charset="-128"/>
              </a:rPr>
              <a:t>samdump2 SYSTEM SAM &gt; hashes.txt</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err="1">
                <a:ln>
                  <a:noFill/>
                </a:ln>
                <a:solidFill>
                  <a:schemeClr val="tx1"/>
                </a:solidFill>
                <a:effectLst/>
                <a:latin typeface="Arial" panose="020B0604020202020204" pitchFamily="34" charset="0"/>
              </a:rPr>
              <a:t>Mimikatz</a:t>
            </a:r>
            <a:r>
              <a:rPr kumimoji="0" lang="en-US" altLang="en-US" sz="1600" b="1" i="0" u="none" strike="noStrike" cap="none" normalizeH="0" baseline="0" dirty="0">
                <a:ln>
                  <a:noFill/>
                </a:ln>
                <a:solidFill>
                  <a:schemeClr val="tx1"/>
                </a:solidFill>
                <a:effectLst/>
                <a:latin typeface="Arial" panose="020B0604020202020204" pitchFamily="34" charset="0"/>
              </a:rPr>
              <a:t> (Windows)</a:t>
            </a:r>
            <a:r>
              <a:rPr kumimoji="0" lang="en-US" altLang="en-US" sz="1600" b="0" i="0" u="none" strike="noStrike" cap="none" normalizeH="0" baseline="0" dirty="0">
                <a:ln>
                  <a:noFill/>
                </a:ln>
                <a:solidFill>
                  <a:schemeClr val="tx1"/>
                </a:solidFill>
                <a:effectLst/>
                <a:latin typeface="Arial" panose="020B0604020202020204" pitchFamily="34" charset="0"/>
              </a:rPr>
              <a:t> – Extracts </a:t>
            </a:r>
            <a:r>
              <a:rPr kumimoji="0" lang="en-US" altLang="en-US" sz="1600" b="1" i="0" u="none" strike="noStrike" cap="none" normalizeH="0" baseline="0" dirty="0">
                <a:ln>
                  <a:noFill/>
                </a:ln>
                <a:solidFill>
                  <a:schemeClr val="tx1"/>
                </a:solidFill>
                <a:effectLst/>
                <a:latin typeface="Arial" panose="020B0604020202020204" pitchFamily="34" charset="0"/>
              </a:rPr>
              <a:t>passwords in plaintext</a:t>
            </a:r>
            <a:r>
              <a:rPr kumimoji="0" lang="en-US" altLang="en-US" sz="1600" b="0" i="0" u="none" strike="noStrike" cap="none" normalizeH="0" baseline="0" dirty="0">
                <a:ln>
                  <a:noFill/>
                </a:ln>
                <a:solidFill>
                  <a:schemeClr val="tx1"/>
                </a:solidFill>
                <a:effectLst/>
                <a:latin typeface="Arial" panose="020B0604020202020204" pitchFamily="34" charset="0"/>
              </a:rPr>
              <a:t> from memory.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How to Perform in VirtualBox?</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600" b="0" i="0" u="none" strike="noStrike" cap="none" normalizeH="0" baseline="0" dirty="0">
                <a:ln>
                  <a:noFill/>
                </a:ln>
                <a:solidFill>
                  <a:schemeClr val="tx1"/>
                </a:solidFill>
                <a:effectLst/>
                <a:latin typeface="Arial" panose="020B0604020202020204" pitchFamily="34" charset="0"/>
              </a:rPr>
              <a:t>Run a </a:t>
            </a:r>
            <a:r>
              <a:rPr kumimoji="0" lang="en-US" altLang="en-US" sz="1600" b="1" i="0" u="none" strike="noStrike" cap="none" normalizeH="0" baseline="0" dirty="0">
                <a:ln>
                  <a:noFill/>
                </a:ln>
                <a:solidFill>
                  <a:schemeClr val="tx1"/>
                </a:solidFill>
                <a:effectLst/>
                <a:latin typeface="Arial" panose="020B0604020202020204" pitchFamily="34" charset="0"/>
              </a:rPr>
              <a:t>Windows VM</a:t>
            </a:r>
            <a:r>
              <a:rPr kumimoji="0" lang="en-US" altLang="en-US" sz="1600" b="0" i="0" u="none" strike="noStrike" cap="none" normalizeH="0" baseline="0" dirty="0">
                <a:ln>
                  <a:noFill/>
                </a:ln>
                <a:solidFill>
                  <a:schemeClr val="tx1"/>
                </a:solidFill>
                <a:effectLst/>
                <a:latin typeface="Arial" panose="020B0604020202020204" pitchFamily="34" charset="0"/>
              </a:rPr>
              <a:t> with a vulnerable setup.</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600" b="0" i="0" u="none" strike="noStrike" cap="none" normalizeH="0" baseline="0" dirty="0">
                <a:ln>
                  <a:noFill/>
                </a:ln>
                <a:solidFill>
                  <a:schemeClr val="tx1"/>
                </a:solidFill>
                <a:effectLst/>
                <a:latin typeface="Arial" panose="020B0604020202020204" pitchFamily="34" charset="0"/>
              </a:rPr>
              <a:t>Use </a:t>
            </a:r>
            <a:r>
              <a:rPr kumimoji="0" lang="en-US" altLang="en-US" sz="1600" b="1" i="0" u="none" strike="noStrike" cap="none" normalizeH="0" baseline="0" dirty="0" err="1">
                <a:ln>
                  <a:noFill/>
                </a:ln>
                <a:solidFill>
                  <a:schemeClr val="tx1"/>
                </a:solidFill>
                <a:effectLst/>
                <a:latin typeface="Arial" panose="020B0604020202020204" pitchFamily="34" charset="0"/>
              </a:rPr>
              <a:t>Mimikatz</a:t>
            </a:r>
            <a:r>
              <a:rPr kumimoji="0" lang="en-US" altLang="en-US" sz="1600" b="0" i="0" u="none" strike="noStrike" cap="none" normalizeH="0" baseline="0" dirty="0">
                <a:ln>
                  <a:noFill/>
                </a:ln>
                <a:solidFill>
                  <a:schemeClr val="tx1"/>
                </a:solidFill>
                <a:effectLst/>
                <a:latin typeface="Arial" panose="020B0604020202020204" pitchFamily="34" charset="0"/>
              </a:rPr>
              <a:t> or </a:t>
            </a:r>
            <a:r>
              <a:rPr kumimoji="0" lang="en-US" altLang="en-US" sz="1600" b="1" i="0" u="none" strike="noStrike" cap="none" normalizeH="0" baseline="0" dirty="0">
                <a:ln>
                  <a:noFill/>
                </a:ln>
                <a:solidFill>
                  <a:schemeClr val="tx1"/>
                </a:solidFill>
                <a:effectLst/>
                <a:latin typeface="Arial" panose="020B0604020202020204" pitchFamily="34" charset="0"/>
              </a:rPr>
              <a:t>samdump2</a:t>
            </a:r>
            <a:r>
              <a:rPr kumimoji="0" lang="en-US" altLang="en-US" sz="1600" b="0" i="0" u="none" strike="noStrike" cap="none" normalizeH="0" baseline="0" dirty="0">
                <a:ln>
                  <a:noFill/>
                </a:ln>
                <a:solidFill>
                  <a:schemeClr val="tx1"/>
                </a:solidFill>
                <a:effectLst/>
                <a:latin typeface="Arial" panose="020B0604020202020204" pitchFamily="34" charset="0"/>
              </a:rPr>
              <a:t> to extract hashes.</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600" b="0" i="0" u="none" strike="noStrike" cap="none" normalizeH="0" baseline="0" dirty="0">
                <a:ln>
                  <a:noFill/>
                </a:ln>
                <a:solidFill>
                  <a:schemeClr val="tx1"/>
                </a:solidFill>
                <a:effectLst/>
                <a:latin typeface="Arial" panose="020B0604020202020204" pitchFamily="34" charset="0"/>
              </a:rPr>
              <a:t>Crack hashes with </a:t>
            </a:r>
            <a:r>
              <a:rPr kumimoji="0" lang="en-US" altLang="en-US" sz="1600" b="1" i="0" u="none" strike="noStrike" cap="none" normalizeH="0" baseline="0" dirty="0" err="1">
                <a:ln>
                  <a:noFill/>
                </a:ln>
                <a:solidFill>
                  <a:schemeClr val="tx1"/>
                </a:solidFill>
                <a:effectLst/>
                <a:latin typeface="Arial" panose="020B0604020202020204" pitchFamily="34" charset="0"/>
              </a:rPr>
              <a:t>Hashcat</a:t>
            </a:r>
            <a:r>
              <a:rPr kumimoji="0" lang="en-US" altLang="en-US" sz="16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9232582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9A4BE-3A12-48F8-8099-AA68DEBA3F49}"/>
              </a:ext>
            </a:extLst>
          </p:cNvPr>
          <p:cNvSpPr>
            <a:spLocks noGrp="1"/>
          </p:cNvSpPr>
          <p:nvPr>
            <p:ph type="title"/>
          </p:nvPr>
        </p:nvSpPr>
        <p:spPr/>
        <p:txBody>
          <a:bodyPr/>
          <a:lstStyle/>
          <a:p>
            <a:r>
              <a:rPr lang="en-US" dirty="0"/>
              <a:t>Application Assessment Tools</a:t>
            </a:r>
          </a:p>
        </p:txBody>
      </p:sp>
      <p:graphicFrame>
        <p:nvGraphicFramePr>
          <p:cNvPr id="4" name="Content Placeholder 3">
            <a:extLst>
              <a:ext uri="{FF2B5EF4-FFF2-40B4-BE49-F238E27FC236}">
                <a16:creationId xmlns:a16="http://schemas.microsoft.com/office/drawing/2014/main" id="{AF861559-1507-4ABD-B56F-1A29F1D6855A}"/>
              </a:ext>
            </a:extLst>
          </p:cNvPr>
          <p:cNvGraphicFramePr>
            <a:graphicFrameLocks noGrp="1"/>
          </p:cNvGraphicFramePr>
          <p:nvPr>
            <p:ph idx="1"/>
            <p:extLst>
              <p:ext uri="{D42A27DB-BD31-4B8C-83A1-F6EECF244321}">
                <p14:modId xmlns:p14="http://schemas.microsoft.com/office/powerpoint/2010/main" val="3945017741"/>
              </p:ext>
            </p:extLst>
          </p:nvPr>
        </p:nvGraphicFramePr>
        <p:xfrm>
          <a:off x="6468893" y="2519464"/>
          <a:ext cx="5223486" cy="3974368"/>
        </p:xfrm>
        <a:graphic>
          <a:graphicData uri="http://schemas.openxmlformats.org/drawingml/2006/table">
            <a:tbl>
              <a:tblPr/>
              <a:tblGrid>
                <a:gridCol w="1741162">
                  <a:extLst>
                    <a:ext uri="{9D8B030D-6E8A-4147-A177-3AD203B41FA5}">
                      <a16:colId xmlns:a16="http://schemas.microsoft.com/office/drawing/2014/main" val="2605437591"/>
                    </a:ext>
                  </a:extLst>
                </a:gridCol>
                <a:gridCol w="1741162">
                  <a:extLst>
                    <a:ext uri="{9D8B030D-6E8A-4147-A177-3AD203B41FA5}">
                      <a16:colId xmlns:a16="http://schemas.microsoft.com/office/drawing/2014/main" val="1081884408"/>
                    </a:ext>
                  </a:extLst>
                </a:gridCol>
                <a:gridCol w="1741162">
                  <a:extLst>
                    <a:ext uri="{9D8B030D-6E8A-4147-A177-3AD203B41FA5}">
                      <a16:colId xmlns:a16="http://schemas.microsoft.com/office/drawing/2014/main" val="3983213220"/>
                    </a:ext>
                  </a:extLst>
                </a:gridCol>
              </a:tblGrid>
              <a:tr h="265870">
                <a:tc>
                  <a:txBody>
                    <a:bodyPr/>
                    <a:lstStyle/>
                    <a:p>
                      <a:r>
                        <a:rPr lang="en-CA" sz="1300"/>
                        <a:t>Tool</a:t>
                      </a:r>
                    </a:p>
                  </a:txBody>
                  <a:tcPr marL="66986" marR="66986" marT="33493" marB="33493" anchor="ctr">
                    <a:lnL>
                      <a:noFill/>
                    </a:lnL>
                    <a:lnR>
                      <a:noFill/>
                    </a:lnR>
                    <a:lnT>
                      <a:noFill/>
                    </a:lnT>
                    <a:lnB>
                      <a:noFill/>
                    </a:lnB>
                  </a:tcPr>
                </a:tc>
                <a:tc>
                  <a:txBody>
                    <a:bodyPr/>
                    <a:lstStyle/>
                    <a:p>
                      <a:r>
                        <a:rPr lang="en-CA" sz="1300"/>
                        <a:t>Purpose</a:t>
                      </a:r>
                    </a:p>
                  </a:txBody>
                  <a:tcPr marL="66986" marR="66986" marT="33493" marB="33493" anchor="ctr">
                    <a:lnL>
                      <a:noFill/>
                    </a:lnL>
                    <a:lnR>
                      <a:noFill/>
                    </a:lnR>
                    <a:lnT>
                      <a:noFill/>
                    </a:lnT>
                    <a:lnB>
                      <a:noFill/>
                    </a:lnB>
                  </a:tcPr>
                </a:tc>
                <a:tc>
                  <a:txBody>
                    <a:bodyPr/>
                    <a:lstStyle/>
                    <a:p>
                      <a:r>
                        <a:rPr lang="en-CA" sz="1300"/>
                        <a:t>Command Example</a:t>
                      </a:r>
                    </a:p>
                  </a:txBody>
                  <a:tcPr marL="66986" marR="66986" marT="33493" marB="33493" anchor="ctr">
                    <a:lnL>
                      <a:noFill/>
                    </a:lnL>
                    <a:lnR>
                      <a:noFill/>
                    </a:lnR>
                    <a:lnT>
                      <a:noFill/>
                    </a:lnT>
                    <a:lnB>
                      <a:noFill/>
                    </a:lnB>
                  </a:tcPr>
                </a:tc>
                <a:extLst>
                  <a:ext uri="{0D108BD9-81ED-4DB2-BD59-A6C34878D82A}">
                    <a16:rowId xmlns:a16="http://schemas.microsoft.com/office/drawing/2014/main" val="1748154648"/>
                  </a:ext>
                </a:extLst>
              </a:tr>
              <a:tr h="861944">
                <a:tc>
                  <a:txBody>
                    <a:bodyPr/>
                    <a:lstStyle/>
                    <a:p>
                      <a:r>
                        <a:rPr lang="en-CA" sz="1300" b="1"/>
                        <a:t>Burp Suite</a:t>
                      </a:r>
                      <a:endParaRPr lang="en-CA" sz="1300"/>
                    </a:p>
                  </a:txBody>
                  <a:tcPr marL="66986" marR="66986" marT="33493" marB="33493" anchor="ctr">
                    <a:lnL>
                      <a:noFill/>
                    </a:lnL>
                    <a:lnR>
                      <a:noFill/>
                    </a:lnR>
                    <a:lnT>
                      <a:noFill/>
                    </a:lnT>
                    <a:lnB>
                      <a:noFill/>
                    </a:lnB>
                  </a:tcPr>
                </a:tc>
                <a:tc>
                  <a:txBody>
                    <a:bodyPr/>
                    <a:lstStyle/>
                    <a:p>
                      <a:r>
                        <a:rPr lang="en-US" sz="1300"/>
                        <a:t>Web application security testing (intercepts requests, scans for flaws)</a:t>
                      </a:r>
                    </a:p>
                  </a:txBody>
                  <a:tcPr marL="66986" marR="66986" marT="33493" marB="33493" anchor="ctr">
                    <a:lnL>
                      <a:noFill/>
                    </a:lnL>
                    <a:lnR>
                      <a:noFill/>
                    </a:lnR>
                    <a:lnT>
                      <a:noFill/>
                    </a:lnT>
                    <a:lnB>
                      <a:noFill/>
                    </a:lnB>
                  </a:tcPr>
                </a:tc>
                <a:tc>
                  <a:txBody>
                    <a:bodyPr/>
                    <a:lstStyle/>
                    <a:p>
                      <a:r>
                        <a:rPr lang="en-CA" sz="1300"/>
                        <a:t>GUI-based</a:t>
                      </a:r>
                    </a:p>
                  </a:txBody>
                  <a:tcPr marL="66986" marR="66986" marT="33493" marB="33493" anchor="ctr">
                    <a:lnL>
                      <a:noFill/>
                    </a:lnL>
                    <a:lnR>
                      <a:noFill/>
                    </a:lnR>
                    <a:lnT>
                      <a:noFill/>
                    </a:lnT>
                    <a:lnB>
                      <a:noFill/>
                    </a:lnB>
                  </a:tcPr>
                </a:tc>
                <a:extLst>
                  <a:ext uri="{0D108BD9-81ED-4DB2-BD59-A6C34878D82A}">
                    <a16:rowId xmlns:a16="http://schemas.microsoft.com/office/drawing/2014/main" val="746193385"/>
                  </a:ext>
                </a:extLst>
              </a:tr>
              <a:tr h="464562">
                <a:tc>
                  <a:txBody>
                    <a:bodyPr/>
                    <a:lstStyle/>
                    <a:p>
                      <a:r>
                        <a:rPr lang="en-CA" sz="1300" b="1" dirty="0"/>
                        <a:t>OWASP ZAP</a:t>
                      </a:r>
                      <a:endParaRPr lang="en-CA" sz="1300" dirty="0"/>
                    </a:p>
                  </a:txBody>
                  <a:tcPr marL="66986" marR="66986" marT="33493" marB="33493" anchor="ctr">
                    <a:lnL>
                      <a:noFill/>
                    </a:lnL>
                    <a:lnR>
                      <a:noFill/>
                    </a:lnR>
                    <a:lnT>
                      <a:noFill/>
                    </a:lnT>
                    <a:lnB>
                      <a:noFill/>
                    </a:lnB>
                  </a:tcPr>
                </a:tc>
                <a:tc>
                  <a:txBody>
                    <a:bodyPr/>
                    <a:lstStyle/>
                    <a:p>
                      <a:r>
                        <a:rPr lang="en-CA" sz="1300"/>
                        <a:t>Automated web vulnerability scanner</a:t>
                      </a:r>
                    </a:p>
                  </a:txBody>
                  <a:tcPr marL="66986" marR="66986" marT="33493" marB="33493" anchor="ctr">
                    <a:lnL>
                      <a:noFill/>
                    </a:lnL>
                    <a:lnR>
                      <a:noFill/>
                    </a:lnR>
                    <a:lnT>
                      <a:noFill/>
                    </a:lnT>
                    <a:lnB>
                      <a:noFill/>
                    </a:lnB>
                  </a:tcPr>
                </a:tc>
                <a:tc>
                  <a:txBody>
                    <a:bodyPr/>
                    <a:lstStyle/>
                    <a:p>
                      <a:r>
                        <a:rPr lang="en-CA" sz="1300"/>
                        <a:t>zap.sh -quickurl http://target.com</a:t>
                      </a:r>
                    </a:p>
                  </a:txBody>
                  <a:tcPr marL="66986" marR="66986" marT="33493" marB="33493" anchor="ctr">
                    <a:lnL>
                      <a:noFill/>
                    </a:lnL>
                    <a:lnR>
                      <a:noFill/>
                    </a:lnR>
                    <a:lnT>
                      <a:noFill/>
                    </a:lnT>
                    <a:lnB>
                      <a:noFill/>
                    </a:lnB>
                  </a:tcPr>
                </a:tc>
                <a:extLst>
                  <a:ext uri="{0D108BD9-81ED-4DB2-BD59-A6C34878D82A}">
                    <a16:rowId xmlns:a16="http://schemas.microsoft.com/office/drawing/2014/main" val="1452578818"/>
                  </a:ext>
                </a:extLst>
              </a:tr>
              <a:tr h="464562">
                <a:tc>
                  <a:txBody>
                    <a:bodyPr/>
                    <a:lstStyle/>
                    <a:p>
                      <a:r>
                        <a:rPr lang="en-CA" sz="1300" b="1"/>
                        <a:t>Nikto</a:t>
                      </a:r>
                      <a:endParaRPr lang="en-CA" sz="1300"/>
                    </a:p>
                  </a:txBody>
                  <a:tcPr marL="66986" marR="66986" marT="33493" marB="33493" anchor="ctr">
                    <a:lnL>
                      <a:noFill/>
                    </a:lnL>
                    <a:lnR>
                      <a:noFill/>
                    </a:lnR>
                    <a:lnT>
                      <a:noFill/>
                    </a:lnT>
                    <a:lnB>
                      <a:noFill/>
                    </a:lnB>
                  </a:tcPr>
                </a:tc>
                <a:tc>
                  <a:txBody>
                    <a:bodyPr/>
                    <a:lstStyle/>
                    <a:p>
                      <a:r>
                        <a:rPr lang="en-CA" sz="1300" dirty="0"/>
                        <a:t>Web server vulnerability scanner</a:t>
                      </a:r>
                    </a:p>
                  </a:txBody>
                  <a:tcPr marL="66986" marR="66986" marT="33493" marB="33493" anchor="ctr">
                    <a:lnL>
                      <a:noFill/>
                    </a:lnL>
                    <a:lnR>
                      <a:noFill/>
                    </a:lnR>
                    <a:lnT>
                      <a:noFill/>
                    </a:lnT>
                    <a:lnB>
                      <a:noFill/>
                    </a:lnB>
                  </a:tcPr>
                </a:tc>
                <a:tc>
                  <a:txBody>
                    <a:bodyPr/>
                    <a:lstStyle/>
                    <a:p>
                      <a:r>
                        <a:rPr lang="pt-BR" sz="1300"/>
                        <a:t>nikto -h http://target.com</a:t>
                      </a:r>
                    </a:p>
                  </a:txBody>
                  <a:tcPr marL="66986" marR="66986" marT="33493" marB="33493" anchor="ctr">
                    <a:lnL>
                      <a:noFill/>
                    </a:lnL>
                    <a:lnR>
                      <a:noFill/>
                    </a:lnR>
                    <a:lnT>
                      <a:noFill/>
                    </a:lnT>
                    <a:lnB>
                      <a:noFill/>
                    </a:lnB>
                  </a:tcPr>
                </a:tc>
                <a:extLst>
                  <a:ext uri="{0D108BD9-81ED-4DB2-BD59-A6C34878D82A}">
                    <a16:rowId xmlns:a16="http://schemas.microsoft.com/office/drawing/2014/main" val="1539942424"/>
                  </a:ext>
                </a:extLst>
              </a:tr>
              <a:tr h="663253">
                <a:tc>
                  <a:txBody>
                    <a:bodyPr/>
                    <a:lstStyle/>
                    <a:p>
                      <a:r>
                        <a:rPr lang="en-CA" sz="1300" b="1"/>
                        <a:t>Wapiti</a:t>
                      </a:r>
                      <a:endParaRPr lang="en-CA" sz="1300"/>
                    </a:p>
                  </a:txBody>
                  <a:tcPr marL="66986" marR="66986" marT="33493" marB="33493" anchor="ctr">
                    <a:lnL>
                      <a:noFill/>
                    </a:lnL>
                    <a:lnR>
                      <a:noFill/>
                    </a:lnR>
                    <a:lnT>
                      <a:noFill/>
                    </a:lnT>
                    <a:lnB>
                      <a:noFill/>
                    </a:lnB>
                  </a:tcPr>
                </a:tc>
                <a:tc>
                  <a:txBody>
                    <a:bodyPr/>
                    <a:lstStyle/>
                    <a:p>
                      <a:r>
                        <a:rPr lang="en-US" sz="1300"/>
                        <a:t>Web application scanner (detects SQLi, XSS)</a:t>
                      </a:r>
                    </a:p>
                  </a:txBody>
                  <a:tcPr marL="66986" marR="66986" marT="33493" marB="33493" anchor="ctr">
                    <a:lnL>
                      <a:noFill/>
                    </a:lnL>
                    <a:lnR>
                      <a:noFill/>
                    </a:lnR>
                    <a:lnT>
                      <a:noFill/>
                    </a:lnT>
                    <a:lnB>
                      <a:noFill/>
                    </a:lnB>
                  </a:tcPr>
                </a:tc>
                <a:tc>
                  <a:txBody>
                    <a:bodyPr/>
                    <a:lstStyle/>
                    <a:p>
                      <a:r>
                        <a:rPr lang="en-CA" sz="1300"/>
                        <a:t>wapiti -u http://target.com</a:t>
                      </a:r>
                    </a:p>
                  </a:txBody>
                  <a:tcPr marL="66986" marR="66986" marT="33493" marB="33493" anchor="ctr">
                    <a:lnL>
                      <a:noFill/>
                    </a:lnL>
                    <a:lnR>
                      <a:noFill/>
                    </a:lnR>
                    <a:lnT>
                      <a:noFill/>
                    </a:lnT>
                    <a:lnB>
                      <a:noFill/>
                    </a:lnB>
                  </a:tcPr>
                </a:tc>
                <a:extLst>
                  <a:ext uri="{0D108BD9-81ED-4DB2-BD59-A6C34878D82A}">
                    <a16:rowId xmlns:a16="http://schemas.microsoft.com/office/drawing/2014/main" val="932335880"/>
                  </a:ext>
                </a:extLst>
              </a:tr>
              <a:tr h="663253">
                <a:tc>
                  <a:txBody>
                    <a:bodyPr/>
                    <a:lstStyle/>
                    <a:p>
                      <a:r>
                        <a:rPr lang="en-CA" sz="1300" b="1"/>
                        <a:t>SQLmap</a:t>
                      </a:r>
                      <a:endParaRPr lang="en-CA" sz="1300"/>
                    </a:p>
                  </a:txBody>
                  <a:tcPr marL="66986" marR="66986" marT="33493" marB="33493" anchor="ctr">
                    <a:lnL>
                      <a:noFill/>
                    </a:lnL>
                    <a:lnR>
                      <a:noFill/>
                    </a:lnR>
                    <a:lnT>
                      <a:noFill/>
                    </a:lnT>
                    <a:lnB>
                      <a:noFill/>
                    </a:lnB>
                  </a:tcPr>
                </a:tc>
                <a:tc>
                  <a:txBody>
                    <a:bodyPr/>
                    <a:lstStyle/>
                    <a:p>
                      <a:r>
                        <a:rPr lang="en-CA" sz="1300"/>
                        <a:t>Automated SQL Injection tool</a:t>
                      </a:r>
                    </a:p>
                  </a:txBody>
                  <a:tcPr marL="66986" marR="66986" marT="33493" marB="33493" anchor="ctr">
                    <a:lnL>
                      <a:noFill/>
                    </a:lnL>
                    <a:lnR>
                      <a:noFill/>
                    </a:lnR>
                    <a:lnT>
                      <a:noFill/>
                    </a:lnT>
                    <a:lnB>
                      <a:noFill/>
                    </a:lnB>
                  </a:tcPr>
                </a:tc>
                <a:tc>
                  <a:txBody>
                    <a:bodyPr/>
                    <a:lstStyle/>
                    <a:p>
                      <a:r>
                        <a:rPr lang="en-CA" sz="1300" dirty="0" err="1"/>
                        <a:t>sqlmap</a:t>
                      </a:r>
                      <a:r>
                        <a:rPr lang="en-CA" sz="1300" dirty="0"/>
                        <a:t> -u "http://target.com?id=1" --</a:t>
                      </a:r>
                      <a:r>
                        <a:rPr lang="en-CA" sz="1300" dirty="0" err="1"/>
                        <a:t>dbs</a:t>
                      </a:r>
                      <a:endParaRPr lang="en-CA" sz="1300" dirty="0"/>
                    </a:p>
                  </a:txBody>
                  <a:tcPr marL="66986" marR="66986" marT="33493" marB="33493" anchor="ctr">
                    <a:lnL>
                      <a:noFill/>
                    </a:lnL>
                    <a:lnR>
                      <a:noFill/>
                    </a:lnR>
                    <a:lnT>
                      <a:noFill/>
                    </a:lnT>
                    <a:lnB>
                      <a:noFill/>
                    </a:lnB>
                  </a:tcPr>
                </a:tc>
                <a:extLst>
                  <a:ext uri="{0D108BD9-81ED-4DB2-BD59-A6C34878D82A}">
                    <a16:rowId xmlns:a16="http://schemas.microsoft.com/office/drawing/2014/main" val="4134866302"/>
                  </a:ext>
                </a:extLst>
              </a:tr>
            </a:tbl>
          </a:graphicData>
        </a:graphic>
      </p:graphicFrame>
      <p:sp>
        <p:nvSpPr>
          <p:cNvPr id="5" name="Rectangle 1">
            <a:extLst>
              <a:ext uri="{FF2B5EF4-FFF2-40B4-BE49-F238E27FC236}">
                <a16:creationId xmlns:a16="http://schemas.microsoft.com/office/drawing/2014/main" id="{8A572853-DA43-4B51-B276-6205D29EEAAB}"/>
              </a:ext>
            </a:extLst>
          </p:cNvPr>
          <p:cNvSpPr>
            <a:spLocks noChangeArrowheads="1"/>
          </p:cNvSpPr>
          <p:nvPr/>
        </p:nvSpPr>
        <p:spPr bwMode="auto">
          <a:xfrm>
            <a:off x="733084" y="2519464"/>
            <a:ext cx="5489375"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These tools focus on </a:t>
            </a:r>
            <a:r>
              <a:rPr kumimoji="0" lang="en-US" altLang="en-US" b="1" i="0" u="none" strike="noStrike" cap="none" normalizeH="0" baseline="0" dirty="0">
                <a:ln>
                  <a:noFill/>
                </a:ln>
                <a:solidFill>
                  <a:schemeClr val="tx1"/>
                </a:solidFill>
                <a:effectLst/>
                <a:latin typeface="Arial" panose="020B0604020202020204" pitchFamily="34" charset="0"/>
              </a:rPr>
              <a:t>web and software applications</a:t>
            </a:r>
            <a:r>
              <a:rPr kumimoji="0" lang="en-US" altLang="en-US" b="0" i="0" u="none" strike="noStrike" cap="none" normalizeH="0" baseline="0" dirty="0">
                <a:ln>
                  <a:noFill/>
                </a:ln>
                <a:solidFill>
                  <a:schemeClr val="tx1"/>
                </a:solidFill>
                <a:effectLst/>
                <a:latin typeface="Arial" panose="020B0604020202020204" pitchFamily="34" charset="0"/>
              </a:rPr>
              <a:t>, checking for vulnerabilities like </a:t>
            </a:r>
            <a:r>
              <a:rPr kumimoji="0" lang="en-US" altLang="en-US" b="1" i="0" u="none" strike="noStrike" cap="none" normalizeH="0" baseline="0" dirty="0">
                <a:ln>
                  <a:noFill/>
                </a:ln>
                <a:solidFill>
                  <a:schemeClr val="tx1"/>
                </a:solidFill>
                <a:effectLst/>
                <a:latin typeface="Arial" panose="020B0604020202020204" pitchFamily="34" charset="0"/>
              </a:rPr>
              <a:t>SQL injection, XSS, authentication flaws, and misconfigurations</a:t>
            </a:r>
            <a:r>
              <a:rPr kumimoji="0" lang="en-US" altLang="en-US"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a:ln>
                  <a:noFill/>
                </a:ln>
                <a:solidFill>
                  <a:schemeClr val="tx1"/>
                </a:solidFill>
                <a:effectLst/>
                <a:latin typeface="Arial" panose="020B0604020202020204" pitchFamily="34" charset="0"/>
              </a:rPr>
              <a:t>Use Case:</a:t>
            </a:r>
            <a:r>
              <a:rPr kumimoji="0" lang="en-US" altLang="en-US" b="0" i="0" u="none" strike="noStrike" cap="none" normalizeH="0" baseline="0" dirty="0">
                <a:ln>
                  <a:noFill/>
                </a:ln>
                <a:solidFill>
                  <a:schemeClr val="tx1"/>
                </a:solidFill>
                <a:effectLst/>
                <a:latin typeface="Arial" panose="020B0604020202020204" pitchFamily="34" charset="0"/>
              </a:rPr>
              <a:t> These tools help security teams </a:t>
            </a:r>
            <a:r>
              <a:rPr kumimoji="0" lang="en-US" altLang="en-US" b="1" i="0" u="none" strike="noStrike" cap="none" normalizeH="0" baseline="0" dirty="0">
                <a:ln>
                  <a:noFill/>
                </a:ln>
                <a:solidFill>
                  <a:schemeClr val="tx1"/>
                </a:solidFill>
                <a:effectLst/>
                <a:latin typeface="Arial" panose="020B0604020202020204" pitchFamily="34" charset="0"/>
              </a:rPr>
              <a:t>test web applications</a:t>
            </a:r>
            <a:r>
              <a:rPr kumimoji="0" lang="en-US" altLang="en-US" b="0" i="0" u="none" strike="noStrike" cap="none" normalizeH="0" baseline="0" dirty="0">
                <a:ln>
                  <a:noFill/>
                </a:ln>
                <a:solidFill>
                  <a:schemeClr val="tx1"/>
                </a:solidFill>
                <a:effectLst/>
                <a:latin typeface="Arial" panose="020B0604020202020204" pitchFamily="34" charset="0"/>
              </a:rPr>
              <a:t> for vulnerabilities before attackers can exploit them.</a:t>
            </a:r>
          </a:p>
        </p:txBody>
      </p:sp>
      <p:sp>
        <p:nvSpPr>
          <p:cNvPr id="6" name="Rectangle 5">
            <a:extLst>
              <a:ext uri="{FF2B5EF4-FFF2-40B4-BE49-F238E27FC236}">
                <a16:creationId xmlns:a16="http://schemas.microsoft.com/office/drawing/2014/main" id="{57FFDC3D-66E6-4880-BFE6-CA544F267195}"/>
              </a:ext>
            </a:extLst>
          </p:cNvPr>
          <p:cNvSpPr/>
          <p:nvPr/>
        </p:nvSpPr>
        <p:spPr>
          <a:xfrm>
            <a:off x="6680773" y="2150132"/>
            <a:ext cx="4433586" cy="369332"/>
          </a:xfrm>
          <a:prstGeom prst="rect">
            <a:avLst/>
          </a:prstGeom>
        </p:spPr>
        <p:txBody>
          <a:bodyPr wrap="none">
            <a:spAutoFit/>
          </a:bodyPr>
          <a:lstStyle/>
          <a:p>
            <a:pPr lvl="0" defTabSz="914400" eaLnBrk="0" fontAlgn="base" hangingPunct="0">
              <a:spcBef>
                <a:spcPct val="0"/>
              </a:spcBef>
              <a:spcAft>
                <a:spcPct val="0"/>
              </a:spcAft>
            </a:pPr>
            <a:r>
              <a:rPr lang="en-US" altLang="en-US" b="1" dirty="0">
                <a:latin typeface="Arial" panose="020B0604020202020204" pitchFamily="34" charset="0"/>
              </a:rPr>
              <a:t>Popular Application Assessment Tools</a:t>
            </a:r>
          </a:p>
        </p:txBody>
      </p:sp>
    </p:spTree>
    <p:extLst>
      <p:ext uri="{BB962C8B-B14F-4D97-AF65-F5344CB8AC3E}">
        <p14:creationId xmlns:p14="http://schemas.microsoft.com/office/powerpoint/2010/main" val="31813979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5C959-561B-4EF7-8D3C-362A56AB8376}"/>
              </a:ext>
            </a:extLst>
          </p:cNvPr>
          <p:cNvSpPr>
            <a:spLocks noGrp="1"/>
          </p:cNvSpPr>
          <p:nvPr>
            <p:ph type="title"/>
          </p:nvPr>
        </p:nvSpPr>
        <p:spPr/>
        <p:txBody>
          <a:bodyPr/>
          <a:lstStyle/>
          <a:p>
            <a:r>
              <a:rPr lang="en-CA" dirty="0"/>
              <a:t>System Assessment Tools</a:t>
            </a:r>
          </a:p>
        </p:txBody>
      </p:sp>
      <p:graphicFrame>
        <p:nvGraphicFramePr>
          <p:cNvPr id="4" name="Content Placeholder 3">
            <a:extLst>
              <a:ext uri="{FF2B5EF4-FFF2-40B4-BE49-F238E27FC236}">
                <a16:creationId xmlns:a16="http://schemas.microsoft.com/office/drawing/2014/main" id="{E16F5C94-C3FB-437B-A061-6D70E65EC9FF}"/>
              </a:ext>
            </a:extLst>
          </p:cNvPr>
          <p:cNvGraphicFramePr>
            <a:graphicFrameLocks noGrp="1"/>
          </p:cNvGraphicFramePr>
          <p:nvPr>
            <p:ph idx="1"/>
            <p:extLst>
              <p:ext uri="{D42A27DB-BD31-4B8C-83A1-F6EECF244321}">
                <p14:modId xmlns:p14="http://schemas.microsoft.com/office/powerpoint/2010/main" val="3113138051"/>
              </p:ext>
            </p:extLst>
          </p:nvPr>
        </p:nvGraphicFramePr>
        <p:xfrm>
          <a:off x="5509098" y="2858583"/>
          <a:ext cx="6682902" cy="3416298"/>
        </p:xfrm>
        <a:graphic>
          <a:graphicData uri="http://schemas.openxmlformats.org/drawingml/2006/table">
            <a:tbl>
              <a:tblPr/>
              <a:tblGrid>
                <a:gridCol w="2227634">
                  <a:extLst>
                    <a:ext uri="{9D8B030D-6E8A-4147-A177-3AD203B41FA5}">
                      <a16:colId xmlns:a16="http://schemas.microsoft.com/office/drawing/2014/main" val="2738447024"/>
                    </a:ext>
                  </a:extLst>
                </a:gridCol>
                <a:gridCol w="2227634">
                  <a:extLst>
                    <a:ext uri="{9D8B030D-6E8A-4147-A177-3AD203B41FA5}">
                      <a16:colId xmlns:a16="http://schemas.microsoft.com/office/drawing/2014/main" val="208357397"/>
                    </a:ext>
                  </a:extLst>
                </a:gridCol>
                <a:gridCol w="2227634">
                  <a:extLst>
                    <a:ext uri="{9D8B030D-6E8A-4147-A177-3AD203B41FA5}">
                      <a16:colId xmlns:a16="http://schemas.microsoft.com/office/drawing/2014/main" val="3458835683"/>
                    </a:ext>
                  </a:extLst>
                </a:gridCol>
              </a:tblGrid>
              <a:tr h="341630">
                <a:tc>
                  <a:txBody>
                    <a:bodyPr/>
                    <a:lstStyle/>
                    <a:p>
                      <a:r>
                        <a:rPr lang="en-CA" sz="1400"/>
                        <a:t>Tool</a:t>
                      </a:r>
                    </a:p>
                  </a:txBody>
                  <a:tcPr marL="85407" marR="85407" marT="42704" marB="42704" anchor="ctr">
                    <a:lnL>
                      <a:noFill/>
                    </a:lnL>
                    <a:lnR>
                      <a:noFill/>
                    </a:lnR>
                    <a:lnT>
                      <a:noFill/>
                    </a:lnT>
                    <a:lnB>
                      <a:noFill/>
                    </a:lnB>
                  </a:tcPr>
                </a:tc>
                <a:tc>
                  <a:txBody>
                    <a:bodyPr/>
                    <a:lstStyle/>
                    <a:p>
                      <a:r>
                        <a:rPr lang="en-CA" sz="1400"/>
                        <a:t>Purpose</a:t>
                      </a:r>
                    </a:p>
                  </a:txBody>
                  <a:tcPr marL="85407" marR="85407" marT="42704" marB="42704" anchor="ctr">
                    <a:lnL>
                      <a:noFill/>
                    </a:lnL>
                    <a:lnR>
                      <a:noFill/>
                    </a:lnR>
                    <a:lnT>
                      <a:noFill/>
                    </a:lnT>
                    <a:lnB>
                      <a:noFill/>
                    </a:lnB>
                  </a:tcPr>
                </a:tc>
                <a:tc>
                  <a:txBody>
                    <a:bodyPr/>
                    <a:lstStyle/>
                    <a:p>
                      <a:r>
                        <a:rPr lang="en-CA" sz="1400"/>
                        <a:t>Command Example</a:t>
                      </a:r>
                    </a:p>
                  </a:txBody>
                  <a:tcPr marL="85407" marR="85407" marT="42704" marB="42704" anchor="ctr">
                    <a:lnL>
                      <a:noFill/>
                    </a:lnL>
                    <a:lnR>
                      <a:noFill/>
                    </a:lnR>
                    <a:lnT>
                      <a:noFill/>
                    </a:lnT>
                    <a:lnB>
                      <a:noFill/>
                    </a:lnB>
                  </a:tcPr>
                </a:tc>
                <a:extLst>
                  <a:ext uri="{0D108BD9-81ED-4DB2-BD59-A6C34878D82A}">
                    <a16:rowId xmlns:a16="http://schemas.microsoft.com/office/drawing/2014/main" val="230703123"/>
                  </a:ext>
                </a:extLst>
              </a:tr>
              <a:tr h="597852">
                <a:tc>
                  <a:txBody>
                    <a:bodyPr/>
                    <a:lstStyle/>
                    <a:p>
                      <a:r>
                        <a:rPr lang="en-CA" sz="1400" b="1"/>
                        <a:t>Nmap</a:t>
                      </a:r>
                      <a:endParaRPr lang="en-CA" sz="1400"/>
                    </a:p>
                  </a:txBody>
                  <a:tcPr marL="85407" marR="85407" marT="42704" marB="42704" anchor="ctr">
                    <a:lnL>
                      <a:noFill/>
                    </a:lnL>
                    <a:lnR>
                      <a:noFill/>
                    </a:lnR>
                    <a:lnT>
                      <a:noFill/>
                    </a:lnT>
                    <a:lnB>
                      <a:noFill/>
                    </a:lnB>
                  </a:tcPr>
                </a:tc>
                <a:tc>
                  <a:txBody>
                    <a:bodyPr/>
                    <a:lstStyle/>
                    <a:p>
                      <a:r>
                        <a:rPr lang="en-US" sz="1400"/>
                        <a:t>Network scanner for open ports &amp; services</a:t>
                      </a:r>
                    </a:p>
                  </a:txBody>
                  <a:tcPr marL="85407" marR="85407" marT="42704" marB="42704" anchor="ctr">
                    <a:lnL>
                      <a:noFill/>
                    </a:lnL>
                    <a:lnR>
                      <a:noFill/>
                    </a:lnR>
                    <a:lnT>
                      <a:noFill/>
                    </a:lnT>
                    <a:lnB>
                      <a:noFill/>
                    </a:lnB>
                  </a:tcPr>
                </a:tc>
                <a:tc>
                  <a:txBody>
                    <a:bodyPr/>
                    <a:lstStyle/>
                    <a:p>
                      <a:r>
                        <a:rPr lang="pt-BR" sz="1400" dirty="0"/>
                        <a:t>nmap -sV -A target.com</a:t>
                      </a:r>
                    </a:p>
                  </a:txBody>
                  <a:tcPr marL="85407" marR="85407" marT="42704" marB="42704" anchor="ctr">
                    <a:lnL>
                      <a:noFill/>
                    </a:lnL>
                    <a:lnR>
                      <a:noFill/>
                    </a:lnR>
                    <a:lnT>
                      <a:noFill/>
                    </a:lnT>
                    <a:lnB>
                      <a:noFill/>
                    </a:lnB>
                  </a:tcPr>
                </a:tc>
                <a:extLst>
                  <a:ext uri="{0D108BD9-81ED-4DB2-BD59-A6C34878D82A}">
                    <a16:rowId xmlns:a16="http://schemas.microsoft.com/office/drawing/2014/main" val="109540093"/>
                  </a:ext>
                </a:extLst>
              </a:tr>
              <a:tr h="597852">
                <a:tc>
                  <a:txBody>
                    <a:bodyPr/>
                    <a:lstStyle/>
                    <a:p>
                      <a:r>
                        <a:rPr lang="en-CA" sz="1400" b="1"/>
                        <a:t>OpenVAS</a:t>
                      </a:r>
                      <a:endParaRPr lang="en-CA" sz="1400"/>
                    </a:p>
                  </a:txBody>
                  <a:tcPr marL="85407" marR="85407" marT="42704" marB="42704" anchor="ctr">
                    <a:lnL>
                      <a:noFill/>
                    </a:lnL>
                    <a:lnR>
                      <a:noFill/>
                    </a:lnR>
                    <a:lnT>
                      <a:noFill/>
                    </a:lnT>
                    <a:lnB>
                      <a:noFill/>
                    </a:lnB>
                  </a:tcPr>
                </a:tc>
                <a:tc>
                  <a:txBody>
                    <a:bodyPr/>
                    <a:lstStyle/>
                    <a:p>
                      <a:r>
                        <a:rPr lang="en-CA" sz="1400" dirty="0"/>
                        <a:t>Open-source vulnerability scanner</a:t>
                      </a:r>
                    </a:p>
                  </a:txBody>
                  <a:tcPr marL="85407" marR="85407" marT="42704" marB="42704" anchor="ctr">
                    <a:lnL>
                      <a:noFill/>
                    </a:lnL>
                    <a:lnR>
                      <a:noFill/>
                    </a:lnR>
                    <a:lnT>
                      <a:noFill/>
                    </a:lnT>
                    <a:lnB>
                      <a:noFill/>
                    </a:lnB>
                  </a:tcPr>
                </a:tc>
                <a:tc>
                  <a:txBody>
                    <a:bodyPr/>
                    <a:lstStyle/>
                    <a:p>
                      <a:r>
                        <a:rPr lang="en-CA" sz="1400"/>
                        <a:t>GUI-based</a:t>
                      </a:r>
                    </a:p>
                  </a:txBody>
                  <a:tcPr marL="85407" marR="85407" marT="42704" marB="42704" anchor="ctr">
                    <a:lnL>
                      <a:noFill/>
                    </a:lnL>
                    <a:lnR>
                      <a:noFill/>
                    </a:lnR>
                    <a:lnT>
                      <a:noFill/>
                    </a:lnT>
                    <a:lnB>
                      <a:noFill/>
                    </a:lnB>
                  </a:tcPr>
                </a:tc>
                <a:extLst>
                  <a:ext uri="{0D108BD9-81ED-4DB2-BD59-A6C34878D82A}">
                    <a16:rowId xmlns:a16="http://schemas.microsoft.com/office/drawing/2014/main" val="781083785"/>
                  </a:ext>
                </a:extLst>
              </a:tr>
              <a:tr h="341630">
                <a:tc>
                  <a:txBody>
                    <a:bodyPr/>
                    <a:lstStyle/>
                    <a:p>
                      <a:r>
                        <a:rPr lang="en-CA" sz="1400" b="1"/>
                        <a:t>Lynis</a:t>
                      </a:r>
                      <a:endParaRPr lang="en-CA" sz="1400"/>
                    </a:p>
                  </a:txBody>
                  <a:tcPr marL="85407" marR="85407" marT="42704" marB="42704" anchor="ctr">
                    <a:lnL>
                      <a:noFill/>
                    </a:lnL>
                    <a:lnR>
                      <a:noFill/>
                    </a:lnR>
                    <a:lnT>
                      <a:noFill/>
                    </a:lnT>
                    <a:lnB>
                      <a:noFill/>
                    </a:lnB>
                  </a:tcPr>
                </a:tc>
                <a:tc>
                  <a:txBody>
                    <a:bodyPr/>
                    <a:lstStyle/>
                    <a:p>
                      <a:r>
                        <a:rPr lang="en-CA" sz="1400"/>
                        <a:t>Linux security auditing</a:t>
                      </a:r>
                    </a:p>
                  </a:txBody>
                  <a:tcPr marL="85407" marR="85407" marT="42704" marB="42704" anchor="ctr">
                    <a:lnL>
                      <a:noFill/>
                    </a:lnL>
                    <a:lnR>
                      <a:noFill/>
                    </a:lnR>
                    <a:lnT>
                      <a:noFill/>
                    </a:lnT>
                    <a:lnB>
                      <a:noFill/>
                    </a:lnB>
                  </a:tcPr>
                </a:tc>
                <a:tc>
                  <a:txBody>
                    <a:bodyPr/>
                    <a:lstStyle/>
                    <a:p>
                      <a:r>
                        <a:rPr lang="en-CA" sz="1400"/>
                        <a:t>lynis audit system</a:t>
                      </a:r>
                    </a:p>
                  </a:txBody>
                  <a:tcPr marL="85407" marR="85407" marT="42704" marB="42704" anchor="ctr">
                    <a:lnL>
                      <a:noFill/>
                    </a:lnL>
                    <a:lnR>
                      <a:noFill/>
                    </a:lnR>
                    <a:lnT>
                      <a:noFill/>
                    </a:lnT>
                    <a:lnB>
                      <a:noFill/>
                    </a:lnB>
                  </a:tcPr>
                </a:tc>
                <a:extLst>
                  <a:ext uri="{0D108BD9-81ED-4DB2-BD59-A6C34878D82A}">
                    <a16:rowId xmlns:a16="http://schemas.microsoft.com/office/drawing/2014/main" val="2843673029"/>
                  </a:ext>
                </a:extLst>
              </a:tr>
              <a:tr h="597852">
                <a:tc>
                  <a:txBody>
                    <a:bodyPr/>
                    <a:lstStyle/>
                    <a:p>
                      <a:r>
                        <a:rPr lang="en-CA" sz="1400" b="1"/>
                        <a:t>Nessus</a:t>
                      </a:r>
                      <a:endParaRPr lang="en-CA" sz="1400"/>
                    </a:p>
                  </a:txBody>
                  <a:tcPr marL="85407" marR="85407" marT="42704" marB="42704" anchor="ctr">
                    <a:lnL>
                      <a:noFill/>
                    </a:lnL>
                    <a:lnR>
                      <a:noFill/>
                    </a:lnR>
                    <a:lnT>
                      <a:noFill/>
                    </a:lnT>
                    <a:lnB>
                      <a:noFill/>
                    </a:lnB>
                  </a:tcPr>
                </a:tc>
                <a:tc>
                  <a:txBody>
                    <a:bodyPr/>
                    <a:lstStyle/>
                    <a:p>
                      <a:r>
                        <a:rPr lang="en-CA" sz="1400"/>
                        <a:t>Commercial vulnerability scanner</a:t>
                      </a:r>
                    </a:p>
                  </a:txBody>
                  <a:tcPr marL="85407" marR="85407" marT="42704" marB="42704" anchor="ctr">
                    <a:lnL>
                      <a:noFill/>
                    </a:lnL>
                    <a:lnR>
                      <a:noFill/>
                    </a:lnR>
                    <a:lnT>
                      <a:noFill/>
                    </a:lnT>
                    <a:lnB>
                      <a:noFill/>
                    </a:lnB>
                  </a:tcPr>
                </a:tc>
                <a:tc>
                  <a:txBody>
                    <a:bodyPr/>
                    <a:lstStyle/>
                    <a:p>
                      <a:r>
                        <a:rPr lang="en-CA" sz="1400"/>
                        <a:t>GUI-based</a:t>
                      </a:r>
                    </a:p>
                  </a:txBody>
                  <a:tcPr marL="85407" marR="85407" marT="42704" marB="42704" anchor="ctr">
                    <a:lnL>
                      <a:noFill/>
                    </a:lnL>
                    <a:lnR>
                      <a:noFill/>
                    </a:lnR>
                    <a:lnT>
                      <a:noFill/>
                    </a:lnT>
                    <a:lnB>
                      <a:noFill/>
                    </a:lnB>
                  </a:tcPr>
                </a:tc>
                <a:extLst>
                  <a:ext uri="{0D108BD9-81ED-4DB2-BD59-A6C34878D82A}">
                    <a16:rowId xmlns:a16="http://schemas.microsoft.com/office/drawing/2014/main" val="785957999"/>
                  </a:ext>
                </a:extLst>
              </a:tr>
              <a:tr h="341630">
                <a:tc>
                  <a:txBody>
                    <a:bodyPr/>
                    <a:lstStyle/>
                    <a:p>
                      <a:r>
                        <a:rPr lang="en-CA" sz="1400" b="1"/>
                        <a:t>Metasploit</a:t>
                      </a:r>
                      <a:endParaRPr lang="en-CA" sz="1400"/>
                    </a:p>
                  </a:txBody>
                  <a:tcPr marL="85407" marR="85407" marT="42704" marB="42704" anchor="ctr">
                    <a:lnL>
                      <a:noFill/>
                    </a:lnL>
                    <a:lnR>
                      <a:noFill/>
                    </a:lnR>
                    <a:lnT>
                      <a:noFill/>
                    </a:lnT>
                    <a:lnB>
                      <a:noFill/>
                    </a:lnB>
                  </a:tcPr>
                </a:tc>
                <a:tc>
                  <a:txBody>
                    <a:bodyPr/>
                    <a:lstStyle/>
                    <a:p>
                      <a:r>
                        <a:rPr lang="en-CA" sz="1400"/>
                        <a:t>Exploitation framework</a:t>
                      </a:r>
                    </a:p>
                  </a:txBody>
                  <a:tcPr marL="85407" marR="85407" marT="42704" marB="42704" anchor="ctr">
                    <a:lnL>
                      <a:noFill/>
                    </a:lnL>
                    <a:lnR>
                      <a:noFill/>
                    </a:lnR>
                    <a:lnT>
                      <a:noFill/>
                    </a:lnT>
                    <a:lnB>
                      <a:noFill/>
                    </a:lnB>
                  </a:tcPr>
                </a:tc>
                <a:tc>
                  <a:txBody>
                    <a:bodyPr/>
                    <a:lstStyle/>
                    <a:p>
                      <a:r>
                        <a:rPr lang="en-CA" sz="1400"/>
                        <a:t>msfconsole</a:t>
                      </a:r>
                    </a:p>
                  </a:txBody>
                  <a:tcPr marL="85407" marR="85407" marT="42704" marB="42704" anchor="ctr">
                    <a:lnL>
                      <a:noFill/>
                    </a:lnL>
                    <a:lnR>
                      <a:noFill/>
                    </a:lnR>
                    <a:lnT>
                      <a:noFill/>
                    </a:lnT>
                    <a:lnB>
                      <a:noFill/>
                    </a:lnB>
                  </a:tcPr>
                </a:tc>
                <a:extLst>
                  <a:ext uri="{0D108BD9-81ED-4DB2-BD59-A6C34878D82A}">
                    <a16:rowId xmlns:a16="http://schemas.microsoft.com/office/drawing/2014/main" val="4072940523"/>
                  </a:ext>
                </a:extLst>
              </a:tr>
              <a:tr h="597852">
                <a:tc>
                  <a:txBody>
                    <a:bodyPr/>
                    <a:lstStyle/>
                    <a:p>
                      <a:r>
                        <a:rPr lang="en-CA" sz="1400" b="1"/>
                        <a:t>Chkrootkit</a:t>
                      </a:r>
                      <a:endParaRPr lang="en-CA" sz="1400"/>
                    </a:p>
                  </a:txBody>
                  <a:tcPr marL="85407" marR="85407" marT="42704" marB="42704" anchor="ctr">
                    <a:lnL>
                      <a:noFill/>
                    </a:lnL>
                    <a:lnR>
                      <a:noFill/>
                    </a:lnR>
                    <a:lnT>
                      <a:noFill/>
                    </a:lnT>
                    <a:lnB>
                      <a:noFill/>
                    </a:lnB>
                  </a:tcPr>
                </a:tc>
                <a:tc>
                  <a:txBody>
                    <a:bodyPr/>
                    <a:lstStyle/>
                    <a:p>
                      <a:r>
                        <a:rPr lang="en-US" sz="1400"/>
                        <a:t>Checks for rootkits in Linux</a:t>
                      </a:r>
                    </a:p>
                  </a:txBody>
                  <a:tcPr marL="85407" marR="85407" marT="42704" marB="42704" anchor="ctr">
                    <a:lnL>
                      <a:noFill/>
                    </a:lnL>
                    <a:lnR>
                      <a:noFill/>
                    </a:lnR>
                    <a:lnT>
                      <a:noFill/>
                    </a:lnT>
                    <a:lnB>
                      <a:noFill/>
                    </a:lnB>
                  </a:tcPr>
                </a:tc>
                <a:tc>
                  <a:txBody>
                    <a:bodyPr/>
                    <a:lstStyle/>
                    <a:p>
                      <a:r>
                        <a:rPr lang="en-CA" sz="1400" dirty="0" err="1"/>
                        <a:t>chkrootkit</a:t>
                      </a:r>
                      <a:endParaRPr lang="en-CA" sz="1400" dirty="0"/>
                    </a:p>
                  </a:txBody>
                  <a:tcPr marL="85407" marR="85407" marT="42704" marB="42704" anchor="ctr">
                    <a:lnL>
                      <a:noFill/>
                    </a:lnL>
                    <a:lnR>
                      <a:noFill/>
                    </a:lnR>
                    <a:lnT>
                      <a:noFill/>
                    </a:lnT>
                    <a:lnB>
                      <a:noFill/>
                    </a:lnB>
                  </a:tcPr>
                </a:tc>
                <a:extLst>
                  <a:ext uri="{0D108BD9-81ED-4DB2-BD59-A6C34878D82A}">
                    <a16:rowId xmlns:a16="http://schemas.microsoft.com/office/drawing/2014/main" val="1777430250"/>
                  </a:ext>
                </a:extLst>
              </a:tr>
            </a:tbl>
          </a:graphicData>
        </a:graphic>
      </p:graphicFrame>
      <p:sp>
        <p:nvSpPr>
          <p:cNvPr id="5" name="Rectangle 1">
            <a:extLst>
              <a:ext uri="{FF2B5EF4-FFF2-40B4-BE49-F238E27FC236}">
                <a16:creationId xmlns:a16="http://schemas.microsoft.com/office/drawing/2014/main" id="{F1271D83-015E-40D3-879A-C9E6691ECA06}"/>
              </a:ext>
            </a:extLst>
          </p:cNvPr>
          <p:cNvSpPr>
            <a:spLocks noChangeArrowheads="1"/>
          </p:cNvSpPr>
          <p:nvPr/>
        </p:nvSpPr>
        <p:spPr bwMode="auto">
          <a:xfrm>
            <a:off x="632298" y="2938068"/>
            <a:ext cx="4876800"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These tools scan </a:t>
            </a:r>
            <a:r>
              <a:rPr kumimoji="0" lang="en-US" altLang="en-US" b="1" i="0" u="none" strike="noStrike" cap="none" normalizeH="0" baseline="0" dirty="0">
                <a:ln>
                  <a:noFill/>
                </a:ln>
                <a:solidFill>
                  <a:schemeClr val="tx1"/>
                </a:solidFill>
                <a:effectLst/>
                <a:latin typeface="Arial" panose="020B0604020202020204" pitchFamily="34" charset="0"/>
              </a:rPr>
              <a:t>operating systems, networks, and devices</a:t>
            </a:r>
            <a:r>
              <a:rPr kumimoji="0" lang="en-US" altLang="en-US" b="0" i="0" u="none" strike="noStrike" cap="none" normalizeH="0" baseline="0" dirty="0">
                <a:ln>
                  <a:noFill/>
                </a:ln>
                <a:solidFill>
                  <a:schemeClr val="tx1"/>
                </a:solidFill>
                <a:effectLst/>
                <a:latin typeface="Arial" panose="020B0604020202020204" pitchFamily="34" charset="0"/>
              </a:rPr>
              <a:t> for weaknesses like </a:t>
            </a:r>
            <a:r>
              <a:rPr kumimoji="0" lang="en-US" altLang="en-US" b="1" i="0" u="none" strike="noStrike" cap="none" normalizeH="0" baseline="0" dirty="0">
                <a:ln>
                  <a:noFill/>
                </a:ln>
                <a:solidFill>
                  <a:schemeClr val="tx1"/>
                </a:solidFill>
                <a:effectLst/>
                <a:latin typeface="Arial" panose="020B0604020202020204" pitchFamily="34" charset="0"/>
              </a:rPr>
              <a:t>open ports, outdated software, weak configurations, and privilege misuses</a:t>
            </a:r>
            <a:r>
              <a:rPr kumimoji="0" lang="en-US" altLang="en-US"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a:ln>
                  <a:noFill/>
                </a:ln>
                <a:solidFill>
                  <a:schemeClr val="tx1"/>
                </a:solidFill>
                <a:effectLst/>
                <a:latin typeface="Arial" panose="020B0604020202020204" pitchFamily="34" charset="0"/>
              </a:rPr>
              <a:t>Use Case:</a:t>
            </a:r>
            <a:r>
              <a:rPr kumimoji="0" lang="en-US" altLang="en-US" b="0" i="0" u="none" strike="noStrike" cap="none" normalizeH="0" baseline="0" dirty="0">
                <a:ln>
                  <a:noFill/>
                </a:ln>
                <a:solidFill>
                  <a:schemeClr val="tx1"/>
                </a:solidFill>
                <a:effectLst/>
                <a:latin typeface="Arial" panose="020B0604020202020204" pitchFamily="34" charset="0"/>
              </a:rPr>
              <a:t> These tools are used by </a:t>
            </a:r>
            <a:r>
              <a:rPr kumimoji="0" lang="en-US" altLang="en-US" b="1" i="0" u="none" strike="noStrike" cap="none" normalizeH="0" baseline="0" dirty="0">
                <a:ln>
                  <a:noFill/>
                </a:ln>
                <a:solidFill>
                  <a:schemeClr val="tx1"/>
                </a:solidFill>
                <a:effectLst/>
                <a:latin typeface="Arial" panose="020B0604020202020204" pitchFamily="34" charset="0"/>
              </a:rPr>
              <a:t>system administrators</a:t>
            </a:r>
            <a:r>
              <a:rPr kumimoji="0" lang="en-US" altLang="en-US" b="0" i="0" u="none" strike="noStrike" cap="none" normalizeH="0" baseline="0" dirty="0">
                <a:ln>
                  <a:noFill/>
                </a:ln>
                <a:solidFill>
                  <a:schemeClr val="tx1"/>
                </a:solidFill>
                <a:effectLst/>
                <a:latin typeface="Arial" panose="020B0604020202020204" pitchFamily="34" charset="0"/>
              </a:rPr>
              <a:t> and </a:t>
            </a:r>
            <a:r>
              <a:rPr kumimoji="0" lang="en-US" altLang="en-US" b="1" i="0" u="none" strike="noStrike" cap="none" normalizeH="0" baseline="0" dirty="0">
                <a:ln>
                  <a:noFill/>
                </a:ln>
                <a:solidFill>
                  <a:schemeClr val="tx1"/>
                </a:solidFill>
                <a:effectLst/>
                <a:latin typeface="Arial" panose="020B0604020202020204" pitchFamily="34" charset="0"/>
              </a:rPr>
              <a:t>penetration testers</a:t>
            </a:r>
            <a:r>
              <a:rPr kumimoji="0" lang="en-US" altLang="en-US" b="0" i="0" u="none" strike="noStrike" cap="none" normalizeH="0" baseline="0" dirty="0">
                <a:ln>
                  <a:noFill/>
                </a:ln>
                <a:solidFill>
                  <a:schemeClr val="tx1"/>
                </a:solidFill>
                <a:effectLst/>
                <a:latin typeface="Arial" panose="020B0604020202020204" pitchFamily="34" charset="0"/>
              </a:rPr>
              <a:t> to </a:t>
            </a:r>
            <a:r>
              <a:rPr kumimoji="0" lang="en-US" altLang="en-US" b="1" i="0" u="none" strike="noStrike" cap="none" normalizeH="0" baseline="0" dirty="0">
                <a:ln>
                  <a:noFill/>
                </a:ln>
                <a:solidFill>
                  <a:schemeClr val="tx1"/>
                </a:solidFill>
                <a:effectLst/>
                <a:latin typeface="Arial" panose="020B0604020202020204" pitchFamily="34" charset="0"/>
              </a:rPr>
              <a:t>assess security posture</a:t>
            </a:r>
            <a:r>
              <a:rPr kumimoji="0" lang="en-US" altLang="en-US" b="0" i="0" u="none" strike="noStrike" cap="none" normalizeH="0" baseline="0" dirty="0">
                <a:ln>
                  <a:noFill/>
                </a:ln>
                <a:solidFill>
                  <a:schemeClr val="tx1"/>
                </a:solidFill>
                <a:effectLst/>
                <a:latin typeface="Arial" panose="020B0604020202020204" pitchFamily="34" charset="0"/>
              </a:rPr>
              <a:t> and </a:t>
            </a:r>
            <a:r>
              <a:rPr kumimoji="0" lang="en-US" altLang="en-US" b="1" i="0" u="none" strike="noStrike" cap="none" normalizeH="0" baseline="0" dirty="0">
                <a:ln>
                  <a:noFill/>
                </a:ln>
                <a:solidFill>
                  <a:schemeClr val="tx1"/>
                </a:solidFill>
                <a:effectLst/>
                <a:latin typeface="Arial" panose="020B0604020202020204" pitchFamily="34" charset="0"/>
              </a:rPr>
              <a:t>detect weaknesses</a:t>
            </a:r>
            <a:r>
              <a:rPr kumimoji="0" lang="en-US" altLang="en-US" b="0" i="0" u="none" strike="noStrike" cap="none" normalizeH="0" baseline="0" dirty="0">
                <a:ln>
                  <a:noFill/>
                </a:ln>
                <a:solidFill>
                  <a:schemeClr val="tx1"/>
                </a:solidFill>
                <a:effectLst/>
                <a:latin typeface="Arial" panose="020B0604020202020204" pitchFamily="34" charset="0"/>
              </a:rPr>
              <a:t> before attackers do.</a:t>
            </a:r>
          </a:p>
        </p:txBody>
      </p:sp>
      <p:sp>
        <p:nvSpPr>
          <p:cNvPr id="6" name="Rectangle 5">
            <a:extLst>
              <a:ext uri="{FF2B5EF4-FFF2-40B4-BE49-F238E27FC236}">
                <a16:creationId xmlns:a16="http://schemas.microsoft.com/office/drawing/2014/main" id="{D8F99A35-AA94-451D-8BC5-0EF3F087D6E8}"/>
              </a:ext>
            </a:extLst>
          </p:cNvPr>
          <p:cNvSpPr/>
          <p:nvPr/>
        </p:nvSpPr>
        <p:spPr>
          <a:xfrm>
            <a:off x="6393059" y="2254282"/>
            <a:ext cx="4006161" cy="369332"/>
          </a:xfrm>
          <a:prstGeom prst="rect">
            <a:avLst/>
          </a:prstGeom>
        </p:spPr>
        <p:txBody>
          <a:bodyPr wrap="none">
            <a:spAutoFit/>
          </a:bodyPr>
          <a:lstStyle/>
          <a:p>
            <a:pPr lvl="0" defTabSz="914400" eaLnBrk="0" fontAlgn="base" hangingPunct="0">
              <a:spcBef>
                <a:spcPct val="0"/>
              </a:spcBef>
              <a:spcAft>
                <a:spcPct val="0"/>
              </a:spcAft>
            </a:pPr>
            <a:r>
              <a:rPr lang="en-US" altLang="en-US" b="1" dirty="0">
                <a:latin typeface="Arial" panose="020B0604020202020204" pitchFamily="34" charset="0"/>
              </a:rPr>
              <a:t>Popular System Assessment Tools</a:t>
            </a:r>
          </a:p>
        </p:txBody>
      </p:sp>
    </p:spTree>
    <p:extLst>
      <p:ext uri="{BB962C8B-B14F-4D97-AF65-F5344CB8AC3E}">
        <p14:creationId xmlns:p14="http://schemas.microsoft.com/office/powerpoint/2010/main" val="426315802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B45669-473C-4C12-92B9-C619856E1C28}"/>
              </a:ext>
            </a:extLst>
          </p:cNvPr>
          <p:cNvSpPr>
            <a:spLocks noGrp="1"/>
          </p:cNvSpPr>
          <p:nvPr>
            <p:ph type="title"/>
          </p:nvPr>
        </p:nvSpPr>
        <p:spPr/>
        <p:txBody>
          <a:bodyPr/>
          <a:lstStyle/>
          <a:p>
            <a:r>
              <a:rPr lang="en-CA" dirty="0"/>
              <a:t>Exploit Tools</a:t>
            </a:r>
          </a:p>
        </p:txBody>
      </p:sp>
      <p:graphicFrame>
        <p:nvGraphicFramePr>
          <p:cNvPr id="4" name="Content Placeholder 3">
            <a:extLst>
              <a:ext uri="{FF2B5EF4-FFF2-40B4-BE49-F238E27FC236}">
                <a16:creationId xmlns:a16="http://schemas.microsoft.com/office/drawing/2014/main" id="{3E99AF28-86C6-41FB-949B-2A8BFE725F6D}"/>
              </a:ext>
            </a:extLst>
          </p:cNvPr>
          <p:cNvGraphicFramePr>
            <a:graphicFrameLocks noGrp="1"/>
          </p:cNvGraphicFramePr>
          <p:nvPr>
            <p:ph idx="1"/>
            <p:extLst>
              <p:ext uri="{D42A27DB-BD31-4B8C-83A1-F6EECF244321}">
                <p14:modId xmlns:p14="http://schemas.microsoft.com/office/powerpoint/2010/main" val="2377498138"/>
              </p:ext>
            </p:extLst>
          </p:nvPr>
        </p:nvGraphicFramePr>
        <p:xfrm>
          <a:off x="6177650" y="2553842"/>
          <a:ext cx="5643726" cy="3704154"/>
        </p:xfrm>
        <a:graphic>
          <a:graphicData uri="http://schemas.openxmlformats.org/drawingml/2006/table">
            <a:tbl>
              <a:tblPr/>
              <a:tblGrid>
                <a:gridCol w="1881242">
                  <a:extLst>
                    <a:ext uri="{9D8B030D-6E8A-4147-A177-3AD203B41FA5}">
                      <a16:colId xmlns:a16="http://schemas.microsoft.com/office/drawing/2014/main" val="2472466944"/>
                    </a:ext>
                  </a:extLst>
                </a:gridCol>
                <a:gridCol w="1881242">
                  <a:extLst>
                    <a:ext uri="{9D8B030D-6E8A-4147-A177-3AD203B41FA5}">
                      <a16:colId xmlns:a16="http://schemas.microsoft.com/office/drawing/2014/main" val="3501935013"/>
                    </a:ext>
                  </a:extLst>
                </a:gridCol>
                <a:gridCol w="1881242">
                  <a:extLst>
                    <a:ext uri="{9D8B030D-6E8A-4147-A177-3AD203B41FA5}">
                      <a16:colId xmlns:a16="http://schemas.microsoft.com/office/drawing/2014/main" val="1586732357"/>
                    </a:ext>
                  </a:extLst>
                </a:gridCol>
              </a:tblGrid>
              <a:tr h="235607">
                <a:tc>
                  <a:txBody>
                    <a:bodyPr/>
                    <a:lstStyle/>
                    <a:p>
                      <a:r>
                        <a:rPr lang="en-CA" sz="1200"/>
                        <a:t>Tool</a:t>
                      </a:r>
                    </a:p>
                  </a:txBody>
                  <a:tcPr marL="58902" marR="58902" marT="29451" marB="29451" anchor="ctr">
                    <a:lnL>
                      <a:noFill/>
                    </a:lnL>
                    <a:lnR>
                      <a:noFill/>
                    </a:lnR>
                    <a:lnT>
                      <a:noFill/>
                    </a:lnT>
                    <a:lnB>
                      <a:noFill/>
                    </a:lnB>
                  </a:tcPr>
                </a:tc>
                <a:tc>
                  <a:txBody>
                    <a:bodyPr/>
                    <a:lstStyle/>
                    <a:p>
                      <a:r>
                        <a:rPr lang="en-CA" sz="1200"/>
                        <a:t>Purpose</a:t>
                      </a:r>
                    </a:p>
                  </a:txBody>
                  <a:tcPr marL="58902" marR="58902" marT="29451" marB="29451" anchor="ctr">
                    <a:lnL>
                      <a:noFill/>
                    </a:lnL>
                    <a:lnR>
                      <a:noFill/>
                    </a:lnR>
                    <a:lnT>
                      <a:noFill/>
                    </a:lnT>
                    <a:lnB>
                      <a:noFill/>
                    </a:lnB>
                  </a:tcPr>
                </a:tc>
                <a:tc>
                  <a:txBody>
                    <a:bodyPr/>
                    <a:lstStyle/>
                    <a:p>
                      <a:r>
                        <a:rPr lang="en-CA" sz="1200"/>
                        <a:t>Command Example</a:t>
                      </a:r>
                    </a:p>
                  </a:txBody>
                  <a:tcPr marL="58902" marR="58902" marT="29451" marB="29451" anchor="ctr">
                    <a:lnL>
                      <a:noFill/>
                    </a:lnL>
                    <a:lnR>
                      <a:noFill/>
                    </a:lnR>
                    <a:lnT>
                      <a:noFill/>
                    </a:lnT>
                    <a:lnB>
                      <a:noFill/>
                    </a:lnB>
                  </a:tcPr>
                </a:tc>
                <a:extLst>
                  <a:ext uri="{0D108BD9-81ED-4DB2-BD59-A6C34878D82A}">
                    <a16:rowId xmlns:a16="http://schemas.microsoft.com/office/drawing/2014/main" val="3667226311"/>
                  </a:ext>
                </a:extLst>
              </a:tr>
              <a:tr h="589017">
                <a:tc>
                  <a:txBody>
                    <a:bodyPr/>
                    <a:lstStyle/>
                    <a:p>
                      <a:r>
                        <a:rPr lang="en-CA" sz="1200" b="1"/>
                        <a:t>Metasploit Framework</a:t>
                      </a:r>
                      <a:endParaRPr lang="en-CA" sz="1200"/>
                    </a:p>
                  </a:txBody>
                  <a:tcPr marL="58902" marR="58902" marT="29451" marB="29451" anchor="ctr">
                    <a:lnL>
                      <a:noFill/>
                    </a:lnL>
                    <a:lnR>
                      <a:noFill/>
                    </a:lnR>
                    <a:lnT>
                      <a:noFill/>
                    </a:lnT>
                    <a:lnB>
                      <a:noFill/>
                    </a:lnB>
                  </a:tcPr>
                </a:tc>
                <a:tc>
                  <a:txBody>
                    <a:bodyPr/>
                    <a:lstStyle/>
                    <a:p>
                      <a:r>
                        <a:rPr lang="en-CA" sz="1200"/>
                        <a:t>Launches exploits, payloads, and post-exploitation</a:t>
                      </a:r>
                    </a:p>
                  </a:txBody>
                  <a:tcPr marL="58902" marR="58902" marT="29451" marB="29451" anchor="ctr">
                    <a:lnL>
                      <a:noFill/>
                    </a:lnL>
                    <a:lnR>
                      <a:noFill/>
                    </a:lnR>
                    <a:lnT>
                      <a:noFill/>
                    </a:lnT>
                    <a:lnB>
                      <a:noFill/>
                    </a:lnB>
                  </a:tcPr>
                </a:tc>
                <a:tc>
                  <a:txBody>
                    <a:bodyPr/>
                    <a:lstStyle/>
                    <a:p>
                      <a:r>
                        <a:rPr lang="en-CA" sz="1200"/>
                        <a:t>msfconsole</a:t>
                      </a:r>
                    </a:p>
                  </a:txBody>
                  <a:tcPr marL="58902" marR="58902" marT="29451" marB="29451" anchor="ctr">
                    <a:lnL>
                      <a:noFill/>
                    </a:lnL>
                    <a:lnR>
                      <a:noFill/>
                    </a:lnR>
                    <a:lnT>
                      <a:noFill/>
                    </a:lnT>
                    <a:lnB>
                      <a:noFill/>
                    </a:lnB>
                  </a:tcPr>
                </a:tc>
                <a:extLst>
                  <a:ext uri="{0D108BD9-81ED-4DB2-BD59-A6C34878D82A}">
                    <a16:rowId xmlns:a16="http://schemas.microsoft.com/office/drawing/2014/main" val="2849078210"/>
                  </a:ext>
                </a:extLst>
              </a:tr>
              <a:tr h="412312">
                <a:tc>
                  <a:txBody>
                    <a:bodyPr/>
                    <a:lstStyle/>
                    <a:p>
                      <a:r>
                        <a:rPr lang="en-CA" sz="1200" b="1"/>
                        <a:t>ExploitDB</a:t>
                      </a:r>
                      <a:endParaRPr lang="en-CA" sz="1200"/>
                    </a:p>
                  </a:txBody>
                  <a:tcPr marL="58902" marR="58902" marT="29451" marB="29451" anchor="ctr">
                    <a:lnL>
                      <a:noFill/>
                    </a:lnL>
                    <a:lnR>
                      <a:noFill/>
                    </a:lnR>
                    <a:lnT>
                      <a:noFill/>
                    </a:lnT>
                    <a:lnB>
                      <a:noFill/>
                    </a:lnB>
                  </a:tcPr>
                </a:tc>
                <a:tc>
                  <a:txBody>
                    <a:bodyPr/>
                    <a:lstStyle/>
                    <a:p>
                      <a:r>
                        <a:rPr lang="en-CA" sz="1200"/>
                        <a:t>Public database of exploits</a:t>
                      </a:r>
                    </a:p>
                  </a:txBody>
                  <a:tcPr marL="58902" marR="58902" marT="29451" marB="29451" anchor="ctr">
                    <a:lnL>
                      <a:noFill/>
                    </a:lnL>
                    <a:lnR>
                      <a:noFill/>
                    </a:lnR>
                    <a:lnT>
                      <a:noFill/>
                    </a:lnT>
                    <a:lnB>
                      <a:noFill/>
                    </a:lnB>
                  </a:tcPr>
                </a:tc>
                <a:tc>
                  <a:txBody>
                    <a:bodyPr/>
                    <a:lstStyle/>
                    <a:p>
                      <a:r>
                        <a:rPr lang="en-CA" sz="1200"/>
                        <a:t>searchsploit apache</a:t>
                      </a:r>
                    </a:p>
                  </a:txBody>
                  <a:tcPr marL="58902" marR="58902" marT="29451" marB="29451" anchor="ctr">
                    <a:lnL>
                      <a:noFill/>
                    </a:lnL>
                    <a:lnR>
                      <a:noFill/>
                    </a:lnR>
                    <a:lnT>
                      <a:noFill/>
                    </a:lnT>
                    <a:lnB>
                      <a:noFill/>
                    </a:lnB>
                  </a:tcPr>
                </a:tc>
                <a:extLst>
                  <a:ext uri="{0D108BD9-81ED-4DB2-BD59-A6C34878D82A}">
                    <a16:rowId xmlns:a16="http://schemas.microsoft.com/office/drawing/2014/main" val="4018231899"/>
                  </a:ext>
                </a:extLst>
              </a:tr>
              <a:tr h="412312">
                <a:tc>
                  <a:txBody>
                    <a:bodyPr/>
                    <a:lstStyle/>
                    <a:p>
                      <a:r>
                        <a:rPr lang="en-CA" sz="1200" b="1"/>
                        <a:t>BeEF (Browser Exploitation Framework)</a:t>
                      </a:r>
                      <a:endParaRPr lang="en-CA" sz="1200"/>
                    </a:p>
                  </a:txBody>
                  <a:tcPr marL="58902" marR="58902" marT="29451" marB="29451" anchor="ctr">
                    <a:lnL>
                      <a:noFill/>
                    </a:lnL>
                    <a:lnR>
                      <a:noFill/>
                    </a:lnR>
                    <a:lnT>
                      <a:noFill/>
                    </a:lnT>
                    <a:lnB>
                      <a:noFill/>
                    </a:lnB>
                  </a:tcPr>
                </a:tc>
                <a:tc>
                  <a:txBody>
                    <a:bodyPr/>
                    <a:lstStyle/>
                    <a:p>
                      <a:r>
                        <a:rPr lang="en-CA" sz="1200"/>
                        <a:t>Exploits browser vulnerabilities</a:t>
                      </a:r>
                    </a:p>
                  </a:txBody>
                  <a:tcPr marL="58902" marR="58902" marT="29451" marB="29451" anchor="ctr">
                    <a:lnL>
                      <a:noFill/>
                    </a:lnL>
                    <a:lnR>
                      <a:noFill/>
                    </a:lnR>
                    <a:lnT>
                      <a:noFill/>
                    </a:lnT>
                    <a:lnB>
                      <a:noFill/>
                    </a:lnB>
                  </a:tcPr>
                </a:tc>
                <a:tc>
                  <a:txBody>
                    <a:bodyPr/>
                    <a:lstStyle/>
                    <a:p>
                      <a:r>
                        <a:rPr lang="en-CA" sz="1200"/>
                        <a:t>GUI-based</a:t>
                      </a:r>
                    </a:p>
                  </a:txBody>
                  <a:tcPr marL="58902" marR="58902" marT="29451" marB="29451" anchor="ctr">
                    <a:lnL>
                      <a:noFill/>
                    </a:lnL>
                    <a:lnR>
                      <a:noFill/>
                    </a:lnR>
                    <a:lnT>
                      <a:noFill/>
                    </a:lnT>
                    <a:lnB>
                      <a:noFill/>
                    </a:lnB>
                  </a:tcPr>
                </a:tc>
                <a:extLst>
                  <a:ext uri="{0D108BD9-81ED-4DB2-BD59-A6C34878D82A}">
                    <a16:rowId xmlns:a16="http://schemas.microsoft.com/office/drawing/2014/main" val="2050760562"/>
                  </a:ext>
                </a:extLst>
              </a:tr>
              <a:tr h="765722">
                <a:tc>
                  <a:txBody>
                    <a:bodyPr/>
                    <a:lstStyle/>
                    <a:p>
                      <a:r>
                        <a:rPr lang="en-CA" sz="1200" b="1"/>
                        <a:t>Mimikatz</a:t>
                      </a:r>
                      <a:endParaRPr lang="en-CA" sz="1200"/>
                    </a:p>
                  </a:txBody>
                  <a:tcPr marL="58902" marR="58902" marT="29451" marB="29451" anchor="ctr">
                    <a:lnL>
                      <a:noFill/>
                    </a:lnL>
                    <a:lnR>
                      <a:noFill/>
                    </a:lnR>
                    <a:lnT>
                      <a:noFill/>
                    </a:lnT>
                    <a:lnB>
                      <a:noFill/>
                    </a:lnB>
                  </a:tcPr>
                </a:tc>
                <a:tc>
                  <a:txBody>
                    <a:bodyPr/>
                    <a:lstStyle/>
                    <a:p>
                      <a:r>
                        <a:rPr lang="en-CA" sz="1200"/>
                        <a:t>Extracts Windows credentials</a:t>
                      </a:r>
                    </a:p>
                  </a:txBody>
                  <a:tcPr marL="58902" marR="58902" marT="29451" marB="29451" anchor="ctr">
                    <a:lnL>
                      <a:noFill/>
                    </a:lnL>
                    <a:lnR>
                      <a:noFill/>
                    </a:lnR>
                    <a:lnT>
                      <a:noFill/>
                    </a:lnT>
                    <a:lnB>
                      <a:noFill/>
                    </a:lnB>
                  </a:tcPr>
                </a:tc>
                <a:tc>
                  <a:txBody>
                    <a:bodyPr/>
                    <a:lstStyle/>
                    <a:p>
                      <a:r>
                        <a:rPr lang="en-CA" sz="1200"/>
                        <a:t>mimikatz.exe "privilege::debug" "sekurlsa::logonpasswords" exit</a:t>
                      </a:r>
                    </a:p>
                  </a:txBody>
                  <a:tcPr marL="58902" marR="58902" marT="29451" marB="29451" anchor="ctr">
                    <a:lnL>
                      <a:noFill/>
                    </a:lnL>
                    <a:lnR>
                      <a:noFill/>
                    </a:lnR>
                    <a:lnT>
                      <a:noFill/>
                    </a:lnT>
                    <a:lnB>
                      <a:noFill/>
                    </a:lnB>
                  </a:tcPr>
                </a:tc>
                <a:extLst>
                  <a:ext uri="{0D108BD9-81ED-4DB2-BD59-A6C34878D82A}">
                    <a16:rowId xmlns:a16="http://schemas.microsoft.com/office/drawing/2014/main" val="739712624"/>
                  </a:ext>
                </a:extLst>
              </a:tr>
              <a:tr h="412312">
                <a:tc>
                  <a:txBody>
                    <a:bodyPr/>
                    <a:lstStyle/>
                    <a:p>
                      <a:r>
                        <a:rPr lang="en-CA" sz="1200" b="1"/>
                        <a:t>Empire</a:t>
                      </a:r>
                      <a:endParaRPr lang="en-CA" sz="1200"/>
                    </a:p>
                  </a:txBody>
                  <a:tcPr marL="58902" marR="58902" marT="29451" marB="29451" anchor="ctr">
                    <a:lnL>
                      <a:noFill/>
                    </a:lnL>
                    <a:lnR>
                      <a:noFill/>
                    </a:lnR>
                    <a:lnT>
                      <a:noFill/>
                    </a:lnT>
                    <a:lnB>
                      <a:noFill/>
                    </a:lnB>
                  </a:tcPr>
                </a:tc>
                <a:tc>
                  <a:txBody>
                    <a:bodyPr/>
                    <a:lstStyle/>
                    <a:p>
                      <a:r>
                        <a:rPr lang="en-CA" sz="1200"/>
                        <a:t>Post-exploitation tool (PowerShell-based)</a:t>
                      </a:r>
                    </a:p>
                  </a:txBody>
                  <a:tcPr marL="58902" marR="58902" marT="29451" marB="29451" anchor="ctr">
                    <a:lnL>
                      <a:noFill/>
                    </a:lnL>
                    <a:lnR>
                      <a:noFill/>
                    </a:lnR>
                    <a:lnT>
                      <a:noFill/>
                    </a:lnT>
                    <a:lnB>
                      <a:noFill/>
                    </a:lnB>
                  </a:tcPr>
                </a:tc>
                <a:tc>
                  <a:txBody>
                    <a:bodyPr/>
                    <a:lstStyle/>
                    <a:p>
                      <a:r>
                        <a:rPr lang="en-CA" sz="1200"/>
                        <a:t>./empire</a:t>
                      </a:r>
                    </a:p>
                  </a:txBody>
                  <a:tcPr marL="58902" marR="58902" marT="29451" marB="29451" anchor="ctr">
                    <a:lnL>
                      <a:noFill/>
                    </a:lnL>
                    <a:lnR>
                      <a:noFill/>
                    </a:lnR>
                    <a:lnT>
                      <a:noFill/>
                    </a:lnT>
                    <a:lnB>
                      <a:noFill/>
                    </a:lnB>
                  </a:tcPr>
                </a:tc>
                <a:extLst>
                  <a:ext uri="{0D108BD9-81ED-4DB2-BD59-A6C34878D82A}">
                    <a16:rowId xmlns:a16="http://schemas.microsoft.com/office/drawing/2014/main" val="119381410"/>
                  </a:ext>
                </a:extLst>
              </a:tr>
              <a:tr h="589017">
                <a:tc>
                  <a:txBody>
                    <a:bodyPr/>
                    <a:lstStyle/>
                    <a:p>
                      <a:r>
                        <a:rPr lang="en-CA" sz="1200" b="1"/>
                        <a:t>Responder</a:t>
                      </a:r>
                      <a:endParaRPr lang="en-CA" sz="1200"/>
                    </a:p>
                  </a:txBody>
                  <a:tcPr marL="58902" marR="58902" marT="29451" marB="29451" anchor="ctr">
                    <a:lnL>
                      <a:noFill/>
                    </a:lnL>
                    <a:lnR>
                      <a:noFill/>
                    </a:lnR>
                    <a:lnT>
                      <a:noFill/>
                    </a:lnT>
                    <a:lnB>
                      <a:noFill/>
                    </a:lnB>
                  </a:tcPr>
                </a:tc>
                <a:tc>
                  <a:txBody>
                    <a:bodyPr/>
                    <a:lstStyle/>
                    <a:p>
                      <a:r>
                        <a:rPr lang="en-CA" sz="1200"/>
                        <a:t>Captures network authentication credentials</a:t>
                      </a:r>
                    </a:p>
                  </a:txBody>
                  <a:tcPr marL="58902" marR="58902" marT="29451" marB="29451" anchor="ctr">
                    <a:lnL>
                      <a:noFill/>
                    </a:lnL>
                    <a:lnR>
                      <a:noFill/>
                    </a:lnR>
                    <a:lnT>
                      <a:noFill/>
                    </a:lnT>
                    <a:lnB>
                      <a:noFill/>
                    </a:lnB>
                  </a:tcPr>
                </a:tc>
                <a:tc>
                  <a:txBody>
                    <a:bodyPr/>
                    <a:lstStyle/>
                    <a:p>
                      <a:r>
                        <a:rPr lang="en-CA" sz="1200" dirty="0"/>
                        <a:t>python Responder.py -I eth0</a:t>
                      </a:r>
                    </a:p>
                  </a:txBody>
                  <a:tcPr marL="58902" marR="58902" marT="29451" marB="29451" anchor="ctr">
                    <a:lnL>
                      <a:noFill/>
                    </a:lnL>
                    <a:lnR>
                      <a:noFill/>
                    </a:lnR>
                    <a:lnT>
                      <a:noFill/>
                    </a:lnT>
                    <a:lnB>
                      <a:noFill/>
                    </a:lnB>
                  </a:tcPr>
                </a:tc>
                <a:extLst>
                  <a:ext uri="{0D108BD9-81ED-4DB2-BD59-A6C34878D82A}">
                    <a16:rowId xmlns:a16="http://schemas.microsoft.com/office/drawing/2014/main" val="1419437193"/>
                  </a:ext>
                </a:extLst>
              </a:tr>
            </a:tbl>
          </a:graphicData>
        </a:graphic>
      </p:graphicFrame>
      <p:sp>
        <p:nvSpPr>
          <p:cNvPr id="5" name="Rectangle 1">
            <a:extLst>
              <a:ext uri="{FF2B5EF4-FFF2-40B4-BE49-F238E27FC236}">
                <a16:creationId xmlns:a16="http://schemas.microsoft.com/office/drawing/2014/main" id="{A5A09B7E-9696-4285-B762-E9FBB0E4415B}"/>
              </a:ext>
            </a:extLst>
          </p:cNvPr>
          <p:cNvSpPr>
            <a:spLocks noChangeArrowheads="1"/>
          </p:cNvSpPr>
          <p:nvPr/>
        </p:nvSpPr>
        <p:spPr bwMode="auto">
          <a:xfrm>
            <a:off x="782474" y="2553842"/>
            <a:ext cx="5231877"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Once vulnerabilities are identified, </a:t>
            </a:r>
            <a:r>
              <a:rPr kumimoji="0" lang="en-US" altLang="en-US" b="1" i="0" u="none" strike="noStrike" cap="none" normalizeH="0" baseline="0" dirty="0">
                <a:ln>
                  <a:noFill/>
                </a:ln>
                <a:solidFill>
                  <a:schemeClr val="tx1"/>
                </a:solidFill>
                <a:effectLst/>
                <a:latin typeface="Arial" panose="020B0604020202020204" pitchFamily="34" charset="0"/>
              </a:rPr>
              <a:t>exploit tools</a:t>
            </a:r>
            <a:r>
              <a:rPr kumimoji="0" lang="en-US" altLang="en-US" b="0" i="0" u="none" strike="noStrike" cap="none" normalizeH="0" baseline="0" dirty="0">
                <a:ln>
                  <a:noFill/>
                </a:ln>
                <a:solidFill>
                  <a:schemeClr val="tx1"/>
                </a:solidFill>
                <a:effectLst/>
                <a:latin typeface="Arial" panose="020B0604020202020204" pitchFamily="34" charset="0"/>
              </a:rPr>
              <a:t> allow ethical hackers to </a:t>
            </a:r>
            <a:r>
              <a:rPr kumimoji="0" lang="en-US" altLang="en-US" b="1" i="0" u="none" strike="noStrike" cap="none" normalizeH="0" baseline="0" dirty="0">
                <a:ln>
                  <a:noFill/>
                </a:ln>
                <a:solidFill>
                  <a:schemeClr val="tx1"/>
                </a:solidFill>
                <a:effectLst/>
                <a:latin typeface="Arial" panose="020B0604020202020204" pitchFamily="34" charset="0"/>
              </a:rPr>
              <a:t>test and demonstrate the impact</a:t>
            </a:r>
            <a:r>
              <a:rPr kumimoji="0" lang="en-US" altLang="en-US" b="0" i="0" u="none" strike="noStrike" cap="none" normalizeH="0" baseline="0" dirty="0">
                <a:ln>
                  <a:noFill/>
                </a:ln>
                <a:solidFill>
                  <a:schemeClr val="tx1"/>
                </a:solidFill>
                <a:effectLst/>
                <a:latin typeface="Arial" panose="020B0604020202020204" pitchFamily="34" charset="0"/>
              </a:rPr>
              <a:t> of security flaws.</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a:ln>
                  <a:noFill/>
                </a:ln>
                <a:solidFill>
                  <a:schemeClr val="tx1"/>
                </a:solidFill>
                <a:effectLst/>
                <a:latin typeface="Arial" panose="020B0604020202020204" pitchFamily="34" charset="0"/>
              </a:rPr>
              <a:t>Use Case:</a:t>
            </a:r>
            <a:r>
              <a:rPr kumimoji="0" lang="en-US" altLang="en-US" b="0" i="0" u="none" strike="noStrike" cap="none" normalizeH="0" baseline="0" dirty="0">
                <a:ln>
                  <a:noFill/>
                </a:ln>
                <a:solidFill>
                  <a:schemeClr val="tx1"/>
                </a:solidFill>
                <a:effectLst/>
                <a:latin typeface="Arial" panose="020B0604020202020204" pitchFamily="34" charset="0"/>
              </a:rPr>
              <a:t> Exploitation tools are </a:t>
            </a:r>
            <a:r>
              <a:rPr kumimoji="0" lang="en-US" altLang="en-US" b="1" i="0" u="none" strike="noStrike" cap="none" normalizeH="0" baseline="0" dirty="0">
                <a:ln>
                  <a:noFill/>
                </a:ln>
                <a:solidFill>
                  <a:schemeClr val="tx1"/>
                </a:solidFill>
                <a:effectLst/>
                <a:latin typeface="Arial" panose="020B0604020202020204" pitchFamily="34" charset="0"/>
              </a:rPr>
              <a:t>used ethically</a:t>
            </a:r>
            <a:r>
              <a:rPr kumimoji="0" lang="en-US" altLang="en-US" b="0" i="0" u="none" strike="noStrike" cap="none" normalizeH="0" baseline="0" dirty="0">
                <a:ln>
                  <a:noFill/>
                </a:ln>
                <a:solidFill>
                  <a:schemeClr val="tx1"/>
                </a:solidFill>
                <a:effectLst/>
                <a:latin typeface="Arial" panose="020B0604020202020204" pitchFamily="34" charset="0"/>
              </a:rPr>
              <a:t> to </a:t>
            </a:r>
            <a:r>
              <a:rPr kumimoji="0" lang="en-US" altLang="en-US" b="1" i="0" u="none" strike="noStrike" cap="none" normalizeH="0" baseline="0" dirty="0">
                <a:ln>
                  <a:noFill/>
                </a:ln>
                <a:solidFill>
                  <a:schemeClr val="tx1"/>
                </a:solidFill>
                <a:effectLst/>
                <a:latin typeface="Arial" panose="020B0604020202020204" pitchFamily="34" charset="0"/>
              </a:rPr>
              <a:t>test security defenses</a:t>
            </a:r>
            <a:r>
              <a:rPr kumimoji="0" lang="en-US" altLang="en-US" b="0" i="0" u="none" strike="noStrike" cap="none" normalizeH="0" baseline="0" dirty="0">
                <a:ln>
                  <a:noFill/>
                </a:ln>
                <a:solidFill>
                  <a:schemeClr val="tx1"/>
                </a:solidFill>
                <a:effectLst/>
                <a:latin typeface="Arial" panose="020B0604020202020204" pitchFamily="34" charset="0"/>
              </a:rPr>
              <a:t> and verify the impact of discovered vulnerabilities.</a:t>
            </a:r>
          </a:p>
        </p:txBody>
      </p:sp>
      <p:sp>
        <p:nvSpPr>
          <p:cNvPr id="6" name="Rectangle 5">
            <a:extLst>
              <a:ext uri="{FF2B5EF4-FFF2-40B4-BE49-F238E27FC236}">
                <a16:creationId xmlns:a16="http://schemas.microsoft.com/office/drawing/2014/main" id="{090BD79E-C2E3-4BC0-A8D9-024C2960AA70}"/>
              </a:ext>
            </a:extLst>
          </p:cNvPr>
          <p:cNvSpPr/>
          <p:nvPr/>
        </p:nvSpPr>
        <p:spPr>
          <a:xfrm>
            <a:off x="7663472" y="2184510"/>
            <a:ext cx="2539991" cy="369332"/>
          </a:xfrm>
          <a:prstGeom prst="rect">
            <a:avLst/>
          </a:prstGeom>
        </p:spPr>
        <p:txBody>
          <a:bodyPr wrap="none">
            <a:spAutoFit/>
          </a:bodyPr>
          <a:lstStyle/>
          <a:p>
            <a:pPr lvl="0" defTabSz="914400" eaLnBrk="0" fontAlgn="base" hangingPunct="0">
              <a:spcBef>
                <a:spcPct val="0"/>
              </a:spcBef>
              <a:spcAft>
                <a:spcPct val="0"/>
              </a:spcAft>
            </a:pPr>
            <a:r>
              <a:rPr lang="en-US" altLang="en-US" b="1" dirty="0">
                <a:latin typeface="Arial" panose="020B0604020202020204" pitchFamily="34" charset="0"/>
              </a:rPr>
              <a:t>Popular Exploit Tools</a:t>
            </a:r>
          </a:p>
        </p:txBody>
      </p:sp>
    </p:spTree>
    <p:extLst>
      <p:ext uri="{BB962C8B-B14F-4D97-AF65-F5344CB8AC3E}">
        <p14:creationId xmlns:p14="http://schemas.microsoft.com/office/powerpoint/2010/main" val="151578811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F9C9D"/>
      </a:accent5>
      <a:accent6>
        <a:srgbClr val="9E5E9B"/>
      </a:accent6>
      <a:hlink>
        <a:srgbClr val="58C1BA"/>
      </a:hlink>
      <a:folHlink>
        <a:srgbClr val="9DFFCB"/>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EC7F02AD-9687-440F-A9DF-FAA6F22270D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441</TotalTime>
  <Words>2802</Words>
  <Application>Microsoft Office PowerPoint</Application>
  <PresentationFormat>Widescreen</PresentationFormat>
  <Paragraphs>459</Paragraphs>
  <Slides>43</Slides>
  <Notes>5</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43</vt:i4>
      </vt:variant>
    </vt:vector>
  </HeadingPairs>
  <TitlesOfParts>
    <vt:vector size="55" baseType="lpstr">
      <vt:lpstr>Arial Unicode MS</vt:lpstr>
      <vt:lpstr>ＭＳ Ｐゴシック</vt:lpstr>
      <vt:lpstr>PMingLiU</vt:lpstr>
      <vt:lpstr>PMingLiU</vt:lpstr>
      <vt:lpstr>Arial</vt:lpstr>
      <vt:lpstr>Calibri</vt:lpstr>
      <vt:lpstr>Century Gothic</vt:lpstr>
      <vt:lpstr>Times New Roman</vt:lpstr>
      <vt:lpstr>Wingdings</vt:lpstr>
      <vt:lpstr>Wingdings 2</vt:lpstr>
      <vt:lpstr>Wingdings 3</vt:lpstr>
      <vt:lpstr>Ion Boardroom</vt:lpstr>
      <vt:lpstr>Unit-2 Network Security and Forensics</vt:lpstr>
      <vt:lpstr>PowerPoint Presentation</vt:lpstr>
      <vt:lpstr>PowerPoint Presentation</vt:lpstr>
      <vt:lpstr>PowerPoint Presentation</vt:lpstr>
      <vt:lpstr>PowerPoint Presentation</vt:lpstr>
      <vt:lpstr>Network Scanning  with Nmap</vt:lpstr>
      <vt:lpstr>Introduction</vt:lpstr>
      <vt:lpstr>Pre Study</vt:lpstr>
      <vt:lpstr>Cont..</vt:lpstr>
      <vt:lpstr>TCP Flag Definitions</vt:lpstr>
      <vt:lpstr>TCP conversation</vt:lpstr>
      <vt:lpstr>What is nmap?</vt:lpstr>
      <vt:lpstr>Quick Start Cheat-sheet</vt:lpstr>
      <vt:lpstr>Conti......</vt:lpstr>
      <vt:lpstr>HOST Scan</vt:lpstr>
      <vt:lpstr>PowerPoint Presentation</vt:lpstr>
      <vt:lpstr>Port Scan/TCP Scan/Stealth Scan</vt:lpstr>
      <vt:lpstr>PowerPoint Presentation</vt:lpstr>
      <vt:lpstr>UDP Scan</vt:lpstr>
      <vt:lpstr>XMAS SCAN</vt:lpstr>
      <vt:lpstr>           Syntax :-  nmap -sX   target_IP </vt:lpstr>
      <vt:lpstr>NULL Scan </vt:lpstr>
      <vt:lpstr>    FIN Scan </vt:lpstr>
      <vt:lpstr>OS Detection Scan</vt:lpstr>
      <vt:lpstr>Cont..</vt:lpstr>
      <vt:lpstr>PowerPoint Presentation</vt:lpstr>
      <vt:lpstr>Dumpster diving</vt:lpstr>
      <vt:lpstr>PowerPoint Presentation</vt:lpstr>
      <vt:lpstr>War driving</vt:lpstr>
      <vt:lpstr>PowerPoint Presentation</vt:lpstr>
      <vt:lpstr>Domain ownership- whois, Regional internet registries, server location </vt:lpstr>
      <vt:lpstr>Whois?</vt:lpstr>
      <vt:lpstr>Regional Internet Registries (RIRs)</vt:lpstr>
      <vt:lpstr>3. Server Location (Geolocation of IPs &amp; Domains)</vt:lpstr>
      <vt:lpstr>Routing devices enumeration and countermeasures. </vt:lpstr>
      <vt:lpstr>PowerPoint Presentation</vt:lpstr>
      <vt:lpstr>Countermeasures Against Routing Device Enumeration</vt:lpstr>
      <vt:lpstr>1. Password Cracking</vt:lpstr>
      <vt:lpstr>2. Sniffing (Packet Capture &amp; Analysis)</vt:lpstr>
      <vt:lpstr>3. Password Hashes and Extraction</vt:lpstr>
      <vt:lpstr>Application Assessment Tools</vt:lpstr>
      <vt:lpstr>System Assessment Tools</vt:lpstr>
      <vt:lpstr>Exploit Tools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Unit-2 Network Security and Forensics</dc:title>
  <dc:creator>ssr</dc:creator>
  <cp:lastModifiedBy>ssr</cp:lastModifiedBy>
  <cp:revision>39</cp:revision>
  <dcterms:created xsi:type="dcterms:W3CDTF">2023-09-21T06:31:08Z</dcterms:created>
  <dcterms:modified xsi:type="dcterms:W3CDTF">2026-02-10T05:50:18Z</dcterms:modified>
</cp:coreProperties>
</file>